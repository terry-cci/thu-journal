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77"/>
  </p:notesMasterIdLst>
  <p:sldIdLst>
    <p:sldId id="256" r:id="rId2"/>
    <p:sldId id="257" r:id="rId3"/>
    <p:sldId id="416" r:id="rId4"/>
    <p:sldId id="41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409" r:id="rId15"/>
    <p:sldId id="267" r:id="rId16"/>
    <p:sldId id="269" r:id="rId17"/>
    <p:sldId id="268" r:id="rId18"/>
    <p:sldId id="270" r:id="rId19"/>
    <p:sldId id="271" r:id="rId20"/>
    <p:sldId id="272" r:id="rId21"/>
    <p:sldId id="273" r:id="rId22"/>
    <p:sldId id="274" r:id="rId23"/>
    <p:sldId id="419" r:id="rId24"/>
    <p:sldId id="420" r:id="rId25"/>
    <p:sldId id="421" r:id="rId26"/>
    <p:sldId id="422" r:id="rId27"/>
    <p:sldId id="423" r:id="rId28"/>
    <p:sldId id="424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413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406" r:id="rId69"/>
    <p:sldId id="319" r:id="rId70"/>
    <p:sldId id="320" r:id="rId71"/>
    <p:sldId id="405" r:id="rId72"/>
    <p:sldId id="321" r:id="rId73"/>
    <p:sldId id="322" r:id="rId74"/>
    <p:sldId id="323" r:id="rId75"/>
    <p:sldId id="412" r:id="rId76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28B6"/>
    <a:srgbClr val="191652"/>
    <a:srgbClr val="1F26A9"/>
    <a:srgbClr val="404FE0"/>
    <a:srgbClr val="3855E4"/>
    <a:srgbClr val="3819E4"/>
    <a:srgbClr val="6992ED"/>
    <a:srgbClr val="5BA3F3"/>
    <a:srgbClr val="8BBDF5"/>
    <a:srgbClr val="CAFD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46" autoAdjust="0"/>
    <p:restoredTop sz="86246" autoAdjust="0"/>
  </p:normalViewPr>
  <p:slideViewPr>
    <p:cSldViewPr>
      <p:cViewPr varScale="1">
        <p:scale>
          <a:sx n="71" d="100"/>
          <a:sy n="71" d="100"/>
        </p:scale>
        <p:origin x="1425" y="39"/>
      </p:cViewPr>
      <p:guideLst>
        <p:guide orient="horz" pos="2160"/>
        <p:guide pos="384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  <p:sld r:id="rId27" collapse="1"/>
      <p:sld r:id="rId28" collapse="1"/>
      <p:sld r:id="rId29" collapse="1"/>
      <p:sld r:id="rId30" collapse="1"/>
      <p:sld r:id="rId31" collapse="1"/>
      <p:sld r:id="rId32" collapse="1"/>
      <p:sld r:id="rId33" collapse="1"/>
      <p:sld r:id="rId34" collapse="1"/>
      <p:sld r:id="rId35" collapse="1"/>
      <p:sld r:id="rId36" collapse="1"/>
      <p:sld r:id="rId37" collapse="1"/>
      <p:sld r:id="rId38" collapse="1"/>
      <p:sld r:id="rId39" collapse="1"/>
      <p:sld r:id="rId40" collapse="1"/>
      <p:sld r:id="rId41" collapse="1"/>
      <p:sld r:id="rId42" collapse="1"/>
      <p:sld r:id="rId43" collapse="1"/>
      <p:sld r:id="rId44" collapse="1"/>
      <p:sld r:id="rId45" collapse="1"/>
      <p:sld r:id="rId46" collapse="1"/>
      <p:sld r:id="rId47" collapse="1"/>
      <p:sld r:id="rId48" collapse="1"/>
      <p:sld r:id="rId49" collapse="1"/>
      <p:sld r:id="rId50" collapse="1"/>
      <p:sld r:id="rId51" collapse="1"/>
      <p:sld r:id="rId52" collapse="1"/>
      <p:sld r:id="rId53" collapse="1"/>
      <p:sld r:id="rId54" collapse="1"/>
      <p:sld r:id="rId55" collapse="1"/>
      <p:sld r:id="rId56" collapse="1"/>
      <p:sld r:id="rId57" collapse="1"/>
      <p:sld r:id="rId58" collapse="1"/>
      <p:sld r:id="rId59" collapse="1"/>
      <p:sld r:id="rId60" collapse="1"/>
      <p:sld r:id="rId61" collapse="1"/>
      <p:sld r:id="rId62" collapse="1"/>
      <p:sld r:id="rId63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_rels/viewProps.xml.rels><?xml version="1.0" encoding="UTF-8" standalone="yes"?>
<Relationships xmlns="http://schemas.openxmlformats.org/package/2006/relationships"><Relationship Id="rId13" Type="http://schemas.openxmlformats.org/officeDocument/2006/relationships/slide" Target="slides/slide16.xml"/><Relationship Id="rId18" Type="http://schemas.openxmlformats.org/officeDocument/2006/relationships/slide" Target="slides/slide23.xml"/><Relationship Id="rId26" Type="http://schemas.openxmlformats.org/officeDocument/2006/relationships/slide" Target="slides/slide31.xml"/><Relationship Id="rId39" Type="http://schemas.openxmlformats.org/officeDocument/2006/relationships/slide" Target="slides/slide45.xml"/><Relationship Id="rId21" Type="http://schemas.openxmlformats.org/officeDocument/2006/relationships/slide" Target="slides/slide26.xml"/><Relationship Id="rId34" Type="http://schemas.openxmlformats.org/officeDocument/2006/relationships/slide" Target="slides/slide39.xml"/><Relationship Id="rId42" Type="http://schemas.openxmlformats.org/officeDocument/2006/relationships/slide" Target="slides/slide48.xml"/><Relationship Id="rId47" Type="http://schemas.openxmlformats.org/officeDocument/2006/relationships/slide" Target="slides/slide55.xml"/><Relationship Id="rId50" Type="http://schemas.openxmlformats.org/officeDocument/2006/relationships/slide" Target="slides/slide59.xml"/><Relationship Id="rId55" Type="http://schemas.openxmlformats.org/officeDocument/2006/relationships/slide" Target="slides/slide64.xml"/><Relationship Id="rId63" Type="http://schemas.openxmlformats.org/officeDocument/2006/relationships/slide" Target="slides/slide74.xml"/><Relationship Id="rId7" Type="http://schemas.openxmlformats.org/officeDocument/2006/relationships/slide" Target="slides/slide10.xml"/><Relationship Id="rId2" Type="http://schemas.openxmlformats.org/officeDocument/2006/relationships/slide" Target="slides/slide5.xml"/><Relationship Id="rId16" Type="http://schemas.openxmlformats.org/officeDocument/2006/relationships/slide" Target="slides/slide21.xml"/><Relationship Id="rId29" Type="http://schemas.openxmlformats.org/officeDocument/2006/relationships/slide" Target="slides/slide34.xml"/><Relationship Id="rId11" Type="http://schemas.openxmlformats.org/officeDocument/2006/relationships/slide" Target="slides/slide14.xml"/><Relationship Id="rId24" Type="http://schemas.openxmlformats.org/officeDocument/2006/relationships/slide" Target="slides/slide29.xml"/><Relationship Id="rId32" Type="http://schemas.openxmlformats.org/officeDocument/2006/relationships/slide" Target="slides/slide37.xml"/><Relationship Id="rId37" Type="http://schemas.openxmlformats.org/officeDocument/2006/relationships/slide" Target="slides/slide43.xml"/><Relationship Id="rId40" Type="http://schemas.openxmlformats.org/officeDocument/2006/relationships/slide" Target="slides/slide46.xml"/><Relationship Id="rId45" Type="http://schemas.openxmlformats.org/officeDocument/2006/relationships/slide" Target="slides/slide53.xml"/><Relationship Id="rId53" Type="http://schemas.openxmlformats.org/officeDocument/2006/relationships/slide" Target="slides/slide62.xml"/><Relationship Id="rId58" Type="http://schemas.openxmlformats.org/officeDocument/2006/relationships/slide" Target="slides/slide67.xml"/><Relationship Id="rId5" Type="http://schemas.openxmlformats.org/officeDocument/2006/relationships/slide" Target="slides/slide8.xml"/><Relationship Id="rId61" Type="http://schemas.openxmlformats.org/officeDocument/2006/relationships/slide" Target="slides/slide72.xml"/><Relationship Id="rId19" Type="http://schemas.openxmlformats.org/officeDocument/2006/relationships/slide" Target="slides/slide24.xml"/><Relationship Id="rId14" Type="http://schemas.openxmlformats.org/officeDocument/2006/relationships/slide" Target="slides/slide18.xml"/><Relationship Id="rId22" Type="http://schemas.openxmlformats.org/officeDocument/2006/relationships/slide" Target="slides/slide27.xml"/><Relationship Id="rId27" Type="http://schemas.openxmlformats.org/officeDocument/2006/relationships/slide" Target="slides/slide32.xml"/><Relationship Id="rId30" Type="http://schemas.openxmlformats.org/officeDocument/2006/relationships/slide" Target="slides/slide35.xml"/><Relationship Id="rId35" Type="http://schemas.openxmlformats.org/officeDocument/2006/relationships/slide" Target="slides/slide41.xml"/><Relationship Id="rId43" Type="http://schemas.openxmlformats.org/officeDocument/2006/relationships/slide" Target="slides/slide51.xml"/><Relationship Id="rId48" Type="http://schemas.openxmlformats.org/officeDocument/2006/relationships/slide" Target="slides/slide56.xml"/><Relationship Id="rId56" Type="http://schemas.openxmlformats.org/officeDocument/2006/relationships/slide" Target="slides/slide65.xml"/><Relationship Id="rId8" Type="http://schemas.openxmlformats.org/officeDocument/2006/relationships/slide" Target="slides/slide11.xml"/><Relationship Id="rId51" Type="http://schemas.openxmlformats.org/officeDocument/2006/relationships/slide" Target="slides/slide60.xml"/><Relationship Id="rId3" Type="http://schemas.openxmlformats.org/officeDocument/2006/relationships/slide" Target="slides/slide6.xml"/><Relationship Id="rId12" Type="http://schemas.openxmlformats.org/officeDocument/2006/relationships/slide" Target="slides/slide15.xml"/><Relationship Id="rId17" Type="http://schemas.openxmlformats.org/officeDocument/2006/relationships/slide" Target="slides/slide22.xml"/><Relationship Id="rId25" Type="http://schemas.openxmlformats.org/officeDocument/2006/relationships/slide" Target="slides/slide30.xml"/><Relationship Id="rId33" Type="http://schemas.openxmlformats.org/officeDocument/2006/relationships/slide" Target="slides/slide38.xml"/><Relationship Id="rId38" Type="http://schemas.openxmlformats.org/officeDocument/2006/relationships/slide" Target="slides/slide44.xml"/><Relationship Id="rId46" Type="http://schemas.openxmlformats.org/officeDocument/2006/relationships/slide" Target="slides/slide54.xml"/><Relationship Id="rId59" Type="http://schemas.openxmlformats.org/officeDocument/2006/relationships/slide" Target="slides/slide69.xml"/><Relationship Id="rId20" Type="http://schemas.openxmlformats.org/officeDocument/2006/relationships/slide" Target="slides/slide25.xml"/><Relationship Id="rId41" Type="http://schemas.openxmlformats.org/officeDocument/2006/relationships/slide" Target="slides/slide47.xml"/><Relationship Id="rId54" Type="http://schemas.openxmlformats.org/officeDocument/2006/relationships/slide" Target="slides/slide63.xml"/><Relationship Id="rId62" Type="http://schemas.openxmlformats.org/officeDocument/2006/relationships/slide" Target="slides/slide73.xml"/><Relationship Id="rId1" Type="http://schemas.openxmlformats.org/officeDocument/2006/relationships/slide" Target="slides/slide4.xml"/><Relationship Id="rId6" Type="http://schemas.openxmlformats.org/officeDocument/2006/relationships/slide" Target="slides/slide9.xml"/><Relationship Id="rId15" Type="http://schemas.openxmlformats.org/officeDocument/2006/relationships/slide" Target="slides/slide19.xml"/><Relationship Id="rId23" Type="http://schemas.openxmlformats.org/officeDocument/2006/relationships/slide" Target="slides/slide28.xml"/><Relationship Id="rId28" Type="http://schemas.openxmlformats.org/officeDocument/2006/relationships/slide" Target="slides/slide33.xml"/><Relationship Id="rId36" Type="http://schemas.openxmlformats.org/officeDocument/2006/relationships/slide" Target="slides/slide42.xml"/><Relationship Id="rId49" Type="http://schemas.openxmlformats.org/officeDocument/2006/relationships/slide" Target="slides/slide58.xml"/><Relationship Id="rId57" Type="http://schemas.openxmlformats.org/officeDocument/2006/relationships/slide" Target="slides/slide66.xml"/><Relationship Id="rId10" Type="http://schemas.openxmlformats.org/officeDocument/2006/relationships/slide" Target="slides/slide13.xml"/><Relationship Id="rId31" Type="http://schemas.openxmlformats.org/officeDocument/2006/relationships/slide" Target="slides/slide36.xml"/><Relationship Id="rId44" Type="http://schemas.openxmlformats.org/officeDocument/2006/relationships/slide" Target="slides/slide52.xml"/><Relationship Id="rId52" Type="http://schemas.openxmlformats.org/officeDocument/2006/relationships/slide" Target="slides/slide61.xml"/><Relationship Id="rId60" Type="http://schemas.openxmlformats.org/officeDocument/2006/relationships/slide" Target="slides/slide70.xml"/><Relationship Id="rId4" Type="http://schemas.openxmlformats.org/officeDocument/2006/relationships/slide" Target="slides/slide7.xml"/><Relationship Id="rId9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068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2068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068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068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068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8E3F28C-D99B-46F9-A990-A4AE384149EF}" type="slidenum">
              <a:rPr lang="en-US" altLang="zh-CN"/>
              <a:pPr/>
              <a:t>‹N°›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060678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E3F28C-D99B-46F9-A990-A4AE384149EF}" type="slidenum">
              <a:rPr lang="en-US" altLang="zh-CN" smtClean="0"/>
              <a:pPr/>
              <a:t>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764444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2421</a:t>
            </a:r>
            <a:r>
              <a:rPr lang="zh-CN" altLang="en-US" dirty="0"/>
              <a:t>的編碼碼表和教材上有所不同，充分說明了可以有多種編碼方案。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E3F28C-D99B-46F9-A990-A4AE384149EF}" type="slidenum">
              <a:rPr lang="en-US" altLang="zh-CN" smtClean="0"/>
              <a:pPr/>
              <a:t>29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489063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格雷碼：可靠性高，廣泛用於輸入輸出。</a:t>
            </a:r>
            <a:br>
              <a:rPr lang="en-US" altLang="zh-CN" dirty="0"/>
            </a:br>
            <a:r>
              <a:rPr lang="zh-CN" altLang="en-US" dirty="0"/>
              <a:t>格雷碼</a:t>
            </a:r>
            <a:r>
              <a:rPr lang="en-US" altLang="zh-CN" dirty="0"/>
              <a:t>1</a:t>
            </a:r>
            <a:r>
              <a:rPr lang="zh-CN" altLang="en-US" dirty="0"/>
              <a:t>：中央對稱</a:t>
            </a:r>
            <a:endParaRPr lang="en-US" altLang="zh-CN" dirty="0"/>
          </a:p>
          <a:p>
            <a:r>
              <a:rPr lang="zh-CN" altLang="en-US" dirty="0"/>
              <a:t>格雷碼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en-US" altLang="zh-CN" dirty="0"/>
              <a:t>0-9</a:t>
            </a:r>
            <a:r>
              <a:rPr lang="zh-CN" altLang="en-US" dirty="0"/>
              <a:t>可迴圈</a:t>
            </a:r>
            <a:br>
              <a:rPr lang="en-US" altLang="zh-CN" dirty="0"/>
            </a:br>
            <a:r>
              <a:rPr lang="zh-CN" altLang="en-US" dirty="0"/>
              <a:t>典型格雷碼，</a:t>
            </a:r>
            <a:r>
              <a:rPr lang="en-US" altLang="zh-CN" dirty="0"/>
              <a:t>15</a:t>
            </a:r>
            <a:r>
              <a:rPr lang="zh-CN" altLang="en-US" dirty="0"/>
              <a:t>對應為</a:t>
            </a:r>
            <a:r>
              <a:rPr lang="en-US" altLang="zh-CN" dirty="0"/>
              <a:t>1000</a:t>
            </a:r>
            <a:r>
              <a:rPr lang="zh-CN" altLang="en-US" dirty="0"/>
              <a:t>實現</a:t>
            </a:r>
            <a:r>
              <a:rPr lang="en-US" altLang="zh-CN" dirty="0"/>
              <a:t>0-15</a:t>
            </a:r>
            <a:r>
              <a:rPr lang="zh-CN" altLang="en-US" dirty="0"/>
              <a:t>可迴圈，可以擴展到任意大的數位，不需要碼表，直接計算可以獲得格雷碼與二進位編碼之間的雙向映射關係。</a:t>
            </a:r>
            <a:br>
              <a:rPr lang="en-US" altLang="zh-CN" dirty="0"/>
            </a:br>
            <a:r>
              <a:rPr lang="zh-CN" altLang="en-US" dirty="0"/>
              <a:t>修改格雷碼，既迴圈，又中央對稱，同時其</a:t>
            </a:r>
            <a:r>
              <a:rPr lang="en-US" altLang="zh-CN" dirty="0"/>
              <a:t>0</a:t>
            </a:r>
            <a:r>
              <a:rPr lang="zh-CN" altLang="en-US" dirty="0"/>
              <a:t>對應典型格雷碼的</a:t>
            </a:r>
            <a:r>
              <a:rPr lang="en-US" altLang="zh-CN" dirty="0"/>
              <a:t>3</a:t>
            </a:r>
            <a:r>
              <a:rPr lang="zh-CN" altLang="en-US" dirty="0"/>
              <a:t>，所有又稱餘</a:t>
            </a:r>
            <a:r>
              <a:rPr lang="en-US" altLang="zh-CN" dirty="0"/>
              <a:t>3</a:t>
            </a:r>
            <a:r>
              <a:rPr lang="zh-CN" altLang="en-US" dirty="0"/>
              <a:t>迴圈碼。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E3F28C-D99B-46F9-A990-A4AE384149EF}" type="slidenum">
              <a:rPr lang="en-US" altLang="zh-CN" smtClean="0"/>
              <a:pPr/>
              <a:t>31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657952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術語“布林代數”得名於喬治</a:t>
            </a:r>
            <a:r>
              <a:rPr lang="en-US" altLang="zh-CN" dirty="0"/>
              <a:t>·</a:t>
            </a:r>
            <a:r>
              <a:rPr lang="zh-CN" altLang="en-US" dirty="0"/>
              <a:t>布林（</a:t>
            </a:r>
            <a:r>
              <a:rPr lang="en-US" altLang="zh-CN" dirty="0"/>
              <a:t>1815–1864</a:t>
            </a:r>
            <a:r>
              <a:rPr lang="zh-CN" altLang="en-US" dirty="0"/>
              <a:t>），他是自學成材的英國數學家。他最初在</a:t>
            </a:r>
            <a:r>
              <a:rPr lang="en-US" altLang="zh-CN" dirty="0"/>
              <a:t>1847</a:t>
            </a:r>
            <a:r>
              <a:rPr lang="zh-CN" altLang="en-US" dirty="0"/>
              <a:t>年出版的一個小冊子</a:t>
            </a:r>
            <a:r>
              <a:rPr lang="en-US" altLang="zh-CN" dirty="0"/>
              <a:t>《</a:t>
            </a:r>
            <a:r>
              <a:rPr lang="zh-CN" altLang="en-US" dirty="0"/>
              <a:t>邏輯的數學分析</a:t>
            </a:r>
            <a:r>
              <a:rPr lang="en-US" altLang="zh-CN" dirty="0"/>
              <a:t>》</a:t>
            </a:r>
            <a:r>
              <a:rPr lang="zh-CN" altLang="en-US" dirty="0"/>
              <a:t>中介入了代數邏輯系統，用來響應在奧古斯都</a:t>
            </a:r>
            <a:r>
              <a:rPr lang="en-US" altLang="zh-CN" dirty="0"/>
              <a:t>·</a:t>
            </a:r>
            <a:r>
              <a:rPr lang="zh-CN" altLang="en-US" dirty="0"/>
              <a:t>德</a:t>
            </a:r>
            <a:r>
              <a:rPr lang="en-US" altLang="zh-CN" dirty="0"/>
              <a:t>·</a:t>
            </a:r>
            <a:r>
              <a:rPr lang="zh-CN" altLang="en-US" dirty="0"/>
              <a:t>摩根和</a:t>
            </a:r>
            <a:r>
              <a:rPr lang="en-US" altLang="zh-CN" dirty="0"/>
              <a:t>William Hamilton</a:t>
            </a:r>
            <a:r>
              <a:rPr lang="zh-CN" altLang="en-US" dirty="0"/>
              <a:t>之間的公開論戰，後來又出現在</a:t>
            </a:r>
            <a:r>
              <a:rPr lang="en-US" altLang="zh-CN" dirty="0"/>
              <a:t>1854</a:t>
            </a:r>
            <a:r>
              <a:rPr lang="zh-CN" altLang="en-US" dirty="0"/>
              <a:t>年出版的更充實的書</a:t>
            </a:r>
            <a:r>
              <a:rPr lang="en-US" altLang="zh-CN" dirty="0"/>
              <a:t>《</a:t>
            </a:r>
            <a:r>
              <a:rPr lang="zh-CN" altLang="en-US" dirty="0"/>
              <a:t>思維規律</a:t>
            </a:r>
            <a:r>
              <a:rPr lang="en-US" altLang="zh-CN" dirty="0"/>
              <a:t>》</a:t>
            </a:r>
            <a:r>
              <a:rPr lang="zh-CN" altLang="en-US" dirty="0"/>
              <a:t>中。布林的公式化在一些重要方面不同於上述描述。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E3F28C-D99B-46F9-A990-A4AE384149EF}" type="slidenum">
              <a:rPr lang="en-US" altLang="zh-CN" smtClean="0"/>
              <a:pPr/>
              <a:t>37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844106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99DC8E-3E0C-4B83-A882-B6D750375ACE}" type="slidenum">
              <a:rPr lang="en-US" altLang="zh-CN" smtClean="0"/>
              <a:pPr/>
              <a:t>62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908219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E3F28C-D99B-46F9-A990-A4AE384149EF}" type="slidenum">
              <a:rPr lang="en-US" altLang="zh-CN" smtClean="0"/>
              <a:pPr/>
              <a:t>75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29318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2400"/>
          </a:p>
        </p:txBody>
      </p:sp>
      <p:sp useBgFill="1">
        <p:nvSpPr>
          <p:cNvPr id="13" name="圆角矩形 12"/>
          <p:cNvSpPr/>
          <p:nvPr/>
        </p:nvSpPr>
        <p:spPr>
          <a:xfrm>
            <a:off x="65313" y="69771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400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1pPr>
            <a:lvl2pPr marL="457205" indent="0" algn="ctr">
              <a:buNone/>
            </a:lvl2pPr>
            <a:lvl3pPr marL="914409" indent="0" algn="ctr">
              <a:buNone/>
            </a:lvl3pPr>
            <a:lvl4pPr marL="1371614" indent="0" algn="ctr">
              <a:buNone/>
            </a:lvl4pPr>
            <a:lvl5pPr marL="1828818" indent="0" algn="ctr">
              <a:buNone/>
            </a:lvl5pPr>
            <a:lvl6pPr marL="2286022" indent="0" algn="ctr">
              <a:buNone/>
            </a:lvl6pPr>
            <a:lvl7pPr marL="2743227" indent="0" algn="ctr">
              <a:buNone/>
            </a:lvl7pPr>
            <a:lvl8pPr marL="3200432" indent="0" algn="ctr">
              <a:buNone/>
            </a:lvl8pPr>
            <a:lvl9pPr marL="3657636" indent="0" algn="ctr">
              <a:buNone/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3B061D8E-4950-4DB0-BB32-CFD201569AB6}" type="slidenum">
              <a:rPr lang="en-US" altLang="zh-CN" smtClean="0"/>
              <a:pPr/>
              <a:t>‹N°›</a:t>
            </a:fld>
            <a:endParaRPr lang="en-US" altLang="zh-CN" dirty="0"/>
          </a:p>
        </p:txBody>
      </p:sp>
      <p:sp>
        <p:nvSpPr>
          <p:cNvPr id="7" name="矩形 6"/>
          <p:cNvSpPr/>
          <p:nvPr/>
        </p:nvSpPr>
        <p:spPr>
          <a:xfrm>
            <a:off x="62936" y="1449319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400"/>
          </a:p>
        </p:txBody>
      </p:sp>
      <p:sp>
        <p:nvSpPr>
          <p:cNvPr id="10" name="矩形 9"/>
          <p:cNvSpPr/>
          <p:nvPr/>
        </p:nvSpPr>
        <p:spPr>
          <a:xfrm>
            <a:off x="62936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400"/>
          </a:p>
        </p:txBody>
      </p:sp>
      <p:sp>
        <p:nvSpPr>
          <p:cNvPr id="11" name="矩形 10"/>
          <p:cNvSpPr/>
          <p:nvPr/>
        </p:nvSpPr>
        <p:spPr>
          <a:xfrm>
            <a:off x="62936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400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457200" y="1505946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  <a:latin typeface="华文新魏" pitchFamily="2" charset="-122"/>
                <a:ea typeface="华文新魏" pitchFamily="2" charset="-122"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63996" y="274638"/>
            <a:ext cx="7772400" cy="9857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95E2-CB68-42E6-A5AF-574D39E186A5}" type="slidenum">
              <a:rPr lang="en-US" altLang="zh-CN" smtClean="0"/>
              <a:pPr/>
              <a:t>‹N°›</a:t>
            </a:fld>
            <a:endParaRPr lang="en-US" altLang="zh-CN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363996" y="1412776"/>
            <a:ext cx="7772400" cy="4607024"/>
          </a:xfrm>
        </p:spPr>
        <p:txBody>
          <a:bodyPr vert="horz"/>
          <a:lstStyle>
            <a:lvl1pPr>
              <a:defRPr>
                <a:latin typeface="华文新魏" pitchFamily="2" charset="-122"/>
                <a:ea typeface="华文新魏" pitchFamily="2" charset="-122"/>
              </a:defRPr>
            </a:lvl1pPr>
            <a:lvl2pPr marL="612006" indent="-360004">
              <a:buFont typeface="Wingdings" panose="05000000000000000000" pitchFamily="2" charset="2"/>
              <a:buChar char="Ø"/>
              <a:defRPr>
                <a:latin typeface="华文新魏" pitchFamily="2" charset="-122"/>
                <a:ea typeface="华文新魏" pitchFamily="2" charset="-122"/>
              </a:defRPr>
            </a:lvl2pPr>
            <a:lvl3pPr marL="864009" indent="-360004">
              <a:buFont typeface="Wingdings" panose="05000000000000000000" pitchFamily="2" charset="2"/>
              <a:buChar char="ü"/>
              <a:defRPr>
                <a:latin typeface="华文新魏" pitchFamily="2" charset="-122"/>
                <a:ea typeface="华文新魏" pitchFamily="2" charset="-122"/>
              </a:defRPr>
            </a:lvl3pPr>
            <a:lvl4pPr>
              <a:defRPr>
                <a:latin typeface="华文新魏" pitchFamily="2" charset="-122"/>
                <a:ea typeface="华文新魏" pitchFamily="2" charset="-122"/>
              </a:defRPr>
            </a:lvl4pPr>
            <a:lvl5pPr>
              <a:defRPr>
                <a:latin typeface="华文新魏" pitchFamily="2" charset="-122"/>
                <a:ea typeface="华文新魏" pitchFamily="2" charset="-122"/>
              </a:defRPr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</p:txBody>
      </p:sp>
    </p:spTree>
  </p:cSld>
  <p:clrMapOvr>
    <a:masterClrMapping/>
  </p:clrMapOvr>
  <p:transition spd="slow">
    <p:pull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2400"/>
          </a:p>
        </p:txBody>
      </p:sp>
      <p:sp useBgFill="1">
        <p:nvSpPr>
          <p:cNvPr id="8" name="圆角矩形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400"/>
          </a:p>
        </p:txBody>
      </p: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359532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359532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172201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146305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109AAC4A-EDF0-4754-98EB-862E1BF9EADE}" type="slidenum">
              <a:rPr lang="en-US" altLang="zh-CN" smtClean="0"/>
              <a:pPr/>
              <a:t>‹N°›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</p:sldLayoutIdLst>
  <p:transition spd="slow">
    <p:pull/>
  </p:transition>
  <p:hf hdr="0" ftr="0" dt="0"/>
  <p:txStyles>
    <p:titleStyle>
      <a:lvl1pPr algn="l" rtl="0" eaLnBrk="1" latinLnBrk="0" hangingPunct="1">
        <a:spcBef>
          <a:spcPct val="0"/>
        </a:spcBef>
        <a:buNone/>
        <a:defRPr kumimoji="0" sz="4000" b="1" kern="1200">
          <a:solidFill>
            <a:schemeClr val="tx1"/>
          </a:solidFill>
          <a:latin typeface="华文新魏" pitchFamily="2" charset="-122"/>
          <a:ea typeface="华文新魏" pitchFamily="2" charset="-122"/>
          <a:cs typeface="+mj-cs"/>
        </a:defRPr>
      </a:lvl1pPr>
    </p:titleStyle>
    <p:bodyStyle>
      <a:lvl1pPr marL="360004" indent="-360004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" pitchFamily="2" charset="2"/>
        <a:buChar char="n"/>
        <a:defRPr kumimoji="0" sz="3600" b="1" kern="1200">
          <a:solidFill>
            <a:schemeClr val="tx1"/>
          </a:solidFill>
          <a:latin typeface="华文新魏" pitchFamily="2" charset="-122"/>
          <a:ea typeface="华文新魏" pitchFamily="2" charset="-122"/>
          <a:cs typeface="+mn-cs"/>
        </a:defRPr>
      </a:lvl1pPr>
      <a:lvl2pPr marL="612006" indent="-360004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" pitchFamily="2" charset="2"/>
        <a:buChar char="p"/>
        <a:defRPr kumimoji="0" sz="3200" b="1" kern="1200">
          <a:solidFill>
            <a:schemeClr val="tx1"/>
          </a:solidFill>
          <a:latin typeface="华文新魏" pitchFamily="2" charset="-122"/>
          <a:ea typeface="华文新魏" pitchFamily="2" charset="-122"/>
          <a:cs typeface="+mn-cs"/>
        </a:defRPr>
      </a:lvl2pPr>
      <a:lvl3pPr marL="864009" indent="-360004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" pitchFamily="2" charset="2"/>
        <a:buChar char="l"/>
        <a:defRPr kumimoji="0" sz="2800" kern="1200">
          <a:solidFill>
            <a:schemeClr val="tx1"/>
          </a:solidFill>
          <a:latin typeface="华文新魏" pitchFamily="2" charset="-122"/>
          <a:ea typeface="华文新魏" pitchFamily="2" charset="-122"/>
          <a:cs typeface="+mn-cs"/>
        </a:defRPr>
      </a:lvl3pPr>
      <a:lvl4pPr marL="1097291" indent="-228602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400" kern="1200">
          <a:solidFill>
            <a:schemeClr val="tx1"/>
          </a:solidFill>
          <a:latin typeface="华文新魏" pitchFamily="2" charset="-122"/>
          <a:ea typeface="华文新魏" pitchFamily="2" charset="-122"/>
          <a:cs typeface="+mn-cs"/>
        </a:defRPr>
      </a:lvl4pPr>
      <a:lvl5pPr marL="1371614" indent="-228602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华文新魏" pitchFamily="2" charset="-122"/>
          <a:ea typeface="华文新魏" pitchFamily="2" charset="-122"/>
          <a:cs typeface="+mn-cs"/>
        </a:defRPr>
      </a:lvl5pPr>
      <a:lvl6pPr marL="1645937" indent="-228602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59" indent="-228602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82" indent="-228602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904" indent="-228602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1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27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3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3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7" Type="http://schemas.openxmlformats.org/officeDocument/2006/relationships/image" Target="../media/image8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5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8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0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2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5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wmf"/><Relationship Id="rId4" Type="http://schemas.openxmlformats.org/officeDocument/2006/relationships/oleObject" Target="../embeddings/oleObject17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wmf"/><Relationship Id="rId4" Type="http://schemas.openxmlformats.org/officeDocument/2006/relationships/oleObject" Target="../embeddings/oleObject25.bin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wmf"/><Relationship Id="rId4" Type="http://schemas.openxmlformats.org/officeDocument/2006/relationships/oleObject" Target="../embeddings/oleObject27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gif"/><Relationship Id="rId13" Type="http://schemas.openxmlformats.org/officeDocument/2006/relationships/image" Target="http://col.njtu.edu.cn/jingpinke/szlj/shuziwangluo/fulu/images/fuhao6.gif" TargetMode="External"/><Relationship Id="rId18" Type="http://schemas.openxmlformats.org/officeDocument/2006/relationships/image" Target="../media/image43.gif"/><Relationship Id="rId26" Type="http://schemas.openxmlformats.org/officeDocument/2006/relationships/image" Target="../media/image47.gif"/><Relationship Id="rId3" Type="http://schemas.openxmlformats.org/officeDocument/2006/relationships/image" Target="http://col.njtu.edu.cn/jingpinke/szlj/shuziwangluo/fulu/images/fuhao1.gif" TargetMode="External"/><Relationship Id="rId21" Type="http://schemas.openxmlformats.org/officeDocument/2006/relationships/image" Target="http://col.njtu.edu.cn/jingpinke/szlj/shuziwangluo/fulu/images/fuhao10.gif" TargetMode="External"/><Relationship Id="rId7" Type="http://schemas.openxmlformats.org/officeDocument/2006/relationships/image" Target="http://col.njtu.edu.cn/jingpinke/szlj/shuziwangluo/fulu/images/fuhao3.gif" TargetMode="External"/><Relationship Id="rId12" Type="http://schemas.openxmlformats.org/officeDocument/2006/relationships/image" Target="../media/image40.gif"/><Relationship Id="rId17" Type="http://schemas.openxmlformats.org/officeDocument/2006/relationships/image" Target="http://col.njtu.edu.cn/jingpinke/szlj/shuziwangluo/fulu/images/fuhao8.gif" TargetMode="External"/><Relationship Id="rId25" Type="http://schemas.openxmlformats.org/officeDocument/2006/relationships/image" Target="http://col.njtu.edu.cn/jingpinke/szlj/shuziwangluo/fulu/images/fuhao12.gif" TargetMode="External"/><Relationship Id="rId2" Type="http://schemas.openxmlformats.org/officeDocument/2006/relationships/image" Target="../media/image35.gif"/><Relationship Id="rId16" Type="http://schemas.openxmlformats.org/officeDocument/2006/relationships/image" Target="../media/image42.gif"/><Relationship Id="rId20" Type="http://schemas.openxmlformats.org/officeDocument/2006/relationships/image" Target="../media/image44.gif"/><Relationship Id="rId29" Type="http://schemas.openxmlformats.org/officeDocument/2006/relationships/image" Target="http://col.njtu.edu.cn/jingpinke/szlj/shuziwangluo/fulu/images/fuhao14.gif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gif"/><Relationship Id="rId11" Type="http://schemas.openxmlformats.org/officeDocument/2006/relationships/image" Target="http://col.njtu.edu.cn/jingpinke/szlj/shuziwangluo/fulu/images/fuhao5.gif" TargetMode="External"/><Relationship Id="rId24" Type="http://schemas.openxmlformats.org/officeDocument/2006/relationships/image" Target="../media/image46.gif"/><Relationship Id="rId5" Type="http://schemas.openxmlformats.org/officeDocument/2006/relationships/image" Target="http://col.njtu.edu.cn/jingpinke/szlj/shuziwangluo/fulu/images/fuhao2.gif" TargetMode="External"/><Relationship Id="rId15" Type="http://schemas.openxmlformats.org/officeDocument/2006/relationships/image" Target="http://col.njtu.edu.cn/jingpinke/szlj/shuziwangluo/fulu/images/fuhao7.gif" TargetMode="External"/><Relationship Id="rId23" Type="http://schemas.openxmlformats.org/officeDocument/2006/relationships/image" Target="http://col.njtu.edu.cn/jingpinke/szlj/shuziwangluo/fulu/images/fuhao11.gif" TargetMode="External"/><Relationship Id="rId28" Type="http://schemas.openxmlformats.org/officeDocument/2006/relationships/image" Target="../media/image48.gif"/><Relationship Id="rId10" Type="http://schemas.openxmlformats.org/officeDocument/2006/relationships/image" Target="../media/image39.gif"/><Relationship Id="rId19" Type="http://schemas.openxmlformats.org/officeDocument/2006/relationships/image" Target="http://col.njtu.edu.cn/jingpinke/szlj/shuziwangluo/fulu/images/fuhao9.gif" TargetMode="External"/><Relationship Id="rId4" Type="http://schemas.openxmlformats.org/officeDocument/2006/relationships/image" Target="../media/image36.gif"/><Relationship Id="rId9" Type="http://schemas.openxmlformats.org/officeDocument/2006/relationships/image" Target="http://col.njtu.edu.cn/jingpinke/szlj/shuziwangluo/fulu/images/fuhao4.gif" TargetMode="External"/><Relationship Id="rId14" Type="http://schemas.openxmlformats.org/officeDocument/2006/relationships/image" Target="../media/image41.gif"/><Relationship Id="rId22" Type="http://schemas.openxmlformats.org/officeDocument/2006/relationships/image" Target="../media/image45.gif"/><Relationship Id="rId27" Type="http://schemas.openxmlformats.org/officeDocument/2006/relationships/image" Target="http://col.njtu.edu.cn/jingpinke/szlj/shuziwangluo/fulu/images/fuhao13.gif" TargetMode="Externa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gif"/><Relationship Id="rId13" Type="http://schemas.openxmlformats.org/officeDocument/2006/relationships/image" Target="http://col.njtu.edu.cn/jingpinke/szlj/shuziwangluo/fulu/images/fuhao24.gif" TargetMode="External"/><Relationship Id="rId18" Type="http://schemas.openxmlformats.org/officeDocument/2006/relationships/image" Target="../media/image57.gif"/><Relationship Id="rId26" Type="http://schemas.openxmlformats.org/officeDocument/2006/relationships/image" Target="../media/image61.gif"/><Relationship Id="rId3" Type="http://schemas.openxmlformats.org/officeDocument/2006/relationships/image" Target="http://col.njtu.edu.cn/jingpinke/szlj/shuziwangluo/fulu/images/fuhao27.gif" TargetMode="External"/><Relationship Id="rId21" Type="http://schemas.openxmlformats.org/officeDocument/2006/relationships/image" Target="http://col.njtu.edu.cn/jingpinke/szlj/shuziwangluo/fulu/images/fuhao20.gif" TargetMode="External"/><Relationship Id="rId7" Type="http://schemas.openxmlformats.org/officeDocument/2006/relationships/image" Target="http://col.njtu.edu.cn/jingpinke/szlj/shuziwangluo/fulu/images/fuhao29.gif" TargetMode="External"/><Relationship Id="rId12" Type="http://schemas.openxmlformats.org/officeDocument/2006/relationships/image" Target="../media/image54.gif"/><Relationship Id="rId17" Type="http://schemas.openxmlformats.org/officeDocument/2006/relationships/image" Target="http://col.njtu.edu.cn/jingpinke/szlj/shuziwangluo/fulu/images/fuhao26.gif" TargetMode="External"/><Relationship Id="rId25" Type="http://schemas.openxmlformats.org/officeDocument/2006/relationships/image" Target="http://col.njtu.edu.cn/jingpinke/szlj/shuziwangluo/fulu/images/fuhao22.gif" TargetMode="External"/><Relationship Id="rId2" Type="http://schemas.openxmlformats.org/officeDocument/2006/relationships/image" Target="../media/image49.gif"/><Relationship Id="rId16" Type="http://schemas.openxmlformats.org/officeDocument/2006/relationships/image" Target="../media/image56.gif"/><Relationship Id="rId20" Type="http://schemas.openxmlformats.org/officeDocument/2006/relationships/image" Target="../media/image58.gif"/><Relationship Id="rId29" Type="http://schemas.openxmlformats.org/officeDocument/2006/relationships/image" Target="http://col.njtu.edu.cn/jingpinke/szlj/shuziwangluo/fulu/images/fuhao16.gif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gif"/><Relationship Id="rId11" Type="http://schemas.openxmlformats.org/officeDocument/2006/relationships/image" Target="http://col.njtu.edu.cn/jingpinke/szlj/shuziwangluo/fulu/images/fuhao23.gif" TargetMode="External"/><Relationship Id="rId24" Type="http://schemas.openxmlformats.org/officeDocument/2006/relationships/image" Target="../media/image60.gif"/><Relationship Id="rId32" Type="http://schemas.openxmlformats.org/officeDocument/2006/relationships/image" Target="http://col.njtu.edu.cn/jingpinke/szlj/shuziwangluo/fulu/images/fuhao18.gif" TargetMode="External"/><Relationship Id="rId5" Type="http://schemas.openxmlformats.org/officeDocument/2006/relationships/image" Target="http://col.njtu.edu.cn/jingpinke/szlj/shuziwangluo/fulu/images/fuhao28.gif" TargetMode="External"/><Relationship Id="rId15" Type="http://schemas.openxmlformats.org/officeDocument/2006/relationships/image" Target="http://col.njtu.edu.cn/jingpinke/szlj/shuziwangluo/fulu/images/fuhao25.gif" TargetMode="External"/><Relationship Id="rId23" Type="http://schemas.openxmlformats.org/officeDocument/2006/relationships/image" Target="http://col.njtu.edu.cn/jingpinke/szlj/shuziwangluo/fulu/images/fuhao21.gif" TargetMode="External"/><Relationship Id="rId28" Type="http://schemas.openxmlformats.org/officeDocument/2006/relationships/image" Target="../media/image62.gif"/><Relationship Id="rId10" Type="http://schemas.openxmlformats.org/officeDocument/2006/relationships/image" Target="../media/image53.gif"/><Relationship Id="rId19" Type="http://schemas.openxmlformats.org/officeDocument/2006/relationships/image" Target="http://col.njtu.edu.cn/jingpinke/szlj/shuziwangluo/fulu/images/fuhao19.gif" TargetMode="External"/><Relationship Id="rId31" Type="http://schemas.openxmlformats.org/officeDocument/2006/relationships/image" Target="http://col.njtu.edu.cn/jingpinke/szlj/shuziwangluo/fulu/images/fuhao17.gif" TargetMode="External"/><Relationship Id="rId4" Type="http://schemas.openxmlformats.org/officeDocument/2006/relationships/image" Target="../media/image50.gif"/><Relationship Id="rId9" Type="http://schemas.openxmlformats.org/officeDocument/2006/relationships/image" Target="http://col.njtu.edu.cn/jingpinke/szlj/shuziwangluo/fulu/images/fuhao30.gif" TargetMode="External"/><Relationship Id="rId14" Type="http://schemas.openxmlformats.org/officeDocument/2006/relationships/image" Target="../media/image55.gif"/><Relationship Id="rId22" Type="http://schemas.openxmlformats.org/officeDocument/2006/relationships/image" Target="../media/image59.gif"/><Relationship Id="rId27" Type="http://schemas.openxmlformats.org/officeDocument/2006/relationships/image" Target="http://col.njtu.edu.cn/jingpinke/szlj/shuziwangluo/fulu/images/fuhao15.gif" TargetMode="External"/><Relationship Id="rId30" Type="http://schemas.openxmlformats.org/officeDocument/2006/relationships/image" Target="../media/image63.gif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3" Type="http://schemas.openxmlformats.org/officeDocument/2006/relationships/image" Target="../media/image64.wmf"/><Relationship Id="rId7" Type="http://schemas.openxmlformats.org/officeDocument/2006/relationships/image" Target="../media/image66.w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68.wmf"/><Relationship Id="rId5" Type="http://schemas.openxmlformats.org/officeDocument/2006/relationships/image" Target="../media/image65.wmf"/><Relationship Id="rId10" Type="http://schemas.openxmlformats.org/officeDocument/2006/relationships/oleObject" Target="../embeddings/oleObject32.bin"/><Relationship Id="rId4" Type="http://schemas.openxmlformats.org/officeDocument/2006/relationships/oleObject" Target="../embeddings/oleObject29.bin"/><Relationship Id="rId9" Type="http://schemas.openxmlformats.org/officeDocument/2006/relationships/image" Target="../media/image67.w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wmf"/><Relationship Id="rId7" Type="http://schemas.openxmlformats.org/officeDocument/2006/relationships/image" Target="../media/image71.wmf"/><Relationship Id="rId2" Type="http://schemas.openxmlformats.org/officeDocument/2006/relationships/oleObject" Target="../embeddings/oleObject3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5.bin"/><Relationship Id="rId5" Type="http://schemas.openxmlformats.org/officeDocument/2006/relationships/image" Target="../media/image70.wmf"/><Relationship Id="rId4" Type="http://schemas.openxmlformats.org/officeDocument/2006/relationships/oleObject" Target="../embeddings/oleObject34.bin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wmf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wmf"/><Relationship Id="rId4" Type="http://schemas.openxmlformats.org/officeDocument/2006/relationships/oleObject" Target="../embeddings/oleObject37.bin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2" Type="http://schemas.openxmlformats.org/officeDocument/2006/relationships/oleObject" Target="../embeddings/oleObject38.bin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3" Type="http://schemas.openxmlformats.org/officeDocument/2006/relationships/image" Target="../media/image75.wmf"/><Relationship Id="rId7" Type="http://schemas.openxmlformats.org/officeDocument/2006/relationships/image" Target="../media/image77.wmf"/><Relationship Id="rId2" Type="http://schemas.openxmlformats.org/officeDocument/2006/relationships/oleObject" Target="../embeddings/oleObject3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1.bin"/><Relationship Id="rId11" Type="http://schemas.openxmlformats.org/officeDocument/2006/relationships/image" Target="../media/image79.wmf"/><Relationship Id="rId5" Type="http://schemas.openxmlformats.org/officeDocument/2006/relationships/image" Target="../media/image76.wmf"/><Relationship Id="rId10" Type="http://schemas.openxmlformats.org/officeDocument/2006/relationships/oleObject" Target="../embeddings/oleObject43.bin"/><Relationship Id="rId4" Type="http://schemas.openxmlformats.org/officeDocument/2006/relationships/oleObject" Target="../embeddings/oleObject40.bin"/><Relationship Id="rId9" Type="http://schemas.openxmlformats.org/officeDocument/2006/relationships/image" Target="../media/image78.wmf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wmf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1.wmf"/><Relationship Id="rId4" Type="http://schemas.openxmlformats.org/officeDocument/2006/relationships/oleObject" Target="../embeddings/oleObject45.bin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.bin"/><Relationship Id="rId3" Type="http://schemas.openxmlformats.org/officeDocument/2006/relationships/image" Target="../media/image82.wmf"/><Relationship Id="rId7" Type="http://schemas.openxmlformats.org/officeDocument/2006/relationships/image" Target="../media/image84.wmf"/><Relationship Id="rId2" Type="http://schemas.openxmlformats.org/officeDocument/2006/relationships/oleObject" Target="../embeddings/oleObject4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8.bin"/><Relationship Id="rId11" Type="http://schemas.openxmlformats.org/officeDocument/2006/relationships/image" Target="../media/image86.wmf"/><Relationship Id="rId5" Type="http://schemas.openxmlformats.org/officeDocument/2006/relationships/image" Target="../media/image83.wmf"/><Relationship Id="rId10" Type="http://schemas.openxmlformats.org/officeDocument/2006/relationships/oleObject" Target="../embeddings/oleObject50.bin"/><Relationship Id="rId4" Type="http://schemas.openxmlformats.org/officeDocument/2006/relationships/oleObject" Target="../embeddings/oleObject47.bin"/><Relationship Id="rId9" Type="http://schemas.openxmlformats.org/officeDocument/2006/relationships/image" Target="../media/image85.wmf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.bin"/><Relationship Id="rId3" Type="http://schemas.openxmlformats.org/officeDocument/2006/relationships/image" Target="../media/image87.wmf"/><Relationship Id="rId7" Type="http://schemas.openxmlformats.org/officeDocument/2006/relationships/image" Target="../media/image89.wmf"/><Relationship Id="rId2" Type="http://schemas.openxmlformats.org/officeDocument/2006/relationships/oleObject" Target="../embeddings/oleObject5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3.bin"/><Relationship Id="rId11" Type="http://schemas.openxmlformats.org/officeDocument/2006/relationships/image" Target="../media/image91.wmf"/><Relationship Id="rId5" Type="http://schemas.openxmlformats.org/officeDocument/2006/relationships/image" Target="../media/image88.wmf"/><Relationship Id="rId10" Type="http://schemas.openxmlformats.org/officeDocument/2006/relationships/oleObject" Target="../embeddings/oleObject55.bin"/><Relationship Id="rId4" Type="http://schemas.openxmlformats.org/officeDocument/2006/relationships/oleObject" Target="../embeddings/oleObject52.bin"/><Relationship Id="rId9" Type="http://schemas.openxmlformats.org/officeDocument/2006/relationships/image" Target="../media/image90.wmf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.bin"/><Relationship Id="rId3" Type="http://schemas.openxmlformats.org/officeDocument/2006/relationships/image" Target="../media/image92.wmf"/><Relationship Id="rId7" Type="http://schemas.openxmlformats.org/officeDocument/2006/relationships/image" Target="../media/image94.wmf"/><Relationship Id="rId2" Type="http://schemas.openxmlformats.org/officeDocument/2006/relationships/oleObject" Target="../embeddings/oleObject5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8.bin"/><Relationship Id="rId11" Type="http://schemas.openxmlformats.org/officeDocument/2006/relationships/image" Target="../media/image96.wmf"/><Relationship Id="rId5" Type="http://schemas.openxmlformats.org/officeDocument/2006/relationships/image" Target="../media/image93.wmf"/><Relationship Id="rId10" Type="http://schemas.openxmlformats.org/officeDocument/2006/relationships/oleObject" Target="../embeddings/oleObject60.bin"/><Relationship Id="rId4" Type="http://schemas.openxmlformats.org/officeDocument/2006/relationships/oleObject" Target="../embeddings/oleObject57.bin"/><Relationship Id="rId9" Type="http://schemas.openxmlformats.org/officeDocument/2006/relationships/image" Target="../media/image95.wmf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wmf"/><Relationship Id="rId2" Type="http://schemas.openxmlformats.org/officeDocument/2006/relationships/oleObject" Target="../embeddings/oleObject6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8.wmf"/><Relationship Id="rId4" Type="http://schemas.openxmlformats.org/officeDocument/2006/relationships/oleObject" Target="../embeddings/oleObject62.bin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wmf"/><Relationship Id="rId2" Type="http://schemas.openxmlformats.org/officeDocument/2006/relationships/oleObject" Target="../embeddings/oleObject63.bin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wmf"/><Relationship Id="rId2" Type="http://schemas.openxmlformats.org/officeDocument/2006/relationships/oleObject" Target="../embeddings/oleObject6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1.wmf"/><Relationship Id="rId4" Type="http://schemas.openxmlformats.org/officeDocument/2006/relationships/oleObject" Target="../embeddings/oleObject65.bin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9.bin"/><Relationship Id="rId13" Type="http://schemas.openxmlformats.org/officeDocument/2006/relationships/image" Target="../media/image107.wmf"/><Relationship Id="rId3" Type="http://schemas.openxmlformats.org/officeDocument/2006/relationships/image" Target="../media/image102.wmf"/><Relationship Id="rId7" Type="http://schemas.openxmlformats.org/officeDocument/2006/relationships/image" Target="../media/image104.wmf"/><Relationship Id="rId12" Type="http://schemas.openxmlformats.org/officeDocument/2006/relationships/oleObject" Target="../embeddings/oleObject71.bin"/><Relationship Id="rId2" Type="http://schemas.openxmlformats.org/officeDocument/2006/relationships/oleObject" Target="../embeddings/oleObject6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8.bin"/><Relationship Id="rId11" Type="http://schemas.openxmlformats.org/officeDocument/2006/relationships/image" Target="../media/image106.wmf"/><Relationship Id="rId5" Type="http://schemas.openxmlformats.org/officeDocument/2006/relationships/image" Target="../media/image103.wmf"/><Relationship Id="rId10" Type="http://schemas.openxmlformats.org/officeDocument/2006/relationships/oleObject" Target="../embeddings/oleObject70.bin"/><Relationship Id="rId4" Type="http://schemas.openxmlformats.org/officeDocument/2006/relationships/oleObject" Target="../embeddings/oleObject67.bin"/><Relationship Id="rId9" Type="http://schemas.openxmlformats.org/officeDocument/2006/relationships/image" Target="../media/image105.wmf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8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242226" y="3573477"/>
            <a:ext cx="4800600" cy="2376487"/>
          </a:xfrm>
          <a:noFill/>
          <a:ln/>
        </p:spPr>
        <p:txBody>
          <a:bodyPr lIns="91440" tIns="45720" rIns="91440" bIns="45720" anchor="t">
            <a:normAutofit/>
          </a:bodyPr>
          <a:lstStyle/>
          <a:p>
            <a:r>
              <a:rPr lang="zh-CN" altLang="en-US" dirty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清華大學電腦系</a:t>
            </a:r>
          </a:p>
          <a:p>
            <a:r>
              <a:rPr lang="zh-CN" altLang="en-US" dirty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陶品</a:t>
            </a:r>
          </a:p>
          <a:p>
            <a:r>
              <a:rPr lang="en-US" altLang="zh-CN" sz="2400" dirty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taopin@tsinghua.edu.cn</a:t>
            </a:r>
          </a:p>
          <a:p>
            <a:r>
              <a:rPr lang="zh-CN" altLang="en-US" sz="2000" dirty="0">
                <a:latin typeface="华文楷体" pitchFamily="2" charset="-122"/>
                <a:ea typeface="华文楷体" pitchFamily="2" charset="-122"/>
              </a:rPr>
              <a:t>辦公室：</a:t>
            </a:r>
            <a:r>
              <a:rPr lang="en-US" altLang="zh-CN" sz="2000" dirty="0">
                <a:latin typeface="华文楷体" pitchFamily="2" charset="-122"/>
                <a:ea typeface="华文楷体" pitchFamily="2" charset="-122"/>
              </a:rPr>
              <a:t>FIT 3</a:t>
            </a:r>
            <a:r>
              <a:rPr lang="zh-CN" altLang="en-US" sz="2000" dirty="0">
                <a:latin typeface="华文楷体" pitchFamily="2" charset="-122"/>
                <a:ea typeface="华文楷体" pitchFamily="2" charset="-122"/>
              </a:rPr>
              <a:t>－</a:t>
            </a:r>
            <a:r>
              <a:rPr lang="en-US" altLang="zh-CN" sz="2000" dirty="0">
                <a:latin typeface="华文楷体" pitchFamily="2" charset="-122"/>
                <a:ea typeface="华文楷体" pitchFamily="2" charset="-122"/>
              </a:rPr>
              <a:t>531 </a:t>
            </a:r>
            <a:r>
              <a:rPr lang="zh-CN" altLang="en-US" sz="2000" dirty="0">
                <a:latin typeface="华文楷体" pitchFamily="2" charset="-122"/>
                <a:ea typeface="华文楷体" pitchFamily="2" charset="-122"/>
              </a:rPr>
              <a:t>（</a:t>
            </a:r>
            <a:r>
              <a:rPr lang="en-US" altLang="zh-CN" sz="2000" dirty="0">
                <a:latin typeface="华文楷体" pitchFamily="2" charset="-122"/>
                <a:ea typeface="华文楷体" pitchFamily="2" charset="-122"/>
              </a:rPr>
              <a:t>13717813059</a:t>
            </a:r>
            <a:r>
              <a:rPr lang="zh-CN" altLang="en-US" sz="2000" dirty="0">
                <a:latin typeface="华文楷体" pitchFamily="2" charset="-122"/>
                <a:ea typeface="华文楷体" pitchFamily="2" charset="-122"/>
              </a:rPr>
              <a:t>）</a:t>
            </a:r>
            <a:endParaRPr lang="en-US" altLang="zh-CN" sz="2000" dirty="0"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229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01671" y="1412889"/>
            <a:ext cx="5829300" cy="1592263"/>
          </a:xfrm>
        </p:spPr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华文楷体" pitchFamily="2" charset="-122"/>
                <a:ea typeface="华文楷体" pitchFamily="2" charset="-122"/>
              </a:rPr>
              <a:t>數位邏輯電路</a:t>
            </a:r>
            <a:endParaRPr lang="en-US" altLang="zh-CN" sz="3200" dirty="0">
              <a:solidFill>
                <a:srgbClr val="000000"/>
              </a:solidFill>
              <a:latin typeface="华文楷体" pitchFamily="2" charset="-122"/>
              <a:ea typeface="华文楷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08710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課程基本情況（</a:t>
            </a:r>
            <a:r>
              <a:rPr lang="en-US" altLang="zh-CN" dirty="0"/>
              <a:t>5</a:t>
            </a:r>
            <a:r>
              <a:rPr lang="zh-CN" altLang="en-US" dirty="0"/>
              <a:t>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381F3-B85C-4CB8-89E8-2A40C90A23BC}" type="slidenum">
              <a:rPr lang="en-US" altLang="zh-CN"/>
              <a:pPr/>
              <a:t>2</a:t>
            </a:fld>
            <a:endParaRPr lang="en-US" altLang="zh-CN" dirty="0"/>
          </a:p>
        </p:txBody>
      </p:sp>
      <p:sp>
        <p:nvSpPr>
          <p:cNvPr id="9625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67544" y="1524000"/>
            <a:ext cx="8568952" cy="4497288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zh-CN" altLang="en-US" sz="2800" dirty="0">
                <a:latin typeface="宋体" panose="02010600030101010101" pitchFamily="2" charset="-122"/>
              </a:rPr>
              <a:t>教學形式：</a:t>
            </a:r>
            <a:r>
              <a:rPr lang="zh-CN" altLang="en-US" sz="2400" dirty="0">
                <a:latin typeface="宋体" panose="02010600030101010101" pitchFamily="2" charset="-122"/>
              </a:rPr>
              <a:t>講課，輔導，網上、定時和現場答疑</a:t>
            </a:r>
            <a:endParaRPr lang="zh-CN" altLang="en-US" sz="2400" dirty="0"/>
          </a:p>
          <a:p>
            <a:pPr algn="just">
              <a:lnSpc>
                <a:spcPct val="90000"/>
              </a:lnSpc>
            </a:pPr>
            <a:r>
              <a:rPr lang="zh-CN" altLang="en-US" sz="2800" dirty="0">
                <a:latin typeface="宋体" panose="02010600030101010101" pitchFamily="2" charset="-122"/>
              </a:rPr>
              <a:t>學時安排：</a:t>
            </a:r>
            <a:r>
              <a:rPr lang="en-US" altLang="zh-CN" sz="2800" dirty="0">
                <a:latin typeface="宋体" panose="02010600030101010101" pitchFamily="2" charset="-122"/>
              </a:rPr>
              <a:t>3</a:t>
            </a:r>
            <a:r>
              <a:rPr lang="zh-CN" altLang="en-US" sz="2800" dirty="0">
                <a:latin typeface="宋体" panose="02010600030101010101" pitchFamily="2" charset="-122"/>
              </a:rPr>
              <a:t>學分，共</a:t>
            </a:r>
            <a:r>
              <a:rPr lang="en-US" altLang="zh-CN" sz="2800" dirty="0">
                <a:latin typeface="宋体" panose="02010600030101010101" pitchFamily="2" charset="-122"/>
              </a:rPr>
              <a:t>48</a:t>
            </a:r>
            <a:r>
              <a:rPr lang="zh-CN" altLang="en-US" sz="2800" dirty="0">
                <a:latin typeface="宋体" panose="02010600030101010101" pitchFamily="2" charset="-122"/>
              </a:rPr>
              <a:t>學時</a:t>
            </a:r>
          </a:p>
          <a:p>
            <a:pPr>
              <a:lnSpc>
                <a:spcPct val="90000"/>
              </a:lnSpc>
            </a:pPr>
            <a:r>
              <a:rPr lang="zh-CN" altLang="en-US" sz="2800" dirty="0">
                <a:latin typeface="宋体" panose="02010600030101010101" pitchFamily="2" charset="-122"/>
              </a:rPr>
              <a:t>教學內容</a:t>
            </a:r>
            <a:r>
              <a:rPr lang="zh-CN" altLang="en-US" sz="2800" dirty="0"/>
              <a:t> 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latin typeface="宋体" panose="02010600030101010101" pitchFamily="2" charset="-122"/>
              </a:rPr>
              <a:t>第一章：前言和基本知識介紹  （第</a:t>
            </a:r>
            <a:r>
              <a:rPr lang="en-US" altLang="zh-CN" sz="2400" dirty="0">
                <a:latin typeface="宋体" panose="02010600030101010101" pitchFamily="2" charset="-122"/>
              </a:rPr>
              <a:t>1</a:t>
            </a:r>
            <a:r>
              <a:rPr lang="zh-CN" altLang="en-US" sz="2400" dirty="0">
                <a:latin typeface="宋体" panose="02010600030101010101" pitchFamily="2" charset="-122"/>
              </a:rPr>
              <a:t>周，前</a:t>
            </a:r>
            <a:r>
              <a:rPr lang="en-US" altLang="zh-CN" sz="2400" dirty="0">
                <a:latin typeface="宋体" panose="02010600030101010101" pitchFamily="2" charset="-122"/>
              </a:rPr>
              <a:t>3</a:t>
            </a:r>
            <a:r>
              <a:rPr lang="zh-CN" altLang="en-US" sz="2400" dirty="0">
                <a:latin typeface="宋体" panose="02010600030101010101" pitchFamily="2" charset="-122"/>
              </a:rPr>
              <a:t>學時）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第二章  邏輯代數和化簡方法  （第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</a:rPr>
              <a:t>3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周，共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</a:rPr>
              <a:t>6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學時）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第三章：門電路 	        （第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</a:rPr>
              <a:t>4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周，共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</a:rPr>
              <a:t>3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學時）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第四章：組合邏輯電路        （第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</a:rPr>
              <a:t>5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～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</a:rPr>
              <a:t>7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周，共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</a:rPr>
              <a:t>9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學時）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latin typeface="宋体" panose="02010600030101010101" pitchFamily="2" charset="-122"/>
              </a:rPr>
              <a:t>第五章：時序邏輯電路        （第</a:t>
            </a:r>
            <a:r>
              <a:rPr lang="en-US" altLang="zh-CN" sz="2400" dirty="0">
                <a:latin typeface="宋体" panose="02010600030101010101" pitchFamily="2" charset="-122"/>
              </a:rPr>
              <a:t>8</a:t>
            </a:r>
            <a:r>
              <a:rPr lang="zh-CN" altLang="en-US" sz="2400" dirty="0">
                <a:latin typeface="宋体" panose="02010600030101010101" pitchFamily="2" charset="-122"/>
              </a:rPr>
              <a:t>～</a:t>
            </a:r>
            <a:r>
              <a:rPr lang="en-US" altLang="zh-CN" sz="2400" dirty="0">
                <a:latin typeface="宋体" panose="02010600030101010101" pitchFamily="2" charset="-122"/>
              </a:rPr>
              <a:t>12</a:t>
            </a:r>
            <a:r>
              <a:rPr lang="zh-CN" altLang="en-US" sz="2400" dirty="0">
                <a:latin typeface="宋体" panose="02010600030101010101" pitchFamily="2" charset="-122"/>
              </a:rPr>
              <a:t>周，共</a:t>
            </a:r>
            <a:r>
              <a:rPr lang="en-US" altLang="zh-CN" sz="2400" dirty="0">
                <a:latin typeface="宋体" panose="02010600030101010101" pitchFamily="2" charset="-122"/>
              </a:rPr>
              <a:t>15</a:t>
            </a:r>
            <a:r>
              <a:rPr lang="zh-CN" altLang="en-US" sz="2400" dirty="0">
                <a:latin typeface="宋体" panose="02010600030101010101" pitchFamily="2" charset="-122"/>
              </a:rPr>
              <a:t>學時）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latin typeface="宋体" panose="02010600030101010101" pitchFamily="2" charset="-122"/>
              </a:rPr>
              <a:t>第六章：可程式設計邏輯電路	   （第</a:t>
            </a:r>
            <a:r>
              <a:rPr lang="en-US" altLang="zh-CN" sz="2400" dirty="0">
                <a:latin typeface="宋体" panose="02010600030101010101" pitchFamily="2" charset="-122"/>
              </a:rPr>
              <a:t>13</a:t>
            </a:r>
            <a:r>
              <a:rPr lang="zh-CN" altLang="en-US" sz="2400" dirty="0">
                <a:latin typeface="宋体" panose="02010600030101010101" pitchFamily="2" charset="-122"/>
              </a:rPr>
              <a:t>～</a:t>
            </a:r>
            <a:r>
              <a:rPr lang="en-US" altLang="zh-CN" sz="2400" dirty="0">
                <a:latin typeface="宋体" panose="02010600030101010101" pitchFamily="2" charset="-122"/>
              </a:rPr>
              <a:t>15</a:t>
            </a:r>
            <a:r>
              <a:rPr lang="zh-CN" altLang="en-US" sz="2400" dirty="0">
                <a:latin typeface="宋体" panose="02010600030101010101" pitchFamily="2" charset="-122"/>
              </a:rPr>
              <a:t>周，共</a:t>
            </a:r>
            <a:r>
              <a:rPr lang="en-US" altLang="zh-CN" sz="2400" dirty="0">
                <a:latin typeface="宋体" panose="02010600030101010101" pitchFamily="2" charset="-122"/>
              </a:rPr>
              <a:t>9</a:t>
            </a:r>
            <a:r>
              <a:rPr lang="zh-CN" altLang="en-US" sz="2400" dirty="0">
                <a:latin typeface="宋体" panose="02010600030101010101" pitchFamily="2" charset="-122"/>
              </a:rPr>
              <a:t>學時）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latin typeface="宋体" panose="02010600030101010101" pitchFamily="2" charset="-122"/>
              </a:rPr>
              <a:t>數字邏輯電路課程總複習	  （第</a:t>
            </a:r>
            <a:r>
              <a:rPr lang="en-US" altLang="zh-CN" sz="2400" dirty="0">
                <a:latin typeface="宋体" panose="02010600030101010101" pitchFamily="2" charset="-122"/>
              </a:rPr>
              <a:t>16</a:t>
            </a:r>
            <a:r>
              <a:rPr lang="zh-CN" altLang="en-US" sz="2400" dirty="0">
                <a:latin typeface="宋体" panose="02010600030101010101" pitchFamily="2" charset="-122"/>
              </a:rPr>
              <a:t>周，</a:t>
            </a:r>
            <a:r>
              <a:rPr lang="en-US" altLang="zh-CN" sz="2400" dirty="0">
                <a:latin typeface="宋体" panose="02010600030101010101" pitchFamily="2" charset="-122"/>
              </a:rPr>
              <a:t>3</a:t>
            </a:r>
            <a:r>
              <a:rPr lang="zh-CN" altLang="en-US" sz="2400" dirty="0">
                <a:latin typeface="宋体" panose="02010600030101010101" pitchFamily="2" charset="-122"/>
              </a:rPr>
              <a:t>學時）</a:t>
            </a:r>
          </a:p>
        </p:txBody>
      </p:sp>
    </p:spTree>
    <p:extLst>
      <p:ext uri="{BB962C8B-B14F-4D97-AF65-F5344CB8AC3E}">
        <p14:creationId xmlns:p14="http://schemas.microsoft.com/office/powerpoint/2010/main" val="3820477176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95E2-CB68-42E6-A5AF-574D39E186A5}" type="slidenum">
              <a:rPr lang="en-US" altLang="zh-CN" smtClean="0"/>
              <a:pPr/>
              <a:t>3</a:t>
            </a:fld>
            <a:endParaRPr lang="en-US" altLang="zh-CN" dirty="0"/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165"/>
          <a:stretch/>
        </p:blipFill>
        <p:spPr bwMode="auto">
          <a:xfrm>
            <a:off x="809581" y="2095936"/>
            <a:ext cx="6070499" cy="356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521550" y="1460579"/>
            <a:ext cx="3186354" cy="864096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altLang="zh-CN" sz="2800" dirty="0"/>
              <a:t>2.6</a:t>
            </a:r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）～（</a:t>
            </a:r>
            <a:r>
              <a:rPr lang="en-US" altLang="zh-CN" sz="2800" dirty="0"/>
              <a:t>6</a:t>
            </a:r>
            <a:r>
              <a:rPr lang="zh-CN" altLang="en-US" sz="2800" dirty="0"/>
              <a:t>）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作業</a:t>
            </a:r>
          </a:p>
        </p:txBody>
      </p:sp>
    </p:spTree>
    <p:extLst>
      <p:ext uri="{BB962C8B-B14F-4D97-AF65-F5344CB8AC3E}">
        <p14:creationId xmlns:p14="http://schemas.microsoft.com/office/powerpoint/2010/main" val="2666846559"/>
      </p:ext>
    </p:extLst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作業</a:t>
            </a:r>
            <a:endParaRPr lang="zh-CN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6906E-C178-4169-BCEA-6CD24A32C7C1}" type="slidenum">
              <a:rPr lang="en-US" altLang="zh-CN"/>
              <a:pPr/>
              <a:t>4</a:t>
            </a:fld>
            <a:endParaRPr lang="en-US" altLang="zh-CN" dirty="0"/>
          </a:p>
        </p:txBody>
      </p:sp>
      <p:sp>
        <p:nvSpPr>
          <p:cNvPr id="30105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914400" y="1268760"/>
            <a:ext cx="7772400" cy="475252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zh-CN" altLang="en-US" sz="2800" dirty="0"/>
              <a:t>每週一佈置課程作業，請同學們當周周日</a:t>
            </a:r>
            <a:r>
              <a:rPr lang="en-US" altLang="zh-CN" sz="2800" dirty="0"/>
              <a:t>23:59</a:t>
            </a:r>
            <a:r>
              <a:rPr lang="zh-CN" altLang="en-US" sz="2800" dirty="0"/>
              <a:t>之前完成，並在網路學堂的“課程作業”欄目中提交。助教在下周周日</a:t>
            </a:r>
            <a:r>
              <a:rPr lang="en-US" altLang="zh-CN" sz="2800" dirty="0"/>
              <a:t>23:59</a:t>
            </a:r>
            <a:r>
              <a:rPr lang="zh-CN" altLang="en-US" sz="2800" dirty="0"/>
              <a:t>之前批改完成。</a:t>
            </a:r>
            <a:endParaRPr lang="en-US" altLang="zh-CN" sz="2800" dirty="0"/>
          </a:p>
          <a:p>
            <a:pPr>
              <a:lnSpc>
                <a:spcPct val="110000"/>
              </a:lnSpc>
            </a:pPr>
            <a:endParaRPr lang="en-US" altLang="zh-CN" sz="2800" dirty="0"/>
          </a:p>
          <a:p>
            <a:pPr>
              <a:lnSpc>
                <a:spcPct val="110000"/>
              </a:lnSpc>
            </a:pPr>
            <a:r>
              <a:rPr lang="zh-CN" altLang="en-US" sz="2800" dirty="0"/>
              <a:t>因特殊情況未能按時完成，請在第</a:t>
            </a:r>
            <a:r>
              <a:rPr lang="en-US" altLang="zh-CN" sz="2800" dirty="0"/>
              <a:t>16</a:t>
            </a:r>
            <a:r>
              <a:rPr lang="zh-CN" altLang="en-US" sz="2800" dirty="0"/>
              <a:t>周結束之前自行</a:t>
            </a:r>
            <a:r>
              <a:rPr lang="en-US" altLang="zh-CN" sz="2800" dirty="0"/>
              <a:t>email</a:t>
            </a:r>
            <a:r>
              <a:rPr lang="zh-CN" altLang="en-US" sz="2800" dirty="0"/>
              <a:t>聯繫助教補交，補交的每份作業扣</a:t>
            </a:r>
            <a:r>
              <a:rPr lang="en-US" altLang="zh-CN" sz="2800" dirty="0"/>
              <a:t>0.5</a:t>
            </a:r>
            <a:r>
              <a:rPr lang="zh-CN" altLang="en-US" sz="2800" dirty="0"/>
              <a:t>分，缺交一次扣</a:t>
            </a:r>
            <a:r>
              <a:rPr lang="en-US" altLang="zh-CN" sz="2800" dirty="0"/>
              <a:t>2</a:t>
            </a:r>
            <a:r>
              <a:rPr lang="zh-CN" altLang="en-US" sz="2800" dirty="0"/>
              <a:t>分（平時成績共計</a:t>
            </a:r>
            <a:r>
              <a:rPr lang="en-US" altLang="zh-CN" sz="2800" dirty="0"/>
              <a:t>20</a:t>
            </a:r>
            <a:r>
              <a:rPr lang="zh-CN" altLang="en-US" sz="2800" dirty="0"/>
              <a:t>分）。</a:t>
            </a:r>
            <a:endParaRPr lang="en-US" altLang="zh-CN" sz="2800" dirty="0"/>
          </a:p>
          <a:p>
            <a:pPr lvl="1">
              <a:lnSpc>
                <a:spcPct val="110000"/>
              </a:lnSpc>
            </a:pPr>
            <a:r>
              <a:rPr lang="zh-CN" altLang="en-US" sz="2400" dirty="0"/>
              <a:t>計</a:t>
            </a:r>
            <a:r>
              <a:rPr lang="en-US" altLang="zh-CN" sz="2400" dirty="0"/>
              <a:t>31</a:t>
            </a:r>
            <a:r>
              <a:rPr lang="zh-CN" altLang="en-US" sz="2400" dirty="0"/>
              <a:t>，</a:t>
            </a:r>
            <a:r>
              <a:rPr lang="en-US" altLang="zh-CN" sz="2400" dirty="0"/>
              <a:t>32</a:t>
            </a:r>
            <a:r>
              <a:rPr lang="zh-CN" altLang="en-US" sz="2400" dirty="0"/>
              <a:t>，</a:t>
            </a:r>
            <a:r>
              <a:rPr lang="en-US" altLang="zh-CN" sz="2400" dirty="0"/>
              <a:t>33</a:t>
            </a:r>
            <a:r>
              <a:rPr lang="zh-CN" altLang="en-US" sz="2400" dirty="0"/>
              <a:t>，</a:t>
            </a:r>
            <a:r>
              <a:rPr lang="en-US" altLang="zh-CN" sz="2400" dirty="0"/>
              <a:t>36</a:t>
            </a:r>
            <a:r>
              <a:rPr lang="zh-CN" altLang="en-US" sz="2400" dirty="0"/>
              <a:t>，</a:t>
            </a:r>
            <a:r>
              <a:rPr lang="en-US" altLang="zh-CN" sz="2400" dirty="0"/>
              <a:t>37</a:t>
            </a:r>
            <a:r>
              <a:rPr lang="zh-CN" altLang="en-US" sz="2400" dirty="0"/>
              <a:t>，</a:t>
            </a:r>
            <a:r>
              <a:rPr lang="en-US" altLang="zh-CN" sz="2400" dirty="0"/>
              <a:t>38</a:t>
            </a:r>
            <a:r>
              <a:rPr lang="zh-CN" altLang="en-US" sz="2400" dirty="0"/>
              <a:t>聯繫</a:t>
            </a:r>
            <a:r>
              <a:rPr lang="en-US" altLang="zh-CN" sz="2400" dirty="0"/>
              <a:t>TA</a:t>
            </a:r>
            <a:r>
              <a:rPr lang="zh-CN" altLang="en-US" sz="2400" dirty="0"/>
              <a:t>，陳助教補交作業</a:t>
            </a:r>
            <a:br>
              <a:rPr lang="en-US" altLang="zh-CN" sz="2400" dirty="0"/>
            </a:br>
            <a:r>
              <a:rPr lang="en-US" altLang="zh-CN" sz="2400" dirty="0"/>
              <a:t>(chenym22@mails.tsinghua.edu.cn)</a:t>
            </a:r>
          </a:p>
          <a:p>
            <a:pPr lvl="1">
              <a:lnSpc>
                <a:spcPct val="110000"/>
              </a:lnSpc>
            </a:pPr>
            <a:r>
              <a:rPr lang="zh-CN" altLang="en-US" sz="2400" dirty="0"/>
              <a:t>計</a:t>
            </a:r>
            <a:r>
              <a:rPr lang="en-US" altLang="zh-CN" sz="2400" dirty="0"/>
              <a:t>34</a:t>
            </a:r>
            <a:r>
              <a:rPr lang="zh-CN" altLang="en-US" sz="2400" dirty="0"/>
              <a:t>，</a:t>
            </a:r>
            <a:r>
              <a:rPr lang="en-US" altLang="zh-CN" sz="2400" dirty="0"/>
              <a:t>35</a:t>
            </a:r>
            <a:r>
              <a:rPr lang="zh-CN" altLang="en-US" sz="2400" dirty="0"/>
              <a:t>及其他班級的同學聯繫</a:t>
            </a:r>
            <a:r>
              <a:rPr lang="en-US" altLang="zh-CN" sz="2400" dirty="0"/>
              <a:t>TA</a:t>
            </a:r>
            <a:r>
              <a:rPr lang="zh-CN" altLang="en-US" sz="2400" dirty="0"/>
              <a:t>，李助教補交作業</a:t>
            </a:r>
            <a:br>
              <a:rPr lang="en-US" altLang="zh-CN" sz="2400" dirty="0"/>
            </a:br>
            <a:r>
              <a:rPr lang="en-US" altLang="zh-CN" sz="2400" dirty="0"/>
              <a:t>(li-yang23@mails.tsinghua.edu.cn)</a:t>
            </a:r>
          </a:p>
        </p:txBody>
      </p:sp>
    </p:spTree>
    <p:extLst>
      <p:ext uri="{BB962C8B-B14F-4D97-AF65-F5344CB8AC3E}">
        <p14:creationId xmlns:p14="http://schemas.microsoft.com/office/powerpoint/2010/main" val="550484018"/>
      </p:ext>
    </p:extLst>
  </p:cSld>
  <p:clrMapOvr>
    <a:masterClrMapping/>
  </p:clrMapOvr>
  <p:transition spd="slow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371600" y="381000"/>
            <a:ext cx="6457950" cy="1143000"/>
          </a:xfrm>
        </p:spPr>
        <p:txBody>
          <a:bodyPr/>
          <a:lstStyle/>
          <a:p>
            <a:r>
              <a:rPr lang="zh-CN" altLang="en-US" dirty="0"/>
              <a:t>第一章 數制和碼制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59675-76BE-427C-BC63-5B1206CD81CC}" type="slidenum">
              <a:rPr lang="en-US" altLang="zh-CN"/>
              <a:pPr/>
              <a:t>5</a:t>
            </a:fld>
            <a:endParaRPr lang="en-US" altLang="zh-CN" dirty="0"/>
          </a:p>
        </p:txBody>
      </p:sp>
      <p:sp>
        <p:nvSpPr>
          <p:cNvPr id="228356" name="Rectangle 1028"/>
          <p:cNvSpPr>
            <a:spLocks noGrp="1" noChangeArrowheads="1"/>
          </p:cNvSpPr>
          <p:nvPr>
            <p:ph sz="quarter" idx="1"/>
          </p:nvPr>
        </p:nvSpPr>
        <p:spPr>
          <a:noFill/>
          <a:ln/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zh-CN" altLang="en-US" dirty="0"/>
              <a:t>本章內容	</a:t>
            </a:r>
          </a:p>
          <a:p>
            <a:pPr>
              <a:buNone/>
            </a:pPr>
            <a:r>
              <a:rPr lang="zh-CN" altLang="en-US" dirty="0"/>
              <a:t>	</a:t>
            </a:r>
            <a:r>
              <a:rPr lang="en-US" altLang="zh-CN" dirty="0"/>
              <a:t>1.1  </a:t>
            </a:r>
            <a:r>
              <a:rPr lang="zh-CN" altLang="en-US" dirty="0"/>
              <a:t>數制</a:t>
            </a:r>
          </a:p>
          <a:p>
            <a:pPr>
              <a:buFont typeface="Wingdings" pitchFamily="2" charset="2"/>
              <a:buNone/>
            </a:pPr>
            <a:r>
              <a:rPr lang="zh-CN" altLang="en-US" dirty="0"/>
              <a:t>	</a:t>
            </a:r>
            <a:r>
              <a:rPr lang="en-US" altLang="zh-CN" dirty="0"/>
              <a:t>1.2  </a:t>
            </a:r>
            <a:r>
              <a:rPr lang="zh-CN" altLang="en-US" dirty="0"/>
              <a:t>碼制</a:t>
            </a:r>
          </a:p>
          <a:p>
            <a:pPr>
              <a:buFont typeface="Wingdings" pitchFamily="2" charset="2"/>
              <a:buNone/>
            </a:pPr>
            <a:r>
              <a:rPr lang="zh-CN" alt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902728216"/>
      </p:ext>
    </p:extLst>
  </p:cSld>
  <p:clrMapOvr>
    <a:masterClrMapping/>
  </p:clrMapOvr>
  <p:transition spd="slow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數制和碼制（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882FF-BDE5-4288-AA77-DA95541367B8}" type="slidenum">
              <a:rPr lang="en-US" altLang="zh-CN"/>
              <a:pPr/>
              <a:t>6</a:t>
            </a:fld>
            <a:endParaRPr lang="en-US" altLang="zh-CN" dirty="0"/>
          </a:p>
        </p:txBody>
      </p:sp>
      <p:sp>
        <p:nvSpPr>
          <p:cNvPr id="23654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67544" y="1484784"/>
            <a:ext cx="8208912" cy="4724400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數制</a:t>
            </a:r>
          </a:p>
          <a:p>
            <a:pPr lvl="1"/>
            <a:r>
              <a:rPr lang="zh-CN" altLang="en-US" dirty="0"/>
              <a:t>十進位、二進位、八進制、十六進位</a:t>
            </a:r>
          </a:p>
          <a:p>
            <a:pPr lvl="1"/>
            <a:r>
              <a:rPr lang="zh-CN" altLang="en-US" dirty="0"/>
              <a:t>數制轉換</a:t>
            </a:r>
          </a:p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碼制</a:t>
            </a:r>
          </a:p>
          <a:p>
            <a:pPr lvl="1"/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十進位數字的二進位編碼</a:t>
            </a:r>
          </a:p>
          <a:p>
            <a:pPr lvl="2"/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8421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碼（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BCD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碼）、餘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3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碼、餘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3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迴圈碼、格雷碼</a:t>
            </a:r>
          </a:p>
          <a:p>
            <a:pPr lvl="1"/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字元編碼</a:t>
            </a:r>
          </a:p>
          <a:p>
            <a:pPr lvl="2"/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7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位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ASCII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、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8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位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ASCII</a:t>
            </a:r>
          </a:p>
        </p:txBody>
      </p:sp>
    </p:spTree>
    <p:extLst>
      <p:ext uri="{BB962C8B-B14F-4D97-AF65-F5344CB8AC3E}">
        <p14:creationId xmlns:p14="http://schemas.microsoft.com/office/powerpoint/2010/main" val="167839599"/>
      </p:ext>
    </p:extLst>
  </p:cSld>
  <p:clrMapOvr>
    <a:masterClrMapping/>
  </p:clrMapOvr>
  <p:transition spd="slow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數制和碼制（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1C0A3-B873-4145-AEDF-D45C08418200}" type="slidenum">
              <a:rPr lang="en-US" altLang="zh-CN"/>
              <a:pPr/>
              <a:t>7</a:t>
            </a:fld>
            <a:endParaRPr lang="en-US" altLang="zh-CN" dirty="0"/>
          </a:p>
        </p:txBody>
      </p:sp>
      <p:sp>
        <p:nvSpPr>
          <p:cNvPr id="2385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67543" y="1484784"/>
            <a:ext cx="8280919" cy="4953000"/>
          </a:xfrm>
        </p:spPr>
        <p:txBody>
          <a:bodyPr/>
          <a:lstStyle/>
          <a:p>
            <a:r>
              <a:rPr lang="zh-CN" altLang="en-US" dirty="0"/>
              <a:t>數制</a:t>
            </a:r>
          </a:p>
          <a:p>
            <a:pPr lvl="1"/>
            <a:r>
              <a:rPr lang="zh-CN" altLang="en-US" dirty="0"/>
              <a:t>一個進位元數目包含兩個基本因素</a:t>
            </a:r>
          </a:p>
          <a:p>
            <a:pPr lvl="2"/>
            <a:r>
              <a:rPr lang="zh-CN" altLang="en-US" dirty="0"/>
              <a:t>基數（</a:t>
            </a: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4</a:t>
            </a:r>
            <a:r>
              <a:rPr lang="zh-CN" altLang="en-US" dirty="0"/>
              <a:t>、</a:t>
            </a:r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zh-CN" dirty="0"/>
              <a:t>7</a:t>
            </a:r>
            <a:r>
              <a:rPr lang="zh-CN" altLang="en-US" dirty="0"/>
              <a:t>、</a:t>
            </a:r>
            <a:r>
              <a:rPr lang="en-US" altLang="zh-CN" dirty="0"/>
              <a:t>5</a:t>
            </a:r>
            <a:r>
              <a:rPr lang="zh-CN" altLang="en-US" dirty="0"/>
              <a:t>）</a:t>
            </a:r>
            <a:endParaRPr lang="en-US" altLang="zh-CN" dirty="0"/>
          </a:p>
          <a:p>
            <a:pPr lvl="2"/>
            <a:r>
              <a:rPr lang="zh-CN" altLang="en-US" dirty="0"/>
              <a:t>位權（</a:t>
            </a:r>
            <a:r>
              <a:rPr lang="en-US" altLang="zh-CN" dirty="0"/>
              <a:t>100</a:t>
            </a:r>
            <a:r>
              <a:rPr lang="zh-CN" altLang="en-US" dirty="0"/>
              <a:t>、</a:t>
            </a:r>
            <a:r>
              <a:rPr lang="en-US" altLang="zh-CN" dirty="0"/>
              <a:t>10</a:t>
            </a:r>
            <a:r>
              <a:rPr lang="zh-CN" altLang="en-US" dirty="0"/>
              <a:t>、</a:t>
            </a: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0.1</a:t>
            </a:r>
            <a:r>
              <a:rPr lang="zh-CN" altLang="en-US" dirty="0"/>
              <a:t>、</a:t>
            </a:r>
            <a:r>
              <a:rPr lang="en-US" altLang="zh-CN" dirty="0"/>
              <a:t>0.01</a:t>
            </a:r>
            <a:r>
              <a:rPr lang="zh-CN" altLang="en-US" dirty="0"/>
              <a:t>）</a:t>
            </a:r>
          </a:p>
        </p:txBody>
      </p:sp>
      <p:graphicFrame>
        <p:nvGraphicFramePr>
          <p:cNvPr id="2385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2307113"/>
              </p:ext>
            </p:extLst>
          </p:nvPr>
        </p:nvGraphicFramePr>
        <p:xfrm>
          <a:off x="611560" y="4653136"/>
          <a:ext cx="8136903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60640" imgH="203040" progId="Equation.DSMT4">
                  <p:embed/>
                </p:oleObj>
              </mc:Choice>
              <mc:Fallback>
                <p:oleObj name="Equation" r:id="rId2" imgW="3860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4653136"/>
                        <a:ext cx="8136903" cy="4270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82400090"/>
      </p:ext>
    </p:extLst>
  </p:cSld>
  <p:clrMapOvr>
    <a:masterClrMapping/>
  </p:clrMapOvr>
  <p:transition spd="slow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數制和碼制（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1C0A3-B873-4145-AEDF-D45C08418200}" type="slidenum">
              <a:rPr lang="en-US" altLang="zh-CN"/>
              <a:pPr/>
              <a:t>8</a:t>
            </a:fld>
            <a:endParaRPr lang="en-US" altLang="zh-CN" dirty="0"/>
          </a:p>
        </p:txBody>
      </p:sp>
      <p:sp>
        <p:nvSpPr>
          <p:cNvPr id="2385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13538" y="1524000"/>
            <a:ext cx="8262918" cy="4953000"/>
          </a:xfrm>
        </p:spPr>
        <p:txBody>
          <a:bodyPr/>
          <a:lstStyle/>
          <a:p>
            <a:r>
              <a:rPr lang="zh-CN" altLang="en-US" dirty="0"/>
              <a:t>數制</a:t>
            </a:r>
          </a:p>
          <a:p>
            <a:pPr lvl="1"/>
            <a:r>
              <a:rPr lang="zh-CN" altLang="en-US" dirty="0"/>
              <a:t>一個進位元數目包含兩個基本因素</a:t>
            </a:r>
          </a:p>
          <a:p>
            <a:pPr lvl="2"/>
            <a:r>
              <a:rPr lang="zh-CN" altLang="en-US" dirty="0"/>
              <a:t>基數：</a:t>
            </a:r>
          </a:p>
          <a:p>
            <a:pPr lvl="3"/>
            <a:r>
              <a:rPr lang="zh-CN" altLang="en-US" dirty="0"/>
              <a:t>數制中數碼的個數</a:t>
            </a:r>
          </a:p>
          <a:p>
            <a:pPr lvl="3"/>
            <a:r>
              <a:rPr lang="zh-CN" altLang="en-US" dirty="0"/>
              <a:t>基數為</a:t>
            </a:r>
            <a:r>
              <a:rPr lang="en-US" altLang="zh-CN" dirty="0"/>
              <a:t>R</a:t>
            </a:r>
            <a:r>
              <a:rPr lang="zh-CN" altLang="en-US" dirty="0"/>
              <a:t>的數制（簡稱</a:t>
            </a:r>
            <a:r>
              <a:rPr lang="en-US" altLang="zh-CN" dirty="0"/>
              <a:t>R</a:t>
            </a:r>
            <a:r>
              <a:rPr lang="zh-CN" altLang="en-US" dirty="0"/>
              <a:t>進制）包含</a:t>
            </a:r>
            <a:r>
              <a:rPr lang="en-US" altLang="zh-CN" dirty="0"/>
              <a:t>0</a:t>
            </a:r>
            <a:r>
              <a:rPr lang="zh-CN" altLang="en-US" dirty="0"/>
              <a:t>～</a:t>
            </a:r>
            <a:r>
              <a:rPr lang="en-US" altLang="zh-CN" dirty="0"/>
              <a:t>R</a:t>
            </a:r>
            <a:r>
              <a:rPr lang="zh-CN" altLang="en-US" dirty="0"/>
              <a:t>－</a:t>
            </a:r>
            <a:r>
              <a:rPr lang="en-US" altLang="zh-CN" dirty="0"/>
              <a:t>1</a:t>
            </a:r>
            <a:r>
              <a:rPr lang="zh-CN" altLang="en-US" dirty="0"/>
              <a:t>的數碼</a:t>
            </a:r>
          </a:p>
          <a:p>
            <a:pPr lvl="3"/>
            <a:r>
              <a:rPr lang="zh-CN" altLang="en-US" dirty="0"/>
              <a:t>進位規律是“逢</a:t>
            </a:r>
            <a:r>
              <a:rPr lang="en-US" altLang="zh-CN" dirty="0"/>
              <a:t>R</a:t>
            </a:r>
            <a:r>
              <a:rPr lang="zh-CN" altLang="en-US" dirty="0"/>
              <a:t>進一”。</a:t>
            </a:r>
          </a:p>
        </p:txBody>
      </p:sp>
      <p:graphicFrame>
        <p:nvGraphicFramePr>
          <p:cNvPr id="2385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6321990"/>
              </p:ext>
            </p:extLst>
          </p:nvPr>
        </p:nvGraphicFramePr>
        <p:xfrm>
          <a:off x="755576" y="4748227"/>
          <a:ext cx="7776864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60640" imgH="203040" progId="Equation.DSMT4">
                  <p:embed/>
                </p:oleObj>
              </mc:Choice>
              <mc:Fallback>
                <p:oleObj name="Equation" r:id="rId2" imgW="3860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4748227"/>
                        <a:ext cx="7776864" cy="4270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2123728" y="4725144"/>
            <a:ext cx="216024" cy="5760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084168" y="4725144"/>
            <a:ext cx="216024" cy="5760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716016" y="4725144"/>
            <a:ext cx="216024" cy="5760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419872" y="4725144"/>
            <a:ext cx="216024" cy="5760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452320" y="4725144"/>
            <a:ext cx="216024" cy="5760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6602910"/>
      </p:ext>
    </p:extLst>
  </p:cSld>
  <p:clrMapOvr>
    <a:masterClrMapping/>
  </p:clrMapOvr>
  <p:transition spd="slow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數制和碼制（</a:t>
            </a:r>
            <a:r>
              <a:rPr lang="en-US" altLang="zh-CN" dirty="0"/>
              <a:t>4</a:t>
            </a:r>
            <a:r>
              <a:rPr lang="zh-CN" altLang="en-US" dirty="0"/>
              <a:t>）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655AE-A015-42D3-A9D9-20912D85CE1C}" type="slidenum">
              <a:rPr lang="en-US" altLang="zh-CN"/>
              <a:pPr/>
              <a:t>9</a:t>
            </a:fld>
            <a:endParaRPr lang="en-US" altLang="zh-CN" dirty="0"/>
          </a:p>
        </p:txBody>
      </p:sp>
      <p:sp>
        <p:nvSpPr>
          <p:cNvPr id="24064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13538" y="1524000"/>
            <a:ext cx="8334926" cy="4953000"/>
          </a:xfrm>
        </p:spPr>
        <p:txBody>
          <a:bodyPr/>
          <a:lstStyle/>
          <a:p>
            <a:r>
              <a:rPr lang="zh-CN" altLang="en-US" dirty="0"/>
              <a:t>數制</a:t>
            </a:r>
          </a:p>
          <a:p>
            <a:pPr lvl="1"/>
            <a:r>
              <a:rPr lang="zh-CN" altLang="en-US" dirty="0"/>
              <a:t>一個進位元數目包含兩個基本因素</a:t>
            </a:r>
          </a:p>
          <a:p>
            <a:pPr lvl="2"/>
            <a:r>
              <a:rPr lang="zh-CN" altLang="en-US" dirty="0"/>
              <a:t>位權：</a:t>
            </a:r>
          </a:p>
          <a:p>
            <a:pPr lvl="3"/>
            <a:r>
              <a:rPr lang="en-US" altLang="zh-CN" dirty="0"/>
              <a:t>R</a:t>
            </a:r>
            <a:r>
              <a:rPr lang="zh-CN" altLang="en-US" dirty="0"/>
              <a:t>進制數中處於不同位數的數碼，代表不同的權值</a:t>
            </a:r>
          </a:p>
          <a:p>
            <a:pPr lvl="3"/>
            <a:r>
              <a:rPr lang="zh-CN" altLang="en-US" dirty="0"/>
              <a:t>某個數位上的數值由本位數碼的值乘以本位對應的固定常數</a:t>
            </a:r>
          </a:p>
          <a:p>
            <a:pPr lvl="3"/>
            <a:r>
              <a:rPr lang="zh-CN" altLang="en-US" dirty="0"/>
              <a:t>該固定常數稱為位權</a:t>
            </a:r>
          </a:p>
          <a:p>
            <a:pPr lvl="3"/>
            <a:r>
              <a:rPr lang="zh-CN" altLang="en-US" dirty="0"/>
              <a:t>不同的數位有不同的位權</a:t>
            </a:r>
          </a:p>
        </p:txBody>
      </p:sp>
      <p:graphicFrame>
        <p:nvGraphicFramePr>
          <p:cNvPr id="2406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1119905"/>
              </p:ext>
            </p:extLst>
          </p:nvPr>
        </p:nvGraphicFramePr>
        <p:xfrm>
          <a:off x="611560" y="5541963"/>
          <a:ext cx="7776864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886200" imgH="203040" progId="Equation.3">
                  <p:embed/>
                </p:oleObj>
              </mc:Choice>
              <mc:Fallback>
                <p:oleObj name="公式" r:id="rId2" imgW="388620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5541963"/>
                        <a:ext cx="7776864" cy="4254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2483768" y="5517232"/>
            <a:ext cx="432048" cy="5760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444208" y="5517232"/>
            <a:ext cx="504056" cy="5760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148064" y="5517232"/>
            <a:ext cx="432048" cy="5760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779912" y="5517232"/>
            <a:ext cx="432048" cy="5760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812360" y="5517232"/>
            <a:ext cx="576064" cy="5760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1537347"/>
      </p:ext>
    </p:extLst>
  </p:cSld>
  <p:clrMapOvr>
    <a:masterClrMapping/>
  </p:clrMapOvr>
  <p:transition spd="slow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數制和碼制（</a:t>
            </a:r>
            <a:r>
              <a:rPr lang="en-US" altLang="zh-CN" dirty="0"/>
              <a:t>5</a:t>
            </a:r>
            <a:r>
              <a:rPr lang="zh-CN" altLang="en-US" dirty="0"/>
              <a:t>）</a:t>
            </a: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34ECA-C143-42AC-BEDF-5A79E049790B}" type="slidenum">
              <a:rPr lang="en-US" altLang="zh-CN"/>
              <a:pPr/>
              <a:t>10</a:t>
            </a:fld>
            <a:endParaRPr lang="en-US" altLang="zh-CN" dirty="0"/>
          </a:p>
        </p:txBody>
      </p:sp>
      <p:sp>
        <p:nvSpPr>
          <p:cNvPr id="24166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13538" y="1524000"/>
            <a:ext cx="8262918" cy="4785320"/>
          </a:xfrm>
        </p:spPr>
        <p:txBody>
          <a:bodyPr>
            <a:normAutofit fontScale="92500"/>
          </a:bodyPr>
          <a:lstStyle/>
          <a:p>
            <a:r>
              <a:rPr lang="en-US" altLang="zh-CN" dirty="0"/>
              <a:t>R</a:t>
            </a:r>
            <a:r>
              <a:rPr lang="zh-CN" altLang="en-US" dirty="0"/>
              <a:t>進制數</a:t>
            </a:r>
            <a:r>
              <a:rPr lang="en-US" altLang="zh-CN" dirty="0"/>
              <a:t>N</a:t>
            </a:r>
            <a:r>
              <a:rPr lang="zh-CN" altLang="en-US" dirty="0"/>
              <a:t>的表示方式</a:t>
            </a:r>
          </a:p>
          <a:p>
            <a:pPr lvl="1"/>
            <a:r>
              <a:rPr lang="zh-CN" altLang="en-US" dirty="0"/>
              <a:t>並列表示方式</a:t>
            </a:r>
          </a:p>
          <a:p>
            <a:pPr lvl="2"/>
            <a:endParaRPr lang="zh-CN" altLang="en-US" dirty="0"/>
          </a:p>
          <a:p>
            <a:pPr lvl="2">
              <a:lnSpc>
                <a:spcPct val="150000"/>
              </a:lnSpc>
            </a:pPr>
            <a:r>
              <a:rPr lang="zh-CN" altLang="en-US" sz="2400" dirty="0"/>
              <a:t> </a:t>
            </a:r>
            <a:r>
              <a:rPr lang="en-US" altLang="zh-CN" sz="2400" dirty="0"/>
              <a:t>n</a:t>
            </a:r>
            <a:r>
              <a:rPr lang="zh-CN" altLang="en-US" sz="2400" dirty="0"/>
              <a:t>為整數部分的數位，</a:t>
            </a:r>
            <a:r>
              <a:rPr lang="en-US" altLang="zh-CN" sz="2400" dirty="0"/>
              <a:t>m</a:t>
            </a:r>
            <a:r>
              <a:rPr lang="zh-CN" altLang="en-US" sz="2400" dirty="0"/>
              <a:t>為小數部分的數位，</a:t>
            </a:r>
            <a:r>
              <a:rPr lang="en-US" altLang="zh-CN" sz="2400" dirty="0"/>
              <a:t>R</a:t>
            </a:r>
            <a:r>
              <a:rPr lang="zh-CN" altLang="en-US" sz="2400" dirty="0"/>
              <a:t>表示基數</a:t>
            </a:r>
            <a:endParaRPr lang="en-US" altLang="zh-CN" sz="2400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多項式標識方式</a:t>
            </a:r>
          </a:p>
          <a:p>
            <a:pPr lvl="2"/>
            <a:endParaRPr lang="en-US" altLang="zh-CN" sz="2400" dirty="0"/>
          </a:p>
          <a:p>
            <a:pPr lvl="2"/>
            <a:endParaRPr lang="en-US" altLang="zh-CN" sz="2400" dirty="0"/>
          </a:p>
          <a:p>
            <a:pPr lvl="2"/>
            <a:endParaRPr lang="en-US" altLang="zh-CN" sz="2400" dirty="0"/>
          </a:p>
          <a:p>
            <a:pPr lvl="2"/>
            <a:endParaRPr lang="en-US" altLang="zh-CN" sz="2400" dirty="0"/>
          </a:p>
          <a:p>
            <a:pPr lvl="2"/>
            <a:r>
              <a:rPr lang="en-US" altLang="zh-CN" sz="2400" dirty="0"/>
              <a:t>K</a:t>
            </a:r>
            <a:r>
              <a:rPr lang="en-US" altLang="zh-CN" sz="2400" baseline="-25000" dirty="0"/>
              <a:t>i</a:t>
            </a:r>
            <a:r>
              <a:rPr lang="zh-CN" altLang="en-US" sz="2400" dirty="0"/>
              <a:t>表示不同數位的數碼，（</a:t>
            </a:r>
            <a:r>
              <a:rPr lang="en-US" altLang="zh-CN" sz="2400" dirty="0"/>
              <a:t>R</a:t>
            </a:r>
            <a:r>
              <a:rPr lang="zh-CN" altLang="en-US" sz="2400" dirty="0"/>
              <a:t>－</a:t>
            </a:r>
            <a:r>
              <a:rPr lang="en-US" altLang="zh-CN" sz="2400" dirty="0"/>
              <a:t>1</a:t>
            </a:r>
            <a:r>
              <a:rPr lang="zh-CN" altLang="en-US" sz="2400" dirty="0"/>
              <a:t>）</a:t>
            </a:r>
            <a:r>
              <a:rPr lang="zh-CN" altLang="en-US" sz="2400" dirty="0">
                <a:sym typeface="Symbol" pitchFamily="18" charset="2"/>
              </a:rPr>
              <a:t> </a:t>
            </a:r>
            <a:r>
              <a:rPr lang="en-US" altLang="zh-CN" sz="2400" dirty="0">
                <a:sym typeface="Symbol" pitchFamily="18" charset="2"/>
              </a:rPr>
              <a:t>K</a:t>
            </a:r>
            <a:r>
              <a:rPr lang="en-US" altLang="zh-CN" sz="2400" baseline="-25000" dirty="0">
                <a:sym typeface="Symbol" pitchFamily="18" charset="2"/>
              </a:rPr>
              <a:t>i</a:t>
            </a:r>
            <a:r>
              <a:rPr lang="en-US" altLang="zh-CN" sz="2400" dirty="0">
                <a:sym typeface="Symbol" pitchFamily="18" charset="2"/>
              </a:rPr>
              <a:t>  0</a:t>
            </a:r>
            <a:endParaRPr lang="en-US" altLang="zh-CN" sz="2400" dirty="0"/>
          </a:p>
          <a:p>
            <a:pPr lvl="1"/>
            <a:endParaRPr lang="en-US" altLang="zh-CN" dirty="0"/>
          </a:p>
        </p:txBody>
      </p:sp>
      <p:graphicFrame>
        <p:nvGraphicFramePr>
          <p:cNvPr id="24166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6298161"/>
              </p:ext>
            </p:extLst>
          </p:nvPr>
        </p:nvGraphicFramePr>
        <p:xfrm>
          <a:off x="1485720" y="2667000"/>
          <a:ext cx="6326639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65360" imgH="228600" progId="Equation.3">
                  <p:embed/>
                </p:oleObj>
              </mc:Choice>
              <mc:Fallback>
                <p:oleObj name="Equation" r:id="rId2" imgW="256536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5720" y="2667000"/>
                        <a:ext cx="6326639" cy="5222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1675" name="Group 11"/>
          <p:cNvGrpSpPr>
            <a:grpSpLocks/>
          </p:cNvGrpSpPr>
          <p:nvPr/>
        </p:nvGrpSpPr>
        <p:grpSpPr bwMode="auto">
          <a:xfrm>
            <a:off x="1071004" y="4444336"/>
            <a:ext cx="7389428" cy="1433514"/>
            <a:chOff x="429" y="3024"/>
            <a:chExt cx="5027" cy="903"/>
          </a:xfrm>
        </p:grpSpPr>
        <p:grpSp>
          <p:nvGrpSpPr>
            <p:cNvPr id="241673" name="Group 9"/>
            <p:cNvGrpSpPr>
              <a:grpSpLocks/>
            </p:cNvGrpSpPr>
            <p:nvPr/>
          </p:nvGrpSpPr>
          <p:grpSpPr bwMode="auto">
            <a:xfrm>
              <a:off x="747" y="3024"/>
              <a:ext cx="4709" cy="903"/>
              <a:chOff x="747" y="3024"/>
              <a:chExt cx="4709" cy="903"/>
            </a:xfrm>
          </p:grpSpPr>
          <p:graphicFrame>
            <p:nvGraphicFramePr>
              <p:cNvPr id="241670" name="Object 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08612016"/>
                  </p:ext>
                </p:extLst>
              </p:nvPr>
            </p:nvGraphicFramePr>
            <p:xfrm>
              <a:off x="768" y="3024"/>
              <a:ext cx="4688" cy="3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3543120" imgH="241200" progId="Equation.3">
                      <p:embed/>
                    </p:oleObj>
                  </mc:Choice>
                  <mc:Fallback>
                    <p:oleObj name="Equation" r:id="rId4" imgW="3543120" imgH="2412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8" y="3024"/>
                            <a:ext cx="4688" cy="34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1671" name="Object 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65163677"/>
                  </p:ext>
                </p:extLst>
              </p:nvPr>
            </p:nvGraphicFramePr>
            <p:xfrm>
              <a:off x="747" y="3315"/>
              <a:ext cx="1872" cy="6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1320480" imgH="431640" progId="Equation.3">
                      <p:embed/>
                    </p:oleObj>
                  </mc:Choice>
                  <mc:Fallback>
                    <p:oleObj name="Equation" r:id="rId6" imgW="1320480" imgH="43164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47" y="3315"/>
                            <a:ext cx="1872" cy="61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41674" name="Rectangle 10"/>
            <p:cNvSpPr>
              <a:spLocks noChangeArrowheads="1"/>
            </p:cNvSpPr>
            <p:nvPr/>
          </p:nvSpPr>
          <p:spPr bwMode="auto">
            <a:xfrm>
              <a:off x="429" y="3428"/>
              <a:ext cx="363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marL="0" lvl="1">
                <a:spcBef>
                  <a:spcPct val="50000"/>
                </a:spcBef>
                <a:buClr>
                  <a:schemeClr val="folHlink"/>
                </a:buClr>
              </a:pPr>
              <a:r>
                <a:rPr lang="zh-CN" altLang="en-US" sz="2600" b="1" dirty="0"/>
                <a:t>或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43871719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667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數制和碼制（</a:t>
            </a:r>
            <a:r>
              <a:rPr lang="en-US" altLang="zh-CN" dirty="0"/>
              <a:t>6</a:t>
            </a:r>
            <a:r>
              <a:rPr lang="zh-CN" altLang="en-US" dirty="0"/>
              <a:t>）</a:t>
            </a:r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08151-604D-49A3-B990-4EDAF9454131}" type="slidenum">
              <a:rPr lang="en-US" altLang="zh-CN"/>
              <a:pPr/>
              <a:t>11</a:t>
            </a:fld>
            <a:endParaRPr lang="en-US" altLang="zh-CN" dirty="0"/>
          </a:p>
        </p:txBody>
      </p:sp>
      <p:sp>
        <p:nvSpPr>
          <p:cNvPr id="23757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996" y="1412776"/>
            <a:ext cx="8456476" cy="4607024"/>
          </a:xfrm>
        </p:spPr>
        <p:txBody>
          <a:bodyPr/>
          <a:lstStyle/>
          <a:p>
            <a:r>
              <a:rPr lang="zh-CN" altLang="en-US" dirty="0"/>
              <a:t>十進位數字</a:t>
            </a:r>
          </a:p>
          <a:p>
            <a:pPr lvl="1"/>
            <a:r>
              <a:rPr lang="zh-CN" altLang="en-US" dirty="0"/>
              <a:t>基數為</a:t>
            </a:r>
            <a:r>
              <a:rPr lang="en-US" altLang="zh-CN" dirty="0"/>
              <a:t>10</a:t>
            </a:r>
            <a:r>
              <a:rPr lang="zh-CN" altLang="en-US" dirty="0"/>
              <a:t>，數碼</a:t>
            </a:r>
            <a:r>
              <a:rPr lang="en-US" altLang="zh-CN" dirty="0"/>
              <a:t>0</a:t>
            </a:r>
            <a:r>
              <a:rPr lang="zh-CN" altLang="en-US" dirty="0"/>
              <a:t>～</a:t>
            </a:r>
            <a:r>
              <a:rPr lang="en-US" altLang="zh-CN" dirty="0"/>
              <a:t>9</a:t>
            </a:r>
          </a:p>
          <a:p>
            <a:pPr lvl="1"/>
            <a:r>
              <a:rPr lang="zh-CN" altLang="en-US" dirty="0"/>
              <a:t>任意一個十進位數字可以表示為</a:t>
            </a:r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權值</a:t>
            </a:r>
            <a:r>
              <a:rPr lang="en-US" altLang="zh-CN" dirty="0"/>
              <a:t>10</a:t>
            </a:r>
            <a:r>
              <a:rPr lang="en-US" altLang="zh-CN" baseline="30000" dirty="0"/>
              <a:t>i</a:t>
            </a:r>
          </a:p>
          <a:p>
            <a:pPr lvl="1"/>
            <a:r>
              <a:rPr lang="zh-CN" altLang="en-US" dirty="0"/>
              <a:t>如</a:t>
            </a:r>
            <a:r>
              <a:rPr lang="en-US" altLang="zh-CN" dirty="0"/>
              <a:t>143.75</a:t>
            </a:r>
          </a:p>
        </p:txBody>
      </p:sp>
      <p:graphicFrame>
        <p:nvGraphicFramePr>
          <p:cNvPr id="23757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0248546"/>
              </p:ext>
            </p:extLst>
          </p:nvPr>
        </p:nvGraphicFramePr>
        <p:xfrm>
          <a:off x="4716016" y="3212976"/>
          <a:ext cx="2808312" cy="640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17440" imgH="266400" progId="Equation.DSMT4">
                  <p:embed/>
                </p:oleObj>
              </mc:Choice>
              <mc:Fallback>
                <p:oleObj name="Equation" r:id="rId2" imgW="111744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016" y="3212976"/>
                        <a:ext cx="2808312" cy="64045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5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1974210"/>
              </p:ext>
            </p:extLst>
          </p:nvPr>
        </p:nvGraphicFramePr>
        <p:xfrm>
          <a:off x="899592" y="5229200"/>
          <a:ext cx="7552247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860640" imgH="203040" progId="Equation.DSMT4">
                  <p:embed/>
                </p:oleObj>
              </mc:Choice>
              <mc:Fallback>
                <p:oleObj name="Equation" r:id="rId4" imgW="3860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5229200"/>
                        <a:ext cx="7552247" cy="4254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36139032"/>
      </p:ext>
    </p:extLst>
  </p:cSld>
  <p:clrMapOvr>
    <a:masterClrMapping/>
  </p:clrMapOvr>
  <p:transition spd="slow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數制和碼制（</a:t>
            </a:r>
            <a:r>
              <a:rPr lang="en-US" altLang="zh-CN" dirty="0"/>
              <a:t>7</a:t>
            </a:r>
            <a:r>
              <a:rPr lang="zh-CN" altLang="en-US" dirty="0"/>
              <a:t>）</a:t>
            </a:r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56B06-DF00-4AFD-884B-D54747B7D9A9}" type="slidenum">
              <a:rPr lang="en-US" altLang="zh-CN"/>
              <a:pPr/>
              <a:t>12</a:t>
            </a:fld>
            <a:endParaRPr lang="en-US" altLang="zh-CN" dirty="0"/>
          </a:p>
        </p:txBody>
      </p:sp>
      <p:sp>
        <p:nvSpPr>
          <p:cNvPr id="24371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二進位數字</a:t>
            </a:r>
          </a:p>
          <a:p>
            <a:pPr lvl="1"/>
            <a:r>
              <a:rPr lang="zh-CN" altLang="en-US" dirty="0"/>
              <a:t>基數為</a:t>
            </a:r>
            <a:r>
              <a:rPr lang="en-US" altLang="zh-CN" dirty="0"/>
              <a:t>2</a:t>
            </a:r>
            <a:r>
              <a:rPr lang="zh-CN" altLang="en-US" dirty="0"/>
              <a:t>，數碼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任意一個二進位數字可以表示為</a:t>
            </a:r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權值</a:t>
            </a:r>
            <a:r>
              <a:rPr lang="en-US" altLang="zh-CN" dirty="0"/>
              <a:t>2</a:t>
            </a:r>
            <a:r>
              <a:rPr lang="en-US" altLang="zh-CN" baseline="30000" dirty="0"/>
              <a:t>i</a:t>
            </a:r>
          </a:p>
          <a:p>
            <a:pPr lvl="1"/>
            <a:r>
              <a:rPr lang="zh-CN" altLang="en-US" dirty="0"/>
              <a:t>如</a:t>
            </a:r>
            <a:r>
              <a:rPr lang="en-US" altLang="zh-CN" dirty="0"/>
              <a:t>101.11</a:t>
            </a:r>
          </a:p>
        </p:txBody>
      </p:sp>
      <p:graphicFrame>
        <p:nvGraphicFramePr>
          <p:cNvPr id="2437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151957"/>
              </p:ext>
            </p:extLst>
          </p:nvPr>
        </p:nvGraphicFramePr>
        <p:xfrm>
          <a:off x="5076056" y="3212976"/>
          <a:ext cx="2448272" cy="7115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54080" imgH="266400" progId="Equation.DSMT4">
                  <p:embed/>
                </p:oleObj>
              </mc:Choice>
              <mc:Fallback>
                <p:oleObj name="Equation" r:id="rId2" imgW="105408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056" y="3212976"/>
                        <a:ext cx="2448272" cy="7115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37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8388499"/>
              </p:ext>
            </p:extLst>
          </p:nvPr>
        </p:nvGraphicFramePr>
        <p:xfrm>
          <a:off x="755576" y="5157192"/>
          <a:ext cx="7776864" cy="1080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619440" imgH="507960" progId="Equation.DSMT4">
                  <p:embed/>
                </p:oleObj>
              </mc:Choice>
              <mc:Fallback>
                <p:oleObj name="Equation" r:id="rId4" imgW="361944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5157192"/>
                        <a:ext cx="7776864" cy="10801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37294288"/>
      </p:ext>
    </p:extLst>
  </p:cSld>
  <p:clrMapOvr>
    <a:masterClrMapping/>
  </p:clrMapOvr>
  <p:transition spd="slow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數制和碼制（</a:t>
            </a:r>
            <a:r>
              <a:rPr lang="en-US" altLang="zh-CN" dirty="0"/>
              <a:t>8</a:t>
            </a:r>
            <a:r>
              <a:rPr lang="zh-CN" altLang="en-US" dirty="0"/>
              <a:t>）</a:t>
            </a:r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C6AC-4698-4348-BB5E-669D6517A129}" type="slidenum">
              <a:rPr lang="en-US" altLang="zh-CN"/>
              <a:pPr/>
              <a:t>13</a:t>
            </a:fld>
            <a:endParaRPr lang="en-US" altLang="zh-CN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996" y="1412776"/>
            <a:ext cx="8456476" cy="4607024"/>
          </a:xfrm>
        </p:spPr>
        <p:txBody>
          <a:bodyPr/>
          <a:lstStyle/>
          <a:p>
            <a:r>
              <a:rPr lang="zh-CN" altLang="en-US" dirty="0"/>
              <a:t>八進位數</a:t>
            </a:r>
          </a:p>
          <a:p>
            <a:pPr lvl="1"/>
            <a:r>
              <a:rPr lang="zh-CN" altLang="en-US" dirty="0"/>
              <a:t>基數為</a:t>
            </a:r>
            <a:r>
              <a:rPr lang="en-US" altLang="zh-CN" dirty="0"/>
              <a:t>8</a:t>
            </a:r>
            <a:r>
              <a:rPr lang="zh-CN" altLang="en-US" dirty="0"/>
              <a:t>，數碼</a:t>
            </a:r>
            <a:r>
              <a:rPr lang="en-US" altLang="zh-CN" dirty="0"/>
              <a:t>0</a:t>
            </a:r>
            <a:r>
              <a:rPr lang="zh-CN" altLang="en-US" dirty="0"/>
              <a:t>～</a:t>
            </a:r>
            <a:r>
              <a:rPr lang="en-US" altLang="zh-CN" dirty="0"/>
              <a:t>7</a:t>
            </a:r>
          </a:p>
          <a:p>
            <a:pPr lvl="1"/>
            <a:r>
              <a:rPr lang="zh-CN" altLang="en-US" dirty="0"/>
              <a:t>任意一個八進位數可以表示為</a:t>
            </a:r>
            <a:endParaRPr lang="en-US" altLang="zh-CN" dirty="0"/>
          </a:p>
          <a:p>
            <a:pPr lvl="1"/>
            <a:endParaRPr lang="zh-CN" altLang="en-US" dirty="0"/>
          </a:p>
          <a:p>
            <a:r>
              <a:rPr lang="zh-CN" altLang="en-US" dirty="0"/>
              <a:t>十六進位數</a:t>
            </a:r>
          </a:p>
          <a:p>
            <a:pPr lvl="1"/>
            <a:r>
              <a:rPr lang="zh-CN" altLang="en-US" dirty="0"/>
              <a:t>基數為</a:t>
            </a:r>
            <a:r>
              <a:rPr lang="en-US" altLang="zh-CN" dirty="0"/>
              <a:t>16</a:t>
            </a:r>
            <a:r>
              <a:rPr lang="zh-CN" altLang="en-US" dirty="0"/>
              <a:t>，數碼</a:t>
            </a:r>
            <a:r>
              <a:rPr lang="en-US" altLang="zh-CN" dirty="0"/>
              <a:t>0</a:t>
            </a:r>
            <a:r>
              <a:rPr lang="zh-CN" altLang="en-US" dirty="0"/>
              <a:t>～</a:t>
            </a:r>
            <a:r>
              <a:rPr lang="en-US" altLang="zh-CN" dirty="0"/>
              <a:t>9</a:t>
            </a:r>
            <a:r>
              <a:rPr lang="zh-CN" altLang="en-US" dirty="0"/>
              <a:t>，</a:t>
            </a:r>
            <a:r>
              <a:rPr lang="en-US" altLang="zh-CN" dirty="0"/>
              <a:t>A B C D E F</a:t>
            </a:r>
          </a:p>
          <a:p>
            <a:pPr lvl="1"/>
            <a:r>
              <a:rPr lang="zh-CN" altLang="en-US" dirty="0"/>
              <a:t>任意一個十六進位數可以表示為</a:t>
            </a:r>
          </a:p>
          <a:p>
            <a:pPr lvl="1"/>
            <a:endParaRPr lang="en-US" altLang="zh-CN" dirty="0"/>
          </a:p>
        </p:txBody>
      </p:sp>
      <p:graphicFrame>
        <p:nvGraphicFramePr>
          <p:cNvPr id="24474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5969610"/>
              </p:ext>
            </p:extLst>
          </p:nvPr>
        </p:nvGraphicFramePr>
        <p:xfrm>
          <a:off x="5796136" y="3140968"/>
          <a:ext cx="2646294" cy="648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054080" imgH="266400" progId="Equation.3">
                  <p:embed/>
                </p:oleObj>
              </mc:Choice>
              <mc:Fallback>
                <p:oleObj name="公式" r:id="rId2" imgW="1054080" imgH="26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6136" y="3140968"/>
                        <a:ext cx="2646294" cy="64807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474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3911811"/>
              </p:ext>
            </p:extLst>
          </p:nvPr>
        </p:nvGraphicFramePr>
        <p:xfrm>
          <a:off x="5796136" y="5589240"/>
          <a:ext cx="3096344" cy="642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117440" imgH="266400" progId="Equation.3">
                  <p:embed/>
                </p:oleObj>
              </mc:Choice>
              <mc:Fallback>
                <p:oleObj name="公式" r:id="rId4" imgW="1117440" imgH="26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6136" y="5589240"/>
                        <a:ext cx="3096344" cy="64244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89997635"/>
      </p:ext>
    </p:extLst>
  </p:cSld>
  <p:clrMapOvr>
    <a:masterClrMapping/>
  </p:clrMapOvr>
  <p:transition spd="slow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這是什麼數制和碼制？</a:t>
            </a:r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C6AC-4698-4348-BB5E-669D6517A129}" type="slidenum">
              <a:rPr lang="en-US" altLang="zh-CN"/>
              <a:pPr/>
              <a:t>14</a:t>
            </a:fld>
            <a:endParaRPr lang="en-US" altLang="zh-CN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996" y="1412776"/>
            <a:ext cx="8456476" cy="4607024"/>
          </a:xfrm>
        </p:spPr>
        <p:txBody>
          <a:bodyPr/>
          <a:lstStyle/>
          <a:p>
            <a:r>
              <a:rPr lang="en-US" altLang="zh-CN" dirty="0"/>
              <a:t>M</a:t>
            </a:r>
            <a:r>
              <a:rPr lang="zh-CN" altLang="en-US" dirty="0"/>
              <a:t>（</a:t>
            </a:r>
            <a:r>
              <a:rPr lang="en-US" altLang="zh-CN" dirty="0"/>
              <a:t>Money</a:t>
            </a:r>
            <a:r>
              <a:rPr lang="zh-CN" altLang="en-US" dirty="0"/>
              <a:t>）數</a:t>
            </a:r>
          </a:p>
          <a:p>
            <a:pPr lvl="1"/>
            <a:r>
              <a:rPr lang="zh-CN" altLang="en-US" dirty="0"/>
              <a:t>基數為</a:t>
            </a:r>
            <a:r>
              <a:rPr lang="en-US" altLang="zh-CN" dirty="0"/>
              <a:t>N</a:t>
            </a:r>
            <a:r>
              <a:rPr lang="zh-CN" altLang="en-US" dirty="0"/>
              <a:t>，位權分比為</a:t>
            </a: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5</a:t>
            </a:r>
            <a:r>
              <a:rPr lang="zh-CN" altLang="en-US" dirty="0"/>
              <a:t>、</a:t>
            </a:r>
            <a:r>
              <a:rPr lang="en-US" altLang="zh-CN" dirty="0"/>
              <a:t>10</a:t>
            </a:r>
          </a:p>
          <a:p>
            <a:pPr lvl="1"/>
            <a:r>
              <a:rPr lang="zh-CN" altLang="en-US" dirty="0"/>
              <a:t>任意一個</a:t>
            </a:r>
            <a:r>
              <a:rPr lang="en-US" altLang="zh-CN" dirty="0"/>
              <a:t>M</a:t>
            </a:r>
            <a:r>
              <a:rPr lang="zh-CN" altLang="en-US" dirty="0"/>
              <a:t>數可以表示為</a:t>
            </a:r>
            <a:endParaRPr lang="en-US" altLang="zh-CN" dirty="0"/>
          </a:p>
          <a:p>
            <a:pPr lvl="2"/>
            <a:r>
              <a:rPr lang="en-US" altLang="zh-CN" dirty="0"/>
              <a:t>(2103)</a:t>
            </a:r>
            <a:r>
              <a:rPr lang="en-US" altLang="zh-CN" baseline="-25000" dirty="0"/>
              <a:t>M</a:t>
            </a:r>
            <a:r>
              <a:rPr lang="en-US" altLang="zh-CN" dirty="0"/>
              <a:t> = 2x10 + 1x5 + 0x2 + 3x1 = (28)</a:t>
            </a:r>
            <a:r>
              <a:rPr lang="en-US" altLang="zh-CN" baseline="-25000" dirty="0"/>
              <a:t>10</a:t>
            </a:r>
          </a:p>
          <a:p>
            <a:pPr lvl="1"/>
            <a:endParaRPr lang="zh-CN" altLang="en-US" dirty="0"/>
          </a:p>
        </p:txBody>
      </p:sp>
      <p:pic>
        <p:nvPicPr>
          <p:cNvPr id="32770" name="Picture 2" descr="https://img.mp.itc.cn/upload/20161216/292f436b4db34766aaacda1018b976c6_th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62" y="3705368"/>
            <a:ext cx="2431723" cy="1034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72" name="Picture 4" descr="https://i01piccdn.sogoucdn.com/9c206cbb1d0a72e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3705383"/>
            <a:ext cx="2158286" cy="981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74" name="Picture 6" descr="https://i01picsos.sogoucdn.com/964242626453d24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562" y="3705368"/>
            <a:ext cx="1868798" cy="833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https://img.mp.itc.cn/upload/20161216/292f436b4db34766aaacda1018b976c6_th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62" y="4816584"/>
            <a:ext cx="2431723" cy="1034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https://i01picsos.sogoucdn.com/964242626453d24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8378" y="5434025"/>
            <a:ext cx="1868798" cy="833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https://i01picsos.sogoucdn.com/964242626453d24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9808" y="4576573"/>
            <a:ext cx="1868798" cy="833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3343889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7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27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2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2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27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27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數制和碼制（</a:t>
            </a:r>
            <a:r>
              <a:rPr lang="en-US" altLang="zh-CN" dirty="0"/>
              <a:t>9</a:t>
            </a:r>
            <a:r>
              <a:rPr lang="zh-CN" altLang="en-US" dirty="0"/>
              <a:t>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3695E-606F-4D04-AB2B-5D1C4425C3A0}" type="slidenum">
              <a:rPr lang="en-US" altLang="zh-CN"/>
              <a:pPr/>
              <a:t>15</a:t>
            </a:fld>
            <a:endParaRPr lang="en-US" altLang="zh-CN" dirty="0"/>
          </a:p>
        </p:txBody>
      </p:sp>
      <p:sp>
        <p:nvSpPr>
          <p:cNvPr id="24269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996" y="1412776"/>
            <a:ext cx="8384468" cy="4607024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數制轉換</a:t>
            </a:r>
          </a:p>
          <a:p>
            <a:pPr lvl="1"/>
            <a:r>
              <a:rPr lang="zh-CN" altLang="en-US" dirty="0"/>
              <a:t>二－十進位互換</a:t>
            </a:r>
          </a:p>
          <a:p>
            <a:pPr lvl="1"/>
            <a:r>
              <a:rPr lang="zh-CN" altLang="en-US" dirty="0"/>
              <a:t>二－八進制互換</a:t>
            </a:r>
          </a:p>
          <a:p>
            <a:pPr lvl="1"/>
            <a:r>
              <a:rPr lang="zh-CN" altLang="en-US" dirty="0"/>
              <a:t>二－十六進位互換</a:t>
            </a:r>
          </a:p>
          <a:p>
            <a:endParaRPr lang="zh-CN" altLang="en-US" dirty="0"/>
          </a:p>
          <a:p>
            <a:r>
              <a:rPr lang="zh-CN" altLang="en-US" dirty="0"/>
              <a:t>小常識</a:t>
            </a:r>
          </a:p>
          <a:p>
            <a:pPr>
              <a:buFont typeface="Wingdings" pitchFamily="2" charset="2"/>
              <a:buNone/>
            </a:pPr>
            <a:r>
              <a:rPr lang="zh-CN" altLang="en-US" dirty="0"/>
              <a:t>    </a:t>
            </a:r>
            <a:r>
              <a:rPr lang="en-US" altLang="zh-CN" dirty="0"/>
              <a:t>K</a:t>
            </a:r>
            <a:r>
              <a:rPr lang="zh-CN" altLang="en-US" dirty="0"/>
              <a:t>，</a:t>
            </a:r>
            <a:r>
              <a:rPr lang="en-US" altLang="zh-CN" dirty="0"/>
              <a:t>M</a:t>
            </a:r>
            <a:r>
              <a:rPr lang="zh-CN" altLang="en-US" dirty="0"/>
              <a:t>，</a:t>
            </a:r>
            <a:r>
              <a:rPr lang="en-US" altLang="zh-CN" dirty="0"/>
              <a:t>G</a:t>
            </a:r>
            <a:r>
              <a:rPr lang="zh-CN" altLang="en-US" dirty="0"/>
              <a:t>，</a:t>
            </a:r>
            <a:r>
              <a:rPr lang="en-US" altLang="zh-CN" dirty="0"/>
              <a:t>T</a:t>
            </a:r>
            <a:r>
              <a:rPr lang="zh-CN" altLang="en-US" dirty="0"/>
              <a:t>，</a:t>
            </a:r>
            <a:r>
              <a:rPr lang="en-US" altLang="zh-CN" dirty="0"/>
              <a:t>P</a:t>
            </a:r>
            <a:r>
              <a:rPr lang="zh-CN" altLang="en-US" dirty="0"/>
              <a:t>，</a:t>
            </a:r>
            <a:r>
              <a:rPr lang="en-US" altLang="zh-CN" dirty="0"/>
              <a:t>E</a:t>
            </a:r>
            <a:r>
              <a:rPr lang="zh-CN" altLang="en-US" dirty="0"/>
              <a:t>，</a:t>
            </a:r>
            <a:r>
              <a:rPr lang="en-US" altLang="zh-CN" dirty="0"/>
              <a:t>Z</a:t>
            </a:r>
            <a:r>
              <a:rPr lang="zh-CN" altLang="en-US" dirty="0"/>
              <a:t>，</a:t>
            </a:r>
            <a:r>
              <a:rPr lang="en-US" altLang="zh-CN" dirty="0"/>
              <a:t>Y</a:t>
            </a:r>
            <a:r>
              <a:rPr lang="zh-CN" altLang="en-US" dirty="0"/>
              <a:t>，</a:t>
            </a:r>
            <a:r>
              <a:rPr lang="en-US" altLang="zh-CN" dirty="0"/>
              <a:t>B……</a:t>
            </a:r>
            <a:r>
              <a:rPr lang="zh-CN" altLang="en-US" dirty="0"/>
              <a:t>各自的含義</a:t>
            </a:r>
          </a:p>
        </p:txBody>
      </p:sp>
    </p:spTree>
    <p:extLst>
      <p:ext uri="{BB962C8B-B14F-4D97-AF65-F5344CB8AC3E}">
        <p14:creationId xmlns:p14="http://schemas.microsoft.com/office/powerpoint/2010/main" val="781655229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2691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數制和碼制（</a:t>
            </a:r>
            <a:r>
              <a:rPr lang="en-US" altLang="zh-CN" dirty="0"/>
              <a:t>10</a:t>
            </a:r>
            <a:r>
              <a:rPr lang="zh-CN" altLang="en-US" dirty="0"/>
              <a:t>）</a:t>
            </a:r>
          </a:p>
        </p:txBody>
      </p:sp>
      <p:sp>
        <p:nvSpPr>
          <p:cNvPr id="5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EA705-17E4-4931-AE66-271B23427A7D}" type="slidenum">
              <a:rPr lang="en-US" altLang="zh-CN"/>
              <a:pPr/>
              <a:t>16</a:t>
            </a:fld>
            <a:endParaRPr lang="en-US" altLang="zh-CN" dirty="0"/>
          </a:p>
        </p:txBody>
      </p:sp>
      <p:sp>
        <p:nvSpPr>
          <p:cNvPr id="24576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13538" y="1268760"/>
            <a:ext cx="8622958" cy="4446240"/>
          </a:xfrm>
        </p:spPr>
        <p:txBody>
          <a:bodyPr/>
          <a:lstStyle/>
          <a:p>
            <a:r>
              <a:rPr lang="zh-CN" altLang="en-US" dirty="0"/>
              <a:t>二－十進位互換</a:t>
            </a:r>
          </a:p>
          <a:p>
            <a:pPr lvl="1"/>
            <a:r>
              <a:rPr lang="zh-CN" altLang="en-US" dirty="0"/>
              <a:t>二</a:t>
            </a:r>
            <a:r>
              <a:rPr lang="zh-CN" altLang="en-US" dirty="0">
                <a:sym typeface="Symbol" pitchFamily="18" charset="2"/>
              </a:rPr>
              <a:t>－</a:t>
            </a:r>
            <a:r>
              <a:rPr lang="zh-CN" altLang="en-US" dirty="0"/>
              <a:t>十進位轉換：將（</a:t>
            </a:r>
            <a:r>
              <a:rPr lang="en-US" altLang="zh-CN" dirty="0"/>
              <a:t>1101)</a:t>
            </a:r>
            <a:r>
              <a:rPr lang="en-US" altLang="zh-CN" baseline="-25000" dirty="0"/>
              <a:t>2 </a:t>
            </a:r>
            <a:r>
              <a:rPr lang="zh-CN" altLang="en-US" dirty="0"/>
              <a:t>轉成十進位數字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十－二進位轉換：將</a:t>
            </a:r>
            <a:r>
              <a:rPr lang="en-US" altLang="zh-CN" dirty="0"/>
              <a:t>75</a:t>
            </a:r>
            <a:r>
              <a:rPr lang="zh-CN" altLang="en-US" dirty="0"/>
              <a:t>轉成二進位數字</a:t>
            </a:r>
          </a:p>
        </p:txBody>
      </p:sp>
      <p:graphicFrame>
        <p:nvGraphicFramePr>
          <p:cNvPr id="2457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6187193"/>
              </p:ext>
            </p:extLst>
          </p:nvPr>
        </p:nvGraphicFramePr>
        <p:xfrm>
          <a:off x="1115616" y="2492896"/>
          <a:ext cx="6922944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81000" imgH="241200" progId="Equation.3">
                  <p:embed/>
                </p:oleObj>
              </mc:Choice>
              <mc:Fallback>
                <p:oleObj name="Equation" r:id="rId2" imgW="278100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2492896"/>
                        <a:ext cx="6922944" cy="6000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5811" name="Group 51"/>
          <p:cNvGrpSpPr>
            <a:grpSpLocks/>
          </p:cNvGrpSpPr>
          <p:nvPr/>
        </p:nvGrpSpPr>
        <p:grpSpPr bwMode="auto">
          <a:xfrm>
            <a:off x="3213889" y="3532007"/>
            <a:ext cx="4094559" cy="538162"/>
            <a:chOff x="2544" y="2064"/>
            <a:chExt cx="3439" cy="339"/>
          </a:xfrm>
        </p:grpSpPr>
        <p:grpSp>
          <p:nvGrpSpPr>
            <p:cNvPr id="245770" name="Group 10"/>
            <p:cNvGrpSpPr>
              <a:grpSpLocks/>
            </p:cNvGrpSpPr>
            <p:nvPr/>
          </p:nvGrpSpPr>
          <p:grpSpPr bwMode="auto">
            <a:xfrm>
              <a:off x="2544" y="2112"/>
              <a:ext cx="1200" cy="291"/>
              <a:chOff x="1440" y="2496"/>
              <a:chExt cx="1200" cy="291"/>
            </a:xfrm>
          </p:grpSpPr>
          <p:sp>
            <p:nvSpPr>
              <p:cNvPr id="245765" name="Line 5"/>
              <p:cNvSpPr>
                <a:spLocks noChangeShapeType="1"/>
              </p:cNvSpPr>
              <p:nvPr/>
            </p:nvSpPr>
            <p:spPr bwMode="auto">
              <a:xfrm>
                <a:off x="1680" y="254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>
                  <a:latin typeface="方正姚体" pitchFamily="2" charset="-122"/>
                  <a:ea typeface="方正姚体" pitchFamily="2" charset="-122"/>
                </a:endParaRPr>
              </a:p>
            </p:txBody>
          </p:sp>
          <p:sp>
            <p:nvSpPr>
              <p:cNvPr id="245766" name="Text Box 6"/>
              <p:cNvSpPr txBox="1">
                <a:spLocks noChangeArrowheads="1"/>
              </p:cNvSpPr>
              <p:nvPr/>
            </p:nvSpPr>
            <p:spPr bwMode="auto">
              <a:xfrm>
                <a:off x="1776" y="2496"/>
                <a:ext cx="864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latin typeface="方正姚体" pitchFamily="2" charset="-122"/>
                    <a:ea typeface="方正姚体" pitchFamily="2" charset="-122"/>
                  </a:rPr>
                  <a:t>75</a:t>
                </a:r>
              </a:p>
            </p:txBody>
          </p:sp>
          <p:sp>
            <p:nvSpPr>
              <p:cNvPr id="245767" name="Line 7"/>
              <p:cNvSpPr>
                <a:spLocks noChangeShapeType="1"/>
              </p:cNvSpPr>
              <p:nvPr/>
            </p:nvSpPr>
            <p:spPr bwMode="auto">
              <a:xfrm>
                <a:off x="1680" y="2736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>
                  <a:latin typeface="方正姚体" pitchFamily="2" charset="-122"/>
                  <a:ea typeface="方正姚体" pitchFamily="2" charset="-122"/>
                </a:endParaRPr>
              </a:p>
            </p:txBody>
          </p:sp>
          <p:sp>
            <p:nvSpPr>
              <p:cNvPr id="245768" name="Text Box 8"/>
              <p:cNvSpPr txBox="1">
                <a:spLocks noChangeArrowheads="1"/>
              </p:cNvSpPr>
              <p:nvPr/>
            </p:nvSpPr>
            <p:spPr bwMode="auto">
              <a:xfrm>
                <a:off x="1440" y="2496"/>
                <a:ext cx="192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latin typeface="方正姚体" pitchFamily="2" charset="-122"/>
                    <a:ea typeface="方正姚体" pitchFamily="2" charset="-122"/>
                  </a:rPr>
                  <a:t>2</a:t>
                </a:r>
              </a:p>
            </p:txBody>
          </p:sp>
        </p:grpSp>
        <p:sp>
          <p:nvSpPr>
            <p:cNvPr id="245769" name="Text Box 9"/>
            <p:cNvSpPr txBox="1">
              <a:spLocks noChangeArrowheads="1"/>
            </p:cNvSpPr>
            <p:nvPr/>
          </p:nvSpPr>
          <p:spPr bwMode="auto">
            <a:xfrm>
              <a:off x="3312" y="2064"/>
              <a:ext cx="2671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方正姚体" pitchFamily="2" charset="-122"/>
                  <a:ea typeface="方正姚体" pitchFamily="2" charset="-122"/>
                </a:rPr>
                <a:t>………………</a:t>
              </a:r>
              <a:r>
                <a:rPr lang="zh-CN" altLang="en-US" dirty="0">
                  <a:latin typeface="方正姚体" pitchFamily="2" charset="-122"/>
                  <a:ea typeface="方正姚体" pitchFamily="2" charset="-122"/>
                </a:rPr>
                <a:t>餘數＝</a:t>
              </a:r>
              <a:r>
                <a:rPr lang="en-US" altLang="zh-CN" dirty="0">
                  <a:latin typeface="方正姚体" pitchFamily="2" charset="-122"/>
                  <a:ea typeface="方正姚体" pitchFamily="2" charset="-122"/>
                </a:rPr>
                <a:t>1</a:t>
              </a:r>
            </a:p>
          </p:txBody>
        </p:sp>
      </p:grpSp>
      <p:grpSp>
        <p:nvGrpSpPr>
          <p:cNvPr id="245812" name="Group 52"/>
          <p:cNvGrpSpPr>
            <a:grpSpLocks/>
          </p:cNvGrpSpPr>
          <p:nvPr/>
        </p:nvGrpSpPr>
        <p:grpSpPr bwMode="auto">
          <a:xfrm>
            <a:off x="3209578" y="3913007"/>
            <a:ext cx="4242846" cy="538162"/>
            <a:chOff x="2590" y="2304"/>
            <a:chExt cx="2883" cy="339"/>
          </a:xfrm>
        </p:grpSpPr>
        <p:grpSp>
          <p:nvGrpSpPr>
            <p:cNvPr id="245771" name="Group 11"/>
            <p:cNvGrpSpPr>
              <a:grpSpLocks/>
            </p:cNvGrpSpPr>
            <p:nvPr/>
          </p:nvGrpSpPr>
          <p:grpSpPr bwMode="auto">
            <a:xfrm>
              <a:off x="2590" y="2343"/>
              <a:ext cx="1106" cy="300"/>
              <a:chOff x="1486" y="2487"/>
              <a:chExt cx="1106" cy="300"/>
            </a:xfrm>
          </p:grpSpPr>
          <p:sp>
            <p:nvSpPr>
              <p:cNvPr id="245772" name="Line 12"/>
              <p:cNvSpPr>
                <a:spLocks noChangeShapeType="1"/>
              </p:cNvSpPr>
              <p:nvPr/>
            </p:nvSpPr>
            <p:spPr bwMode="auto">
              <a:xfrm>
                <a:off x="1680" y="254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>
                  <a:latin typeface="方正姚体" pitchFamily="2" charset="-122"/>
                  <a:ea typeface="方正姚体" pitchFamily="2" charset="-122"/>
                </a:endParaRPr>
              </a:p>
            </p:txBody>
          </p:sp>
          <p:sp>
            <p:nvSpPr>
              <p:cNvPr id="245773" name="Text Box 13"/>
              <p:cNvSpPr txBox="1">
                <a:spLocks noChangeArrowheads="1"/>
              </p:cNvSpPr>
              <p:nvPr/>
            </p:nvSpPr>
            <p:spPr bwMode="auto">
              <a:xfrm>
                <a:off x="1776" y="2496"/>
                <a:ext cx="816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latin typeface="方正姚体" pitchFamily="2" charset="-122"/>
                    <a:ea typeface="方正姚体" pitchFamily="2" charset="-122"/>
                  </a:rPr>
                  <a:t>37</a:t>
                </a:r>
              </a:p>
            </p:txBody>
          </p:sp>
          <p:sp>
            <p:nvSpPr>
              <p:cNvPr id="245774" name="Line 14"/>
              <p:cNvSpPr>
                <a:spLocks noChangeShapeType="1"/>
              </p:cNvSpPr>
              <p:nvPr/>
            </p:nvSpPr>
            <p:spPr bwMode="auto">
              <a:xfrm>
                <a:off x="1680" y="2736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>
                  <a:latin typeface="方正姚体" pitchFamily="2" charset="-122"/>
                  <a:ea typeface="方正姚体" pitchFamily="2" charset="-122"/>
                </a:endParaRPr>
              </a:p>
            </p:txBody>
          </p:sp>
          <p:sp>
            <p:nvSpPr>
              <p:cNvPr id="245775" name="Text Box 15"/>
              <p:cNvSpPr txBox="1">
                <a:spLocks noChangeArrowheads="1"/>
              </p:cNvSpPr>
              <p:nvPr/>
            </p:nvSpPr>
            <p:spPr bwMode="auto">
              <a:xfrm>
                <a:off x="1486" y="2487"/>
                <a:ext cx="192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latin typeface="方正姚体" pitchFamily="2" charset="-122"/>
                    <a:ea typeface="方正姚体" pitchFamily="2" charset="-122"/>
                  </a:rPr>
                  <a:t>2</a:t>
                </a:r>
              </a:p>
            </p:txBody>
          </p:sp>
        </p:grpSp>
        <p:sp>
          <p:nvSpPr>
            <p:cNvPr id="245776" name="Text Box 16"/>
            <p:cNvSpPr txBox="1">
              <a:spLocks noChangeArrowheads="1"/>
            </p:cNvSpPr>
            <p:nvPr/>
          </p:nvSpPr>
          <p:spPr bwMode="auto">
            <a:xfrm>
              <a:off x="3214" y="2304"/>
              <a:ext cx="2259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方正姚体" pitchFamily="2" charset="-122"/>
                  <a:ea typeface="方正姚体" pitchFamily="2" charset="-122"/>
                </a:rPr>
                <a:t>………………</a:t>
              </a:r>
              <a:r>
                <a:rPr lang="zh-CN" altLang="en-US" dirty="0">
                  <a:latin typeface="方正姚体" pitchFamily="2" charset="-122"/>
                  <a:ea typeface="方正姚体" pitchFamily="2" charset="-122"/>
                </a:rPr>
                <a:t>餘數＝</a:t>
              </a:r>
              <a:r>
                <a:rPr lang="en-US" altLang="zh-CN" dirty="0">
                  <a:latin typeface="方正姚体" pitchFamily="2" charset="-122"/>
                  <a:ea typeface="方正姚体" pitchFamily="2" charset="-122"/>
                </a:rPr>
                <a:t>1</a:t>
              </a:r>
            </a:p>
          </p:txBody>
        </p:sp>
      </p:grpSp>
      <p:grpSp>
        <p:nvGrpSpPr>
          <p:cNvPr id="245813" name="Group 53"/>
          <p:cNvGrpSpPr>
            <a:grpSpLocks/>
          </p:cNvGrpSpPr>
          <p:nvPr/>
        </p:nvGrpSpPr>
        <p:grpSpPr bwMode="auto">
          <a:xfrm>
            <a:off x="3213889" y="4294013"/>
            <a:ext cx="4238625" cy="2405063"/>
            <a:chOff x="2544" y="2544"/>
            <a:chExt cx="3560" cy="1515"/>
          </a:xfrm>
        </p:grpSpPr>
        <p:grpSp>
          <p:nvGrpSpPr>
            <p:cNvPr id="245778" name="Group 18"/>
            <p:cNvGrpSpPr>
              <a:grpSpLocks/>
            </p:cNvGrpSpPr>
            <p:nvPr/>
          </p:nvGrpSpPr>
          <p:grpSpPr bwMode="auto">
            <a:xfrm>
              <a:off x="2544" y="2592"/>
              <a:ext cx="969" cy="291"/>
              <a:chOff x="1440" y="2496"/>
              <a:chExt cx="969" cy="291"/>
            </a:xfrm>
          </p:grpSpPr>
          <p:sp>
            <p:nvSpPr>
              <p:cNvPr id="245779" name="Line 19"/>
              <p:cNvSpPr>
                <a:spLocks noChangeShapeType="1"/>
              </p:cNvSpPr>
              <p:nvPr/>
            </p:nvSpPr>
            <p:spPr bwMode="auto">
              <a:xfrm>
                <a:off x="1680" y="254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>
                  <a:latin typeface="方正姚体" pitchFamily="2" charset="-122"/>
                  <a:ea typeface="方正姚体" pitchFamily="2" charset="-122"/>
                </a:endParaRPr>
              </a:p>
            </p:txBody>
          </p:sp>
          <p:sp>
            <p:nvSpPr>
              <p:cNvPr id="245780" name="Text Box 20"/>
              <p:cNvSpPr txBox="1">
                <a:spLocks noChangeArrowheads="1"/>
              </p:cNvSpPr>
              <p:nvPr/>
            </p:nvSpPr>
            <p:spPr bwMode="auto">
              <a:xfrm>
                <a:off x="1776" y="2496"/>
                <a:ext cx="633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latin typeface="方正姚体" pitchFamily="2" charset="-122"/>
                    <a:ea typeface="方正姚体" pitchFamily="2" charset="-122"/>
                  </a:rPr>
                  <a:t>18</a:t>
                </a:r>
              </a:p>
            </p:txBody>
          </p:sp>
          <p:sp>
            <p:nvSpPr>
              <p:cNvPr id="245781" name="Line 21"/>
              <p:cNvSpPr>
                <a:spLocks noChangeShapeType="1"/>
              </p:cNvSpPr>
              <p:nvPr/>
            </p:nvSpPr>
            <p:spPr bwMode="auto">
              <a:xfrm>
                <a:off x="1680" y="2736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>
                  <a:latin typeface="方正姚体" pitchFamily="2" charset="-122"/>
                  <a:ea typeface="方正姚体" pitchFamily="2" charset="-122"/>
                </a:endParaRPr>
              </a:p>
            </p:txBody>
          </p:sp>
          <p:sp>
            <p:nvSpPr>
              <p:cNvPr id="245782" name="Text Box 22"/>
              <p:cNvSpPr txBox="1">
                <a:spLocks noChangeArrowheads="1"/>
              </p:cNvSpPr>
              <p:nvPr/>
            </p:nvSpPr>
            <p:spPr bwMode="auto">
              <a:xfrm>
                <a:off x="1440" y="2496"/>
                <a:ext cx="192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latin typeface="方正姚体" pitchFamily="2" charset="-122"/>
                    <a:ea typeface="方正姚体" pitchFamily="2" charset="-122"/>
                  </a:rPr>
                  <a:t>2</a:t>
                </a:r>
              </a:p>
            </p:txBody>
          </p:sp>
        </p:grpSp>
        <p:sp>
          <p:nvSpPr>
            <p:cNvPr id="245783" name="Text Box 23"/>
            <p:cNvSpPr txBox="1">
              <a:spLocks noChangeArrowheads="1"/>
            </p:cNvSpPr>
            <p:nvPr/>
          </p:nvSpPr>
          <p:spPr bwMode="auto">
            <a:xfrm>
              <a:off x="3312" y="2544"/>
              <a:ext cx="279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方正姚体" pitchFamily="2" charset="-122"/>
                  <a:ea typeface="方正姚体" pitchFamily="2" charset="-122"/>
                </a:rPr>
                <a:t>………………</a:t>
              </a:r>
              <a:r>
                <a:rPr lang="zh-CN" altLang="en-US" dirty="0">
                  <a:latin typeface="方正姚体" pitchFamily="2" charset="-122"/>
                  <a:ea typeface="方正姚体" pitchFamily="2" charset="-122"/>
                </a:rPr>
                <a:t>餘數＝</a:t>
              </a:r>
              <a:r>
                <a:rPr lang="en-US" altLang="zh-CN" dirty="0">
                  <a:latin typeface="方正姚体" pitchFamily="2" charset="-122"/>
                  <a:ea typeface="方正姚体" pitchFamily="2" charset="-122"/>
                </a:rPr>
                <a:t>0</a:t>
              </a:r>
            </a:p>
          </p:txBody>
        </p:sp>
        <p:grpSp>
          <p:nvGrpSpPr>
            <p:cNvPr id="245784" name="Group 24"/>
            <p:cNvGrpSpPr>
              <a:grpSpLocks/>
            </p:cNvGrpSpPr>
            <p:nvPr/>
          </p:nvGrpSpPr>
          <p:grpSpPr bwMode="auto">
            <a:xfrm>
              <a:off x="2544" y="2832"/>
              <a:ext cx="720" cy="291"/>
              <a:chOff x="1440" y="2496"/>
              <a:chExt cx="720" cy="291"/>
            </a:xfrm>
          </p:grpSpPr>
          <p:sp>
            <p:nvSpPr>
              <p:cNvPr id="245785" name="Line 25"/>
              <p:cNvSpPr>
                <a:spLocks noChangeShapeType="1"/>
              </p:cNvSpPr>
              <p:nvPr/>
            </p:nvSpPr>
            <p:spPr bwMode="auto">
              <a:xfrm>
                <a:off x="1680" y="254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>
                  <a:latin typeface="方正姚体" pitchFamily="2" charset="-122"/>
                  <a:ea typeface="方正姚体" pitchFamily="2" charset="-122"/>
                </a:endParaRPr>
              </a:p>
            </p:txBody>
          </p:sp>
          <p:sp>
            <p:nvSpPr>
              <p:cNvPr id="245786" name="Text Box 26"/>
              <p:cNvSpPr txBox="1">
                <a:spLocks noChangeArrowheads="1"/>
              </p:cNvSpPr>
              <p:nvPr/>
            </p:nvSpPr>
            <p:spPr bwMode="auto">
              <a:xfrm>
                <a:off x="1776" y="2496"/>
                <a:ext cx="336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latin typeface="方正姚体" pitchFamily="2" charset="-122"/>
                    <a:ea typeface="方正姚体" pitchFamily="2" charset="-122"/>
                  </a:rPr>
                  <a:t>9</a:t>
                </a:r>
              </a:p>
            </p:txBody>
          </p:sp>
          <p:sp>
            <p:nvSpPr>
              <p:cNvPr id="245787" name="Line 27"/>
              <p:cNvSpPr>
                <a:spLocks noChangeShapeType="1"/>
              </p:cNvSpPr>
              <p:nvPr/>
            </p:nvSpPr>
            <p:spPr bwMode="auto">
              <a:xfrm>
                <a:off x="1680" y="2736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>
                  <a:latin typeface="方正姚体" pitchFamily="2" charset="-122"/>
                  <a:ea typeface="方正姚体" pitchFamily="2" charset="-122"/>
                </a:endParaRPr>
              </a:p>
            </p:txBody>
          </p:sp>
          <p:sp>
            <p:nvSpPr>
              <p:cNvPr id="245788" name="Text Box 28"/>
              <p:cNvSpPr txBox="1">
                <a:spLocks noChangeArrowheads="1"/>
              </p:cNvSpPr>
              <p:nvPr/>
            </p:nvSpPr>
            <p:spPr bwMode="auto">
              <a:xfrm>
                <a:off x="1440" y="2496"/>
                <a:ext cx="192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latin typeface="方正姚体" pitchFamily="2" charset="-122"/>
                    <a:ea typeface="方正姚体" pitchFamily="2" charset="-122"/>
                  </a:rPr>
                  <a:t>2</a:t>
                </a:r>
              </a:p>
            </p:txBody>
          </p:sp>
        </p:grpSp>
        <p:sp>
          <p:nvSpPr>
            <p:cNvPr id="245789" name="Text Box 29"/>
            <p:cNvSpPr txBox="1">
              <a:spLocks noChangeArrowheads="1"/>
            </p:cNvSpPr>
            <p:nvPr/>
          </p:nvSpPr>
          <p:spPr bwMode="auto">
            <a:xfrm>
              <a:off x="3312" y="2784"/>
              <a:ext cx="2671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方正姚体" pitchFamily="2" charset="-122"/>
                  <a:ea typeface="方正姚体" pitchFamily="2" charset="-122"/>
                </a:rPr>
                <a:t>………………</a:t>
              </a:r>
              <a:r>
                <a:rPr lang="zh-CN" altLang="en-US" dirty="0">
                  <a:latin typeface="方正姚体" pitchFamily="2" charset="-122"/>
                  <a:ea typeface="方正姚体" pitchFamily="2" charset="-122"/>
                </a:rPr>
                <a:t>餘數＝</a:t>
              </a:r>
              <a:r>
                <a:rPr lang="en-US" altLang="zh-CN" dirty="0">
                  <a:latin typeface="方正姚体" pitchFamily="2" charset="-122"/>
                  <a:ea typeface="方正姚体" pitchFamily="2" charset="-122"/>
                </a:rPr>
                <a:t>1</a:t>
              </a:r>
            </a:p>
          </p:txBody>
        </p:sp>
        <p:grpSp>
          <p:nvGrpSpPr>
            <p:cNvPr id="245790" name="Group 30"/>
            <p:cNvGrpSpPr>
              <a:grpSpLocks/>
            </p:cNvGrpSpPr>
            <p:nvPr/>
          </p:nvGrpSpPr>
          <p:grpSpPr bwMode="auto">
            <a:xfrm>
              <a:off x="2544" y="3072"/>
              <a:ext cx="720" cy="291"/>
              <a:chOff x="1440" y="2496"/>
              <a:chExt cx="720" cy="291"/>
            </a:xfrm>
          </p:grpSpPr>
          <p:sp>
            <p:nvSpPr>
              <p:cNvPr id="245791" name="Line 31"/>
              <p:cNvSpPr>
                <a:spLocks noChangeShapeType="1"/>
              </p:cNvSpPr>
              <p:nvPr/>
            </p:nvSpPr>
            <p:spPr bwMode="auto">
              <a:xfrm>
                <a:off x="1680" y="254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>
                  <a:latin typeface="方正姚体" pitchFamily="2" charset="-122"/>
                  <a:ea typeface="方正姚体" pitchFamily="2" charset="-122"/>
                </a:endParaRPr>
              </a:p>
            </p:txBody>
          </p:sp>
          <p:sp>
            <p:nvSpPr>
              <p:cNvPr id="245792" name="Text Box 32"/>
              <p:cNvSpPr txBox="1">
                <a:spLocks noChangeArrowheads="1"/>
              </p:cNvSpPr>
              <p:nvPr/>
            </p:nvSpPr>
            <p:spPr bwMode="auto">
              <a:xfrm>
                <a:off x="1776" y="2496"/>
                <a:ext cx="336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latin typeface="方正姚体" pitchFamily="2" charset="-122"/>
                    <a:ea typeface="方正姚体" pitchFamily="2" charset="-122"/>
                  </a:rPr>
                  <a:t>4</a:t>
                </a:r>
              </a:p>
            </p:txBody>
          </p:sp>
          <p:sp>
            <p:nvSpPr>
              <p:cNvPr id="245793" name="Line 33"/>
              <p:cNvSpPr>
                <a:spLocks noChangeShapeType="1"/>
              </p:cNvSpPr>
              <p:nvPr/>
            </p:nvSpPr>
            <p:spPr bwMode="auto">
              <a:xfrm>
                <a:off x="1680" y="2736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>
                  <a:latin typeface="方正姚体" pitchFamily="2" charset="-122"/>
                  <a:ea typeface="方正姚体" pitchFamily="2" charset="-122"/>
                </a:endParaRPr>
              </a:p>
            </p:txBody>
          </p:sp>
          <p:sp>
            <p:nvSpPr>
              <p:cNvPr id="245794" name="Text Box 34"/>
              <p:cNvSpPr txBox="1">
                <a:spLocks noChangeArrowheads="1"/>
              </p:cNvSpPr>
              <p:nvPr/>
            </p:nvSpPr>
            <p:spPr bwMode="auto">
              <a:xfrm>
                <a:off x="1440" y="2496"/>
                <a:ext cx="192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latin typeface="方正姚体" pitchFamily="2" charset="-122"/>
                    <a:ea typeface="方正姚体" pitchFamily="2" charset="-122"/>
                  </a:rPr>
                  <a:t>2</a:t>
                </a:r>
              </a:p>
            </p:txBody>
          </p:sp>
        </p:grpSp>
        <p:sp>
          <p:nvSpPr>
            <p:cNvPr id="245795" name="Text Box 35"/>
            <p:cNvSpPr txBox="1">
              <a:spLocks noChangeArrowheads="1"/>
            </p:cNvSpPr>
            <p:nvPr/>
          </p:nvSpPr>
          <p:spPr bwMode="auto">
            <a:xfrm>
              <a:off x="3312" y="3024"/>
              <a:ext cx="2671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方正姚体" pitchFamily="2" charset="-122"/>
                  <a:ea typeface="方正姚体" pitchFamily="2" charset="-122"/>
                </a:rPr>
                <a:t>………………</a:t>
              </a:r>
              <a:r>
                <a:rPr lang="zh-CN" altLang="en-US" dirty="0">
                  <a:latin typeface="方正姚体" pitchFamily="2" charset="-122"/>
                  <a:ea typeface="方正姚体" pitchFamily="2" charset="-122"/>
                </a:rPr>
                <a:t>餘數＝</a:t>
              </a:r>
              <a:r>
                <a:rPr lang="en-US" altLang="zh-CN" dirty="0">
                  <a:latin typeface="方正姚体" pitchFamily="2" charset="-122"/>
                  <a:ea typeface="方正姚体" pitchFamily="2" charset="-122"/>
                </a:rPr>
                <a:t>0</a:t>
              </a:r>
            </a:p>
          </p:txBody>
        </p:sp>
        <p:grpSp>
          <p:nvGrpSpPr>
            <p:cNvPr id="245796" name="Group 36"/>
            <p:cNvGrpSpPr>
              <a:grpSpLocks/>
            </p:cNvGrpSpPr>
            <p:nvPr/>
          </p:nvGrpSpPr>
          <p:grpSpPr bwMode="auto">
            <a:xfrm>
              <a:off x="2544" y="3312"/>
              <a:ext cx="720" cy="291"/>
              <a:chOff x="1440" y="2496"/>
              <a:chExt cx="720" cy="291"/>
            </a:xfrm>
          </p:grpSpPr>
          <p:sp>
            <p:nvSpPr>
              <p:cNvPr id="245797" name="Line 37"/>
              <p:cNvSpPr>
                <a:spLocks noChangeShapeType="1"/>
              </p:cNvSpPr>
              <p:nvPr/>
            </p:nvSpPr>
            <p:spPr bwMode="auto">
              <a:xfrm>
                <a:off x="1680" y="254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>
                  <a:latin typeface="方正姚体" pitchFamily="2" charset="-122"/>
                  <a:ea typeface="方正姚体" pitchFamily="2" charset="-122"/>
                </a:endParaRPr>
              </a:p>
            </p:txBody>
          </p:sp>
          <p:sp>
            <p:nvSpPr>
              <p:cNvPr id="245798" name="Text Box 38"/>
              <p:cNvSpPr txBox="1">
                <a:spLocks noChangeArrowheads="1"/>
              </p:cNvSpPr>
              <p:nvPr/>
            </p:nvSpPr>
            <p:spPr bwMode="auto">
              <a:xfrm>
                <a:off x="1776" y="2496"/>
                <a:ext cx="336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latin typeface="方正姚体" pitchFamily="2" charset="-122"/>
                    <a:ea typeface="方正姚体" pitchFamily="2" charset="-122"/>
                  </a:rPr>
                  <a:t>2</a:t>
                </a:r>
              </a:p>
            </p:txBody>
          </p:sp>
          <p:sp>
            <p:nvSpPr>
              <p:cNvPr id="245799" name="Line 39"/>
              <p:cNvSpPr>
                <a:spLocks noChangeShapeType="1"/>
              </p:cNvSpPr>
              <p:nvPr/>
            </p:nvSpPr>
            <p:spPr bwMode="auto">
              <a:xfrm>
                <a:off x="1680" y="2736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>
                  <a:latin typeface="方正姚体" pitchFamily="2" charset="-122"/>
                  <a:ea typeface="方正姚体" pitchFamily="2" charset="-122"/>
                </a:endParaRPr>
              </a:p>
            </p:txBody>
          </p:sp>
          <p:sp>
            <p:nvSpPr>
              <p:cNvPr id="245800" name="Text Box 40"/>
              <p:cNvSpPr txBox="1">
                <a:spLocks noChangeArrowheads="1"/>
              </p:cNvSpPr>
              <p:nvPr/>
            </p:nvSpPr>
            <p:spPr bwMode="auto">
              <a:xfrm>
                <a:off x="1440" y="2496"/>
                <a:ext cx="192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latin typeface="方正姚体" pitchFamily="2" charset="-122"/>
                    <a:ea typeface="方正姚体" pitchFamily="2" charset="-122"/>
                  </a:rPr>
                  <a:t>2</a:t>
                </a:r>
              </a:p>
            </p:txBody>
          </p:sp>
        </p:grpSp>
        <p:sp>
          <p:nvSpPr>
            <p:cNvPr id="245801" name="Text Box 41"/>
            <p:cNvSpPr txBox="1">
              <a:spLocks noChangeArrowheads="1"/>
            </p:cNvSpPr>
            <p:nvPr/>
          </p:nvSpPr>
          <p:spPr bwMode="auto">
            <a:xfrm>
              <a:off x="3312" y="3264"/>
              <a:ext cx="2671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方正姚体" pitchFamily="2" charset="-122"/>
                  <a:ea typeface="方正姚体" pitchFamily="2" charset="-122"/>
                </a:rPr>
                <a:t>………………</a:t>
              </a:r>
              <a:r>
                <a:rPr lang="zh-CN" altLang="en-US" dirty="0">
                  <a:latin typeface="方正姚体" pitchFamily="2" charset="-122"/>
                  <a:ea typeface="方正姚体" pitchFamily="2" charset="-122"/>
                </a:rPr>
                <a:t>餘數＝</a:t>
              </a:r>
              <a:r>
                <a:rPr lang="en-US" altLang="zh-CN" dirty="0">
                  <a:latin typeface="方正姚体" pitchFamily="2" charset="-122"/>
                  <a:ea typeface="方正姚体" pitchFamily="2" charset="-122"/>
                </a:rPr>
                <a:t>0</a:t>
              </a:r>
            </a:p>
          </p:txBody>
        </p:sp>
        <p:grpSp>
          <p:nvGrpSpPr>
            <p:cNvPr id="245802" name="Group 42"/>
            <p:cNvGrpSpPr>
              <a:grpSpLocks/>
            </p:cNvGrpSpPr>
            <p:nvPr/>
          </p:nvGrpSpPr>
          <p:grpSpPr bwMode="auto">
            <a:xfrm>
              <a:off x="2544" y="3552"/>
              <a:ext cx="720" cy="291"/>
              <a:chOff x="1440" y="2496"/>
              <a:chExt cx="720" cy="291"/>
            </a:xfrm>
          </p:grpSpPr>
          <p:sp>
            <p:nvSpPr>
              <p:cNvPr id="245803" name="Line 43"/>
              <p:cNvSpPr>
                <a:spLocks noChangeShapeType="1"/>
              </p:cNvSpPr>
              <p:nvPr/>
            </p:nvSpPr>
            <p:spPr bwMode="auto">
              <a:xfrm>
                <a:off x="1680" y="254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>
                  <a:latin typeface="方正姚体" pitchFamily="2" charset="-122"/>
                  <a:ea typeface="方正姚体" pitchFamily="2" charset="-122"/>
                </a:endParaRPr>
              </a:p>
            </p:txBody>
          </p:sp>
          <p:sp>
            <p:nvSpPr>
              <p:cNvPr id="245804" name="Text Box 44"/>
              <p:cNvSpPr txBox="1">
                <a:spLocks noChangeArrowheads="1"/>
              </p:cNvSpPr>
              <p:nvPr/>
            </p:nvSpPr>
            <p:spPr bwMode="auto">
              <a:xfrm>
                <a:off x="1776" y="2496"/>
                <a:ext cx="336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latin typeface="方正姚体" pitchFamily="2" charset="-122"/>
                    <a:ea typeface="方正姚体" pitchFamily="2" charset="-122"/>
                  </a:rPr>
                  <a:t>1</a:t>
                </a:r>
              </a:p>
            </p:txBody>
          </p:sp>
          <p:sp>
            <p:nvSpPr>
              <p:cNvPr id="245805" name="Line 45"/>
              <p:cNvSpPr>
                <a:spLocks noChangeShapeType="1"/>
              </p:cNvSpPr>
              <p:nvPr/>
            </p:nvSpPr>
            <p:spPr bwMode="auto">
              <a:xfrm>
                <a:off x="1680" y="2736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>
                  <a:latin typeface="方正姚体" pitchFamily="2" charset="-122"/>
                  <a:ea typeface="方正姚体" pitchFamily="2" charset="-122"/>
                </a:endParaRPr>
              </a:p>
            </p:txBody>
          </p:sp>
          <p:sp>
            <p:nvSpPr>
              <p:cNvPr id="245806" name="Text Box 46"/>
              <p:cNvSpPr txBox="1">
                <a:spLocks noChangeArrowheads="1"/>
              </p:cNvSpPr>
              <p:nvPr/>
            </p:nvSpPr>
            <p:spPr bwMode="auto">
              <a:xfrm>
                <a:off x="1440" y="2496"/>
                <a:ext cx="192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latin typeface="方正姚体" pitchFamily="2" charset="-122"/>
                    <a:ea typeface="方正姚体" pitchFamily="2" charset="-122"/>
                  </a:rPr>
                  <a:t>2</a:t>
                </a:r>
              </a:p>
            </p:txBody>
          </p:sp>
        </p:grpSp>
        <p:sp>
          <p:nvSpPr>
            <p:cNvPr id="245807" name="Text Box 47"/>
            <p:cNvSpPr txBox="1">
              <a:spLocks noChangeArrowheads="1"/>
            </p:cNvSpPr>
            <p:nvPr/>
          </p:nvSpPr>
          <p:spPr bwMode="auto">
            <a:xfrm>
              <a:off x="3312" y="3504"/>
              <a:ext cx="2671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方正姚体" pitchFamily="2" charset="-122"/>
                  <a:ea typeface="方正姚体" pitchFamily="2" charset="-122"/>
                </a:rPr>
                <a:t>………………</a:t>
              </a:r>
              <a:r>
                <a:rPr lang="zh-CN" altLang="en-US" dirty="0">
                  <a:latin typeface="方正姚体" pitchFamily="2" charset="-122"/>
                  <a:ea typeface="方正姚体" pitchFamily="2" charset="-122"/>
                </a:rPr>
                <a:t>餘數＝</a:t>
              </a:r>
              <a:r>
                <a:rPr lang="en-US" altLang="zh-CN" dirty="0">
                  <a:latin typeface="方正姚体" pitchFamily="2" charset="-122"/>
                  <a:ea typeface="方正姚体" pitchFamily="2" charset="-122"/>
                </a:rPr>
                <a:t>1</a:t>
              </a:r>
            </a:p>
          </p:txBody>
        </p:sp>
        <p:sp>
          <p:nvSpPr>
            <p:cNvPr id="245808" name="Rectangle 48"/>
            <p:cNvSpPr>
              <a:spLocks noChangeArrowheads="1"/>
            </p:cNvSpPr>
            <p:nvPr/>
          </p:nvSpPr>
          <p:spPr bwMode="auto">
            <a:xfrm>
              <a:off x="2880" y="3768"/>
              <a:ext cx="284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方正姚体" pitchFamily="2" charset="-122"/>
                  <a:ea typeface="方正姚体" pitchFamily="2" charset="-122"/>
                </a:rPr>
                <a:t>0</a:t>
              </a:r>
            </a:p>
          </p:txBody>
        </p:sp>
      </p:grpSp>
      <p:sp>
        <p:nvSpPr>
          <p:cNvPr id="245810" name="Text Box 50"/>
          <p:cNvSpPr txBox="1">
            <a:spLocks noChangeArrowheads="1"/>
          </p:cNvSpPr>
          <p:nvPr/>
        </p:nvSpPr>
        <p:spPr bwMode="auto">
          <a:xfrm>
            <a:off x="527838" y="4648207"/>
            <a:ext cx="268605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方正姚体" pitchFamily="2" charset="-122"/>
                <a:ea typeface="方正姚体" pitchFamily="2" charset="-122"/>
              </a:rPr>
              <a:t>（</a:t>
            </a:r>
            <a:r>
              <a:rPr lang="en-US" altLang="zh-CN" dirty="0">
                <a:latin typeface="方正姚体" pitchFamily="2" charset="-122"/>
                <a:ea typeface="方正姚体" pitchFamily="2" charset="-122"/>
              </a:rPr>
              <a:t>75)</a:t>
            </a:r>
            <a:r>
              <a:rPr lang="en-US" altLang="zh-CN" sz="3600" baseline="-25000" dirty="0">
                <a:latin typeface="方正姚体" pitchFamily="2" charset="-122"/>
                <a:ea typeface="方正姚体" pitchFamily="2" charset="-122"/>
              </a:rPr>
              <a:t>10</a:t>
            </a:r>
            <a:r>
              <a:rPr lang="zh-CN" altLang="en-US" dirty="0">
                <a:latin typeface="方正姚体" pitchFamily="2" charset="-122"/>
                <a:ea typeface="方正姚体" pitchFamily="2" charset="-122"/>
              </a:rPr>
              <a:t>   ＝</a:t>
            </a:r>
            <a:endParaRPr lang="en-US" altLang="zh-CN" dirty="0">
              <a:latin typeface="方正姚体" pitchFamily="2" charset="-122"/>
              <a:ea typeface="方正姚体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方正姚体" pitchFamily="2" charset="-122"/>
                <a:ea typeface="方正姚体" pitchFamily="2" charset="-122"/>
              </a:rPr>
              <a:t>     </a:t>
            </a:r>
            <a:r>
              <a:rPr lang="zh-CN" altLang="en-US" dirty="0">
                <a:latin typeface="方正姚体" pitchFamily="2" charset="-122"/>
                <a:ea typeface="方正姚体" pitchFamily="2" charset="-122"/>
              </a:rPr>
              <a:t> （</a:t>
            </a:r>
            <a:r>
              <a:rPr lang="en-US" altLang="zh-CN" dirty="0">
                <a:latin typeface="方正姚体" pitchFamily="2" charset="-122"/>
                <a:ea typeface="方正姚体" pitchFamily="2" charset="-122"/>
              </a:rPr>
              <a:t>1001011)</a:t>
            </a:r>
            <a:r>
              <a:rPr lang="en-US" altLang="zh-CN" sz="3200" baseline="-25000" dirty="0">
                <a:latin typeface="方正姚体" pitchFamily="2" charset="-122"/>
                <a:ea typeface="方正姚体" pitchFamily="2" charset="-122"/>
              </a:rPr>
              <a:t>2</a:t>
            </a:r>
          </a:p>
        </p:txBody>
      </p:sp>
      <p:sp>
        <p:nvSpPr>
          <p:cNvPr id="245817" name="Line 57"/>
          <p:cNvSpPr>
            <a:spLocks noChangeShapeType="1"/>
          </p:cNvSpPr>
          <p:nvPr/>
        </p:nvSpPr>
        <p:spPr bwMode="auto">
          <a:xfrm flipV="1">
            <a:off x="7740352" y="3684407"/>
            <a:ext cx="0" cy="243840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>
              <a:latin typeface="方正姚体" pitchFamily="2" charset="-122"/>
              <a:ea typeface="方正姚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31143735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45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45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45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45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7" dur="500"/>
                                        <p:tgtEl>
                                          <p:spTgt spid="245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45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63" grpId="0" build="p"/>
      <p:bldP spid="245810" grpId="0" autoUpdateAnimBg="0"/>
      <p:bldP spid="24581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>
                <a:ea typeface="宋体" pitchFamily="2" charset="-122"/>
              </a:rPr>
              <a:t>基數轉換中常用的數</a:t>
            </a:r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648CE-56AE-4165-8916-F2EEC37AD8E3}" type="slidenum">
              <a:rPr lang="zh-CN" altLang="en-US"/>
              <a:pPr/>
              <a:t>17</a:t>
            </a:fld>
            <a:endParaRPr lang="en-US" altLang="zh-CN" dirty="0"/>
          </a:p>
        </p:txBody>
      </p:sp>
      <p:pic>
        <p:nvPicPr>
          <p:cNvPr id="25498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3598" y="1371600"/>
            <a:ext cx="6714746" cy="430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54981" name="Rectangle 5"/>
          <p:cNvSpPr>
            <a:spLocks noChangeArrowheads="1"/>
          </p:cNvSpPr>
          <p:nvPr/>
        </p:nvSpPr>
        <p:spPr bwMode="auto">
          <a:xfrm>
            <a:off x="3253696" y="5787576"/>
            <a:ext cx="222885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 anchorCtr="1">
            <a:spAutoFit/>
          </a:bodyPr>
          <a:lstStyle/>
          <a:p>
            <a:pPr marL="533405" indent="-533405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</a:pPr>
            <a:r>
              <a:rPr lang="zh-CN" altLang="en-US" sz="2000" b="1" dirty="0">
                <a:latin typeface="宋体" pitchFamily="2" charset="-122"/>
              </a:rPr>
              <a:t>表</a:t>
            </a:r>
            <a:r>
              <a:rPr lang="en-US" altLang="zh-CN" sz="2000" b="1" dirty="0">
                <a:latin typeface="宋体" pitchFamily="2" charset="-122"/>
              </a:rPr>
              <a:t>1-1   2</a:t>
            </a:r>
            <a:r>
              <a:rPr lang="zh-CN" altLang="en-US" sz="2000" b="1" dirty="0">
                <a:latin typeface="宋体" pitchFamily="2" charset="-122"/>
              </a:rPr>
              <a:t>的冪表</a:t>
            </a:r>
          </a:p>
        </p:txBody>
      </p:sp>
      <p:sp>
        <p:nvSpPr>
          <p:cNvPr id="255079" name="Freeform 103"/>
          <p:cNvSpPr>
            <a:spLocks/>
          </p:cNvSpPr>
          <p:nvPr/>
        </p:nvSpPr>
        <p:spPr bwMode="auto">
          <a:xfrm>
            <a:off x="1010748" y="2362201"/>
            <a:ext cx="6714746" cy="3048000"/>
          </a:xfrm>
          <a:custGeom>
            <a:avLst/>
            <a:gdLst/>
            <a:ahLst/>
            <a:cxnLst>
              <a:cxn ang="0">
                <a:pos x="0" y="48"/>
              </a:cxn>
              <a:cxn ang="0">
                <a:pos x="0" y="1920"/>
              </a:cxn>
              <a:cxn ang="0">
                <a:pos x="2784" y="1920"/>
              </a:cxn>
              <a:cxn ang="0">
                <a:pos x="3264" y="240"/>
              </a:cxn>
              <a:cxn ang="0">
                <a:pos x="4608" y="240"/>
              </a:cxn>
              <a:cxn ang="0">
                <a:pos x="4608" y="0"/>
              </a:cxn>
              <a:cxn ang="0">
                <a:pos x="0" y="0"/>
              </a:cxn>
              <a:cxn ang="0">
                <a:pos x="0" y="96"/>
              </a:cxn>
            </a:cxnLst>
            <a:rect l="0" t="0" r="r" b="b"/>
            <a:pathLst>
              <a:path w="4608" h="1920">
                <a:moveTo>
                  <a:pt x="0" y="48"/>
                </a:moveTo>
                <a:lnTo>
                  <a:pt x="0" y="1920"/>
                </a:lnTo>
                <a:lnTo>
                  <a:pt x="2784" y="1920"/>
                </a:lnTo>
                <a:lnTo>
                  <a:pt x="3264" y="240"/>
                </a:lnTo>
                <a:lnTo>
                  <a:pt x="4608" y="240"/>
                </a:lnTo>
                <a:lnTo>
                  <a:pt x="4608" y="0"/>
                </a:lnTo>
                <a:lnTo>
                  <a:pt x="0" y="0"/>
                </a:lnTo>
                <a:lnTo>
                  <a:pt x="0" y="96"/>
                </a:lnTo>
              </a:path>
            </a:pathLst>
          </a:custGeom>
          <a:noFill/>
          <a:ln w="38100" cap="flat" cmpd="sng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0588937"/>
      </p:ext>
    </p:extLst>
  </p:cSld>
  <p:clrMapOvr>
    <a:masterClrMapping/>
  </p:clrMapOvr>
  <p:transition spd="slow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數制和碼制（</a:t>
            </a:r>
            <a:r>
              <a:rPr lang="en-US" altLang="zh-CN" dirty="0"/>
              <a:t>11</a:t>
            </a:r>
            <a:r>
              <a:rPr lang="zh-CN" altLang="en-US" dirty="0"/>
              <a:t>）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FBA7F-9B59-4D8C-B344-5AA79D08C620}" type="slidenum">
              <a:rPr lang="en-US" altLang="zh-CN"/>
              <a:pPr/>
              <a:t>18</a:t>
            </a:fld>
            <a:endParaRPr lang="en-US" altLang="zh-CN" dirty="0"/>
          </a:p>
        </p:txBody>
      </p:sp>
      <p:sp>
        <p:nvSpPr>
          <p:cNvPr id="24678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二－八進制互換</a:t>
            </a:r>
          </a:p>
          <a:p>
            <a:pPr lvl="1"/>
            <a:r>
              <a:rPr lang="zh-CN" altLang="en-US" dirty="0"/>
              <a:t>二</a:t>
            </a:r>
            <a:r>
              <a:rPr lang="zh-CN" altLang="en-US" dirty="0">
                <a:sym typeface="Symbol" pitchFamily="18" charset="2"/>
              </a:rPr>
              <a:t>－</a:t>
            </a:r>
            <a:r>
              <a:rPr lang="zh-CN" altLang="en-US" dirty="0"/>
              <a:t>八進制轉換：將（</a:t>
            </a:r>
            <a:r>
              <a:rPr lang="en-US" altLang="zh-CN" dirty="0"/>
              <a:t>1101101)</a:t>
            </a:r>
            <a:r>
              <a:rPr lang="en-US" altLang="zh-CN" baseline="-25000" dirty="0"/>
              <a:t>2 </a:t>
            </a:r>
            <a:r>
              <a:rPr lang="zh-CN" altLang="en-US" dirty="0"/>
              <a:t>轉成八進位數</a:t>
            </a:r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  <a:p>
            <a:pPr lvl="1"/>
            <a:r>
              <a:rPr lang="zh-CN" altLang="en-US" dirty="0"/>
              <a:t>八</a:t>
            </a:r>
            <a:r>
              <a:rPr lang="zh-CN" altLang="en-US" dirty="0">
                <a:sym typeface="Symbol" pitchFamily="18" charset="2"/>
              </a:rPr>
              <a:t>－</a:t>
            </a:r>
            <a:r>
              <a:rPr lang="zh-CN" altLang="en-US" dirty="0"/>
              <a:t>二進位轉換：將（</a:t>
            </a:r>
            <a:r>
              <a:rPr lang="en-US" altLang="zh-CN" dirty="0"/>
              <a:t>573)</a:t>
            </a:r>
            <a:r>
              <a:rPr lang="en-US" altLang="zh-CN" sz="3600" baseline="-25000" dirty="0"/>
              <a:t>8 </a:t>
            </a:r>
            <a:r>
              <a:rPr lang="zh-CN" altLang="en-US" dirty="0"/>
              <a:t>轉成二進位數字</a:t>
            </a:r>
          </a:p>
          <a:p>
            <a:endParaRPr lang="en-US" altLang="zh-CN" dirty="0"/>
          </a:p>
        </p:txBody>
      </p:sp>
      <p:graphicFrame>
        <p:nvGraphicFramePr>
          <p:cNvPr id="2467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6106722"/>
              </p:ext>
            </p:extLst>
          </p:nvPr>
        </p:nvGraphicFramePr>
        <p:xfrm>
          <a:off x="2616325" y="3123307"/>
          <a:ext cx="5772099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82600" imgH="228600" progId="Equation.3">
                  <p:embed/>
                </p:oleObj>
              </mc:Choice>
              <mc:Fallback>
                <p:oleObj name="Equation" r:id="rId2" imgW="20826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6325" y="3123307"/>
                        <a:ext cx="5772099" cy="5937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7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7019873"/>
              </p:ext>
            </p:extLst>
          </p:nvPr>
        </p:nvGraphicFramePr>
        <p:xfrm>
          <a:off x="2571750" y="4833838"/>
          <a:ext cx="5744666" cy="118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8920" imgH="457200" progId="Equation.3">
                  <p:embed/>
                </p:oleObj>
              </mc:Choice>
              <mc:Fallback>
                <p:oleObj name="Equation" r:id="rId4" imgW="215892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50" y="4833838"/>
                        <a:ext cx="5744666" cy="11874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73602168"/>
      </p:ext>
    </p:extLst>
  </p:cSld>
  <p:clrMapOvr>
    <a:masterClrMapping/>
  </p:clrMapOvr>
  <p:transition spd="slow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數制和碼制（</a:t>
            </a:r>
            <a:r>
              <a:rPr lang="en-US" altLang="zh-CN" dirty="0"/>
              <a:t>12</a:t>
            </a:r>
            <a:r>
              <a:rPr lang="zh-CN" altLang="en-US" dirty="0"/>
              <a:t>）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76BF0-AD6B-467F-BF70-822BAF477E92}" type="slidenum">
              <a:rPr lang="en-US" altLang="zh-CN"/>
              <a:pPr/>
              <a:t>19</a:t>
            </a:fld>
            <a:endParaRPr lang="en-US" altLang="zh-CN" dirty="0"/>
          </a:p>
        </p:txBody>
      </p:sp>
      <p:sp>
        <p:nvSpPr>
          <p:cNvPr id="24883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996" y="1412776"/>
            <a:ext cx="8384468" cy="4607024"/>
          </a:xfrm>
        </p:spPr>
        <p:txBody>
          <a:bodyPr/>
          <a:lstStyle/>
          <a:p>
            <a:r>
              <a:rPr lang="zh-CN" altLang="en-US" dirty="0"/>
              <a:t>二－十六進位互換</a:t>
            </a:r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二</a:t>
            </a:r>
            <a:r>
              <a:rPr lang="zh-CN" altLang="en-US" dirty="0">
                <a:sym typeface="Symbol" pitchFamily="18" charset="2"/>
              </a:rPr>
              <a:t>－</a:t>
            </a:r>
            <a:r>
              <a:rPr lang="zh-CN" altLang="en-US" dirty="0"/>
              <a:t>十六進位轉換：將（</a:t>
            </a:r>
            <a:r>
              <a:rPr lang="en-US" altLang="zh-CN" dirty="0"/>
              <a:t>1101101)</a:t>
            </a:r>
            <a:r>
              <a:rPr lang="en-US" altLang="zh-CN" baseline="-25000" dirty="0"/>
              <a:t>2 </a:t>
            </a:r>
            <a:r>
              <a:rPr lang="zh-CN" altLang="en-US" dirty="0"/>
              <a:t>轉成十六進位數</a:t>
            </a:r>
          </a:p>
          <a:p>
            <a:pPr lvl="1"/>
            <a:endParaRPr lang="zh-CN" altLang="en-US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十六</a:t>
            </a:r>
            <a:r>
              <a:rPr lang="zh-CN" altLang="en-US" dirty="0">
                <a:sym typeface="Symbol" pitchFamily="18" charset="2"/>
              </a:rPr>
              <a:t>－</a:t>
            </a:r>
            <a:r>
              <a:rPr lang="zh-CN" altLang="en-US" dirty="0"/>
              <a:t>二進位轉換：將（</a:t>
            </a:r>
            <a:r>
              <a:rPr lang="en-US" altLang="zh-CN" dirty="0"/>
              <a:t>5A3F)</a:t>
            </a:r>
            <a:r>
              <a:rPr lang="en-US" altLang="zh-CN" sz="3600" baseline="-25000" dirty="0"/>
              <a:t>16 </a:t>
            </a:r>
            <a:r>
              <a:rPr lang="zh-CN" altLang="en-US" dirty="0"/>
              <a:t>轉成二進位數字</a:t>
            </a:r>
          </a:p>
          <a:p>
            <a:endParaRPr lang="en-US" altLang="zh-CN" dirty="0"/>
          </a:p>
        </p:txBody>
      </p:sp>
      <p:graphicFrame>
        <p:nvGraphicFramePr>
          <p:cNvPr id="24883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7544152"/>
              </p:ext>
            </p:extLst>
          </p:nvPr>
        </p:nvGraphicFramePr>
        <p:xfrm>
          <a:off x="2411760" y="3645024"/>
          <a:ext cx="5914856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20760" imgH="228600" progId="Equation.3">
                  <p:embed/>
                </p:oleObj>
              </mc:Choice>
              <mc:Fallback>
                <p:oleObj name="Equation" r:id="rId2" imgW="212076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3645024"/>
                        <a:ext cx="5914856" cy="5937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83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8259844"/>
              </p:ext>
            </p:extLst>
          </p:nvPr>
        </p:nvGraphicFramePr>
        <p:xfrm>
          <a:off x="2394277" y="5373216"/>
          <a:ext cx="6354187" cy="118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34880" imgH="457200" progId="Equation.3">
                  <p:embed/>
                </p:oleObj>
              </mc:Choice>
              <mc:Fallback>
                <p:oleObj name="Equation" r:id="rId4" imgW="22348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4277" y="5373216"/>
                        <a:ext cx="6354187" cy="11874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55845631"/>
      </p:ext>
    </p:extLst>
  </p:cSld>
  <p:clrMapOvr>
    <a:masterClrMapping/>
  </p:clrMapOvr>
  <p:transition spd="slow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DA807-57B9-435B-860D-89F0287967DE}" type="slidenum">
              <a:rPr lang="zh-CN" altLang="en-US"/>
              <a:pPr/>
              <a:t>20</a:t>
            </a:fld>
            <a:endParaRPr lang="en-US" altLang="zh-CN" dirty="0"/>
          </a:p>
        </p:txBody>
      </p:sp>
      <p:pic>
        <p:nvPicPr>
          <p:cNvPr id="256003" name="Picture 3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187624" y="1066800"/>
            <a:ext cx="6696744" cy="4800600"/>
          </a:xfrm>
        </p:spPr>
      </p:pic>
      <p:sp>
        <p:nvSpPr>
          <p:cNvPr id="256004" name="Rectangle 4"/>
          <p:cNvSpPr>
            <a:spLocks noChangeArrowheads="1"/>
          </p:cNvSpPr>
          <p:nvPr/>
        </p:nvSpPr>
        <p:spPr bwMode="auto">
          <a:xfrm>
            <a:off x="2987824" y="5872468"/>
            <a:ext cx="303260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 anchorCtr="1">
            <a:spAutoFit/>
          </a:bodyPr>
          <a:lstStyle/>
          <a:p>
            <a:pPr marL="533405" indent="-533405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</a:pPr>
            <a:r>
              <a:rPr lang="zh-CN" altLang="en-US" sz="2000" b="1" dirty="0">
                <a:latin typeface="宋体" pitchFamily="2" charset="-122"/>
              </a:rPr>
              <a:t>表</a:t>
            </a:r>
            <a:r>
              <a:rPr lang="en-US" altLang="zh-CN" sz="2000" b="1" dirty="0">
                <a:latin typeface="宋体" pitchFamily="2" charset="-122"/>
              </a:rPr>
              <a:t>1-2 </a:t>
            </a:r>
            <a:r>
              <a:rPr lang="zh-CN" altLang="en-US" sz="2000" b="1" dirty="0">
                <a:latin typeface="宋体" pitchFamily="2" charset="-122"/>
              </a:rPr>
              <a:t>不同基的碼表</a:t>
            </a:r>
          </a:p>
        </p:txBody>
      </p:sp>
    </p:spTree>
    <p:extLst>
      <p:ext uri="{BB962C8B-B14F-4D97-AF65-F5344CB8AC3E}">
        <p14:creationId xmlns:p14="http://schemas.microsoft.com/office/powerpoint/2010/main" val="1401733182"/>
      </p:ext>
    </p:extLst>
  </p:cSld>
  <p:clrMapOvr>
    <a:masterClrMapping/>
  </p:clrMapOvr>
  <p:transition spd="slow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數制和碼制（</a:t>
            </a:r>
            <a:r>
              <a:rPr lang="en-US" altLang="zh-CN" dirty="0"/>
              <a:t>13</a:t>
            </a:r>
            <a:r>
              <a:rPr lang="zh-CN" altLang="en-US" dirty="0"/>
              <a:t>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FC72C-4896-4500-9A34-6ABB379E5F59}" type="slidenum">
              <a:rPr lang="en-US" altLang="zh-CN"/>
              <a:pPr/>
              <a:t>21</a:t>
            </a:fld>
            <a:endParaRPr lang="en-US" altLang="zh-CN" dirty="0"/>
          </a:p>
        </p:txBody>
      </p:sp>
      <p:sp>
        <p:nvSpPr>
          <p:cNvPr id="24985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13538" y="1524000"/>
            <a:ext cx="8334926" cy="4648200"/>
          </a:xfrm>
        </p:spPr>
        <p:txBody>
          <a:bodyPr/>
          <a:lstStyle/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數制</a:t>
            </a:r>
          </a:p>
          <a:p>
            <a:r>
              <a:rPr lang="zh-CN" altLang="en-US" dirty="0"/>
              <a:t>碼制</a:t>
            </a:r>
          </a:p>
          <a:p>
            <a:pPr lvl="1"/>
            <a:r>
              <a:rPr lang="zh-CN" altLang="en-US" dirty="0"/>
              <a:t>原碼、反碼、補數</a:t>
            </a:r>
            <a:endParaRPr lang="en-US" altLang="zh-CN" dirty="0"/>
          </a:p>
          <a:p>
            <a:pPr lvl="1"/>
            <a:r>
              <a:rPr lang="zh-CN" altLang="en-US" dirty="0"/>
              <a:t>十進位數字的二進位編碼</a:t>
            </a:r>
          </a:p>
          <a:p>
            <a:pPr lvl="2"/>
            <a:r>
              <a:rPr lang="en-US" altLang="zh-CN" dirty="0"/>
              <a:t>8421</a:t>
            </a:r>
            <a:r>
              <a:rPr lang="zh-CN" altLang="en-US" dirty="0"/>
              <a:t>碼（</a:t>
            </a:r>
            <a:r>
              <a:rPr lang="en-US" altLang="zh-CN" dirty="0"/>
              <a:t>BCD</a:t>
            </a:r>
            <a:r>
              <a:rPr lang="zh-CN" altLang="en-US" dirty="0"/>
              <a:t>碼）、餘</a:t>
            </a:r>
            <a:r>
              <a:rPr lang="en-US" altLang="zh-CN" dirty="0"/>
              <a:t>3</a:t>
            </a:r>
            <a:r>
              <a:rPr lang="zh-CN" altLang="en-US" dirty="0"/>
              <a:t>碼、格雷碼</a:t>
            </a:r>
          </a:p>
          <a:p>
            <a:pPr lvl="1"/>
            <a:r>
              <a:rPr lang="zh-CN" altLang="en-US" dirty="0"/>
              <a:t>字元編碼</a:t>
            </a:r>
          </a:p>
          <a:p>
            <a:pPr lvl="2"/>
            <a:r>
              <a:rPr lang="en-US" altLang="zh-CN" dirty="0"/>
              <a:t>7</a:t>
            </a:r>
            <a:r>
              <a:rPr lang="zh-CN" altLang="en-US" dirty="0"/>
              <a:t>位</a:t>
            </a:r>
            <a:r>
              <a:rPr lang="en-US" altLang="zh-CN" dirty="0"/>
              <a:t>ASCII</a:t>
            </a:r>
            <a:r>
              <a:rPr lang="zh-CN" altLang="en-US" dirty="0"/>
              <a:t>、</a:t>
            </a:r>
            <a:r>
              <a:rPr lang="en-US" altLang="zh-CN" dirty="0"/>
              <a:t>8</a:t>
            </a:r>
            <a:r>
              <a:rPr lang="zh-CN" altLang="en-US" dirty="0"/>
              <a:t>位</a:t>
            </a:r>
            <a:r>
              <a:rPr lang="en-US" altLang="zh-CN" dirty="0"/>
              <a:t>ASCII</a:t>
            </a:r>
          </a:p>
        </p:txBody>
      </p:sp>
    </p:spTree>
    <p:extLst>
      <p:ext uri="{BB962C8B-B14F-4D97-AF65-F5344CB8AC3E}">
        <p14:creationId xmlns:p14="http://schemas.microsoft.com/office/powerpoint/2010/main" val="2344146522"/>
      </p:ext>
    </p:extLst>
  </p:cSld>
  <p:clrMapOvr>
    <a:masterClrMapping/>
  </p:clrMapOvr>
  <p:transition spd="slow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數制和碼制（</a:t>
            </a:r>
            <a:r>
              <a:rPr lang="en-US" altLang="zh-CN" dirty="0"/>
              <a:t>14</a:t>
            </a:r>
            <a:r>
              <a:rPr lang="zh-CN" altLang="en-US" dirty="0"/>
              <a:t>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A216C-18A3-466E-BD90-37CCADC359B9}" type="slidenum">
              <a:rPr lang="en-US" altLang="zh-CN"/>
              <a:pPr/>
              <a:t>22</a:t>
            </a:fld>
            <a:endParaRPr lang="en-US" altLang="zh-CN" dirty="0"/>
          </a:p>
        </p:txBody>
      </p:sp>
      <p:sp>
        <p:nvSpPr>
          <p:cNvPr id="2508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13538" y="1524000"/>
            <a:ext cx="8334926" cy="514508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zh-CN" altLang="en-US" dirty="0"/>
              <a:t>十進位數字的二進位編碼</a:t>
            </a:r>
          </a:p>
          <a:p>
            <a:pPr lvl="1">
              <a:lnSpc>
                <a:spcPct val="90000"/>
              </a:lnSpc>
            </a:pPr>
            <a:r>
              <a:rPr lang="en-US" altLang="zh-CN" dirty="0"/>
              <a:t>8421</a:t>
            </a:r>
            <a:r>
              <a:rPr lang="zh-CN" altLang="en-US" dirty="0"/>
              <a:t>碼（</a:t>
            </a:r>
            <a:r>
              <a:rPr lang="en-US" altLang="zh-CN" dirty="0"/>
              <a:t>BCD</a:t>
            </a:r>
            <a:r>
              <a:rPr lang="zh-CN" altLang="en-US" dirty="0"/>
              <a:t>碼：</a:t>
            </a:r>
            <a:r>
              <a:rPr lang="en-US" altLang="zh-CN" dirty="0"/>
              <a:t>binary-code-decimal</a:t>
            </a:r>
            <a:r>
              <a:rPr lang="zh-CN" altLang="en-US" dirty="0"/>
              <a:t>）</a:t>
            </a:r>
            <a:r>
              <a:rPr lang="en-US" altLang="zh-CN" dirty="0"/>
              <a:t>(</a:t>
            </a:r>
            <a:r>
              <a:rPr lang="zh-CN" altLang="en-US" dirty="0"/>
              <a:t>有權碼</a:t>
            </a:r>
            <a:r>
              <a:rPr lang="en-US" altLang="zh-CN" dirty="0"/>
              <a:t>)</a:t>
            </a:r>
          </a:p>
          <a:p>
            <a:pPr lvl="2">
              <a:lnSpc>
                <a:spcPct val="90000"/>
              </a:lnSpc>
            </a:pPr>
            <a:r>
              <a:rPr lang="en-US" altLang="zh-CN" dirty="0"/>
              <a:t>4</a:t>
            </a:r>
            <a:r>
              <a:rPr lang="zh-CN" altLang="en-US" dirty="0"/>
              <a:t>位元二進位碼從高到低權值為</a:t>
            </a:r>
            <a:r>
              <a:rPr lang="en-US" altLang="zh-CN" dirty="0"/>
              <a:t>2</a:t>
            </a:r>
            <a:r>
              <a:rPr lang="en-US" altLang="zh-CN" sz="3200" baseline="30000" dirty="0"/>
              <a:t>3 </a:t>
            </a:r>
            <a:r>
              <a:rPr lang="en-US" altLang="zh-CN" dirty="0"/>
              <a:t>(8)</a:t>
            </a:r>
            <a:r>
              <a:rPr lang="en-US" altLang="zh-CN" sz="3200" baseline="30000" dirty="0"/>
              <a:t> </a:t>
            </a:r>
            <a:r>
              <a:rPr lang="en-US" altLang="zh-CN" dirty="0"/>
              <a:t>,2</a:t>
            </a:r>
            <a:r>
              <a:rPr lang="en-US" altLang="zh-CN" sz="3200" baseline="30000" dirty="0"/>
              <a:t>2 </a:t>
            </a:r>
            <a:r>
              <a:rPr lang="en-US" altLang="zh-CN" dirty="0"/>
              <a:t>(4)</a:t>
            </a:r>
            <a:r>
              <a:rPr lang="en-US" altLang="zh-CN" sz="3200" baseline="30000" dirty="0"/>
              <a:t> </a:t>
            </a:r>
            <a:r>
              <a:rPr lang="en-US" altLang="zh-CN" sz="2000" dirty="0"/>
              <a:t>,</a:t>
            </a:r>
            <a:r>
              <a:rPr lang="en-US" altLang="zh-CN" dirty="0"/>
              <a:t> 2</a:t>
            </a:r>
            <a:r>
              <a:rPr lang="en-US" altLang="zh-CN" sz="3200" baseline="30000" dirty="0"/>
              <a:t>1 </a:t>
            </a:r>
            <a:r>
              <a:rPr lang="en-US" altLang="zh-CN" dirty="0"/>
              <a:t>(2)</a:t>
            </a:r>
            <a:r>
              <a:rPr lang="en-US" altLang="zh-CN" sz="3200" baseline="30000" dirty="0"/>
              <a:t> </a:t>
            </a:r>
            <a:r>
              <a:rPr lang="en-US" altLang="zh-CN" dirty="0"/>
              <a:t>, 2</a:t>
            </a:r>
            <a:r>
              <a:rPr lang="en-US" altLang="zh-CN" sz="3200" baseline="30000" dirty="0"/>
              <a:t>0 </a:t>
            </a:r>
            <a:r>
              <a:rPr lang="en-US" altLang="zh-CN" dirty="0"/>
              <a:t>(1)</a:t>
            </a:r>
          </a:p>
          <a:p>
            <a:pPr lvl="1">
              <a:lnSpc>
                <a:spcPct val="90000"/>
              </a:lnSpc>
            </a:pPr>
            <a:r>
              <a:rPr lang="en-US" altLang="zh-CN" dirty="0"/>
              <a:t>5421</a:t>
            </a:r>
            <a:r>
              <a:rPr lang="zh-CN" altLang="en-US" dirty="0"/>
              <a:t>碼 </a:t>
            </a:r>
            <a:r>
              <a:rPr lang="en-US" altLang="zh-CN" dirty="0"/>
              <a:t>(</a:t>
            </a:r>
            <a:r>
              <a:rPr lang="zh-CN" altLang="en-US" dirty="0"/>
              <a:t>有權碼</a:t>
            </a:r>
            <a:r>
              <a:rPr lang="en-US" altLang="zh-CN" dirty="0"/>
              <a:t>)</a:t>
            </a:r>
          </a:p>
          <a:p>
            <a:pPr lvl="2">
              <a:lnSpc>
                <a:spcPct val="90000"/>
              </a:lnSpc>
            </a:pPr>
            <a:r>
              <a:rPr lang="en-US" altLang="zh-CN" dirty="0"/>
              <a:t>4</a:t>
            </a:r>
            <a:r>
              <a:rPr lang="zh-CN" altLang="en-US" dirty="0"/>
              <a:t>位元二進位碼從高到低權值分別為</a:t>
            </a:r>
            <a:r>
              <a:rPr lang="en-US" altLang="zh-CN" dirty="0"/>
              <a:t>5</a:t>
            </a:r>
            <a:r>
              <a:rPr lang="zh-CN" altLang="en-US" dirty="0"/>
              <a:t>， </a:t>
            </a:r>
            <a:r>
              <a:rPr lang="en-US" altLang="zh-CN" dirty="0"/>
              <a:t>4</a:t>
            </a:r>
            <a:r>
              <a:rPr lang="zh-CN" altLang="en-US" dirty="0"/>
              <a:t>， </a:t>
            </a:r>
            <a:r>
              <a:rPr lang="en-US" altLang="zh-CN" dirty="0"/>
              <a:t>2</a:t>
            </a:r>
            <a:r>
              <a:rPr lang="zh-CN" altLang="en-US" dirty="0"/>
              <a:t>， </a:t>
            </a:r>
            <a:r>
              <a:rPr lang="en-US" altLang="zh-CN" dirty="0"/>
              <a:t>1</a:t>
            </a:r>
          </a:p>
          <a:p>
            <a:pPr lvl="1">
              <a:lnSpc>
                <a:spcPct val="90000"/>
              </a:lnSpc>
            </a:pPr>
            <a:r>
              <a:rPr lang="en-US" altLang="zh-CN" dirty="0"/>
              <a:t>2421</a:t>
            </a:r>
            <a:r>
              <a:rPr lang="zh-CN" altLang="en-US" dirty="0"/>
              <a:t>碼 </a:t>
            </a:r>
            <a:r>
              <a:rPr lang="en-US" altLang="zh-CN" dirty="0"/>
              <a:t>(</a:t>
            </a:r>
            <a:r>
              <a:rPr lang="zh-CN" altLang="en-US" dirty="0"/>
              <a:t>有權碼</a:t>
            </a:r>
            <a:r>
              <a:rPr lang="en-US" altLang="zh-CN" dirty="0"/>
              <a:t>)</a:t>
            </a:r>
          </a:p>
          <a:p>
            <a:pPr lvl="2">
              <a:lnSpc>
                <a:spcPct val="90000"/>
              </a:lnSpc>
            </a:pPr>
            <a:r>
              <a:rPr lang="en-US" altLang="zh-CN" dirty="0"/>
              <a:t>4</a:t>
            </a:r>
            <a:r>
              <a:rPr lang="zh-CN" altLang="en-US" dirty="0"/>
              <a:t>位元二進位碼從高到低權值分別為</a:t>
            </a:r>
            <a:r>
              <a:rPr lang="en-US" altLang="zh-CN" dirty="0"/>
              <a:t>2</a:t>
            </a:r>
            <a:r>
              <a:rPr lang="zh-CN" altLang="en-US" dirty="0"/>
              <a:t>， </a:t>
            </a:r>
            <a:r>
              <a:rPr lang="en-US" altLang="zh-CN" dirty="0"/>
              <a:t>4</a:t>
            </a:r>
            <a:r>
              <a:rPr lang="zh-CN" altLang="en-US" dirty="0"/>
              <a:t>， </a:t>
            </a:r>
            <a:r>
              <a:rPr lang="en-US" altLang="zh-CN" dirty="0"/>
              <a:t>2</a:t>
            </a:r>
            <a:r>
              <a:rPr lang="zh-CN" altLang="en-US" dirty="0"/>
              <a:t>， </a:t>
            </a:r>
            <a:r>
              <a:rPr lang="en-US" altLang="zh-CN" dirty="0"/>
              <a:t>1</a:t>
            </a:r>
          </a:p>
          <a:p>
            <a:pPr lvl="1">
              <a:lnSpc>
                <a:spcPct val="90000"/>
              </a:lnSpc>
            </a:pPr>
            <a:r>
              <a:rPr lang="zh-CN" altLang="en-US" dirty="0"/>
              <a:t>餘三碼 </a:t>
            </a:r>
            <a:r>
              <a:rPr lang="en-US" altLang="zh-CN" dirty="0"/>
              <a:t>(</a:t>
            </a:r>
            <a:r>
              <a:rPr lang="zh-CN" altLang="en-US" dirty="0"/>
              <a:t>無權碼</a:t>
            </a:r>
            <a:r>
              <a:rPr lang="en-US" altLang="zh-CN" dirty="0"/>
              <a:t>)</a:t>
            </a:r>
          </a:p>
          <a:p>
            <a:pPr lvl="2">
              <a:lnSpc>
                <a:spcPct val="90000"/>
              </a:lnSpc>
            </a:pPr>
            <a:r>
              <a:rPr lang="zh-CN" altLang="en-US" dirty="0"/>
              <a:t>十進位數字用餘三碼表示，比</a:t>
            </a:r>
            <a:r>
              <a:rPr lang="en-US" altLang="zh-CN" dirty="0"/>
              <a:t>8421</a:t>
            </a:r>
            <a:r>
              <a:rPr lang="zh-CN" altLang="en-US" dirty="0"/>
              <a:t>碼在二進位上多</a:t>
            </a:r>
            <a:r>
              <a:rPr lang="en-US" altLang="zh-CN" dirty="0"/>
              <a:t>3</a:t>
            </a:r>
          </a:p>
          <a:p>
            <a:pPr lvl="2">
              <a:lnSpc>
                <a:spcPct val="90000"/>
              </a:lnSpc>
            </a:pPr>
            <a:r>
              <a:rPr lang="zh-CN" altLang="en-US" dirty="0"/>
              <a:t>餘三碼＝</a:t>
            </a:r>
            <a:r>
              <a:rPr lang="en-US" altLang="zh-CN" dirty="0"/>
              <a:t>8421</a:t>
            </a:r>
            <a:r>
              <a:rPr lang="zh-CN" altLang="en-US" dirty="0"/>
              <a:t>碼＋（</a:t>
            </a:r>
            <a:r>
              <a:rPr lang="en-US" altLang="zh-CN" dirty="0"/>
              <a:t>0011</a:t>
            </a:r>
            <a:r>
              <a:rPr lang="zh-CN" altLang="en-US" dirty="0"/>
              <a:t>）</a:t>
            </a:r>
            <a:r>
              <a:rPr lang="en-US" altLang="zh-CN" sz="3200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30180732"/>
      </p:ext>
    </p:extLst>
  </p:cSld>
  <p:clrMapOvr>
    <a:masterClrMapping/>
  </p:clrMapOvr>
  <p:transition spd="slow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數制和碼制（</a:t>
            </a:r>
            <a:r>
              <a:rPr lang="en-US" altLang="zh-CN" dirty="0"/>
              <a:t>15</a:t>
            </a:r>
            <a:r>
              <a:rPr lang="zh-CN" altLang="en-US" dirty="0"/>
              <a:t>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A216C-18A3-466E-BD90-37CCADC359B9}" type="slidenum">
              <a:rPr lang="en-US" altLang="zh-CN"/>
              <a:pPr/>
              <a:t>23</a:t>
            </a:fld>
            <a:endParaRPr lang="en-US" altLang="zh-CN" dirty="0"/>
          </a:p>
        </p:txBody>
      </p:sp>
      <p:sp>
        <p:nvSpPr>
          <p:cNvPr id="2508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13538" y="1524000"/>
            <a:ext cx="8334926" cy="514508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zh-CN" altLang="en-US" dirty="0"/>
              <a:t>十進位數字的二進位編碼（</a:t>
            </a:r>
            <a:r>
              <a:rPr lang="en-US" altLang="zh-CN" dirty="0"/>
              <a:t>BCD</a:t>
            </a:r>
            <a:r>
              <a:rPr lang="zh-CN" altLang="en-US" dirty="0"/>
              <a:t>碼），</a:t>
            </a:r>
            <a:r>
              <a:rPr lang="en-US" altLang="zh-CN" dirty="0"/>
              <a:t>8421</a:t>
            </a:r>
            <a:r>
              <a:rPr lang="zh-CN" altLang="en-US" dirty="0"/>
              <a:t>碼、</a:t>
            </a:r>
            <a:r>
              <a:rPr lang="en-US" altLang="zh-CN" dirty="0"/>
              <a:t>5421</a:t>
            </a:r>
            <a:r>
              <a:rPr lang="zh-CN" altLang="en-US" dirty="0"/>
              <a:t>碼等。</a:t>
            </a:r>
          </a:p>
          <a:p>
            <a:pPr>
              <a:lnSpc>
                <a:spcPct val="90000"/>
              </a:lnSpc>
            </a:pPr>
            <a:endParaRPr lang="en-US" altLang="zh-CN" sz="3200" baseline="-25000" dirty="0"/>
          </a:p>
        </p:txBody>
      </p:sp>
      <p:sp>
        <p:nvSpPr>
          <p:cNvPr id="9" name="AutoShape 2">
            <a:extLst>
              <a:ext uri="{FF2B5EF4-FFF2-40B4-BE49-F238E27FC236}">
                <a16:creationId xmlns:a16="http://schemas.microsoft.com/office/drawing/2014/main" id="{542B2EED-E8DA-4779-8D5A-739049374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592" y="2909664"/>
            <a:ext cx="7200800" cy="2895600"/>
          </a:xfrm>
          <a:prstGeom prst="horizontalScroll">
            <a:avLst>
              <a:gd name="adj" fmla="val 5153"/>
            </a:avLst>
          </a:prstGeom>
          <a:solidFill>
            <a:srgbClr val="E7FFE7">
              <a:alpha val="50000"/>
            </a:srgbClr>
          </a:solidFill>
          <a:ln w="9525">
            <a:solidFill>
              <a:srgbClr val="FF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方正姚体" pitchFamily="2" charset="-122"/>
              <a:ea typeface="方正姚体" pitchFamily="2" charset="-122"/>
            </a:endParaRP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8C5BB779-0BC8-4B11-8EDC-BE9103190F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3882" y="3062073"/>
            <a:ext cx="7086510" cy="31438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indent="762008">
              <a:lnSpc>
                <a:spcPct val="160000"/>
              </a:lnSpc>
              <a:spcBef>
                <a:spcPct val="50000"/>
              </a:spcBef>
            </a:pPr>
            <a:r>
              <a:rPr lang="en-US" altLang="zh-CN" sz="3600" b="1" dirty="0" err="1">
                <a:latin typeface="方正姚体" pitchFamily="2" charset="-122"/>
                <a:ea typeface="方正姚体" pitchFamily="2" charset="-122"/>
              </a:rPr>
              <a:t>Binary_code_decimal</a:t>
            </a:r>
            <a:endParaRPr lang="en-US" altLang="zh-CN" sz="2800" dirty="0">
              <a:latin typeface="方正姚体" pitchFamily="2" charset="-122"/>
              <a:ea typeface="方正姚体" pitchFamily="2" charset="-122"/>
            </a:endParaRPr>
          </a:p>
          <a:p>
            <a:pPr indent="762008">
              <a:lnSpc>
                <a:spcPct val="160000"/>
              </a:lnSpc>
              <a:spcBef>
                <a:spcPct val="50000"/>
              </a:spcBef>
            </a:pPr>
            <a:r>
              <a:rPr lang="zh-CN" altLang="en-US" sz="2800" dirty="0">
                <a:latin typeface="方正姚体" pitchFamily="2" charset="-122"/>
                <a:ea typeface="方正姚体" pitchFamily="2" charset="-122"/>
              </a:rPr>
              <a:t>簡稱為二</a:t>
            </a:r>
            <a:r>
              <a:rPr lang="en-US" altLang="zh-CN" sz="2800" dirty="0">
                <a:latin typeface="方正姚体" pitchFamily="2" charset="-122"/>
                <a:ea typeface="方正姚体" pitchFamily="2" charset="-122"/>
              </a:rPr>
              <a:t>——</a:t>
            </a:r>
            <a:r>
              <a:rPr lang="zh-CN" altLang="en-US" sz="2800" dirty="0">
                <a:latin typeface="方正姚体" pitchFamily="2" charset="-122"/>
                <a:ea typeface="方正姚体" pitchFamily="2" charset="-122"/>
              </a:rPr>
              <a:t>十進位碼或</a:t>
            </a:r>
            <a:r>
              <a:rPr lang="en-US" altLang="zh-CN" sz="2800" dirty="0">
                <a:latin typeface="方正姚体" pitchFamily="2" charset="-122"/>
                <a:ea typeface="方正姚体" pitchFamily="2" charset="-122"/>
              </a:rPr>
              <a:t>BCD</a:t>
            </a:r>
            <a:r>
              <a:rPr lang="zh-CN" altLang="zh-CN" sz="2800" dirty="0">
                <a:latin typeface="方正姚体" pitchFamily="2" charset="-122"/>
                <a:ea typeface="方正姚体" pitchFamily="2" charset="-122"/>
              </a:rPr>
              <a:t>碼，即用若干位</a:t>
            </a:r>
            <a:r>
              <a:rPr lang="en-US" altLang="zh-CN" sz="2800" dirty="0">
                <a:latin typeface="方正姚体" pitchFamily="2" charset="-122"/>
                <a:ea typeface="方正姚体" pitchFamily="2" charset="-122"/>
              </a:rPr>
              <a:t>(4</a:t>
            </a:r>
            <a:r>
              <a:rPr lang="zh-CN" altLang="en-US" sz="2800" dirty="0">
                <a:latin typeface="方正姚体" pitchFamily="2" charset="-122"/>
                <a:ea typeface="方正姚体" pitchFamily="2" charset="-122"/>
              </a:rPr>
              <a:t>位</a:t>
            </a:r>
            <a:r>
              <a:rPr lang="en-US" altLang="zh-CN" sz="2800" dirty="0">
                <a:latin typeface="方正姚体" pitchFamily="2" charset="-122"/>
                <a:ea typeface="方正姚体" pitchFamily="2" charset="-122"/>
              </a:rPr>
              <a:t>)</a:t>
            </a:r>
            <a:r>
              <a:rPr lang="zh-CN" altLang="zh-CN" sz="2800" dirty="0">
                <a:latin typeface="方正姚体" pitchFamily="2" charset="-122"/>
                <a:ea typeface="方正姚体" pitchFamily="2" charset="-122"/>
              </a:rPr>
              <a:t>二進位數字來表示一位十進位數字。</a:t>
            </a:r>
            <a:endParaRPr lang="zh-CN" altLang="en-US" sz="2800" dirty="0">
              <a:latin typeface="方正姚体" pitchFamily="2" charset="-122"/>
              <a:ea typeface="方正姚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3860188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數制和碼制（</a:t>
            </a:r>
            <a:r>
              <a:rPr lang="en-US" altLang="zh-CN" dirty="0"/>
              <a:t>16</a:t>
            </a:r>
            <a:r>
              <a:rPr lang="zh-CN" altLang="en-US" dirty="0"/>
              <a:t>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A216C-18A3-466E-BD90-37CCADC359B9}" type="slidenum">
              <a:rPr lang="en-US" altLang="zh-CN"/>
              <a:pPr/>
              <a:t>24</a:t>
            </a:fld>
            <a:endParaRPr lang="en-US" altLang="zh-CN" dirty="0"/>
          </a:p>
        </p:txBody>
      </p:sp>
      <p:sp>
        <p:nvSpPr>
          <p:cNvPr id="2508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13538" y="1524000"/>
            <a:ext cx="8334926" cy="514508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dirty="0"/>
              <a:t>8421 BCD</a:t>
            </a:r>
            <a:r>
              <a:rPr lang="zh-CN" altLang="en-US" dirty="0"/>
              <a:t>碼</a:t>
            </a:r>
            <a:endParaRPr lang="en-US" altLang="zh-CN" sz="3200" baseline="-25000" dirty="0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4F4B946A-2935-45D6-A76C-6EC07EC2C7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573" y="2223442"/>
            <a:ext cx="7974875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indent="762008">
              <a:spcBef>
                <a:spcPct val="50000"/>
              </a:spcBef>
            </a:pPr>
            <a:r>
              <a:rPr kumimoji="0" lang="zh-CN" altLang="en-US" sz="2800" b="1" dirty="0">
                <a:latin typeface="华文新魏" pitchFamily="2" charset="-122"/>
                <a:ea typeface="华文新魏" pitchFamily="2" charset="-122"/>
              </a:rPr>
              <a:t>簡稱</a:t>
            </a:r>
            <a:r>
              <a:rPr kumimoji="0" lang="en-US" altLang="zh-CN" sz="2800" b="1" dirty="0">
                <a:latin typeface="华文新魏" pitchFamily="2" charset="-122"/>
                <a:ea typeface="华文新魏" pitchFamily="2" charset="-122"/>
              </a:rPr>
              <a:t>8421</a:t>
            </a:r>
            <a:r>
              <a:rPr kumimoji="0" lang="zh-CN" altLang="en-US" sz="2800" b="1" dirty="0">
                <a:latin typeface="华文新魏" pitchFamily="2" charset="-122"/>
                <a:ea typeface="华文新魏" pitchFamily="2" charset="-122"/>
              </a:rPr>
              <a:t>碼。按</a:t>
            </a:r>
            <a:r>
              <a:rPr kumimoji="0" lang="en-US" altLang="zh-CN" sz="2800" b="1" dirty="0">
                <a:latin typeface="华文新魏" pitchFamily="2" charset="-122"/>
                <a:ea typeface="华文新魏" pitchFamily="2" charset="-122"/>
              </a:rPr>
              <a:t>4</a:t>
            </a:r>
            <a:r>
              <a:rPr kumimoji="0" lang="zh-CN" altLang="en-US" sz="2800" b="1" dirty="0">
                <a:latin typeface="华文新魏" pitchFamily="2" charset="-122"/>
                <a:ea typeface="华文新魏" pitchFamily="2" charset="-122"/>
              </a:rPr>
              <a:t>位元二進位數字的自然順序，取前十個數依次表示十進位的</a:t>
            </a:r>
            <a:r>
              <a:rPr kumimoji="0" lang="en-US" altLang="zh-CN" sz="2800" b="1" dirty="0">
                <a:latin typeface="华文新魏" pitchFamily="2" charset="-122"/>
                <a:ea typeface="华文新魏" pitchFamily="2" charset="-122"/>
              </a:rPr>
              <a:t>0</a:t>
            </a:r>
            <a:r>
              <a:rPr kumimoji="0" lang="zh-CN" altLang="en-US" sz="2800" b="1" dirty="0">
                <a:latin typeface="华文新魏" pitchFamily="2" charset="-122"/>
                <a:ea typeface="华文新魏" pitchFamily="2" charset="-122"/>
              </a:rPr>
              <a:t>～</a:t>
            </a:r>
            <a:r>
              <a:rPr kumimoji="0" lang="en-US" altLang="zh-CN" sz="2800" b="1" dirty="0">
                <a:latin typeface="华文新魏" pitchFamily="2" charset="-122"/>
                <a:ea typeface="华文新魏" pitchFamily="2" charset="-122"/>
              </a:rPr>
              <a:t>9</a:t>
            </a:r>
            <a:r>
              <a:rPr kumimoji="0" lang="zh-CN" altLang="en-US" sz="2800" b="1" dirty="0">
                <a:latin typeface="华文新魏" pitchFamily="2" charset="-122"/>
                <a:ea typeface="华文新魏" pitchFamily="2" charset="-122"/>
              </a:rPr>
              <a:t>，後</a:t>
            </a:r>
            <a:r>
              <a:rPr kumimoji="0" lang="en-US" altLang="zh-CN" sz="2800" b="1" dirty="0">
                <a:latin typeface="华文新魏" pitchFamily="2" charset="-122"/>
                <a:ea typeface="华文新魏" pitchFamily="2" charset="-122"/>
              </a:rPr>
              <a:t>6</a:t>
            </a:r>
            <a:r>
              <a:rPr kumimoji="0" lang="zh-CN" altLang="en-US" sz="2800" b="1" dirty="0">
                <a:latin typeface="华文新魏" pitchFamily="2" charset="-122"/>
                <a:ea typeface="华文新魏" pitchFamily="2" charset="-122"/>
              </a:rPr>
              <a:t>個數不允許出現，若出現則認為是非法的或錯誤的。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CBB5557E-B892-4A9E-B7EE-9565BF0701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562" y="3608437"/>
            <a:ext cx="7974886" cy="16927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indent="762008">
              <a:spcBef>
                <a:spcPct val="50000"/>
              </a:spcBef>
            </a:pPr>
            <a:r>
              <a:rPr kumimoji="0" lang="en-US" altLang="zh-CN" sz="2800" b="1" dirty="0">
                <a:latin typeface="华文新魏" pitchFamily="2" charset="-122"/>
                <a:ea typeface="华文新魏" pitchFamily="2" charset="-122"/>
              </a:rPr>
              <a:t>8421</a:t>
            </a:r>
            <a:r>
              <a:rPr kumimoji="0" lang="zh-CN" altLang="en-US" sz="2800" b="1" dirty="0">
                <a:latin typeface="华文新魏" pitchFamily="2" charset="-122"/>
                <a:ea typeface="华文新魏" pitchFamily="2" charset="-122"/>
              </a:rPr>
              <a:t>碼是一種</a:t>
            </a:r>
            <a:r>
              <a:rPr kumimoji="0" lang="zh-CN" altLang="en-US" sz="2800" b="1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有權碼</a:t>
            </a:r>
            <a:r>
              <a:rPr kumimoji="0" lang="zh-CN" altLang="en-US" sz="2800" b="1" dirty="0">
                <a:latin typeface="华文新魏" pitchFamily="2" charset="-122"/>
                <a:ea typeface="华文新魏" pitchFamily="2" charset="-122"/>
              </a:rPr>
              <a:t>，每位有固定的權，從高到低依次為</a:t>
            </a:r>
            <a:r>
              <a:rPr kumimoji="0" lang="en-US" altLang="zh-CN" sz="2800" b="1" dirty="0">
                <a:latin typeface="华文新魏" pitchFamily="2" charset="-122"/>
                <a:ea typeface="华文新魏" pitchFamily="2" charset="-122"/>
              </a:rPr>
              <a:t>8, 4, 2, 1</a:t>
            </a:r>
            <a:r>
              <a:rPr kumimoji="0" lang="zh-CN" altLang="en-US" sz="2800" b="1" dirty="0">
                <a:latin typeface="华文新魏" pitchFamily="2" charset="-122"/>
                <a:ea typeface="华文新魏" pitchFamily="2" charset="-122"/>
              </a:rPr>
              <a:t>，如 </a:t>
            </a:r>
            <a:r>
              <a:rPr kumimoji="0" lang="en-US" altLang="zh-CN" sz="2800" b="1" dirty="0">
                <a:latin typeface="华文新魏" pitchFamily="2" charset="-122"/>
                <a:ea typeface="华文新魏" pitchFamily="2" charset="-122"/>
              </a:rPr>
              <a:t>:</a:t>
            </a:r>
            <a:br>
              <a:rPr lang="en-US" altLang="zh-CN" sz="2800" dirty="0">
                <a:latin typeface="方正姚体" pitchFamily="2" charset="-122"/>
                <a:ea typeface="方正姚体" pitchFamily="2" charset="-122"/>
              </a:rPr>
            </a:br>
            <a:br>
              <a:rPr lang="en-US" altLang="zh-CN" sz="1600" dirty="0">
                <a:latin typeface="方正姚体" pitchFamily="2" charset="-122"/>
                <a:ea typeface="方正姚体" pitchFamily="2" charset="-122"/>
              </a:rPr>
            </a:br>
            <a:r>
              <a:rPr lang="en-US" altLang="zh-CN" sz="2800" dirty="0">
                <a:latin typeface="方正姚体" pitchFamily="2" charset="-122"/>
                <a:ea typeface="方正姚体" pitchFamily="2" charset="-122"/>
              </a:rPr>
              <a:t>       8421</a:t>
            </a:r>
            <a:r>
              <a:rPr lang="zh-CN" altLang="en-US" sz="2800" dirty="0">
                <a:latin typeface="方正姚体" pitchFamily="2" charset="-122"/>
                <a:ea typeface="方正姚体" pitchFamily="2" charset="-122"/>
              </a:rPr>
              <a:t>碼    </a:t>
            </a:r>
            <a:r>
              <a:rPr lang="en-US" altLang="zh-CN" sz="2800" dirty="0">
                <a:latin typeface="方正姚体" pitchFamily="2" charset="-122"/>
                <a:ea typeface="方正姚体" pitchFamily="2" charset="-122"/>
              </a:rPr>
              <a:t>0111=0</a:t>
            </a:r>
            <a:r>
              <a:rPr lang="en-US" altLang="zh-CN" sz="2800" dirty="0">
                <a:latin typeface="方正姚体" pitchFamily="2" charset="-122"/>
                <a:ea typeface="方正姚体" pitchFamily="2" charset="-122"/>
                <a:sym typeface="Symbol" pitchFamily="18" charset="2"/>
              </a:rPr>
              <a:t>8+</a:t>
            </a:r>
            <a:r>
              <a:rPr lang="en-US" altLang="zh-CN" sz="2800" dirty="0">
                <a:latin typeface="方正姚体" pitchFamily="2" charset="-122"/>
                <a:ea typeface="方正姚体" pitchFamily="2" charset="-122"/>
              </a:rPr>
              <a:t>1</a:t>
            </a:r>
            <a:r>
              <a:rPr lang="en-US" altLang="zh-CN" sz="2800" dirty="0">
                <a:latin typeface="方正姚体" pitchFamily="2" charset="-122"/>
                <a:ea typeface="方正姚体" pitchFamily="2" charset="-122"/>
                <a:sym typeface="Symbol" pitchFamily="18" charset="2"/>
              </a:rPr>
              <a:t>4+</a:t>
            </a:r>
            <a:r>
              <a:rPr lang="en-US" altLang="zh-CN" sz="2800" dirty="0">
                <a:latin typeface="方正姚体" pitchFamily="2" charset="-122"/>
                <a:ea typeface="方正姚体" pitchFamily="2" charset="-122"/>
              </a:rPr>
              <a:t>1</a:t>
            </a:r>
            <a:r>
              <a:rPr lang="en-US" altLang="zh-CN" sz="2800" dirty="0">
                <a:latin typeface="方正姚体" pitchFamily="2" charset="-122"/>
                <a:ea typeface="方正姚体" pitchFamily="2" charset="-122"/>
                <a:sym typeface="Symbol" pitchFamily="18" charset="2"/>
              </a:rPr>
              <a:t>2+</a:t>
            </a:r>
            <a:r>
              <a:rPr lang="en-US" altLang="zh-CN" sz="2800" dirty="0">
                <a:latin typeface="方正姚体" pitchFamily="2" charset="-122"/>
                <a:ea typeface="方正姚体" pitchFamily="2" charset="-122"/>
              </a:rPr>
              <a:t>1</a:t>
            </a:r>
            <a:r>
              <a:rPr lang="en-US" altLang="zh-CN" sz="2800" dirty="0">
                <a:latin typeface="方正姚体" pitchFamily="2" charset="-122"/>
                <a:ea typeface="方正姚体" pitchFamily="2" charset="-122"/>
                <a:sym typeface="Symbol" pitchFamily="18" charset="2"/>
              </a:rPr>
              <a:t>1=7</a:t>
            </a:r>
            <a:endParaRPr lang="en-US" altLang="zh-CN" sz="2800" dirty="0">
              <a:latin typeface="方正姚体" pitchFamily="2" charset="-122"/>
              <a:ea typeface="方正姚体" pitchFamily="2" charset="-122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6DC89D6-091A-4676-A734-3A4FF5B7E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5565751"/>
            <a:ext cx="6490879" cy="500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lnSpc>
                <a:spcPct val="160000"/>
              </a:lnSpc>
              <a:spcBef>
                <a:spcPct val="50000"/>
              </a:spcBef>
            </a:pPr>
            <a:r>
              <a:rPr lang="zh-CN" altLang="en-US" sz="2000" b="1" dirty="0">
                <a:latin typeface="方正姚体" pitchFamily="2" charset="-122"/>
                <a:ea typeface="方正姚体" pitchFamily="2" charset="-122"/>
              </a:rPr>
              <a:t>舉例：</a:t>
            </a:r>
            <a:r>
              <a:rPr lang="en-US" altLang="zh-CN" sz="2000" b="1" dirty="0">
                <a:latin typeface="方正姚体" pitchFamily="2" charset="-122"/>
                <a:ea typeface="方正姚体" pitchFamily="2" charset="-122"/>
              </a:rPr>
              <a:t>N=</a:t>
            </a:r>
            <a:r>
              <a:rPr lang="zh-CN" altLang="en-US" sz="2000" b="1" dirty="0">
                <a:latin typeface="方正姚体" pitchFamily="2" charset="-122"/>
                <a:ea typeface="方正姚体" pitchFamily="2" charset="-122"/>
              </a:rPr>
              <a:t>（</a:t>
            </a:r>
            <a:r>
              <a:rPr lang="en-US" altLang="zh-CN" sz="2000" b="1" dirty="0">
                <a:latin typeface="方正姚体" pitchFamily="2" charset="-122"/>
                <a:ea typeface="方正姚体" pitchFamily="2" charset="-122"/>
              </a:rPr>
              <a:t>93</a:t>
            </a:r>
            <a:r>
              <a:rPr lang="zh-CN" altLang="en-US" sz="2000" b="1" dirty="0">
                <a:latin typeface="方正姚体" pitchFamily="2" charset="-122"/>
                <a:ea typeface="方正姚体" pitchFamily="2" charset="-122"/>
              </a:rPr>
              <a:t>）</a:t>
            </a:r>
            <a:r>
              <a:rPr lang="en-US" altLang="zh-CN" sz="2000" b="1" baseline="-25000" dirty="0">
                <a:latin typeface="方正姚体" pitchFamily="2" charset="-122"/>
                <a:ea typeface="方正姚体" pitchFamily="2" charset="-122"/>
              </a:rPr>
              <a:t>10</a:t>
            </a:r>
            <a:r>
              <a:rPr lang="zh-CN" altLang="en-US" sz="2000" b="1" dirty="0">
                <a:latin typeface="方正姚体" pitchFamily="2" charset="-122"/>
                <a:ea typeface="方正姚体" pitchFamily="2" charset="-122"/>
              </a:rPr>
              <a:t>， 則有：</a:t>
            </a:r>
            <a:r>
              <a:rPr lang="en-US" altLang="zh-CN" sz="2000" b="1" dirty="0">
                <a:latin typeface="方正姚体" pitchFamily="2" charset="-122"/>
                <a:ea typeface="方正姚体" pitchFamily="2" charset="-122"/>
              </a:rPr>
              <a:t>N=</a:t>
            </a:r>
            <a:r>
              <a:rPr lang="zh-CN" altLang="en-US" sz="2000" b="1" dirty="0">
                <a:latin typeface="方正姚体" pitchFamily="2" charset="-122"/>
                <a:ea typeface="方正姚体" pitchFamily="2" charset="-122"/>
              </a:rPr>
              <a:t>（</a:t>
            </a:r>
            <a:r>
              <a:rPr lang="en-US" altLang="zh-CN" sz="2000" b="1" dirty="0">
                <a:latin typeface="方正姚体" pitchFamily="2" charset="-122"/>
                <a:ea typeface="方正姚体" pitchFamily="2" charset="-122"/>
              </a:rPr>
              <a:t>1001 0011</a:t>
            </a:r>
            <a:r>
              <a:rPr lang="zh-CN" altLang="en-US" sz="2000" b="1" dirty="0">
                <a:latin typeface="方正姚体" pitchFamily="2" charset="-122"/>
                <a:ea typeface="方正姚体" pitchFamily="2" charset="-122"/>
              </a:rPr>
              <a:t>）</a:t>
            </a:r>
            <a:r>
              <a:rPr lang="en-US" altLang="zh-CN" sz="1600" b="1" dirty="0">
                <a:latin typeface="方正姚体" pitchFamily="2" charset="-122"/>
                <a:ea typeface="方正姚体" pitchFamily="2" charset="-122"/>
              </a:rPr>
              <a:t>8421BCD</a:t>
            </a:r>
            <a:r>
              <a:rPr lang="zh-CN" altLang="en-US" sz="2000" b="1" dirty="0">
                <a:latin typeface="方正姚体" pitchFamily="2" charset="-122"/>
                <a:ea typeface="方正姚体" pitchFamily="2" charset="-122"/>
              </a:rPr>
              <a:t>等等</a:t>
            </a:r>
          </a:p>
        </p:txBody>
      </p:sp>
    </p:spTree>
    <p:extLst>
      <p:ext uri="{BB962C8B-B14F-4D97-AF65-F5344CB8AC3E}">
        <p14:creationId xmlns:p14="http://schemas.microsoft.com/office/powerpoint/2010/main" val="1654096507"/>
      </p:ext>
    </p:extLst>
  </p:cSld>
  <p:clrMapOvr>
    <a:masterClrMapping/>
  </p:clrMapOvr>
  <p:transition spd="slow">
    <p:pull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數制和碼制（</a:t>
            </a:r>
            <a:r>
              <a:rPr lang="en-US" altLang="zh-CN" dirty="0"/>
              <a:t>17</a:t>
            </a:r>
            <a:r>
              <a:rPr lang="zh-CN" altLang="en-US" dirty="0"/>
              <a:t>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A216C-18A3-466E-BD90-37CCADC359B9}" type="slidenum">
              <a:rPr lang="en-US" altLang="zh-CN"/>
              <a:pPr/>
              <a:t>25</a:t>
            </a:fld>
            <a:endParaRPr lang="en-US" altLang="zh-CN" dirty="0"/>
          </a:p>
        </p:txBody>
      </p:sp>
      <p:sp>
        <p:nvSpPr>
          <p:cNvPr id="2508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13538" y="1524000"/>
            <a:ext cx="8334926" cy="514508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dirty="0"/>
              <a:t>5421</a:t>
            </a:r>
            <a:r>
              <a:rPr lang="zh-CN" altLang="en-US" dirty="0"/>
              <a:t>碼</a:t>
            </a:r>
            <a:endParaRPr lang="en-US" altLang="zh-CN" sz="3200" baseline="-25000" dirty="0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574B6155-D51C-4FF8-9CE0-C5EFF9A983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573" y="2223442"/>
            <a:ext cx="7974875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indent="762008">
              <a:spcBef>
                <a:spcPct val="50000"/>
              </a:spcBef>
            </a:pPr>
            <a:r>
              <a:rPr kumimoji="0" lang="zh-CN" altLang="en-US" sz="2800" b="1" dirty="0">
                <a:latin typeface="华文新魏" pitchFamily="2" charset="-122"/>
                <a:ea typeface="华文新魏" pitchFamily="2" charset="-122"/>
              </a:rPr>
              <a:t>簡稱</a:t>
            </a:r>
            <a:r>
              <a:rPr kumimoji="0" lang="en-US" altLang="zh-CN" sz="2800" b="1" dirty="0">
                <a:latin typeface="华文新魏" pitchFamily="2" charset="-122"/>
                <a:ea typeface="华文新魏" pitchFamily="2" charset="-122"/>
              </a:rPr>
              <a:t>5421</a:t>
            </a:r>
            <a:r>
              <a:rPr kumimoji="0" lang="zh-CN" altLang="en-US" sz="2800" b="1" dirty="0">
                <a:latin typeface="华文新魏" pitchFamily="2" charset="-122"/>
                <a:ea typeface="华文新魏" pitchFamily="2" charset="-122"/>
              </a:rPr>
              <a:t>碼。按</a:t>
            </a:r>
            <a:r>
              <a:rPr kumimoji="0" lang="en-US" altLang="zh-CN" sz="2800" b="1" dirty="0">
                <a:latin typeface="华文新魏" pitchFamily="2" charset="-122"/>
                <a:ea typeface="华文新魏" pitchFamily="2" charset="-122"/>
              </a:rPr>
              <a:t>4</a:t>
            </a:r>
            <a:r>
              <a:rPr kumimoji="0" lang="zh-CN" altLang="en-US" sz="2800" b="1" dirty="0">
                <a:latin typeface="华文新魏" pitchFamily="2" charset="-122"/>
                <a:ea typeface="华文新魏" pitchFamily="2" charset="-122"/>
              </a:rPr>
              <a:t>位二進位數字</a:t>
            </a:r>
            <a:r>
              <a:rPr kumimoji="0" lang="en-US" altLang="zh-CN" sz="2800" b="1" dirty="0">
                <a:latin typeface="华文新魏" pitchFamily="2" charset="-122"/>
                <a:ea typeface="华文新魏" pitchFamily="2" charset="-122"/>
              </a:rPr>
              <a:t>(B</a:t>
            </a:r>
            <a:r>
              <a:rPr kumimoji="0" lang="en-US" altLang="zh-CN" sz="2800" b="1" baseline="-25000" dirty="0">
                <a:latin typeface="华文新魏" pitchFamily="2" charset="-122"/>
                <a:ea typeface="华文新魏" pitchFamily="2" charset="-122"/>
              </a:rPr>
              <a:t>3</a:t>
            </a:r>
            <a:r>
              <a:rPr kumimoji="0" lang="en-US" altLang="zh-CN" sz="2800" b="1" dirty="0">
                <a:latin typeface="华文新魏" pitchFamily="2" charset="-122"/>
                <a:ea typeface="华文新魏" pitchFamily="2" charset="-122"/>
              </a:rPr>
              <a:t>B</a:t>
            </a:r>
            <a:r>
              <a:rPr kumimoji="0" lang="en-US" altLang="zh-CN" sz="2800" b="1" baseline="-25000" dirty="0">
                <a:latin typeface="华文新魏" pitchFamily="2" charset="-122"/>
                <a:ea typeface="华文新魏" pitchFamily="2" charset="-122"/>
              </a:rPr>
              <a:t>2</a:t>
            </a:r>
            <a:r>
              <a:rPr kumimoji="0" lang="en-US" altLang="zh-CN" sz="2800" b="1" dirty="0">
                <a:latin typeface="华文新魏" pitchFamily="2" charset="-122"/>
                <a:ea typeface="华文新魏" pitchFamily="2" charset="-122"/>
              </a:rPr>
              <a:t>B</a:t>
            </a:r>
            <a:r>
              <a:rPr kumimoji="0" lang="en-US" altLang="zh-CN" sz="2800" b="1" baseline="-25000" dirty="0">
                <a:latin typeface="华文新魏" pitchFamily="2" charset="-122"/>
                <a:ea typeface="华文新魏" pitchFamily="2" charset="-122"/>
              </a:rPr>
              <a:t>1</a:t>
            </a:r>
            <a:r>
              <a:rPr kumimoji="0" lang="en-US" altLang="zh-CN" sz="2800" b="1" dirty="0">
                <a:latin typeface="华文新魏" pitchFamily="2" charset="-122"/>
                <a:ea typeface="华文新魏" pitchFamily="2" charset="-122"/>
              </a:rPr>
              <a:t>B</a:t>
            </a:r>
            <a:r>
              <a:rPr kumimoji="0" lang="en-US" altLang="zh-CN" sz="2800" b="1" baseline="-25000" dirty="0">
                <a:latin typeface="华文新魏" pitchFamily="2" charset="-122"/>
                <a:ea typeface="华文新魏" pitchFamily="2" charset="-122"/>
              </a:rPr>
              <a:t>0</a:t>
            </a:r>
            <a:r>
              <a:rPr kumimoji="0" lang="en-US" altLang="zh-CN" sz="2800" b="1" dirty="0">
                <a:latin typeface="华文新魏" pitchFamily="2" charset="-122"/>
                <a:ea typeface="华文新魏" pitchFamily="2" charset="-122"/>
              </a:rPr>
              <a:t>)</a:t>
            </a:r>
            <a:r>
              <a:rPr kumimoji="0" lang="zh-CN" altLang="en-US" sz="2800" b="1" dirty="0">
                <a:latin typeface="华文新魏" pitchFamily="2" charset="-122"/>
                <a:ea typeface="华文新魏" pitchFamily="2" charset="-122"/>
              </a:rPr>
              <a:t>的自然順序值，取前十個數依次表示十進位的</a:t>
            </a:r>
            <a:r>
              <a:rPr kumimoji="0" lang="en-US" altLang="zh-CN" sz="2800" b="1" dirty="0">
                <a:latin typeface="华文新魏" pitchFamily="2" charset="-122"/>
                <a:ea typeface="华文新魏" pitchFamily="2" charset="-122"/>
              </a:rPr>
              <a:t>0</a:t>
            </a:r>
            <a:r>
              <a:rPr kumimoji="0" lang="zh-CN" altLang="en-US" sz="2800" b="1" dirty="0">
                <a:latin typeface="华文新魏" pitchFamily="2" charset="-122"/>
                <a:ea typeface="华文新魏" pitchFamily="2" charset="-122"/>
              </a:rPr>
              <a:t>～</a:t>
            </a:r>
            <a:r>
              <a:rPr kumimoji="0" lang="en-US" altLang="zh-CN" sz="2800" b="1" dirty="0">
                <a:latin typeface="华文新魏" pitchFamily="2" charset="-122"/>
                <a:ea typeface="华文新魏" pitchFamily="2" charset="-122"/>
              </a:rPr>
              <a:t>9</a:t>
            </a:r>
            <a:r>
              <a:rPr kumimoji="0" lang="zh-CN" altLang="en-US" sz="2800" b="1" dirty="0">
                <a:latin typeface="华文新魏" pitchFamily="2" charset="-122"/>
                <a:ea typeface="华文新魏" pitchFamily="2" charset="-122"/>
              </a:rPr>
              <a:t>，</a:t>
            </a:r>
            <a:r>
              <a:rPr kumimoji="0" lang="en-US" altLang="zh-CN" sz="2800" b="1" dirty="0">
                <a:latin typeface="华文新魏" pitchFamily="2" charset="-122"/>
                <a:ea typeface="华文新魏" pitchFamily="2" charset="-122"/>
              </a:rPr>
              <a:t>5421</a:t>
            </a:r>
            <a:r>
              <a:rPr kumimoji="0" lang="zh-CN" altLang="en-US" sz="2800" b="1" dirty="0">
                <a:latin typeface="华文新魏" pitchFamily="2" charset="-122"/>
                <a:ea typeface="华文新魏" pitchFamily="2" charset="-122"/>
              </a:rPr>
              <a:t>碼也是一種有權碼，每位有固定的權，從高到低依次為</a:t>
            </a:r>
            <a:r>
              <a:rPr kumimoji="0" lang="en-US" altLang="zh-CN" sz="2800" b="1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5421 </a:t>
            </a:r>
            <a:r>
              <a:rPr kumimoji="0" lang="zh-CN" altLang="en-US" sz="2800" b="1" dirty="0">
                <a:latin typeface="华文新魏" pitchFamily="2" charset="-122"/>
                <a:ea typeface="华文新魏" pitchFamily="2" charset="-122"/>
              </a:rPr>
              <a:t>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DBE2E14-1DF1-40F8-81B9-D3CD1C904A42}"/>
              </a:ext>
            </a:extLst>
          </p:cNvPr>
          <p:cNvSpPr txBox="1"/>
          <p:nvPr/>
        </p:nvSpPr>
        <p:spPr>
          <a:xfrm>
            <a:off x="1043608" y="4251805"/>
            <a:ext cx="6192688" cy="1001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ct val="25000"/>
              </a:spcBef>
              <a:buClr>
                <a:srgbClr val="FF0000"/>
              </a:buClr>
            </a:pPr>
            <a:r>
              <a:rPr lang="zh-CN" altLang="en-US" dirty="0">
                <a:latin typeface="华文中宋" pitchFamily="2" charset="-122"/>
                <a:ea typeface="华文中宋" pitchFamily="2" charset="-122"/>
              </a:rPr>
              <a:t>例如：</a:t>
            </a:r>
            <a:r>
              <a:rPr lang="en-US" altLang="zh-CN" dirty="0">
                <a:latin typeface="华文中宋" pitchFamily="2" charset="-122"/>
                <a:ea typeface="华文中宋" pitchFamily="2" charset="-122"/>
              </a:rPr>
              <a:t>N=</a:t>
            </a:r>
            <a:r>
              <a:rPr lang="zh-CN" altLang="en-US" dirty="0">
                <a:latin typeface="华文中宋" pitchFamily="2" charset="-122"/>
                <a:ea typeface="华文中宋" pitchFamily="2" charset="-122"/>
              </a:rPr>
              <a:t> （</a:t>
            </a:r>
            <a:r>
              <a:rPr lang="en-US" altLang="zh-CN" dirty="0">
                <a:latin typeface="华文中宋" pitchFamily="2" charset="-122"/>
                <a:ea typeface="华文中宋" pitchFamily="2" charset="-122"/>
              </a:rPr>
              <a:t>93</a:t>
            </a:r>
            <a:r>
              <a:rPr lang="zh-CN" altLang="en-US" dirty="0">
                <a:latin typeface="华文中宋" pitchFamily="2" charset="-122"/>
                <a:ea typeface="华文中宋" pitchFamily="2" charset="-122"/>
              </a:rPr>
              <a:t>）</a:t>
            </a:r>
            <a:r>
              <a:rPr lang="en-US" altLang="zh-CN" baseline="-25000" dirty="0">
                <a:latin typeface="华文中宋" pitchFamily="2" charset="-122"/>
                <a:ea typeface="华文中宋" pitchFamily="2" charset="-122"/>
              </a:rPr>
              <a:t>10</a:t>
            </a:r>
            <a:r>
              <a:rPr lang="en-US" altLang="zh-CN" dirty="0"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 dirty="0">
                <a:latin typeface="华文中宋" pitchFamily="2" charset="-122"/>
                <a:ea typeface="华文中宋" pitchFamily="2" charset="-122"/>
              </a:rPr>
              <a:t>， 則有：</a:t>
            </a:r>
          </a:p>
          <a:p>
            <a:pPr indent="762008">
              <a:lnSpc>
                <a:spcPct val="115000"/>
              </a:lnSpc>
              <a:spcBef>
                <a:spcPct val="25000"/>
              </a:spcBef>
              <a:buClr>
                <a:srgbClr val="FF0000"/>
              </a:buClr>
            </a:pPr>
            <a:r>
              <a:rPr lang="en-US" altLang="zh-CN" dirty="0">
                <a:latin typeface="华文中宋" pitchFamily="2" charset="-122"/>
                <a:ea typeface="华文中宋" pitchFamily="2" charset="-122"/>
              </a:rPr>
              <a:t>                 N=</a:t>
            </a:r>
            <a:r>
              <a:rPr lang="zh-CN" altLang="en-US" dirty="0">
                <a:latin typeface="华文中宋" pitchFamily="2" charset="-122"/>
                <a:ea typeface="华文中宋" pitchFamily="2" charset="-122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11</a:t>
            </a:r>
            <a:r>
              <a:rPr lang="en-US" altLang="zh-CN" dirty="0">
                <a:latin typeface="华文中宋" pitchFamily="2" charset="-122"/>
                <a:ea typeface="华文中宋" pitchFamily="2" charset="-122"/>
              </a:rPr>
              <a:t>00 0011</a:t>
            </a:r>
            <a:r>
              <a:rPr lang="zh-CN" altLang="en-US" dirty="0">
                <a:latin typeface="华文中宋" pitchFamily="2" charset="-122"/>
                <a:ea typeface="华文中宋" pitchFamily="2" charset="-122"/>
              </a:rPr>
              <a:t>）</a:t>
            </a:r>
            <a:r>
              <a:rPr lang="en-US" altLang="zh-CN" baseline="-25000" dirty="0">
                <a:latin typeface="华文中宋" pitchFamily="2" charset="-122"/>
                <a:ea typeface="华文中宋" pitchFamily="2" charset="-122"/>
              </a:rPr>
              <a:t>5421BCD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64F5F5E-920E-4ADD-B677-DE7C16C0D7F6}"/>
              </a:ext>
            </a:extLst>
          </p:cNvPr>
          <p:cNvSpPr txBox="1"/>
          <p:nvPr/>
        </p:nvSpPr>
        <p:spPr>
          <a:xfrm>
            <a:off x="971600" y="5517232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方正姚体" pitchFamily="2" charset="-122"/>
                <a:ea typeface="方正姚体" pitchFamily="2" charset="-122"/>
              </a:rPr>
              <a:t> 10</a:t>
            </a:r>
            <a:r>
              <a:rPr lang="zh-CN" altLang="en-US" b="1" dirty="0">
                <a:latin typeface="方正姚体" pitchFamily="2" charset="-122"/>
                <a:ea typeface="方正姚体" pitchFamily="2" charset="-122"/>
              </a:rPr>
              <a:t>進制</a:t>
            </a:r>
            <a:r>
              <a:rPr lang="en-US" altLang="zh-CN" b="1" dirty="0">
                <a:latin typeface="方正姚体" pitchFamily="2" charset="-122"/>
                <a:ea typeface="方正姚体" pitchFamily="2" charset="-122"/>
              </a:rPr>
              <a:t>5</a:t>
            </a:r>
            <a:r>
              <a:rPr lang="zh-CN" altLang="en-US" b="1" dirty="0">
                <a:latin typeface="方正姚体" pitchFamily="2" charset="-122"/>
                <a:ea typeface="方正姚体" pitchFamily="2" charset="-122"/>
              </a:rPr>
              <a:t>的</a:t>
            </a:r>
            <a:r>
              <a:rPr lang="en-US" altLang="zh-CN" b="1" dirty="0">
                <a:latin typeface="方正姚体" pitchFamily="2" charset="-122"/>
                <a:ea typeface="方正姚体" pitchFamily="2" charset="-122"/>
              </a:rPr>
              <a:t>5421</a:t>
            </a:r>
            <a:r>
              <a:rPr lang="zh-CN" altLang="en-US" b="1" dirty="0">
                <a:latin typeface="方正姚体" pitchFamily="2" charset="-122"/>
                <a:ea typeface="方正姚体" pitchFamily="2" charset="-122"/>
              </a:rPr>
              <a:t>編碼應該是？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94074534"/>
      </p:ext>
    </p:extLst>
  </p:cSld>
  <p:clrMapOvr>
    <a:masterClrMapping/>
  </p:clrMapOvr>
  <p:transition spd="slow">
    <p:pull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數制和碼制（</a:t>
            </a:r>
            <a:r>
              <a:rPr lang="en-US" altLang="zh-CN" dirty="0"/>
              <a:t>18</a:t>
            </a:r>
            <a:r>
              <a:rPr lang="zh-CN" altLang="en-US" dirty="0"/>
              <a:t>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A216C-18A3-466E-BD90-37CCADC359B9}" type="slidenum">
              <a:rPr lang="en-US" altLang="zh-CN"/>
              <a:pPr/>
              <a:t>26</a:t>
            </a:fld>
            <a:endParaRPr lang="en-US" altLang="zh-CN" dirty="0"/>
          </a:p>
        </p:txBody>
      </p:sp>
      <p:sp>
        <p:nvSpPr>
          <p:cNvPr id="2508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13538" y="1524000"/>
            <a:ext cx="8334926" cy="514508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dirty="0"/>
              <a:t>2421</a:t>
            </a:r>
            <a:r>
              <a:rPr lang="zh-CN" altLang="en-US" dirty="0"/>
              <a:t>碼</a:t>
            </a:r>
            <a:endParaRPr lang="en-US" altLang="zh-CN" sz="3200" baseline="-25000" dirty="0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47AB25C9-45F4-485C-A399-77CA2878F2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573" y="2223442"/>
            <a:ext cx="7974875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indent="762008">
              <a:spcBef>
                <a:spcPct val="50000"/>
              </a:spcBef>
            </a:pPr>
            <a:r>
              <a:rPr kumimoji="0" lang="zh-CN" altLang="en-US" sz="2800" b="1" dirty="0">
                <a:latin typeface="华文新魏" pitchFamily="2" charset="-122"/>
                <a:ea typeface="华文新魏" pitchFamily="2" charset="-122"/>
              </a:rPr>
              <a:t>簡稱</a:t>
            </a:r>
            <a:r>
              <a:rPr kumimoji="0" lang="en-US" altLang="zh-CN" sz="2800" b="1" dirty="0">
                <a:latin typeface="华文新魏" pitchFamily="2" charset="-122"/>
                <a:ea typeface="华文新魏" pitchFamily="2" charset="-122"/>
              </a:rPr>
              <a:t>2421</a:t>
            </a:r>
            <a:r>
              <a:rPr kumimoji="0" lang="zh-CN" altLang="en-US" sz="2800" b="1" dirty="0">
                <a:latin typeface="华文新魏" pitchFamily="2" charset="-122"/>
                <a:ea typeface="华文新魏" pitchFamily="2" charset="-122"/>
              </a:rPr>
              <a:t>碼。按</a:t>
            </a:r>
            <a:r>
              <a:rPr kumimoji="0" lang="en-US" altLang="zh-CN" sz="2800" b="1" dirty="0">
                <a:latin typeface="华文新魏" pitchFamily="2" charset="-122"/>
                <a:ea typeface="华文新魏" pitchFamily="2" charset="-122"/>
              </a:rPr>
              <a:t>4</a:t>
            </a:r>
            <a:r>
              <a:rPr kumimoji="0" lang="zh-CN" altLang="en-US" sz="2800" b="1" dirty="0">
                <a:latin typeface="华文新魏" pitchFamily="2" charset="-122"/>
                <a:ea typeface="华文新魏" pitchFamily="2" charset="-122"/>
              </a:rPr>
              <a:t>位二進位數字</a:t>
            </a:r>
            <a:r>
              <a:rPr kumimoji="0" lang="en-US" altLang="zh-CN" sz="2800" b="1" dirty="0">
                <a:latin typeface="华文新魏" pitchFamily="2" charset="-122"/>
                <a:ea typeface="华文新魏" pitchFamily="2" charset="-122"/>
              </a:rPr>
              <a:t>(B</a:t>
            </a:r>
            <a:r>
              <a:rPr kumimoji="0" lang="en-US" altLang="zh-CN" sz="2800" b="1" baseline="-25000" dirty="0">
                <a:latin typeface="华文新魏" pitchFamily="2" charset="-122"/>
                <a:ea typeface="华文新魏" pitchFamily="2" charset="-122"/>
              </a:rPr>
              <a:t>3</a:t>
            </a:r>
            <a:r>
              <a:rPr kumimoji="0" lang="en-US" altLang="zh-CN" sz="2800" b="1" dirty="0">
                <a:latin typeface="华文新魏" pitchFamily="2" charset="-122"/>
                <a:ea typeface="华文新魏" pitchFamily="2" charset="-122"/>
              </a:rPr>
              <a:t>B</a:t>
            </a:r>
            <a:r>
              <a:rPr kumimoji="0" lang="en-US" altLang="zh-CN" sz="2800" b="1" baseline="-25000" dirty="0">
                <a:latin typeface="华文新魏" pitchFamily="2" charset="-122"/>
                <a:ea typeface="华文新魏" pitchFamily="2" charset="-122"/>
              </a:rPr>
              <a:t>2</a:t>
            </a:r>
            <a:r>
              <a:rPr kumimoji="0" lang="en-US" altLang="zh-CN" sz="2800" b="1" dirty="0">
                <a:latin typeface="华文新魏" pitchFamily="2" charset="-122"/>
                <a:ea typeface="华文新魏" pitchFamily="2" charset="-122"/>
              </a:rPr>
              <a:t>B</a:t>
            </a:r>
            <a:r>
              <a:rPr kumimoji="0" lang="en-US" altLang="zh-CN" sz="2800" b="1" baseline="-25000" dirty="0">
                <a:latin typeface="华文新魏" pitchFamily="2" charset="-122"/>
                <a:ea typeface="华文新魏" pitchFamily="2" charset="-122"/>
              </a:rPr>
              <a:t>1</a:t>
            </a:r>
            <a:r>
              <a:rPr kumimoji="0" lang="en-US" altLang="zh-CN" sz="2800" b="1" dirty="0">
                <a:latin typeface="华文新魏" pitchFamily="2" charset="-122"/>
                <a:ea typeface="华文新魏" pitchFamily="2" charset="-122"/>
              </a:rPr>
              <a:t>B</a:t>
            </a:r>
            <a:r>
              <a:rPr kumimoji="0" lang="en-US" altLang="zh-CN" sz="2800" b="1" baseline="-25000" dirty="0">
                <a:latin typeface="华文新魏" pitchFamily="2" charset="-122"/>
                <a:ea typeface="华文新魏" pitchFamily="2" charset="-122"/>
              </a:rPr>
              <a:t>0</a:t>
            </a:r>
            <a:r>
              <a:rPr kumimoji="0" lang="en-US" altLang="zh-CN" sz="2800" b="1" dirty="0">
                <a:latin typeface="华文新魏" pitchFamily="2" charset="-122"/>
                <a:ea typeface="华文新魏" pitchFamily="2" charset="-122"/>
              </a:rPr>
              <a:t>)</a:t>
            </a:r>
            <a:r>
              <a:rPr kumimoji="0" lang="zh-CN" altLang="en-US" sz="2800" b="1" dirty="0">
                <a:latin typeface="华文新魏" pitchFamily="2" charset="-122"/>
                <a:ea typeface="华文新魏" pitchFamily="2" charset="-122"/>
              </a:rPr>
              <a:t>的自然順序值，取前十個數依次表示十進位的</a:t>
            </a:r>
            <a:r>
              <a:rPr kumimoji="0" lang="en-US" altLang="zh-CN" sz="2800" b="1" dirty="0">
                <a:latin typeface="华文新魏" pitchFamily="2" charset="-122"/>
                <a:ea typeface="华文新魏" pitchFamily="2" charset="-122"/>
              </a:rPr>
              <a:t>0</a:t>
            </a:r>
            <a:r>
              <a:rPr kumimoji="0" lang="zh-CN" altLang="en-US" sz="2800" b="1" dirty="0">
                <a:latin typeface="华文新魏" pitchFamily="2" charset="-122"/>
                <a:ea typeface="华文新魏" pitchFamily="2" charset="-122"/>
              </a:rPr>
              <a:t>～</a:t>
            </a:r>
            <a:r>
              <a:rPr kumimoji="0" lang="en-US" altLang="zh-CN" sz="2800" b="1" dirty="0">
                <a:latin typeface="华文新魏" pitchFamily="2" charset="-122"/>
                <a:ea typeface="华文新魏" pitchFamily="2" charset="-122"/>
              </a:rPr>
              <a:t>9</a:t>
            </a:r>
            <a:r>
              <a:rPr kumimoji="0" lang="zh-CN" altLang="en-US" sz="2800" b="1" dirty="0">
                <a:latin typeface="华文新魏" pitchFamily="2" charset="-122"/>
                <a:ea typeface="华文新魏" pitchFamily="2" charset="-122"/>
              </a:rPr>
              <a:t>，</a:t>
            </a:r>
            <a:r>
              <a:rPr kumimoji="0" lang="en-US" altLang="zh-CN" sz="2800" b="1" dirty="0">
                <a:latin typeface="华文新魏" pitchFamily="2" charset="-122"/>
                <a:ea typeface="华文新魏" pitchFamily="2" charset="-122"/>
              </a:rPr>
              <a:t>2421</a:t>
            </a:r>
            <a:r>
              <a:rPr kumimoji="0" lang="zh-CN" altLang="en-US" sz="2800" b="1" dirty="0">
                <a:latin typeface="华文新魏" pitchFamily="2" charset="-122"/>
                <a:ea typeface="华文新魏" pitchFamily="2" charset="-122"/>
              </a:rPr>
              <a:t>碼是一種有權碼，每位有固定的權，從高到低依次為</a:t>
            </a:r>
            <a:r>
              <a:rPr kumimoji="0" lang="en-US" altLang="zh-CN" sz="2800" b="1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2421 </a:t>
            </a:r>
            <a:r>
              <a:rPr kumimoji="0" lang="zh-CN" altLang="en-US" sz="2800" b="1" dirty="0">
                <a:latin typeface="华文新魏" pitchFamily="2" charset="-122"/>
                <a:ea typeface="华文新魏" pitchFamily="2" charset="-122"/>
              </a:rPr>
              <a:t>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F004BB1-10F7-4386-839A-AB7412098042}"/>
              </a:ext>
            </a:extLst>
          </p:cNvPr>
          <p:cNvSpPr txBox="1"/>
          <p:nvPr/>
        </p:nvSpPr>
        <p:spPr>
          <a:xfrm>
            <a:off x="1187624" y="4127392"/>
            <a:ext cx="6552728" cy="1001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ct val="25000"/>
              </a:spcBef>
              <a:buClr>
                <a:srgbClr val="FF0000"/>
              </a:buClr>
            </a:pP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例如：</a:t>
            </a:r>
            <a:r>
              <a:rPr lang="en-US" altLang="zh-CN" sz="2400" dirty="0">
                <a:latin typeface="华文中宋" pitchFamily="2" charset="-122"/>
                <a:ea typeface="华文中宋" pitchFamily="2" charset="-122"/>
              </a:rPr>
              <a:t>N=</a:t>
            </a: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（</a:t>
            </a:r>
            <a:r>
              <a:rPr lang="en-US" altLang="zh-CN" sz="2400" dirty="0">
                <a:latin typeface="华文中宋" pitchFamily="2" charset="-122"/>
                <a:ea typeface="华文中宋" pitchFamily="2" charset="-122"/>
              </a:rPr>
              <a:t>93</a:t>
            </a: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）</a:t>
            </a:r>
            <a:r>
              <a:rPr lang="en-US" altLang="zh-CN" sz="2400" baseline="-25000" dirty="0">
                <a:latin typeface="华文中宋" pitchFamily="2" charset="-122"/>
                <a:ea typeface="华文中宋" pitchFamily="2" charset="-122"/>
              </a:rPr>
              <a:t>10</a:t>
            </a: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， 則有：</a:t>
            </a:r>
          </a:p>
          <a:p>
            <a:pPr>
              <a:lnSpc>
                <a:spcPct val="115000"/>
              </a:lnSpc>
              <a:spcBef>
                <a:spcPct val="25000"/>
              </a:spcBef>
              <a:buClr>
                <a:srgbClr val="FF0000"/>
              </a:buClr>
              <a:buFont typeface="Wingdings" pitchFamily="2" charset="2"/>
              <a:buNone/>
            </a:pPr>
            <a:r>
              <a:rPr lang="en-US" altLang="zh-CN" sz="2400" dirty="0">
                <a:latin typeface="华文中宋" pitchFamily="2" charset="-122"/>
                <a:ea typeface="华文中宋" pitchFamily="2" charset="-122"/>
              </a:rPr>
              <a:t>                  N=</a:t>
            </a: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（</a:t>
            </a:r>
            <a:r>
              <a:rPr lang="en-US" altLang="zh-CN" sz="2400" dirty="0">
                <a:solidFill>
                  <a:srgbClr val="FF3300"/>
                </a:solidFill>
                <a:latin typeface="华文中宋" pitchFamily="2" charset="-122"/>
                <a:ea typeface="华文中宋" pitchFamily="2" charset="-122"/>
              </a:rPr>
              <a:t>1111</a:t>
            </a:r>
            <a:r>
              <a:rPr lang="en-US" altLang="zh-CN" sz="2400" dirty="0">
                <a:latin typeface="华文中宋" pitchFamily="2" charset="-122"/>
                <a:ea typeface="华文中宋" pitchFamily="2" charset="-122"/>
              </a:rPr>
              <a:t> 0011</a:t>
            </a:r>
            <a:r>
              <a:rPr lang="zh-CN" altLang="en-US" sz="2400" dirty="0">
                <a:latin typeface="华文中宋" pitchFamily="2" charset="-122"/>
                <a:ea typeface="华文中宋" pitchFamily="2" charset="-122"/>
              </a:rPr>
              <a:t>）</a:t>
            </a:r>
            <a:r>
              <a:rPr lang="en-US" altLang="zh-CN" sz="1600" dirty="0">
                <a:latin typeface="华文中宋" pitchFamily="2" charset="-122"/>
                <a:ea typeface="华文中宋" pitchFamily="2" charset="-122"/>
              </a:rPr>
              <a:t>2421BCD</a:t>
            </a:r>
            <a:endParaRPr lang="zh-CN" altLang="en-US" sz="2400" dirty="0"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66710D-8484-4E59-8601-9BCDD2B138BC}"/>
              </a:ext>
            </a:extLst>
          </p:cNvPr>
          <p:cNvSpPr txBox="1"/>
          <p:nvPr/>
        </p:nvSpPr>
        <p:spPr>
          <a:xfrm>
            <a:off x="971600" y="5517232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方正姚体" pitchFamily="2" charset="-122"/>
                <a:ea typeface="方正姚体" pitchFamily="2" charset="-122"/>
              </a:rPr>
              <a:t> 10</a:t>
            </a:r>
            <a:r>
              <a:rPr lang="zh-CN" altLang="en-US" b="1" dirty="0">
                <a:latin typeface="方正姚体" pitchFamily="2" charset="-122"/>
                <a:ea typeface="方正姚体" pitchFamily="2" charset="-122"/>
              </a:rPr>
              <a:t>進制</a:t>
            </a:r>
            <a:r>
              <a:rPr lang="en-US" altLang="zh-CN" b="1" dirty="0">
                <a:latin typeface="方正姚体" pitchFamily="2" charset="-122"/>
                <a:ea typeface="方正姚体" pitchFamily="2" charset="-122"/>
              </a:rPr>
              <a:t>5</a:t>
            </a:r>
            <a:r>
              <a:rPr lang="zh-CN" altLang="en-US" b="1" dirty="0">
                <a:latin typeface="方正姚体" pitchFamily="2" charset="-122"/>
                <a:ea typeface="方正姚体" pitchFamily="2" charset="-122"/>
              </a:rPr>
              <a:t>的</a:t>
            </a:r>
            <a:r>
              <a:rPr lang="en-US" altLang="zh-CN" b="1" dirty="0">
                <a:latin typeface="方正姚体" pitchFamily="2" charset="-122"/>
                <a:ea typeface="方正姚体" pitchFamily="2" charset="-122"/>
              </a:rPr>
              <a:t>2421</a:t>
            </a:r>
            <a:r>
              <a:rPr lang="zh-CN" altLang="en-US" b="1" dirty="0">
                <a:latin typeface="方正姚体" pitchFamily="2" charset="-122"/>
                <a:ea typeface="方正姚体" pitchFamily="2" charset="-122"/>
              </a:rPr>
              <a:t>編碼應該是？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09013416"/>
      </p:ext>
    </p:extLst>
  </p:cSld>
  <p:clrMapOvr>
    <a:masterClrMapping/>
  </p:clrMapOvr>
  <p:transition spd="slow">
    <p:pull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數制和碼制（</a:t>
            </a:r>
            <a:r>
              <a:rPr lang="en-US" altLang="zh-CN" dirty="0"/>
              <a:t>19</a:t>
            </a:r>
            <a:r>
              <a:rPr lang="zh-CN" altLang="en-US" dirty="0"/>
              <a:t>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A216C-18A3-466E-BD90-37CCADC359B9}" type="slidenum">
              <a:rPr lang="en-US" altLang="zh-CN"/>
              <a:pPr/>
              <a:t>27</a:t>
            </a:fld>
            <a:endParaRPr lang="en-US" altLang="zh-CN" dirty="0"/>
          </a:p>
        </p:txBody>
      </p:sp>
      <p:sp>
        <p:nvSpPr>
          <p:cNvPr id="2508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13538" y="1524000"/>
            <a:ext cx="8334926" cy="514508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zh-CN" altLang="en-US" dirty="0"/>
              <a:t>無權編碼</a:t>
            </a:r>
            <a:endParaRPr lang="en-US" altLang="zh-CN" sz="3200" baseline="-25000" dirty="0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3CEB6E13-1016-4AEA-991C-0CA89E453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3356992"/>
            <a:ext cx="7507224" cy="2638425"/>
          </a:xfrm>
          <a:prstGeom prst="foldedCorner">
            <a:avLst>
              <a:gd name="adj" fmla="val 12500"/>
            </a:avLst>
          </a:prstGeom>
          <a:solidFill>
            <a:srgbClr val="E7FFE7">
              <a:alpha val="50000"/>
            </a:srgbClr>
          </a:solidFill>
          <a:ln w="9525">
            <a:solidFill>
              <a:srgbClr val="FF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>
              <a:latin typeface="方正姚体" pitchFamily="2" charset="-122"/>
              <a:ea typeface="方正姚体" pitchFamily="2" charset="-122"/>
            </a:endParaRP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C0F97A0B-CB3A-442B-8805-5A423EBC6F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9721" y="2060848"/>
            <a:ext cx="117532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CC3300"/>
                </a:solidFill>
              </a:rPr>
              <a:t> 餘</a:t>
            </a:r>
            <a:r>
              <a:rPr lang="en-US" altLang="zh-CN" sz="2800" b="1" dirty="0">
                <a:solidFill>
                  <a:srgbClr val="CC3300"/>
                </a:solidFill>
              </a:rPr>
              <a:t>3</a:t>
            </a:r>
            <a:r>
              <a:rPr lang="zh-CN" altLang="en-US" sz="2800" b="1" dirty="0">
                <a:solidFill>
                  <a:srgbClr val="CC3300"/>
                </a:solidFill>
              </a:rPr>
              <a:t>碼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CEE43ACA-2C2B-409B-BB5E-ADCA9C668E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5226" y="3763160"/>
            <a:ext cx="7117574" cy="1804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indent="666757">
              <a:lnSpc>
                <a:spcPct val="140000"/>
              </a:lnSpc>
              <a:spcBef>
                <a:spcPct val="50000"/>
              </a:spcBef>
            </a:pPr>
            <a:r>
              <a:rPr lang="zh-CN" altLang="en-US" sz="2800" dirty="0">
                <a:latin typeface="方正姚体" pitchFamily="2" charset="-122"/>
                <a:ea typeface="方正姚体" pitchFamily="2" charset="-122"/>
              </a:rPr>
              <a:t>由</a:t>
            </a:r>
            <a:r>
              <a:rPr lang="en-US" altLang="zh-CN" sz="2800" dirty="0">
                <a:latin typeface="方正姚体" pitchFamily="2" charset="-122"/>
                <a:ea typeface="方正姚体" pitchFamily="2" charset="-122"/>
              </a:rPr>
              <a:t>8421</a:t>
            </a:r>
            <a:r>
              <a:rPr lang="zh-CN" altLang="en-US" sz="2800" dirty="0">
                <a:latin typeface="方正姚体" pitchFamily="2" charset="-122"/>
                <a:ea typeface="方正姚体" pitchFamily="2" charset="-122"/>
              </a:rPr>
              <a:t>碼加</a:t>
            </a:r>
            <a:r>
              <a:rPr lang="en-US" altLang="zh-CN" sz="2800" dirty="0"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>
                <a:latin typeface="方正姚体" pitchFamily="2" charset="-122"/>
                <a:ea typeface="方正姚体" pitchFamily="2" charset="-122"/>
              </a:rPr>
              <a:t>形成，是一種</a:t>
            </a:r>
            <a:r>
              <a:rPr lang="zh-CN" altLang="en-US" sz="2800" b="1" dirty="0">
                <a:solidFill>
                  <a:srgbClr val="FF3300"/>
                </a:solidFill>
                <a:latin typeface="方正姚体" pitchFamily="2" charset="-122"/>
                <a:ea typeface="方正姚体" pitchFamily="2" charset="-122"/>
              </a:rPr>
              <a:t>無權碼</a:t>
            </a:r>
            <a:r>
              <a:rPr lang="zh-CN" altLang="en-US" sz="2800" dirty="0">
                <a:latin typeface="方正姚体" pitchFamily="2" charset="-122"/>
                <a:ea typeface="方正姚体" pitchFamily="2" charset="-122"/>
              </a:rPr>
              <a:t>。如果兩個餘</a:t>
            </a:r>
            <a:r>
              <a:rPr lang="en-US" altLang="zh-CN" sz="2800" dirty="0"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>
                <a:latin typeface="方正姚体" pitchFamily="2" charset="-122"/>
                <a:ea typeface="方正姚体" pitchFamily="2" charset="-122"/>
              </a:rPr>
              <a:t>碼相加沒有進位，則和數要減</a:t>
            </a:r>
            <a:r>
              <a:rPr lang="en-US" altLang="zh-CN" sz="2800" dirty="0"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>
                <a:latin typeface="方正姚体" pitchFamily="2" charset="-122"/>
                <a:ea typeface="方正姚体" pitchFamily="2" charset="-122"/>
              </a:rPr>
              <a:t>，否則和數要加</a:t>
            </a:r>
            <a:r>
              <a:rPr lang="en-US" altLang="zh-CN" sz="2800" dirty="0">
                <a:latin typeface="方正姚体" pitchFamily="2" charset="-122"/>
                <a:ea typeface="方正姚体" pitchFamily="2" charset="-122"/>
              </a:rPr>
              <a:t>3</a:t>
            </a:r>
            <a:r>
              <a:rPr lang="zh-CN" altLang="en-US" sz="2800" dirty="0">
                <a:latin typeface="方正姚体" pitchFamily="2" charset="-122"/>
                <a:ea typeface="方正姚体" pitchFamily="2" charset="-122"/>
              </a:rPr>
              <a:t>。</a:t>
            </a:r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373D086D-D451-486F-9D50-9C0A118097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9715" y="2563398"/>
            <a:ext cx="268317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CC3300"/>
                </a:solidFill>
              </a:rPr>
              <a:t>8421</a:t>
            </a:r>
            <a:r>
              <a:rPr lang="zh-CN" altLang="en-US" sz="2800" b="1" dirty="0">
                <a:solidFill>
                  <a:srgbClr val="CC3300"/>
                </a:solidFill>
              </a:rPr>
              <a:t>碼再加</a:t>
            </a:r>
            <a:r>
              <a:rPr lang="en-US" altLang="zh-CN" sz="2800" b="1" dirty="0">
                <a:solidFill>
                  <a:srgbClr val="CC3300"/>
                </a:solidFill>
              </a:rPr>
              <a:t>0011</a:t>
            </a:r>
            <a:endParaRPr lang="zh-CN" altLang="en-US" sz="2800" b="1" dirty="0">
              <a:solidFill>
                <a:srgbClr val="CC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1394435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build="p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數制和碼制（</a:t>
            </a:r>
            <a:r>
              <a:rPr lang="en-US" altLang="zh-CN" dirty="0"/>
              <a:t>20</a:t>
            </a:r>
            <a:r>
              <a:rPr lang="zh-CN" altLang="en-US" dirty="0"/>
              <a:t>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A216C-18A3-466E-BD90-37CCADC359B9}" type="slidenum">
              <a:rPr lang="en-US" altLang="zh-CN"/>
              <a:pPr/>
              <a:t>28</a:t>
            </a:fld>
            <a:endParaRPr lang="en-US" altLang="zh-CN" dirty="0"/>
          </a:p>
        </p:txBody>
      </p:sp>
      <p:sp>
        <p:nvSpPr>
          <p:cNvPr id="2508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13538" y="1524000"/>
            <a:ext cx="8334926" cy="514508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zh-CN" altLang="en-US" dirty="0"/>
              <a:t>餘三碼計算舉例</a:t>
            </a:r>
            <a:endParaRPr lang="en-US" altLang="zh-CN" sz="3200" baseline="-25000" dirty="0"/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3C269A2F-CD20-4FD2-9E5F-45B0487DDB2E}"/>
              </a:ext>
            </a:extLst>
          </p:cNvPr>
          <p:cNvGrpSpPr>
            <a:grpSpLocks/>
          </p:cNvGrpSpPr>
          <p:nvPr/>
        </p:nvGrpSpPr>
        <p:grpSpPr bwMode="auto">
          <a:xfrm>
            <a:off x="1331273" y="3684030"/>
            <a:ext cx="2697958" cy="1476374"/>
            <a:chOff x="944" y="1593"/>
            <a:chExt cx="2266" cy="930"/>
          </a:xfrm>
        </p:grpSpPr>
        <p:sp>
          <p:nvSpPr>
            <p:cNvPr id="7" name="Text Box 3">
              <a:extLst>
                <a:ext uri="{FF2B5EF4-FFF2-40B4-BE49-F238E27FC236}">
                  <a16:creationId xmlns:a16="http://schemas.microsoft.com/office/drawing/2014/main" id="{E1917659-E241-4E25-B503-3E7DDCC5FE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4" y="1593"/>
              <a:ext cx="1889" cy="6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latin typeface="方正姚体" pitchFamily="2" charset="-122"/>
                  <a:ea typeface="方正姚体" pitchFamily="2" charset="-122"/>
                </a:rPr>
                <a:t>        </a:t>
              </a:r>
              <a:r>
                <a:rPr lang="en-US" altLang="zh-CN" sz="2800" dirty="0">
                  <a:latin typeface="方正姚体" pitchFamily="2" charset="-122"/>
                  <a:ea typeface="方正姚体" pitchFamily="2" charset="-122"/>
                </a:rPr>
                <a:t>0  1  0  0</a:t>
              </a:r>
            </a:p>
            <a:p>
              <a:r>
                <a:rPr lang="zh-CN" altLang="en-US" sz="2800" dirty="0">
                  <a:latin typeface="方正姚体" pitchFamily="2" charset="-122"/>
                  <a:ea typeface="方正姚体" pitchFamily="2" charset="-122"/>
                </a:rPr>
                <a:t>＋</a:t>
              </a:r>
              <a:r>
                <a:rPr lang="en-US" altLang="zh-CN" sz="2800" dirty="0">
                  <a:latin typeface="方正姚体" pitchFamily="2" charset="-122"/>
                  <a:ea typeface="方正姚体" pitchFamily="2" charset="-122"/>
                </a:rPr>
                <a:t>)   0  1  1  0</a:t>
              </a:r>
            </a:p>
          </p:txBody>
        </p:sp>
        <p:sp>
          <p:nvSpPr>
            <p:cNvPr id="8" name="Line 4">
              <a:extLst>
                <a:ext uri="{FF2B5EF4-FFF2-40B4-BE49-F238E27FC236}">
                  <a16:creationId xmlns:a16="http://schemas.microsoft.com/office/drawing/2014/main" id="{A996F718-B420-4489-88DD-C40B5F1E3F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97" y="2193"/>
              <a:ext cx="2013" cy="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latin typeface="方正姚体" pitchFamily="2" charset="-122"/>
                <a:ea typeface="方正姚体" pitchFamily="2" charset="-122"/>
              </a:endParaRPr>
            </a:p>
          </p:txBody>
        </p:sp>
        <p:sp>
          <p:nvSpPr>
            <p:cNvPr id="9" name="Text Box 5">
              <a:extLst>
                <a:ext uri="{FF2B5EF4-FFF2-40B4-BE49-F238E27FC236}">
                  <a16:creationId xmlns:a16="http://schemas.microsoft.com/office/drawing/2014/main" id="{05219F4E-4B1D-4F34-9223-688407BF44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9" y="2193"/>
              <a:ext cx="1211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 dirty="0">
                  <a:latin typeface="方正姚体" pitchFamily="2" charset="-122"/>
                  <a:ea typeface="方正姚体" pitchFamily="2" charset="-122"/>
                </a:rPr>
                <a:t>1  0  1  0</a:t>
              </a:r>
            </a:p>
          </p:txBody>
        </p:sp>
      </p:grpSp>
      <p:grpSp>
        <p:nvGrpSpPr>
          <p:cNvPr id="10" name="Group 6">
            <a:extLst>
              <a:ext uri="{FF2B5EF4-FFF2-40B4-BE49-F238E27FC236}">
                <a16:creationId xmlns:a16="http://schemas.microsoft.com/office/drawing/2014/main" id="{6362DB1A-D172-471E-8D54-01454166455F}"/>
              </a:ext>
            </a:extLst>
          </p:cNvPr>
          <p:cNvGrpSpPr>
            <a:grpSpLocks/>
          </p:cNvGrpSpPr>
          <p:nvPr/>
        </p:nvGrpSpPr>
        <p:grpSpPr bwMode="auto">
          <a:xfrm>
            <a:off x="1331263" y="5101671"/>
            <a:ext cx="2697958" cy="1063624"/>
            <a:chOff x="944" y="2486"/>
            <a:chExt cx="2266" cy="670"/>
          </a:xfrm>
        </p:grpSpPr>
        <p:sp>
          <p:nvSpPr>
            <p:cNvPr id="11" name="Rectangle 7">
              <a:extLst>
                <a:ext uri="{FF2B5EF4-FFF2-40B4-BE49-F238E27FC236}">
                  <a16:creationId xmlns:a16="http://schemas.microsoft.com/office/drawing/2014/main" id="{F6FE8145-9934-486C-BF78-B1BAFEA116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4" y="2486"/>
              <a:ext cx="55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latin typeface="方正姚体" pitchFamily="2" charset="-122"/>
                  <a:ea typeface="方正姚体" pitchFamily="2" charset="-122"/>
                </a:rPr>
                <a:t>－</a:t>
              </a:r>
              <a:r>
                <a:rPr lang="en-US" altLang="zh-CN" sz="2800" dirty="0">
                  <a:latin typeface="方正姚体" pitchFamily="2" charset="-122"/>
                  <a:ea typeface="方正姚体" pitchFamily="2" charset="-122"/>
                </a:rPr>
                <a:t>)</a:t>
              </a:r>
            </a:p>
          </p:txBody>
        </p:sp>
        <p:sp>
          <p:nvSpPr>
            <p:cNvPr id="12" name="Text Box 8">
              <a:extLst>
                <a:ext uri="{FF2B5EF4-FFF2-40B4-BE49-F238E27FC236}">
                  <a16:creationId xmlns:a16="http://schemas.microsoft.com/office/drawing/2014/main" id="{6DDD1BBF-76FD-45B8-A94A-64B6A18F53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1" y="2490"/>
              <a:ext cx="1211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 dirty="0">
                  <a:latin typeface="方正姚体" pitchFamily="2" charset="-122"/>
                  <a:ea typeface="方正姚体" pitchFamily="2" charset="-122"/>
                </a:rPr>
                <a:t>0  0  1  1</a:t>
              </a:r>
            </a:p>
          </p:txBody>
        </p:sp>
        <p:sp>
          <p:nvSpPr>
            <p:cNvPr id="13" name="Line 9">
              <a:extLst>
                <a:ext uri="{FF2B5EF4-FFF2-40B4-BE49-F238E27FC236}">
                  <a16:creationId xmlns:a16="http://schemas.microsoft.com/office/drawing/2014/main" id="{8A949AE9-070D-427C-86EC-C3C08FDAF4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9" y="2844"/>
              <a:ext cx="20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latin typeface="方正姚体" pitchFamily="2" charset="-122"/>
                <a:ea typeface="方正姚体" pitchFamily="2" charset="-122"/>
              </a:endParaRPr>
            </a:p>
          </p:txBody>
        </p:sp>
        <p:sp>
          <p:nvSpPr>
            <p:cNvPr id="14" name="Text Box 10">
              <a:extLst>
                <a:ext uri="{FF2B5EF4-FFF2-40B4-BE49-F238E27FC236}">
                  <a16:creationId xmlns:a16="http://schemas.microsoft.com/office/drawing/2014/main" id="{7E19CDE0-2D4D-4CF4-AA61-E30D7B508D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3" y="2826"/>
              <a:ext cx="1211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 dirty="0">
                  <a:latin typeface="方正姚体" pitchFamily="2" charset="-122"/>
                  <a:ea typeface="方正姚体" pitchFamily="2" charset="-122"/>
                </a:rPr>
                <a:t>0  1  1  1</a:t>
              </a:r>
            </a:p>
          </p:txBody>
        </p:sp>
      </p:grpSp>
      <p:sp>
        <p:nvSpPr>
          <p:cNvPr id="15" name="Text Box 11">
            <a:extLst>
              <a:ext uri="{FF2B5EF4-FFF2-40B4-BE49-F238E27FC236}">
                <a16:creationId xmlns:a16="http://schemas.microsoft.com/office/drawing/2014/main" id="{479AEB4E-4C28-4162-B5D8-9BEBFB666E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2736336"/>
            <a:ext cx="378020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方正姚体" pitchFamily="2" charset="-122"/>
                <a:ea typeface="方正姚体" pitchFamily="2" charset="-122"/>
              </a:rPr>
              <a:t>例如：</a:t>
            </a:r>
            <a:r>
              <a:rPr lang="en-US" altLang="zh-CN" sz="2800" dirty="0">
                <a:latin typeface="方正姚体" pitchFamily="2" charset="-122"/>
                <a:ea typeface="方正姚体" pitchFamily="2" charset="-122"/>
              </a:rPr>
              <a:t>0100+0110=0111</a:t>
            </a:r>
            <a:endParaRPr lang="en-US" altLang="zh-CN" sz="2800" b="1" dirty="0">
              <a:latin typeface="方正姚体" pitchFamily="2" charset="-122"/>
              <a:ea typeface="方正姚体" pitchFamily="2" charset="-122"/>
            </a:endParaRPr>
          </a:p>
        </p:txBody>
      </p:sp>
      <p:grpSp>
        <p:nvGrpSpPr>
          <p:cNvPr id="16" name="Group 12">
            <a:extLst>
              <a:ext uri="{FF2B5EF4-FFF2-40B4-BE49-F238E27FC236}">
                <a16:creationId xmlns:a16="http://schemas.microsoft.com/office/drawing/2014/main" id="{167324C4-306E-48E5-BB2B-ECB4BDBC2688}"/>
              </a:ext>
            </a:extLst>
          </p:cNvPr>
          <p:cNvGrpSpPr>
            <a:grpSpLocks/>
          </p:cNvGrpSpPr>
          <p:nvPr/>
        </p:nvGrpSpPr>
        <p:grpSpPr bwMode="auto">
          <a:xfrm>
            <a:off x="4976203" y="3684032"/>
            <a:ext cx="2836070" cy="1476375"/>
            <a:chOff x="3115" y="1593"/>
            <a:chExt cx="2382" cy="930"/>
          </a:xfrm>
        </p:grpSpPr>
        <p:sp>
          <p:nvSpPr>
            <p:cNvPr id="17" name="Text Box 13">
              <a:extLst>
                <a:ext uri="{FF2B5EF4-FFF2-40B4-BE49-F238E27FC236}">
                  <a16:creationId xmlns:a16="http://schemas.microsoft.com/office/drawing/2014/main" id="{032B83B2-25D7-49E0-B341-A7DD204829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5" y="1593"/>
              <a:ext cx="1838" cy="6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latin typeface="方正姚体" pitchFamily="2" charset="-122"/>
                  <a:ea typeface="方正姚体" pitchFamily="2" charset="-122"/>
                </a:rPr>
                <a:t>        </a:t>
              </a:r>
              <a:r>
                <a:rPr lang="en-US" altLang="zh-CN" sz="2800" dirty="0">
                  <a:latin typeface="方正姚体" pitchFamily="2" charset="-122"/>
                  <a:ea typeface="方正姚体" pitchFamily="2" charset="-122"/>
                </a:rPr>
                <a:t>1  0  0  0</a:t>
              </a:r>
            </a:p>
            <a:p>
              <a:r>
                <a:rPr lang="zh-CN" altLang="en-US" sz="2800" dirty="0">
                  <a:latin typeface="方正姚体" pitchFamily="2" charset="-122"/>
                  <a:ea typeface="方正姚体" pitchFamily="2" charset="-122"/>
                </a:rPr>
                <a:t>＋</a:t>
              </a:r>
              <a:r>
                <a:rPr lang="en-US" altLang="zh-CN" sz="2800" dirty="0">
                  <a:latin typeface="方正姚体" pitchFamily="2" charset="-122"/>
                  <a:ea typeface="方正姚体" pitchFamily="2" charset="-122"/>
                </a:rPr>
                <a:t>)   1  0  0  1</a:t>
              </a:r>
            </a:p>
          </p:txBody>
        </p:sp>
        <p:sp>
          <p:nvSpPr>
            <p:cNvPr id="18" name="Line 14">
              <a:extLst>
                <a:ext uri="{FF2B5EF4-FFF2-40B4-BE49-F238E27FC236}">
                  <a16:creationId xmlns:a16="http://schemas.microsoft.com/office/drawing/2014/main" id="{FDF70C0F-D967-4144-A5C8-D48B5A9415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80" y="2211"/>
              <a:ext cx="210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latin typeface="方正姚体" pitchFamily="2" charset="-122"/>
                <a:ea typeface="方正姚体" pitchFamily="2" charset="-122"/>
              </a:endParaRPr>
            </a:p>
          </p:txBody>
        </p:sp>
        <p:sp>
          <p:nvSpPr>
            <p:cNvPr id="19" name="Text Box 15">
              <a:extLst>
                <a:ext uri="{FF2B5EF4-FFF2-40B4-BE49-F238E27FC236}">
                  <a16:creationId xmlns:a16="http://schemas.microsoft.com/office/drawing/2014/main" id="{F07A3FBA-3520-40D1-9CDD-D68009F6D1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0" y="2193"/>
              <a:ext cx="2217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altLang="zh-CN" sz="2800" dirty="0">
                  <a:latin typeface="方正姚体" pitchFamily="2" charset="-122"/>
                  <a:ea typeface="方正姚体" pitchFamily="2" charset="-122"/>
                </a:rPr>
                <a:t>  1  0  0  0  1</a:t>
              </a:r>
            </a:p>
          </p:txBody>
        </p:sp>
      </p:grpSp>
      <p:grpSp>
        <p:nvGrpSpPr>
          <p:cNvPr id="20" name="Group 16">
            <a:extLst>
              <a:ext uri="{FF2B5EF4-FFF2-40B4-BE49-F238E27FC236}">
                <a16:creationId xmlns:a16="http://schemas.microsoft.com/office/drawing/2014/main" id="{9FD7C1A3-DD60-40C0-9B5D-15D26D1E7308}"/>
              </a:ext>
            </a:extLst>
          </p:cNvPr>
          <p:cNvGrpSpPr>
            <a:grpSpLocks/>
          </p:cNvGrpSpPr>
          <p:nvPr/>
        </p:nvGrpSpPr>
        <p:grpSpPr bwMode="auto">
          <a:xfrm>
            <a:off x="4932139" y="5101677"/>
            <a:ext cx="2880120" cy="1063627"/>
            <a:chOff x="3078" y="2486"/>
            <a:chExt cx="2419" cy="670"/>
          </a:xfrm>
        </p:grpSpPr>
        <p:sp>
          <p:nvSpPr>
            <p:cNvPr id="21" name="Rectangle 17">
              <a:extLst>
                <a:ext uri="{FF2B5EF4-FFF2-40B4-BE49-F238E27FC236}">
                  <a16:creationId xmlns:a16="http://schemas.microsoft.com/office/drawing/2014/main" id="{23120920-2999-4A3F-A380-E5CDC6C566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8" y="2486"/>
              <a:ext cx="607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latin typeface="方正姚体" pitchFamily="2" charset="-122"/>
                  <a:ea typeface="方正姚体" pitchFamily="2" charset="-122"/>
                </a:rPr>
                <a:t>＋</a:t>
              </a:r>
              <a:r>
                <a:rPr lang="en-US" altLang="zh-CN" sz="2800" dirty="0">
                  <a:latin typeface="方正姚体" pitchFamily="2" charset="-122"/>
                  <a:ea typeface="方正姚体" pitchFamily="2" charset="-122"/>
                </a:rPr>
                <a:t>)</a:t>
              </a:r>
            </a:p>
          </p:txBody>
        </p:sp>
        <p:sp>
          <p:nvSpPr>
            <p:cNvPr id="22" name="Text Box 18">
              <a:extLst>
                <a:ext uri="{FF2B5EF4-FFF2-40B4-BE49-F238E27FC236}">
                  <a16:creationId xmlns:a16="http://schemas.microsoft.com/office/drawing/2014/main" id="{70E58D01-2504-48BF-B640-359C530A12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7" y="2490"/>
              <a:ext cx="1211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 dirty="0">
                  <a:latin typeface="方正姚体" pitchFamily="2" charset="-122"/>
                  <a:ea typeface="方正姚体" pitchFamily="2" charset="-122"/>
                </a:rPr>
                <a:t>0  0  1  1</a:t>
              </a:r>
            </a:p>
          </p:txBody>
        </p:sp>
        <p:sp>
          <p:nvSpPr>
            <p:cNvPr id="23" name="Line 19">
              <a:extLst>
                <a:ext uri="{FF2B5EF4-FFF2-40B4-BE49-F238E27FC236}">
                  <a16:creationId xmlns:a16="http://schemas.microsoft.com/office/drawing/2014/main" id="{BE778FF6-A5F8-4F76-B43F-D2AD5ABB93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32" y="2844"/>
              <a:ext cx="214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latin typeface="方正姚体" pitchFamily="2" charset="-122"/>
                <a:ea typeface="方正姚体" pitchFamily="2" charset="-122"/>
              </a:endParaRPr>
            </a:p>
          </p:txBody>
        </p:sp>
        <p:sp>
          <p:nvSpPr>
            <p:cNvPr id="24" name="Text Box 20">
              <a:extLst>
                <a:ext uri="{FF2B5EF4-FFF2-40B4-BE49-F238E27FC236}">
                  <a16:creationId xmlns:a16="http://schemas.microsoft.com/office/drawing/2014/main" id="{4CF3FE26-90E6-46E2-B219-0FA0435DF6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0" y="2826"/>
              <a:ext cx="2217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altLang="zh-CN" sz="2800" b="1" dirty="0">
                  <a:solidFill>
                    <a:srgbClr val="FF00FF"/>
                  </a:solidFill>
                  <a:latin typeface="方正姚体" pitchFamily="2" charset="-122"/>
                  <a:ea typeface="方正姚体" pitchFamily="2" charset="-122"/>
                </a:rPr>
                <a:t>  1</a:t>
              </a:r>
              <a:r>
                <a:rPr lang="en-US" altLang="zh-CN" sz="2800" dirty="0">
                  <a:latin typeface="方正姚体" pitchFamily="2" charset="-122"/>
                  <a:ea typeface="方正姚体" pitchFamily="2" charset="-122"/>
                </a:rPr>
                <a:t>  0  1  0  0</a:t>
              </a:r>
            </a:p>
          </p:txBody>
        </p:sp>
        <p:sp>
          <p:nvSpPr>
            <p:cNvPr id="25" name="Rectangle 21">
              <a:extLst>
                <a:ext uri="{FF2B5EF4-FFF2-40B4-BE49-F238E27FC236}">
                  <a16:creationId xmlns:a16="http://schemas.microsoft.com/office/drawing/2014/main" id="{373296E1-A890-4A97-9BC8-1392927369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8" y="2877"/>
              <a:ext cx="245" cy="234"/>
            </a:xfrm>
            <a:prstGeom prst="rect">
              <a:avLst/>
            </a:prstGeom>
            <a:noFill/>
            <a:ln w="19050">
              <a:solidFill>
                <a:srgbClr val="FF00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latin typeface="方正姚体" pitchFamily="2" charset="-122"/>
                <a:ea typeface="方正姚体" pitchFamily="2" charset="-122"/>
              </a:endParaRPr>
            </a:p>
          </p:txBody>
        </p:sp>
      </p:grpSp>
      <p:sp>
        <p:nvSpPr>
          <p:cNvPr id="26" name="TextBox 6">
            <a:extLst>
              <a:ext uri="{FF2B5EF4-FFF2-40B4-BE49-F238E27FC236}">
                <a16:creationId xmlns:a16="http://schemas.microsoft.com/office/drawing/2014/main" id="{B6BD7290-82E1-4715-9BE8-0708B60D52D2}"/>
              </a:ext>
            </a:extLst>
          </p:cNvPr>
          <p:cNvSpPr txBox="1"/>
          <p:nvPr/>
        </p:nvSpPr>
        <p:spPr>
          <a:xfrm>
            <a:off x="1725968" y="2231285"/>
            <a:ext cx="63744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方正姚体" pitchFamily="2" charset="-122"/>
                <a:ea typeface="方正姚体" pitchFamily="2" charset="-122"/>
              </a:rPr>
              <a:t>     1       3        4             5       6        11</a:t>
            </a:r>
            <a:endParaRPr lang="zh-CN" altLang="en-US" sz="2800" dirty="0">
              <a:solidFill>
                <a:srgbClr val="FF0000"/>
              </a:solidFill>
              <a:latin typeface="方正姚体" pitchFamily="2" charset="-122"/>
              <a:ea typeface="方正姚体" pitchFamily="2" charset="-122"/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318755E4-72C6-43FF-B4FB-981BC277BF0F}"/>
              </a:ext>
            </a:extLst>
          </p:cNvPr>
          <p:cNvGrpSpPr/>
          <p:nvPr/>
        </p:nvGrpSpPr>
        <p:grpSpPr>
          <a:xfrm>
            <a:off x="4843277" y="2708919"/>
            <a:ext cx="2969083" cy="523220"/>
            <a:chOff x="4843277" y="1772816"/>
            <a:chExt cx="2969083" cy="523220"/>
          </a:xfrm>
        </p:grpSpPr>
        <p:sp>
          <p:nvSpPr>
            <p:cNvPr id="28" name="Rectangle 24">
              <a:extLst>
                <a:ext uri="{FF2B5EF4-FFF2-40B4-BE49-F238E27FC236}">
                  <a16:creationId xmlns:a16="http://schemas.microsoft.com/office/drawing/2014/main" id="{3E281F6F-2F5F-49A2-8A2B-A3AC5EECB3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3277" y="1772816"/>
              <a:ext cx="2969083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 dirty="0">
                  <a:latin typeface="方正姚体" pitchFamily="2" charset="-122"/>
                  <a:ea typeface="方正姚体" pitchFamily="2" charset="-122"/>
                </a:rPr>
                <a:t>1000+1001= </a:t>
              </a:r>
              <a:r>
                <a:rPr lang="en-US" altLang="zh-CN" sz="2800" b="1" dirty="0">
                  <a:solidFill>
                    <a:srgbClr val="FF00FF"/>
                  </a:solidFill>
                  <a:latin typeface="方正姚体" pitchFamily="2" charset="-122"/>
                  <a:ea typeface="方正姚体" pitchFamily="2" charset="-122"/>
                </a:rPr>
                <a:t>1</a:t>
              </a:r>
              <a:r>
                <a:rPr lang="en-US" altLang="zh-CN" sz="2800" dirty="0">
                  <a:latin typeface="方正姚体" pitchFamily="2" charset="-122"/>
                  <a:ea typeface="方正姚体" pitchFamily="2" charset="-122"/>
                </a:rPr>
                <a:t>0100</a:t>
              </a:r>
            </a:p>
          </p:txBody>
        </p:sp>
        <p:sp>
          <p:nvSpPr>
            <p:cNvPr id="29" name="Rectangle 23">
              <a:extLst>
                <a:ext uri="{FF2B5EF4-FFF2-40B4-BE49-F238E27FC236}">
                  <a16:creationId xmlns:a16="http://schemas.microsoft.com/office/drawing/2014/main" id="{9A0E6BA1-B607-432D-ABFF-38FD52D603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5959" y="1887546"/>
              <a:ext cx="214313" cy="361951"/>
            </a:xfrm>
            <a:prstGeom prst="rect">
              <a:avLst/>
            </a:prstGeom>
            <a:noFill/>
            <a:ln w="9525">
              <a:solidFill>
                <a:srgbClr val="FF00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latin typeface="方正姚体" pitchFamily="2" charset="-122"/>
                <a:ea typeface="方正姚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67804365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 autoUpdateAnimBg="0" advAuto="0"/>
      <p:bldP spid="2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數制和碼制（</a:t>
            </a:r>
            <a:r>
              <a:rPr lang="en-US" altLang="zh-CN" dirty="0"/>
              <a:t>21</a:t>
            </a:r>
            <a:r>
              <a:rPr lang="zh-CN" altLang="en-US" dirty="0"/>
              <a:t>）</a:t>
            </a:r>
          </a:p>
        </p:txBody>
      </p:sp>
      <p:sp>
        <p:nvSpPr>
          <p:cNvPr id="8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84135-47B9-40D4-ADF9-E596475D3CCB}" type="slidenum">
              <a:rPr lang="en-US" altLang="zh-CN"/>
              <a:pPr/>
              <a:t>29</a:t>
            </a:fld>
            <a:endParaRPr lang="en-US" altLang="zh-CN" dirty="0"/>
          </a:p>
        </p:txBody>
      </p:sp>
      <p:graphicFrame>
        <p:nvGraphicFramePr>
          <p:cNvPr id="252012" name="Group 10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4843295"/>
              </p:ext>
            </p:extLst>
          </p:nvPr>
        </p:nvGraphicFramePr>
        <p:xfrm>
          <a:off x="1908397" y="1556792"/>
          <a:ext cx="5903962" cy="4754564"/>
        </p:xfrm>
        <a:graphic>
          <a:graphicData uri="http://schemas.openxmlformats.org/drawingml/2006/table">
            <a:tbl>
              <a:tblPr/>
              <a:tblGrid>
                <a:gridCol w="1180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16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0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16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02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4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十進位數字</a:t>
                      </a:r>
                    </a:p>
                  </a:txBody>
                  <a:tcPr marL="68580" marR="6858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8421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碼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5421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碼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2421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碼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餘三碼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0000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0000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0000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0011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0001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0001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0001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0100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68580" marR="6858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0010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0010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0010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0101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68580" marR="6858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0011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0011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0011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0110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68580" marR="6858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0100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0100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0100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0111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L="68580" marR="6858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0101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1000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1011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1000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68580" marR="6858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0110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1001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1100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1001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L="68580" marR="6858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0111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1010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1101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1010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marL="68580" marR="6858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1000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1011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1110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1011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marL="68580" marR="6858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1001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1100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1111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1100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52010" name="Text Box 106"/>
          <p:cNvSpPr txBox="1">
            <a:spLocks noChangeArrowheads="1"/>
          </p:cNvSpPr>
          <p:nvPr/>
        </p:nvSpPr>
        <p:spPr bwMode="auto">
          <a:xfrm>
            <a:off x="1216643" y="1773238"/>
            <a:ext cx="457200" cy="415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/>
              <a:t>四種十進位數字的編碼表</a:t>
            </a:r>
          </a:p>
        </p:txBody>
      </p:sp>
    </p:spTree>
    <p:extLst>
      <p:ext uri="{BB962C8B-B14F-4D97-AF65-F5344CB8AC3E}">
        <p14:creationId xmlns:p14="http://schemas.microsoft.com/office/powerpoint/2010/main" val="605714997"/>
      </p:ext>
    </p:extLst>
  </p:cSld>
  <p:clrMapOvr>
    <a:masterClrMapping/>
  </p:clrMapOvr>
  <p:transition spd="slow">
    <p:pull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數制和碼制（</a:t>
            </a:r>
            <a:r>
              <a:rPr lang="en-US" altLang="zh-CN" dirty="0"/>
              <a:t>22</a:t>
            </a:r>
            <a:r>
              <a:rPr lang="zh-CN" altLang="en-US" dirty="0"/>
              <a:t>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300EE-E1B7-4F4B-941C-9BBB78016456}" type="slidenum">
              <a:rPr lang="en-US" altLang="zh-CN"/>
              <a:pPr/>
              <a:t>30</a:t>
            </a:fld>
            <a:endParaRPr lang="en-US" altLang="zh-CN" dirty="0"/>
          </a:p>
        </p:txBody>
      </p:sp>
      <p:sp>
        <p:nvSpPr>
          <p:cNvPr id="25293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23732" y="1524001"/>
            <a:ext cx="8324732" cy="4572000"/>
          </a:xfrm>
        </p:spPr>
        <p:txBody>
          <a:bodyPr/>
          <a:lstStyle/>
          <a:p>
            <a:r>
              <a:rPr lang="zh-CN" altLang="en-US" dirty="0"/>
              <a:t>格雷碼</a:t>
            </a:r>
          </a:p>
          <a:p>
            <a:pPr lvl="1"/>
            <a:r>
              <a:rPr lang="zh-CN" altLang="en-US" dirty="0"/>
              <a:t>一種無權碼</a:t>
            </a:r>
          </a:p>
          <a:p>
            <a:pPr lvl="1"/>
            <a:r>
              <a:rPr lang="zh-CN" altLang="en-US" dirty="0"/>
              <a:t>有多種形式</a:t>
            </a:r>
          </a:p>
          <a:p>
            <a:pPr lvl="1"/>
            <a:r>
              <a:rPr lang="zh-CN" altLang="en-US" dirty="0"/>
              <a:t>編碼特點：任何相鄰的十進位數字的格雷碼僅有一位不同。</a:t>
            </a:r>
          </a:p>
          <a:p>
            <a:pPr lvl="1"/>
            <a:r>
              <a:rPr lang="zh-CN" altLang="en-US" dirty="0"/>
              <a:t>應用優勢</a:t>
            </a:r>
            <a:r>
              <a:rPr lang="en-US" altLang="zh-CN" dirty="0"/>
              <a:t>:</a:t>
            </a:r>
            <a:r>
              <a:rPr lang="zh-CN" altLang="en-US" dirty="0"/>
              <a:t>可以減少代碼變換中電路瞬間產生的錯誤，可靠性較好。</a:t>
            </a:r>
          </a:p>
        </p:txBody>
      </p:sp>
    </p:spTree>
    <p:extLst>
      <p:ext uri="{BB962C8B-B14F-4D97-AF65-F5344CB8AC3E}">
        <p14:creationId xmlns:p14="http://schemas.microsoft.com/office/powerpoint/2010/main" val="2853511082"/>
      </p:ext>
    </p:extLst>
  </p:cSld>
  <p:clrMapOvr>
    <a:masterClrMapping/>
  </p:clrMapOvr>
  <p:transition spd="slow">
    <p:pull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數制和碼制（</a:t>
            </a:r>
            <a:r>
              <a:rPr lang="en-US" altLang="zh-CN" dirty="0"/>
              <a:t>23</a:t>
            </a:r>
            <a:r>
              <a:rPr lang="zh-CN" altLang="en-US" dirty="0"/>
              <a:t>）</a:t>
            </a:r>
          </a:p>
        </p:txBody>
      </p:sp>
      <p:sp>
        <p:nvSpPr>
          <p:cNvPr id="9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E309D-0411-4CDE-8D83-2FA7A28F680A}" type="slidenum">
              <a:rPr lang="en-US" altLang="zh-CN"/>
              <a:pPr/>
              <a:t>31</a:t>
            </a:fld>
            <a:endParaRPr lang="en-US" altLang="zh-CN" dirty="0"/>
          </a:p>
        </p:txBody>
      </p:sp>
      <p:sp>
        <p:nvSpPr>
          <p:cNvPr id="25395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十進位數字的四種格雷碼表</a:t>
            </a:r>
          </a:p>
        </p:txBody>
      </p:sp>
      <p:graphicFrame>
        <p:nvGraphicFramePr>
          <p:cNvPr id="254075" name="Group 1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6993695"/>
              </p:ext>
            </p:extLst>
          </p:nvPr>
        </p:nvGraphicFramePr>
        <p:xfrm>
          <a:off x="1205625" y="2286000"/>
          <a:ext cx="6750751" cy="4009236"/>
        </p:xfrm>
        <a:graphic>
          <a:graphicData uri="http://schemas.openxmlformats.org/drawingml/2006/table">
            <a:tbl>
              <a:tblPr/>
              <a:tblGrid>
                <a:gridCol w="10282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1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51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76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76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3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十進位數字</a:t>
                      </a:r>
                    </a:p>
                  </a:txBody>
                  <a:tcPr marL="68580" marR="6858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8421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碼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格雷碼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格雷碼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典型格雷碼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修改格雷碼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0000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0000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0000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0000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0010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0001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0001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0001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0001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0110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5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0010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0011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0011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0011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0111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0011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0010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0010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0010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0101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0100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0110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0110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0110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0100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0101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1110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0111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0111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1100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0110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1010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0101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0101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1101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0111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1011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0100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0100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1111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1000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1001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1100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1100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1110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2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9</a:t>
                      </a: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1001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1000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1000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1101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1010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" name="标注: 弯曲线形 1">
            <a:extLst>
              <a:ext uri="{FF2B5EF4-FFF2-40B4-BE49-F238E27FC236}">
                <a16:creationId xmlns:a16="http://schemas.microsoft.com/office/drawing/2014/main" id="{55C77AC9-9D9F-4D76-A9A5-A3A43C066FCD}"/>
              </a:ext>
            </a:extLst>
          </p:cNvPr>
          <p:cNvSpPr/>
          <p:nvPr/>
        </p:nvSpPr>
        <p:spPr>
          <a:xfrm flipH="1">
            <a:off x="323528" y="2132856"/>
            <a:ext cx="801924" cy="36004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690100"/>
              <a:gd name="adj6" fmla="val -2994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對稱</a:t>
            </a:r>
          </a:p>
        </p:txBody>
      </p:sp>
      <p:sp>
        <p:nvSpPr>
          <p:cNvPr id="7" name="标注: 弯曲线形 6">
            <a:extLst>
              <a:ext uri="{FF2B5EF4-FFF2-40B4-BE49-F238E27FC236}">
                <a16:creationId xmlns:a16="http://schemas.microsoft.com/office/drawing/2014/main" id="{1A761DA1-6016-4786-94B1-1A1024A851C1}"/>
              </a:ext>
            </a:extLst>
          </p:cNvPr>
          <p:cNvSpPr/>
          <p:nvPr/>
        </p:nvSpPr>
        <p:spPr>
          <a:xfrm flipH="1">
            <a:off x="4922204" y="6381328"/>
            <a:ext cx="801924" cy="36004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32406"/>
              <a:gd name="adj6" fmla="val -7036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擴充</a:t>
            </a:r>
          </a:p>
        </p:txBody>
      </p:sp>
      <p:sp>
        <p:nvSpPr>
          <p:cNvPr id="3" name="箭头: 下 2">
            <a:extLst>
              <a:ext uri="{FF2B5EF4-FFF2-40B4-BE49-F238E27FC236}">
                <a16:creationId xmlns:a16="http://schemas.microsoft.com/office/drawing/2014/main" id="{2347246C-1DA6-4CD2-A52F-8A93952E177D}"/>
              </a:ext>
            </a:extLst>
          </p:cNvPr>
          <p:cNvSpPr/>
          <p:nvPr/>
        </p:nvSpPr>
        <p:spPr>
          <a:xfrm>
            <a:off x="5940152" y="6438900"/>
            <a:ext cx="504056" cy="228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弧形 13">
            <a:extLst>
              <a:ext uri="{FF2B5EF4-FFF2-40B4-BE49-F238E27FC236}">
                <a16:creationId xmlns:a16="http://schemas.microsoft.com/office/drawing/2014/main" id="{255B96B9-317A-4B06-8B41-9725E7F7A650}"/>
              </a:ext>
            </a:extLst>
          </p:cNvPr>
          <p:cNvSpPr/>
          <p:nvPr/>
        </p:nvSpPr>
        <p:spPr>
          <a:xfrm>
            <a:off x="7524328" y="3065688"/>
            <a:ext cx="1040415" cy="3106512"/>
          </a:xfrm>
          <a:prstGeom prst="arc">
            <a:avLst>
              <a:gd name="adj1" fmla="val 16200000"/>
              <a:gd name="adj2" fmla="val 5517334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9DF01F9-73AC-4186-B746-8A6F29BFA510}"/>
              </a:ext>
            </a:extLst>
          </p:cNvPr>
          <p:cNvSpPr/>
          <p:nvPr/>
        </p:nvSpPr>
        <p:spPr>
          <a:xfrm>
            <a:off x="8172400" y="4293096"/>
            <a:ext cx="756084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對稱迴圈</a:t>
            </a:r>
          </a:p>
        </p:txBody>
      </p:sp>
      <p:sp>
        <p:nvSpPr>
          <p:cNvPr id="21" name="标注: 弯曲线形 20">
            <a:extLst>
              <a:ext uri="{FF2B5EF4-FFF2-40B4-BE49-F238E27FC236}">
                <a16:creationId xmlns:a16="http://schemas.microsoft.com/office/drawing/2014/main" id="{A1623FEF-4619-4F41-B0FC-EA7285BCD197}"/>
              </a:ext>
            </a:extLst>
          </p:cNvPr>
          <p:cNvSpPr/>
          <p:nvPr/>
        </p:nvSpPr>
        <p:spPr>
          <a:xfrm flipH="1">
            <a:off x="323528" y="3645024"/>
            <a:ext cx="801924" cy="36004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690100"/>
              <a:gd name="adj6" fmla="val -2994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迴圈</a:t>
            </a:r>
          </a:p>
        </p:txBody>
      </p:sp>
      <p:sp>
        <p:nvSpPr>
          <p:cNvPr id="22" name="标注: 弯曲线形 21">
            <a:extLst>
              <a:ext uri="{FF2B5EF4-FFF2-40B4-BE49-F238E27FC236}">
                <a16:creationId xmlns:a16="http://schemas.microsoft.com/office/drawing/2014/main" id="{01D2904E-4070-41C1-97B2-E03DA589D076}"/>
              </a:ext>
            </a:extLst>
          </p:cNvPr>
          <p:cNvSpPr/>
          <p:nvPr/>
        </p:nvSpPr>
        <p:spPr>
          <a:xfrm flipH="1">
            <a:off x="3707904" y="6381328"/>
            <a:ext cx="801924" cy="36004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32406"/>
              <a:gd name="adj6" fmla="val -7036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迴圈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7FBEAAE-A97E-4F45-94D3-CCB2680EA8D4}"/>
              </a:ext>
            </a:extLst>
          </p:cNvPr>
          <p:cNvCxnSpPr>
            <a:cxnSpLocks/>
          </p:cNvCxnSpPr>
          <p:nvPr/>
        </p:nvCxnSpPr>
        <p:spPr>
          <a:xfrm flipH="1">
            <a:off x="6660232" y="3068960"/>
            <a:ext cx="288032" cy="93610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29154987-132F-4D7C-9C70-782875F9CABB}"/>
              </a:ext>
            </a:extLst>
          </p:cNvPr>
          <p:cNvCxnSpPr>
            <a:cxnSpLocks/>
          </p:cNvCxnSpPr>
          <p:nvPr/>
        </p:nvCxnSpPr>
        <p:spPr>
          <a:xfrm flipH="1">
            <a:off x="6660232" y="6165304"/>
            <a:ext cx="288032" cy="93610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1698438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3" grpId="0" animBg="1"/>
      <p:bldP spid="14" grpId="0" animBg="1"/>
      <p:bldP spid="15" grpId="0" animBg="1"/>
      <p:bldP spid="21" grpId="0" animBg="1"/>
      <p:bldP spid="2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數制和碼制（</a:t>
            </a:r>
            <a:r>
              <a:rPr lang="en-US" altLang="zh-CN" dirty="0"/>
              <a:t>24</a:t>
            </a:r>
            <a:r>
              <a:rPr lang="zh-CN" altLang="en-US" dirty="0"/>
              <a:t>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F5FF-843C-4FAA-920C-6D9A98619C0C}" type="slidenum">
              <a:rPr lang="en-US" altLang="zh-CN"/>
              <a:pPr/>
              <a:t>32</a:t>
            </a:fld>
            <a:endParaRPr lang="en-US" altLang="zh-CN" dirty="0"/>
          </a:p>
        </p:txBody>
      </p:sp>
      <p:sp>
        <p:nvSpPr>
          <p:cNvPr id="25497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996" y="1412776"/>
            <a:ext cx="8240452" cy="4607024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dirty="0"/>
              <a:t>格雷碼的特點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 dirty="0"/>
              <a:t>編碼特點：任何相鄰十進位數字的格雷碼僅有一位不同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 dirty="0"/>
              <a:t>格雷碼</a:t>
            </a:r>
            <a:r>
              <a:rPr lang="en-US" altLang="zh-CN" dirty="0"/>
              <a:t>1</a:t>
            </a:r>
            <a:r>
              <a:rPr lang="zh-CN" altLang="en-US" dirty="0"/>
              <a:t>：除最高位以外，中線對稱。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 dirty="0"/>
              <a:t>典型格雷碼：可以對十進位編碼，也可以對任意大的二進位數字進行編碼。</a:t>
            </a:r>
            <a:br>
              <a:rPr lang="en-US" altLang="zh-CN" dirty="0"/>
            </a:br>
            <a:r>
              <a:rPr lang="zh-CN" altLang="en-US" dirty="0"/>
              <a:t>編碼規則：</a:t>
            </a:r>
            <a:r>
              <a:rPr lang="en-US" altLang="zh-CN" dirty="0"/>
              <a:t>G</a:t>
            </a:r>
            <a:r>
              <a:rPr lang="en-US" altLang="zh-CN" baseline="-25000" dirty="0"/>
              <a:t>i</a:t>
            </a:r>
            <a:r>
              <a:rPr lang="zh-CN" altLang="en-US" dirty="0"/>
              <a:t>＝</a:t>
            </a:r>
            <a:r>
              <a:rPr lang="en-US" altLang="zh-CN" dirty="0"/>
              <a:t>B</a:t>
            </a:r>
            <a:r>
              <a:rPr lang="en-US" altLang="zh-CN" baseline="-25000" dirty="0"/>
              <a:t>i</a:t>
            </a:r>
            <a:r>
              <a:rPr lang="zh-CN" altLang="en-US" baseline="-25000" dirty="0"/>
              <a:t>＋</a:t>
            </a:r>
            <a:r>
              <a:rPr lang="en-US" altLang="zh-CN" baseline="-25000" dirty="0"/>
              <a:t>1</a:t>
            </a:r>
            <a:r>
              <a:rPr lang="en-US" altLang="zh-CN" dirty="0">
                <a:sym typeface="Symbol" pitchFamily="18" charset="2"/>
              </a:rPr>
              <a:t></a:t>
            </a:r>
            <a:r>
              <a:rPr lang="en-US" altLang="zh-CN" dirty="0"/>
              <a:t> B</a:t>
            </a:r>
            <a:r>
              <a:rPr lang="en-US" altLang="zh-CN" baseline="-25000" dirty="0"/>
              <a:t>i</a:t>
            </a:r>
            <a:r>
              <a:rPr lang="zh-CN" altLang="en-US" dirty="0"/>
              <a:t> </a:t>
            </a:r>
            <a:br>
              <a:rPr lang="en-US" altLang="zh-CN" dirty="0"/>
            </a:br>
            <a:r>
              <a:rPr lang="zh-CN" altLang="en-US" dirty="0"/>
              <a:t>解碼規則：</a:t>
            </a:r>
            <a:r>
              <a:rPr lang="zh-CN" altLang="en-US" dirty="0">
                <a:solidFill>
                  <a:srgbClr val="FF0000"/>
                </a:solidFill>
              </a:rPr>
              <a:t>？？？（思考題）</a:t>
            </a:r>
            <a:endParaRPr lang="en-US" altLang="zh-CN" baseline="-25000" dirty="0">
              <a:solidFill>
                <a:srgbClr val="FF0000"/>
              </a:solidFill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 dirty="0"/>
              <a:t>修改格雷碼：中線對稱反射，“餘三迴圈碼” </a:t>
            </a:r>
            <a:r>
              <a:rPr lang="en-US" altLang="zh-CN" dirty="0"/>
              <a:t>(</a:t>
            </a:r>
            <a:r>
              <a:rPr lang="zh-CN" altLang="en-US" dirty="0"/>
              <a:t>迴圈碼的特點：相鄰兩個編碼之間只有一位元數不同，而且首尾兩個編碼之間也只有一位元數不同</a:t>
            </a:r>
            <a:r>
              <a:rPr lang="en-US" altLang="zh-C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89664029"/>
      </p:ext>
    </p:extLst>
  </p:cSld>
  <p:clrMapOvr>
    <a:masterClrMapping/>
  </p:clrMapOvr>
  <p:transition spd="slow">
    <p:pull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數制和碼制（</a:t>
            </a:r>
            <a:r>
              <a:rPr lang="en-US" altLang="zh-CN" dirty="0"/>
              <a:t>25</a:t>
            </a:r>
            <a:r>
              <a:rPr lang="zh-CN" altLang="en-US" dirty="0"/>
              <a:t>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D96119-5AC6-4C67-81E5-0556104781BE}" type="slidenum">
              <a:rPr lang="en-US" altLang="zh-CN"/>
              <a:pPr/>
              <a:t>33</a:t>
            </a:fld>
            <a:endParaRPr lang="en-US" altLang="zh-CN" dirty="0"/>
          </a:p>
        </p:txBody>
      </p:sp>
      <p:sp>
        <p:nvSpPr>
          <p:cNvPr id="25600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996" y="1412776"/>
            <a:ext cx="8312460" cy="511256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zh-CN" altLang="en-US" dirty="0"/>
              <a:t>字元編碼</a:t>
            </a:r>
          </a:p>
          <a:p>
            <a:pPr lvl="1">
              <a:lnSpc>
                <a:spcPct val="90000"/>
              </a:lnSpc>
            </a:pPr>
            <a:r>
              <a:rPr lang="zh-CN" altLang="en-US" dirty="0"/>
              <a:t>數位系統中，需要對符號，文字，圖像等進行編碼</a:t>
            </a:r>
          </a:p>
          <a:p>
            <a:pPr lvl="1">
              <a:lnSpc>
                <a:spcPct val="90000"/>
              </a:lnSpc>
            </a:pPr>
            <a:r>
              <a:rPr lang="en-US" altLang="zh-CN" dirty="0"/>
              <a:t>7</a:t>
            </a:r>
            <a:r>
              <a:rPr lang="zh-CN" altLang="en-US" dirty="0"/>
              <a:t>位</a:t>
            </a:r>
            <a:r>
              <a:rPr lang="en-US" altLang="zh-CN" dirty="0"/>
              <a:t>ASCII</a:t>
            </a:r>
            <a:r>
              <a:rPr lang="zh-CN" altLang="en-US" dirty="0"/>
              <a:t>、</a:t>
            </a:r>
            <a:r>
              <a:rPr lang="en-US" altLang="zh-CN" dirty="0"/>
              <a:t>8</a:t>
            </a:r>
            <a:r>
              <a:rPr lang="zh-CN" altLang="en-US" dirty="0"/>
              <a:t>位</a:t>
            </a:r>
            <a:r>
              <a:rPr lang="en-US" altLang="zh-CN" dirty="0"/>
              <a:t>ASCII</a:t>
            </a:r>
          </a:p>
          <a:p>
            <a:pPr>
              <a:lnSpc>
                <a:spcPct val="90000"/>
              </a:lnSpc>
            </a:pPr>
            <a:r>
              <a:rPr lang="en-US" altLang="zh-CN" dirty="0"/>
              <a:t>7</a:t>
            </a:r>
            <a:r>
              <a:rPr lang="zh-CN" altLang="en-US" dirty="0"/>
              <a:t>位</a:t>
            </a:r>
            <a:r>
              <a:rPr lang="en-US" altLang="zh-CN" dirty="0"/>
              <a:t>ASCII</a:t>
            </a:r>
            <a:r>
              <a:rPr lang="zh-CN" altLang="en-US" dirty="0"/>
              <a:t>編碼（教材</a:t>
            </a:r>
            <a:r>
              <a:rPr lang="en-US" altLang="zh-CN" dirty="0"/>
              <a:t>13</a:t>
            </a:r>
            <a:r>
              <a:rPr lang="zh-CN" altLang="en-US" dirty="0"/>
              <a:t>頁）</a:t>
            </a:r>
          </a:p>
          <a:p>
            <a:pPr lvl="1">
              <a:lnSpc>
                <a:spcPct val="90000"/>
              </a:lnSpc>
            </a:pPr>
            <a:r>
              <a:rPr lang="zh-CN" altLang="en-US" dirty="0"/>
              <a:t>高</a:t>
            </a:r>
            <a:r>
              <a:rPr lang="en-US" altLang="zh-CN" dirty="0"/>
              <a:t>3</a:t>
            </a:r>
            <a:r>
              <a:rPr lang="zh-CN" altLang="en-US" dirty="0"/>
              <a:t>位</a:t>
            </a:r>
            <a:r>
              <a:rPr lang="en-US" altLang="zh-CN" dirty="0"/>
              <a:t>b</a:t>
            </a:r>
            <a:r>
              <a:rPr lang="en-US" altLang="zh-CN" baseline="-25000" dirty="0"/>
              <a:t>6</a:t>
            </a:r>
            <a:r>
              <a:rPr lang="en-US" altLang="zh-CN" dirty="0"/>
              <a:t>b</a:t>
            </a:r>
            <a:r>
              <a:rPr lang="en-US" altLang="zh-CN" baseline="-25000" dirty="0"/>
              <a:t>5</a:t>
            </a:r>
            <a:r>
              <a:rPr lang="en-US" altLang="zh-CN" dirty="0"/>
              <a:t>b</a:t>
            </a:r>
            <a:r>
              <a:rPr lang="en-US" altLang="zh-CN" baseline="-25000" dirty="0"/>
              <a:t>4</a:t>
            </a:r>
            <a:r>
              <a:rPr lang="zh-CN" altLang="en-US" dirty="0"/>
              <a:t>區分</a:t>
            </a:r>
          </a:p>
          <a:p>
            <a:pPr lvl="2">
              <a:lnSpc>
                <a:spcPct val="90000"/>
              </a:lnSpc>
            </a:pPr>
            <a:r>
              <a:rPr lang="en-US" altLang="zh-CN" dirty="0"/>
              <a:t>b</a:t>
            </a:r>
            <a:r>
              <a:rPr lang="en-US" altLang="zh-CN" sz="3000" baseline="-25000" dirty="0"/>
              <a:t>6</a:t>
            </a:r>
            <a:r>
              <a:rPr lang="en-US" altLang="zh-CN" dirty="0"/>
              <a:t>b</a:t>
            </a:r>
            <a:r>
              <a:rPr lang="en-US" altLang="zh-CN" sz="3000" baseline="-25000" dirty="0"/>
              <a:t>5</a:t>
            </a:r>
            <a:r>
              <a:rPr lang="en-US" altLang="zh-CN" dirty="0"/>
              <a:t>b</a:t>
            </a:r>
            <a:r>
              <a:rPr lang="en-US" altLang="zh-CN" sz="3000" baseline="-25000" dirty="0"/>
              <a:t>4 </a:t>
            </a:r>
            <a:r>
              <a:rPr lang="zh-CN" altLang="en-US" dirty="0"/>
              <a:t>（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000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，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001</a:t>
            </a:r>
            <a:r>
              <a:rPr lang="zh-CN" altLang="en-US" dirty="0"/>
              <a:t>）：控制字元</a:t>
            </a:r>
          </a:p>
          <a:p>
            <a:pPr lvl="2">
              <a:lnSpc>
                <a:spcPct val="90000"/>
              </a:lnSpc>
            </a:pPr>
            <a:r>
              <a:rPr lang="en-US" altLang="zh-CN" dirty="0"/>
              <a:t>b</a:t>
            </a:r>
            <a:r>
              <a:rPr lang="en-US" altLang="zh-CN" sz="3000" baseline="-25000" dirty="0"/>
              <a:t>6</a:t>
            </a:r>
            <a:r>
              <a:rPr lang="en-US" altLang="zh-CN" dirty="0"/>
              <a:t>b</a:t>
            </a:r>
            <a:r>
              <a:rPr lang="en-US" altLang="zh-CN" sz="3000" baseline="-25000" dirty="0"/>
              <a:t>5</a:t>
            </a:r>
            <a:r>
              <a:rPr lang="en-US" altLang="zh-CN" dirty="0"/>
              <a:t>b</a:t>
            </a:r>
            <a:r>
              <a:rPr lang="en-US" altLang="zh-CN" sz="3000" baseline="-25000" dirty="0"/>
              <a:t>4 </a:t>
            </a:r>
            <a:r>
              <a:rPr lang="zh-CN" altLang="en-US" dirty="0"/>
              <a:t>（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010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，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011</a:t>
            </a:r>
            <a:r>
              <a:rPr lang="zh-CN" altLang="en-US" dirty="0"/>
              <a:t>）：數位及通用符號</a:t>
            </a:r>
          </a:p>
          <a:p>
            <a:pPr lvl="2">
              <a:lnSpc>
                <a:spcPct val="90000"/>
              </a:lnSpc>
            </a:pPr>
            <a:r>
              <a:rPr lang="en-US" altLang="zh-CN" dirty="0"/>
              <a:t>b</a:t>
            </a:r>
            <a:r>
              <a:rPr lang="en-US" altLang="zh-CN" sz="3000" baseline="-25000" dirty="0"/>
              <a:t>6</a:t>
            </a:r>
            <a:r>
              <a:rPr lang="en-US" altLang="zh-CN" dirty="0"/>
              <a:t>b</a:t>
            </a:r>
            <a:r>
              <a:rPr lang="en-US" altLang="zh-CN" sz="3000" baseline="-25000" dirty="0"/>
              <a:t>5</a:t>
            </a:r>
            <a:r>
              <a:rPr lang="en-US" altLang="zh-CN" dirty="0"/>
              <a:t>b</a:t>
            </a:r>
            <a:r>
              <a:rPr lang="en-US" altLang="zh-CN" sz="3000" baseline="-25000" dirty="0"/>
              <a:t>4 </a:t>
            </a:r>
            <a:r>
              <a:rPr lang="zh-CN" altLang="en-US" dirty="0"/>
              <a:t>（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100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，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101</a:t>
            </a:r>
            <a:r>
              <a:rPr lang="zh-CN" altLang="en-US" dirty="0"/>
              <a:t>）：大寫英文字母</a:t>
            </a:r>
          </a:p>
          <a:p>
            <a:pPr lvl="2">
              <a:lnSpc>
                <a:spcPct val="90000"/>
              </a:lnSpc>
            </a:pPr>
            <a:r>
              <a:rPr lang="en-US" altLang="zh-CN" dirty="0"/>
              <a:t>b</a:t>
            </a:r>
            <a:r>
              <a:rPr lang="en-US" altLang="zh-CN" sz="3000" baseline="-25000" dirty="0"/>
              <a:t>6</a:t>
            </a:r>
            <a:r>
              <a:rPr lang="en-US" altLang="zh-CN" dirty="0"/>
              <a:t>b</a:t>
            </a:r>
            <a:r>
              <a:rPr lang="en-US" altLang="zh-CN" sz="3000" baseline="-25000" dirty="0"/>
              <a:t>5</a:t>
            </a:r>
            <a:r>
              <a:rPr lang="en-US" altLang="zh-CN" dirty="0"/>
              <a:t>b</a:t>
            </a:r>
            <a:r>
              <a:rPr lang="en-US" altLang="zh-CN" sz="3000" baseline="-25000" dirty="0"/>
              <a:t>4 </a:t>
            </a:r>
            <a:r>
              <a:rPr lang="zh-CN" altLang="en-US" dirty="0"/>
              <a:t>（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110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，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111</a:t>
            </a:r>
            <a:r>
              <a:rPr lang="zh-CN" altLang="en-US" dirty="0"/>
              <a:t>）：小寫英文字母</a:t>
            </a:r>
          </a:p>
        </p:txBody>
      </p:sp>
    </p:spTree>
    <p:extLst>
      <p:ext uri="{BB962C8B-B14F-4D97-AF65-F5344CB8AC3E}">
        <p14:creationId xmlns:p14="http://schemas.microsoft.com/office/powerpoint/2010/main" val="2577860932"/>
      </p:ext>
    </p:extLst>
  </p:cSld>
  <p:clrMapOvr>
    <a:masterClrMapping/>
  </p:clrMapOvr>
  <p:transition spd="slow">
    <p:pull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數制和碼制</a:t>
            </a:r>
            <a:r>
              <a:rPr lang="en-US" altLang="zh-CN" dirty="0">
                <a:latin typeface="Times New Roman"/>
              </a:rPr>
              <a:t>——</a:t>
            </a:r>
            <a:r>
              <a:rPr lang="zh-CN" altLang="en-US" dirty="0"/>
              <a:t>小結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5471F-0E46-48E1-9F3F-B48F83A044B3}" type="slidenum">
              <a:rPr lang="en-US" altLang="zh-CN"/>
              <a:pPr/>
              <a:t>34</a:t>
            </a:fld>
            <a:endParaRPr lang="en-US" altLang="zh-CN" dirty="0"/>
          </a:p>
        </p:txBody>
      </p:sp>
      <p:sp>
        <p:nvSpPr>
          <p:cNvPr id="26009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13538" y="1524000"/>
            <a:ext cx="8262918" cy="507365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zh-CN" altLang="en-US" dirty="0"/>
              <a:t>數制</a:t>
            </a:r>
          </a:p>
          <a:p>
            <a:pPr lvl="1">
              <a:lnSpc>
                <a:spcPct val="90000"/>
              </a:lnSpc>
            </a:pPr>
            <a:r>
              <a:rPr lang="zh-CN" altLang="en-US" dirty="0"/>
              <a:t>十進位、二進位、八進制、十六進位</a:t>
            </a:r>
          </a:p>
          <a:p>
            <a:pPr lvl="1">
              <a:lnSpc>
                <a:spcPct val="90000"/>
              </a:lnSpc>
            </a:pPr>
            <a:r>
              <a:rPr lang="zh-CN" altLang="en-US" dirty="0"/>
              <a:t>數制轉換</a:t>
            </a:r>
          </a:p>
          <a:p>
            <a:pPr>
              <a:lnSpc>
                <a:spcPct val="90000"/>
              </a:lnSpc>
            </a:pPr>
            <a:r>
              <a:rPr lang="zh-CN" altLang="en-US" dirty="0"/>
              <a:t>碼制</a:t>
            </a:r>
          </a:p>
          <a:p>
            <a:pPr lvl="1">
              <a:lnSpc>
                <a:spcPct val="90000"/>
              </a:lnSpc>
            </a:pPr>
            <a:r>
              <a:rPr lang="zh-CN" altLang="en-US" dirty="0"/>
              <a:t>十進位數字的二進位編碼</a:t>
            </a:r>
          </a:p>
          <a:p>
            <a:pPr lvl="2">
              <a:lnSpc>
                <a:spcPct val="90000"/>
              </a:lnSpc>
            </a:pPr>
            <a:r>
              <a:rPr lang="en-US" altLang="zh-CN" dirty="0"/>
              <a:t>8421</a:t>
            </a:r>
            <a:r>
              <a:rPr lang="zh-CN" altLang="en-US" dirty="0"/>
              <a:t>碼（</a:t>
            </a:r>
            <a:r>
              <a:rPr lang="en-US" altLang="zh-CN" dirty="0"/>
              <a:t>BCD</a:t>
            </a:r>
            <a:r>
              <a:rPr lang="zh-CN" altLang="en-US" dirty="0"/>
              <a:t>碼）、餘</a:t>
            </a:r>
            <a:r>
              <a:rPr lang="en-US" altLang="zh-CN" dirty="0"/>
              <a:t>3</a:t>
            </a:r>
            <a:r>
              <a:rPr lang="zh-CN" altLang="en-US" dirty="0"/>
              <a:t>碼、餘</a:t>
            </a:r>
            <a:r>
              <a:rPr lang="en-US" altLang="zh-CN" dirty="0"/>
              <a:t>3</a:t>
            </a:r>
            <a:r>
              <a:rPr lang="zh-CN" altLang="en-US" dirty="0"/>
              <a:t>迴圈碼、格雷碼</a:t>
            </a:r>
          </a:p>
          <a:p>
            <a:pPr lvl="1">
              <a:lnSpc>
                <a:spcPct val="90000"/>
              </a:lnSpc>
            </a:pPr>
            <a:r>
              <a:rPr lang="zh-CN" altLang="en-US" dirty="0"/>
              <a:t>字元編碼</a:t>
            </a:r>
          </a:p>
          <a:p>
            <a:pPr lvl="2">
              <a:lnSpc>
                <a:spcPct val="90000"/>
              </a:lnSpc>
            </a:pPr>
            <a:r>
              <a:rPr lang="en-US" altLang="zh-CN" dirty="0"/>
              <a:t>7</a:t>
            </a:r>
            <a:r>
              <a:rPr lang="zh-CN" altLang="en-US" dirty="0"/>
              <a:t>位</a:t>
            </a:r>
            <a:r>
              <a:rPr lang="en-US" altLang="zh-CN" dirty="0"/>
              <a:t>ASCII</a:t>
            </a:r>
            <a:r>
              <a:rPr lang="zh-CN" altLang="en-US" dirty="0"/>
              <a:t>、</a:t>
            </a:r>
            <a:r>
              <a:rPr lang="en-US" altLang="zh-CN" dirty="0"/>
              <a:t>8</a:t>
            </a:r>
            <a:r>
              <a:rPr lang="zh-CN" altLang="en-US" dirty="0"/>
              <a:t>位</a:t>
            </a:r>
            <a:r>
              <a:rPr lang="en-US" altLang="zh-CN" dirty="0"/>
              <a:t>ASCII</a:t>
            </a:r>
          </a:p>
          <a:p>
            <a:pPr lvl="1">
              <a:lnSpc>
                <a:spcPct val="90000"/>
              </a:lnSpc>
            </a:pPr>
            <a:r>
              <a:rPr lang="zh-CN" altLang="en-US" dirty="0"/>
              <a:t>原碼、補數與反碼：帶符號的二進位數字編碼，將在電腦原理課程學習</a:t>
            </a:r>
          </a:p>
        </p:txBody>
      </p:sp>
    </p:spTree>
    <p:extLst>
      <p:ext uri="{BB962C8B-B14F-4D97-AF65-F5344CB8AC3E}">
        <p14:creationId xmlns:p14="http://schemas.microsoft.com/office/powerpoint/2010/main" val="4078176408"/>
      </p:ext>
    </p:extLst>
  </p:cSld>
  <p:clrMapOvr>
    <a:masterClrMapping/>
  </p:clrMapOvr>
  <p:transition spd="slow">
    <p:pull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D4CD4-8676-4B22-8D73-317C25337D85}" type="slidenum">
              <a:rPr lang="en-US" altLang="zh-CN"/>
              <a:pPr/>
              <a:t>35</a:t>
            </a:fld>
            <a:endParaRPr lang="en-US" altLang="zh-CN" dirty="0"/>
          </a:p>
        </p:txBody>
      </p:sp>
      <p:sp>
        <p:nvSpPr>
          <p:cNvPr id="10547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996" y="1412776"/>
            <a:ext cx="8312460" cy="4607024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zh-CN" altLang="en-US" dirty="0"/>
              <a:t>本章內容	</a:t>
            </a:r>
          </a:p>
          <a:p>
            <a:pPr>
              <a:buNone/>
            </a:pPr>
            <a:r>
              <a:rPr lang="zh-CN" altLang="en-US" dirty="0"/>
              <a:t>	</a:t>
            </a:r>
            <a:r>
              <a:rPr lang="en-US" altLang="zh-CN" dirty="0"/>
              <a:t>2.1 </a:t>
            </a:r>
            <a:r>
              <a:rPr lang="zh-CN" altLang="en-US" dirty="0"/>
              <a:t>邏輯代數的基本運算與公式</a:t>
            </a:r>
          </a:p>
          <a:p>
            <a:pPr>
              <a:buFont typeface="Wingdings" pitchFamily="2" charset="2"/>
              <a:buNone/>
            </a:pPr>
            <a:r>
              <a:rPr lang="zh-CN" altLang="en-US" dirty="0"/>
              <a:t>	</a:t>
            </a:r>
            <a:r>
              <a:rPr lang="en-US" altLang="zh-CN" dirty="0"/>
              <a:t>2.2 </a:t>
            </a:r>
            <a:r>
              <a:rPr lang="zh-CN" altLang="en-US" dirty="0"/>
              <a:t>公式法化簡邏輯函數</a:t>
            </a:r>
          </a:p>
          <a:p>
            <a:pPr>
              <a:buFont typeface="Wingdings" pitchFamily="2" charset="2"/>
              <a:buNone/>
            </a:pPr>
            <a:r>
              <a:rPr lang="zh-CN" altLang="en-US" dirty="0"/>
              <a:t>	</a:t>
            </a:r>
            <a:r>
              <a:rPr lang="en-US" altLang="zh-CN" dirty="0"/>
              <a:t>2.3 </a:t>
            </a:r>
            <a:r>
              <a:rPr lang="zh-CN" altLang="en-US" dirty="0"/>
              <a:t>圖解法</a:t>
            </a:r>
            <a:r>
              <a:rPr lang="en-US" altLang="zh-CN" dirty="0"/>
              <a:t>(</a:t>
            </a:r>
            <a:r>
              <a:rPr lang="zh-CN" altLang="en-US" dirty="0"/>
              <a:t>坎諾圖</a:t>
            </a:r>
            <a:r>
              <a:rPr lang="en-US" altLang="zh-CN" dirty="0"/>
              <a:t>)</a:t>
            </a:r>
            <a:r>
              <a:rPr lang="zh-CN" altLang="en-US" dirty="0"/>
              <a:t>化簡邏輯函數</a:t>
            </a:r>
          </a:p>
          <a:p>
            <a:pPr>
              <a:buFont typeface="Wingdings" pitchFamily="2" charset="2"/>
              <a:buNone/>
            </a:pPr>
            <a:r>
              <a:rPr lang="zh-CN" altLang="en-US" dirty="0"/>
              <a:t>	</a:t>
            </a:r>
            <a:r>
              <a:rPr lang="en-US" altLang="zh-CN" dirty="0"/>
              <a:t>2.4 </a:t>
            </a:r>
            <a:r>
              <a:rPr lang="zh-CN" altLang="en-US" dirty="0"/>
              <a:t>邏輯函數的表格法化簡</a:t>
            </a:r>
            <a:r>
              <a:rPr lang="en-US" altLang="zh-CN" dirty="0"/>
              <a:t>(Q-M</a:t>
            </a:r>
            <a:r>
              <a:rPr lang="zh-CN" altLang="en-US" dirty="0"/>
              <a:t>法 </a:t>
            </a:r>
            <a:r>
              <a:rPr lang="en-US" altLang="zh-C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96397748"/>
      </p:ext>
    </p:extLst>
  </p:cSld>
  <p:clrMapOvr>
    <a:masterClrMapping/>
  </p:clrMapOvr>
  <p:transition spd="slow">
    <p:pull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EFAB2-4000-4513-8A1E-A804DBEA9497}" type="slidenum">
              <a:rPr lang="en-US" altLang="zh-CN"/>
              <a:pPr/>
              <a:t>36</a:t>
            </a:fld>
            <a:endParaRPr lang="en-US" altLang="zh-CN" dirty="0"/>
          </a:p>
        </p:txBody>
      </p:sp>
      <p:sp>
        <p:nvSpPr>
          <p:cNvPr id="10752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996" y="1412776"/>
            <a:ext cx="8312460" cy="4607024"/>
          </a:xfrm>
        </p:spPr>
        <p:txBody>
          <a:bodyPr/>
          <a:lstStyle/>
          <a:p>
            <a:pPr>
              <a:buNone/>
            </a:pPr>
            <a:r>
              <a:rPr lang="zh-CN" altLang="en-US" dirty="0"/>
              <a:t>	</a:t>
            </a:r>
            <a:r>
              <a:rPr lang="en-US" altLang="zh-CN" dirty="0">
                <a:solidFill>
                  <a:srgbClr val="0070C0"/>
                </a:solidFill>
              </a:rPr>
              <a:t>2.1 </a:t>
            </a:r>
            <a:r>
              <a:rPr lang="zh-CN" altLang="en-US" dirty="0">
                <a:solidFill>
                  <a:srgbClr val="0070C0"/>
                </a:solidFill>
              </a:rPr>
              <a:t>邏輯代數的基本運算與公式</a:t>
            </a:r>
          </a:p>
          <a:p>
            <a:pPr>
              <a:buFont typeface="Wingdings" pitchFamily="2" charset="2"/>
              <a:buNone/>
            </a:pPr>
            <a:r>
              <a:rPr lang="zh-CN" altLang="en-US" dirty="0"/>
              <a:t>	</a:t>
            </a:r>
            <a:r>
              <a:rPr lang="en-US" altLang="zh-CN" dirty="0"/>
              <a:t>2.2 </a:t>
            </a:r>
            <a:r>
              <a:rPr lang="zh-CN" altLang="en-US" dirty="0"/>
              <a:t>公式法化簡邏輯函數</a:t>
            </a:r>
          </a:p>
          <a:p>
            <a:pPr>
              <a:buFont typeface="Wingdings" pitchFamily="2" charset="2"/>
              <a:buNone/>
            </a:pPr>
            <a:r>
              <a:rPr lang="zh-CN" altLang="en-US" dirty="0"/>
              <a:t>	</a:t>
            </a:r>
            <a:r>
              <a:rPr lang="en-US" altLang="zh-CN" dirty="0"/>
              <a:t>2.3 </a:t>
            </a:r>
            <a:r>
              <a:rPr lang="zh-CN" altLang="en-US" dirty="0"/>
              <a:t>圖解法</a:t>
            </a:r>
            <a:r>
              <a:rPr lang="en-US" altLang="zh-CN" dirty="0"/>
              <a:t>(</a:t>
            </a:r>
            <a:r>
              <a:rPr lang="zh-CN" altLang="en-US" dirty="0"/>
              <a:t>坎諾圖</a:t>
            </a:r>
            <a:r>
              <a:rPr lang="en-US" altLang="zh-CN" dirty="0"/>
              <a:t>)</a:t>
            </a:r>
            <a:r>
              <a:rPr lang="zh-CN" altLang="en-US" dirty="0"/>
              <a:t>化簡邏輯函數</a:t>
            </a:r>
          </a:p>
          <a:p>
            <a:pPr>
              <a:buFont typeface="Wingdings" pitchFamily="2" charset="2"/>
              <a:buNone/>
            </a:pPr>
            <a:r>
              <a:rPr lang="zh-CN" altLang="en-US" dirty="0"/>
              <a:t>	</a:t>
            </a:r>
            <a:r>
              <a:rPr lang="en-US" altLang="zh-CN" dirty="0"/>
              <a:t>2.4 </a:t>
            </a:r>
            <a:r>
              <a:rPr lang="zh-CN" altLang="en-US" dirty="0"/>
              <a:t>邏輯函數的表格法化簡</a:t>
            </a:r>
            <a:r>
              <a:rPr lang="en-US" altLang="zh-CN" dirty="0"/>
              <a:t>(Q-M</a:t>
            </a:r>
            <a:r>
              <a:rPr lang="zh-CN" altLang="en-US" dirty="0"/>
              <a:t>法 </a:t>
            </a:r>
            <a:r>
              <a:rPr lang="en-US" altLang="zh-C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13106732"/>
      </p:ext>
    </p:extLst>
  </p:cSld>
  <p:clrMapOvr>
    <a:masterClrMapping/>
  </p:clrMapOvr>
  <p:transition spd="slow">
    <p:pull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D3053-2942-4604-BB9D-D86F8E0C94A9}" type="slidenum">
              <a:rPr lang="en-US" altLang="zh-CN"/>
              <a:pPr/>
              <a:t>37</a:t>
            </a:fld>
            <a:endParaRPr lang="en-US" altLang="zh-CN" dirty="0"/>
          </a:p>
        </p:txBody>
      </p:sp>
      <p:sp>
        <p:nvSpPr>
          <p:cNvPr id="10854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996" y="1412776"/>
            <a:ext cx="8312460" cy="4752528"/>
          </a:xfrm>
        </p:spPr>
        <p:txBody>
          <a:bodyPr>
            <a:normAutofit fontScale="92500"/>
          </a:bodyPr>
          <a:lstStyle/>
          <a:p>
            <a:r>
              <a:rPr lang="en-US" altLang="zh-CN" dirty="0"/>
              <a:t>2.1  </a:t>
            </a:r>
            <a:r>
              <a:rPr lang="zh-CN" altLang="en-US" dirty="0"/>
              <a:t>邏輯代數的基本運算與公式</a:t>
            </a:r>
          </a:p>
          <a:p>
            <a:pPr lvl="1"/>
            <a:r>
              <a:rPr lang="zh-CN" altLang="en-US" dirty="0"/>
              <a:t>邏輯代數：又叫布林代數，開關代數。是二進位運算的基礎，用代數方法研究邏輯問題。由英國數學家布林和德</a:t>
            </a:r>
            <a:r>
              <a:rPr lang="en-US" altLang="zh-CN" dirty="0"/>
              <a:t>.</a:t>
            </a:r>
            <a:r>
              <a:rPr lang="zh-CN" altLang="en-US" dirty="0"/>
              <a:t>摩根於</a:t>
            </a:r>
            <a:r>
              <a:rPr lang="en-US" altLang="zh-CN" dirty="0"/>
              <a:t>1847</a:t>
            </a:r>
            <a:r>
              <a:rPr lang="zh-CN" altLang="en-US" dirty="0"/>
              <a:t>年提出。</a:t>
            </a:r>
          </a:p>
          <a:p>
            <a:pPr lvl="1"/>
            <a:r>
              <a:rPr lang="zh-CN" altLang="en-US" dirty="0"/>
              <a:t>邏輯函數的表示：真值表，運算式，邏輯門。</a:t>
            </a:r>
          </a:p>
          <a:p>
            <a:pPr lvl="1"/>
            <a:r>
              <a:rPr lang="zh-CN" altLang="en-US" dirty="0"/>
              <a:t>邏輯代數的基本運算：與、或、非</a:t>
            </a:r>
          </a:p>
          <a:p>
            <a:pPr lvl="2">
              <a:buFont typeface="Wingdings" pitchFamily="2" charset="2"/>
              <a:buNone/>
            </a:pPr>
            <a:r>
              <a:rPr lang="zh-CN" altLang="en-US" dirty="0"/>
              <a:t>	 </a:t>
            </a:r>
            <a:r>
              <a:rPr lang="en-US" altLang="zh-CN" dirty="0"/>
              <a:t>(1)  </a:t>
            </a:r>
            <a:r>
              <a:rPr lang="zh-CN" altLang="en-US" dirty="0"/>
              <a:t>與運算，邏輯乘</a:t>
            </a:r>
          </a:p>
          <a:p>
            <a:pPr lvl="2">
              <a:buFont typeface="Wingdings" pitchFamily="2" charset="2"/>
              <a:buNone/>
            </a:pPr>
            <a:r>
              <a:rPr lang="zh-CN" altLang="en-US" dirty="0"/>
              <a:t>	 </a:t>
            </a:r>
            <a:r>
              <a:rPr lang="en-US" altLang="zh-CN" dirty="0"/>
              <a:t>(2)  </a:t>
            </a:r>
            <a:r>
              <a:rPr lang="zh-CN" altLang="en-US" dirty="0"/>
              <a:t>或運算，邏輯加</a:t>
            </a:r>
          </a:p>
          <a:p>
            <a:pPr lvl="2">
              <a:buFont typeface="Wingdings" pitchFamily="2" charset="2"/>
              <a:buNone/>
            </a:pPr>
            <a:r>
              <a:rPr lang="zh-CN" altLang="en-US" dirty="0"/>
              <a:t>	 </a:t>
            </a:r>
            <a:r>
              <a:rPr lang="en-US" altLang="zh-CN" dirty="0"/>
              <a:t>(3)  </a:t>
            </a:r>
            <a:r>
              <a:rPr lang="zh-CN" altLang="en-US" dirty="0"/>
              <a:t>非運算，取反</a:t>
            </a:r>
          </a:p>
        </p:txBody>
      </p:sp>
    </p:spTree>
    <p:extLst>
      <p:ext uri="{BB962C8B-B14F-4D97-AF65-F5344CB8AC3E}">
        <p14:creationId xmlns:p14="http://schemas.microsoft.com/office/powerpoint/2010/main" val="1694147859"/>
      </p:ext>
    </p:extLst>
  </p:cSld>
  <p:clrMapOvr>
    <a:masterClrMapping/>
  </p:clrMapOvr>
  <p:transition spd="slow">
    <p:pull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邏輯代數（</a:t>
            </a:r>
            <a:r>
              <a:rPr lang="en-US" altLang="zh-CN" dirty="0"/>
              <a:t>4</a:t>
            </a:r>
            <a:r>
              <a:rPr lang="zh-CN" altLang="en-US" dirty="0"/>
              <a:t>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6D3AC7-E1B8-422D-9B1D-C5723703DF88}" type="slidenum">
              <a:rPr lang="en-US" altLang="zh-CN"/>
              <a:pPr/>
              <a:t>38</a:t>
            </a:fld>
            <a:endParaRPr lang="en-US" altLang="zh-CN" dirty="0"/>
          </a:p>
        </p:txBody>
      </p:sp>
      <p:sp>
        <p:nvSpPr>
          <p:cNvPr id="10957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996" y="1412776"/>
            <a:ext cx="8384468" cy="4607024"/>
          </a:xfrm>
        </p:spPr>
        <p:txBody>
          <a:bodyPr>
            <a:normAutofit/>
          </a:bodyPr>
          <a:lstStyle/>
          <a:p>
            <a:r>
              <a:rPr lang="en-US" altLang="zh-CN" dirty="0"/>
              <a:t>2.1  </a:t>
            </a:r>
            <a:r>
              <a:rPr lang="zh-CN" altLang="en-US" dirty="0"/>
              <a:t>邏輯代數的基本運算與公式</a:t>
            </a:r>
          </a:p>
          <a:p>
            <a:pPr lvl="1"/>
            <a:r>
              <a:rPr lang="zh-CN" altLang="en-US" dirty="0"/>
              <a:t>邏輯代數和普通代數的共同之處：變數和變數的運算。</a:t>
            </a:r>
          </a:p>
          <a:p>
            <a:pPr lvl="1"/>
            <a:r>
              <a:rPr lang="zh-CN" altLang="en-US" dirty="0"/>
              <a:t>邏輯代數一般用字母表示變數。</a:t>
            </a:r>
          </a:p>
          <a:p>
            <a:pPr lvl="1"/>
            <a:r>
              <a:rPr lang="zh-CN" altLang="en-US" dirty="0"/>
              <a:t>邏輯變數的取值：“</a:t>
            </a:r>
            <a:r>
              <a:rPr lang="en-US" altLang="zh-CN" dirty="0"/>
              <a:t>0”</a:t>
            </a:r>
            <a:r>
              <a:rPr lang="zh-CN" altLang="en-US" dirty="0"/>
              <a:t>或“</a:t>
            </a:r>
            <a:r>
              <a:rPr lang="en-US" altLang="zh-CN" dirty="0"/>
              <a:t>1”</a:t>
            </a:r>
            <a:r>
              <a:rPr lang="zh-CN" altLang="en-US" dirty="0"/>
              <a:t>。</a:t>
            </a:r>
          </a:p>
          <a:p>
            <a:pPr lvl="1"/>
            <a:r>
              <a:rPr lang="zh-CN" altLang="en-US" dirty="0"/>
              <a:t>邏輯代數的基本運算：與、或、非</a:t>
            </a:r>
          </a:p>
        </p:txBody>
      </p:sp>
    </p:spTree>
    <p:extLst>
      <p:ext uri="{BB962C8B-B14F-4D97-AF65-F5344CB8AC3E}">
        <p14:creationId xmlns:p14="http://schemas.microsoft.com/office/powerpoint/2010/main" val="1691923643"/>
      </p:ext>
    </p:extLst>
  </p:cSld>
  <p:clrMapOvr>
    <a:masterClrMapping/>
  </p:clrMapOvr>
  <p:transition spd="slow">
    <p:pull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邏輯代數（</a:t>
            </a:r>
            <a:r>
              <a:rPr lang="en-US" altLang="zh-CN" dirty="0"/>
              <a:t>4</a:t>
            </a:r>
            <a:r>
              <a:rPr lang="zh-CN" altLang="en-US" dirty="0"/>
              <a:t>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F3259-C407-49DF-86BC-02188C990305}" type="slidenum">
              <a:rPr lang="en-US" altLang="zh-CN"/>
              <a:pPr/>
              <a:t>39</a:t>
            </a:fld>
            <a:endParaRPr lang="en-US" altLang="zh-CN" dirty="0"/>
          </a:p>
        </p:txBody>
      </p:sp>
      <p:sp>
        <p:nvSpPr>
          <p:cNvPr id="27136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996" y="1412776"/>
            <a:ext cx="8312460" cy="4607024"/>
          </a:xfrm>
        </p:spPr>
        <p:txBody>
          <a:bodyPr/>
          <a:lstStyle/>
          <a:p>
            <a:r>
              <a:rPr lang="en-US" altLang="zh-CN" dirty="0"/>
              <a:t>2.1  </a:t>
            </a:r>
            <a:r>
              <a:rPr lang="zh-CN" altLang="en-US" dirty="0"/>
              <a:t>邏輯代數的基本運算與公式</a:t>
            </a:r>
          </a:p>
          <a:p>
            <a:pPr lvl="1"/>
            <a:r>
              <a:rPr lang="zh-CN" altLang="en-US" dirty="0">
                <a:solidFill>
                  <a:srgbClr val="0070C0"/>
                </a:solidFill>
              </a:rPr>
              <a:t>邏輯代數的基本運算</a:t>
            </a:r>
          </a:p>
          <a:p>
            <a:pPr lvl="1"/>
            <a:r>
              <a:rPr lang="zh-CN" altLang="en-US" dirty="0"/>
              <a:t>邏輯代數的基本公式</a:t>
            </a:r>
          </a:p>
        </p:txBody>
      </p:sp>
    </p:spTree>
    <p:extLst>
      <p:ext uri="{BB962C8B-B14F-4D97-AF65-F5344CB8AC3E}">
        <p14:creationId xmlns:p14="http://schemas.microsoft.com/office/powerpoint/2010/main" val="1494634843"/>
      </p:ext>
    </p:extLst>
  </p:cSld>
  <p:clrMapOvr>
    <a:masterClrMapping/>
  </p:clrMapOvr>
  <p:transition spd="slow">
    <p:pull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0394237"/>
              </p:ext>
            </p:extLst>
          </p:nvPr>
        </p:nvGraphicFramePr>
        <p:xfrm>
          <a:off x="1331651" y="4205439"/>
          <a:ext cx="6172195" cy="10662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8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2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3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52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12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29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29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429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4291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4291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4291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4291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4291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4291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42917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42917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43517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30587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278169">
                <a:tc>
                  <a:txBody>
                    <a:bodyPr/>
                    <a:lstStyle/>
                    <a:p>
                      <a:pPr marR="5715" algn="ctr">
                        <a:lnSpc>
                          <a:spcPts val="2005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0</a:t>
                      </a: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3675">
                        <a:lnSpc>
                          <a:spcPts val="2005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0</a:t>
                      </a: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5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2005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0</a:t>
                      </a: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5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0</a:t>
                      </a: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5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0</a:t>
                      </a: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5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0</a:t>
                      </a: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5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0</a:t>
                      </a: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5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0</a:t>
                      </a: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5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0</a:t>
                      </a: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5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1</a:t>
                      </a: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5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1</a:t>
                      </a: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5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1</a:t>
                      </a: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5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1</a:t>
                      </a: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5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1</a:t>
                      </a: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5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1</a:t>
                      </a: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5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1</a:t>
                      </a: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ts val="2005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1</a:t>
                      </a:r>
                    </a:p>
                  </a:txBody>
                  <a:tcPr marL="0" marR="0" marT="0" marB="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R="5715"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3675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1</a:t>
                      </a: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1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R="5715"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3675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0</a:t>
                      </a: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ts val="2010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1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130"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367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1</a:t>
                      </a: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1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邏輯代數（</a:t>
            </a:r>
            <a:r>
              <a:rPr lang="en-US" altLang="zh-CN" dirty="0"/>
              <a:t>5</a:t>
            </a:r>
            <a:r>
              <a:rPr lang="zh-CN" altLang="en-US" dirty="0"/>
              <a:t>）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95E2-CB68-42E6-A5AF-574D39E186A5}" type="slidenum">
              <a:rPr lang="en-US" altLang="zh-CN" smtClean="0"/>
              <a:pPr/>
              <a:t>40</a:t>
            </a:fld>
            <a:endParaRPr lang="en-US" altLang="zh-CN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"/>
          </p:nvPr>
        </p:nvSpPr>
        <p:spPr>
          <a:xfrm>
            <a:off x="363996" y="1412776"/>
            <a:ext cx="8456476" cy="4607024"/>
          </a:xfrm>
        </p:spPr>
        <p:txBody>
          <a:bodyPr/>
          <a:lstStyle/>
          <a:p>
            <a:r>
              <a:rPr lang="zh-CN" altLang="en-US" dirty="0"/>
              <a:t>對於一個</a:t>
            </a:r>
            <a:r>
              <a:rPr lang="en-US" altLang="zh-CN" dirty="0"/>
              <a:t>2</a:t>
            </a:r>
            <a:r>
              <a:rPr lang="zh-CN" altLang="en-US" dirty="0"/>
              <a:t>輸入變數，一共有多少種邏輯？</a:t>
            </a:r>
          </a:p>
        </p:txBody>
      </p:sp>
      <p:sp>
        <p:nvSpPr>
          <p:cNvPr id="5" name="object 3"/>
          <p:cNvSpPr/>
          <p:nvPr/>
        </p:nvSpPr>
        <p:spPr>
          <a:xfrm>
            <a:off x="3956732" y="2717293"/>
            <a:ext cx="685800" cy="738664"/>
          </a:xfrm>
          <a:custGeom>
            <a:avLst/>
            <a:gdLst/>
            <a:ahLst/>
            <a:cxnLst/>
            <a:rect l="l" t="t" r="r" b="b"/>
            <a:pathLst>
              <a:path w="914400" h="711707">
                <a:moveTo>
                  <a:pt x="0" y="0"/>
                </a:moveTo>
                <a:lnTo>
                  <a:pt x="0" y="711707"/>
                </a:lnTo>
                <a:lnTo>
                  <a:pt x="914400" y="711707"/>
                </a:lnTo>
                <a:lnTo>
                  <a:pt x="914400" y="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 </a:t>
            </a:r>
          </a:p>
          <a:p>
            <a:endParaRPr dirty="0"/>
          </a:p>
        </p:txBody>
      </p:sp>
      <p:sp>
        <p:nvSpPr>
          <p:cNvPr id="8" name="object 6"/>
          <p:cNvSpPr txBox="1"/>
          <p:nvPr/>
        </p:nvSpPr>
        <p:spPr>
          <a:xfrm>
            <a:off x="3281255" y="2703226"/>
            <a:ext cx="282633" cy="7977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350">
              <a:lnSpc>
                <a:spcPct val="144200"/>
              </a:lnSpc>
            </a:pPr>
            <a:r>
              <a:rPr sz="1800" dirty="0">
                <a:latin typeface="Tahoma"/>
                <a:cs typeface="Tahoma"/>
              </a:rPr>
              <a:t>X Y</a:t>
            </a:r>
          </a:p>
        </p:txBody>
      </p:sp>
      <p:sp>
        <p:nvSpPr>
          <p:cNvPr id="9" name="object 7"/>
          <p:cNvSpPr txBox="1"/>
          <p:nvPr/>
        </p:nvSpPr>
        <p:spPr>
          <a:xfrm>
            <a:off x="5014196" y="2945976"/>
            <a:ext cx="10858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00" dirty="0">
                <a:latin typeface="Tahoma"/>
                <a:cs typeface="Tahoma"/>
              </a:rPr>
              <a:t>F</a:t>
            </a:r>
          </a:p>
        </p:txBody>
      </p:sp>
      <p:sp>
        <p:nvSpPr>
          <p:cNvPr id="10" name="object 8"/>
          <p:cNvSpPr/>
          <p:nvPr/>
        </p:nvSpPr>
        <p:spPr>
          <a:xfrm>
            <a:off x="2021060" y="3771607"/>
            <a:ext cx="1143" cy="369332"/>
          </a:xfrm>
          <a:custGeom>
            <a:avLst/>
            <a:gdLst/>
            <a:ahLst/>
            <a:cxnLst/>
            <a:rect l="l" t="t" r="r" b="b"/>
            <a:pathLst>
              <a:path w="1524" h="1396746">
                <a:moveTo>
                  <a:pt x="0" y="0"/>
                </a:moveTo>
                <a:lnTo>
                  <a:pt x="1524" y="1396746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11" name="object 10"/>
          <p:cNvSpPr txBox="1"/>
          <p:nvPr/>
        </p:nvSpPr>
        <p:spPr>
          <a:xfrm>
            <a:off x="1462896" y="3821905"/>
            <a:ext cx="66083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525150" algn="l"/>
              </a:tabLst>
            </a:pPr>
            <a:r>
              <a:rPr sz="1800" dirty="0">
                <a:latin typeface="Tahoma"/>
                <a:cs typeface="Tahoma"/>
              </a:rPr>
              <a:t>X</a:t>
            </a:r>
            <a:r>
              <a:rPr lang="en-US" sz="1800" dirty="0">
                <a:latin typeface="Tahoma"/>
                <a:cs typeface="Tahoma"/>
              </a:rPr>
              <a:t>   </a:t>
            </a:r>
            <a:r>
              <a:rPr sz="1800" dirty="0">
                <a:latin typeface="Tahoma"/>
                <a:cs typeface="Tahoma"/>
              </a:rPr>
              <a:t>Y</a:t>
            </a:r>
          </a:p>
        </p:txBody>
      </p:sp>
      <p:sp>
        <p:nvSpPr>
          <p:cNvPr id="12" name="object 11"/>
          <p:cNvSpPr txBox="1"/>
          <p:nvPr/>
        </p:nvSpPr>
        <p:spPr>
          <a:xfrm>
            <a:off x="3059832" y="3821911"/>
            <a:ext cx="337020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00" spc="-5" dirty="0">
                <a:latin typeface="Tahoma"/>
                <a:cs typeface="Tahoma"/>
              </a:rPr>
              <a:t>1</a:t>
            </a:r>
            <a:r>
              <a:rPr sz="1800" dirty="0">
                <a:latin typeface="Tahoma"/>
                <a:cs typeface="Tahoma"/>
              </a:rPr>
              <a:t>6</a:t>
            </a:r>
            <a:r>
              <a:rPr lang="zh-CN" altLang="en-US" sz="1800" dirty="0">
                <a:latin typeface="Tahoma"/>
                <a:cs typeface="Tahoma"/>
              </a:rPr>
              <a:t>種可能的邏輯函數</a:t>
            </a:r>
            <a:r>
              <a:rPr sz="1800" spc="-5" dirty="0">
                <a:latin typeface="Tahoma"/>
                <a:cs typeface="Tahoma"/>
              </a:rPr>
              <a:t>(</a:t>
            </a:r>
            <a:r>
              <a:rPr sz="1800" spc="-10" dirty="0">
                <a:latin typeface="Tahoma"/>
                <a:cs typeface="Tahoma"/>
              </a:rPr>
              <a:t>F</a:t>
            </a:r>
            <a:r>
              <a:rPr sz="1800" spc="-7" baseline="-23148" dirty="0">
                <a:latin typeface="Tahoma"/>
                <a:cs typeface="Tahoma"/>
              </a:rPr>
              <a:t>0</a:t>
            </a:r>
            <a:r>
              <a:rPr sz="1800" dirty="0">
                <a:latin typeface="Tahoma"/>
                <a:cs typeface="Tahoma"/>
              </a:rPr>
              <a:t>–</a:t>
            </a:r>
            <a:r>
              <a:rPr sz="1800" spc="-5" dirty="0">
                <a:latin typeface="Tahoma"/>
                <a:cs typeface="Tahoma"/>
              </a:rPr>
              <a:t>F</a:t>
            </a:r>
            <a:r>
              <a:rPr sz="1800" spc="-7" baseline="-23148" dirty="0">
                <a:latin typeface="Tahoma"/>
                <a:cs typeface="Tahoma"/>
              </a:rPr>
              <a:t>15</a:t>
            </a:r>
            <a:r>
              <a:rPr sz="1800" dirty="0">
                <a:latin typeface="Tahoma"/>
                <a:cs typeface="Tahoma"/>
              </a:rPr>
              <a:t>)</a:t>
            </a:r>
          </a:p>
        </p:txBody>
      </p:sp>
      <p:grpSp>
        <p:nvGrpSpPr>
          <p:cNvPr id="38" name="组合 37"/>
          <p:cNvGrpSpPr/>
          <p:nvPr/>
        </p:nvGrpSpPr>
        <p:grpSpPr>
          <a:xfrm>
            <a:off x="1923563" y="5241507"/>
            <a:ext cx="6248836" cy="1094671"/>
            <a:chOff x="1040751" y="5241504"/>
            <a:chExt cx="8331781" cy="1094672"/>
          </a:xfrm>
        </p:grpSpPr>
        <p:sp>
          <p:nvSpPr>
            <p:cNvPr id="13" name="object 12"/>
            <p:cNvSpPr txBox="1"/>
            <p:nvPr/>
          </p:nvSpPr>
          <p:spPr>
            <a:xfrm>
              <a:off x="2123599" y="5589237"/>
              <a:ext cx="144145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600" dirty="0">
                  <a:latin typeface="Tahoma"/>
                  <a:cs typeface="Tahoma"/>
                </a:rPr>
                <a:t>X</a:t>
              </a:r>
            </a:p>
          </p:txBody>
        </p:sp>
        <p:sp>
          <p:nvSpPr>
            <p:cNvPr id="14" name="object 13"/>
            <p:cNvSpPr txBox="1"/>
            <p:nvPr/>
          </p:nvSpPr>
          <p:spPr>
            <a:xfrm>
              <a:off x="2843872" y="5517232"/>
              <a:ext cx="287444" cy="25259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600" dirty="0">
                  <a:latin typeface="Tahoma"/>
                  <a:cs typeface="Tahoma"/>
                </a:rPr>
                <a:t>Y</a:t>
              </a:r>
            </a:p>
          </p:txBody>
        </p:sp>
        <p:sp>
          <p:nvSpPr>
            <p:cNvPr id="15" name="object 14"/>
            <p:cNvSpPr/>
            <p:nvPr/>
          </p:nvSpPr>
          <p:spPr>
            <a:xfrm>
              <a:off x="2311396" y="5275679"/>
              <a:ext cx="460404" cy="369332"/>
            </a:xfrm>
            <a:custGeom>
              <a:avLst/>
              <a:gdLst/>
              <a:ahLst/>
              <a:cxnLst/>
              <a:rect l="l" t="t" r="r" b="b"/>
              <a:pathLst>
                <a:path w="393192" h="241553">
                  <a:moveTo>
                    <a:pt x="393192" y="0"/>
                  </a:moveTo>
                  <a:lnTo>
                    <a:pt x="0" y="24155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16" name="object 15"/>
            <p:cNvSpPr/>
            <p:nvPr/>
          </p:nvSpPr>
          <p:spPr>
            <a:xfrm>
              <a:off x="3103941" y="5250532"/>
              <a:ext cx="571500" cy="369332"/>
            </a:xfrm>
            <a:custGeom>
              <a:avLst/>
              <a:gdLst/>
              <a:ahLst/>
              <a:cxnLst/>
              <a:rect l="l" t="t" r="r" b="b"/>
              <a:pathLst>
                <a:path w="571500" h="266700">
                  <a:moveTo>
                    <a:pt x="571500" y="0"/>
                  </a:moveTo>
                  <a:lnTo>
                    <a:pt x="0" y="2667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17" name="object 16"/>
            <p:cNvSpPr txBox="1"/>
            <p:nvPr/>
          </p:nvSpPr>
          <p:spPr>
            <a:xfrm>
              <a:off x="4379979" y="5855930"/>
              <a:ext cx="1982155" cy="46166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algn="ctr">
                <a:lnSpc>
                  <a:spcPts val="1760"/>
                </a:lnSpc>
              </a:pPr>
              <a:r>
                <a:rPr sz="1600" dirty="0">
                  <a:latin typeface="Tahoma"/>
                  <a:cs typeface="Tahoma"/>
                </a:rPr>
                <a:t>X</a:t>
              </a:r>
              <a:r>
                <a:rPr sz="1600" spc="-5" dirty="0">
                  <a:latin typeface="Tahoma"/>
                  <a:cs typeface="Tahoma"/>
                </a:rPr>
                <a:t> </a:t>
              </a:r>
              <a:r>
                <a:rPr sz="1600" spc="-5" dirty="0">
                  <a:solidFill>
                    <a:srgbClr val="EB2B05"/>
                  </a:solidFill>
                  <a:latin typeface="Tahoma"/>
                  <a:cs typeface="Tahoma"/>
                </a:rPr>
                <a:t>NO</a:t>
              </a:r>
              <a:r>
                <a:rPr sz="1600" dirty="0">
                  <a:solidFill>
                    <a:srgbClr val="EB2B05"/>
                  </a:solidFill>
                  <a:latin typeface="Tahoma"/>
                  <a:cs typeface="Tahoma"/>
                </a:rPr>
                <a:t>R</a:t>
              </a:r>
              <a:r>
                <a:rPr sz="1600" spc="-5" dirty="0">
                  <a:solidFill>
                    <a:srgbClr val="EB2B05"/>
                  </a:solidFill>
                  <a:latin typeface="Tahoma"/>
                  <a:cs typeface="Tahoma"/>
                </a:rPr>
                <a:t> </a:t>
              </a:r>
              <a:r>
                <a:rPr sz="1600" dirty="0">
                  <a:latin typeface="Tahoma"/>
                  <a:cs typeface="Tahoma"/>
                </a:rPr>
                <a:t>Y</a:t>
              </a:r>
            </a:p>
            <a:p>
              <a:pPr algn="ctr">
                <a:lnSpc>
                  <a:spcPts val="1760"/>
                </a:lnSpc>
              </a:pPr>
              <a:r>
                <a:rPr sz="1600" spc="-5" dirty="0">
                  <a:solidFill>
                    <a:srgbClr val="EB2B05"/>
                  </a:solidFill>
                  <a:latin typeface="Tahoma"/>
                  <a:cs typeface="Tahoma"/>
                </a:rPr>
                <a:t>NO</a:t>
              </a:r>
              <a:r>
                <a:rPr sz="1600" dirty="0">
                  <a:solidFill>
                    <a:srgbClr val="EB2B05"/>
                  </a:solidFill>
                  <a:latin typeface="Tahoma"/>
                  <a:cs typeface="Tahoma"/>
                </a:rPr>
                <a:t>T</a:t>
              </a:r>
              <a:r>
                <a:rPr sz="1600" spc="-5" dirty="0">
                  <a:solidFill>
                    <a:srgbClr val="EB2B05"/>
                  </a:solidFill>
                  <a:latin typeface="Tahoma"/>
                  <a:cs typeface="Tahoma"/>
                </a:rPr>
                <a:t> </a:t>
              </a:r>
              <a:r>
                <a:rPr sz="1600" spc="-5" dirty="0">
                  <a:latin typeface="Tahoma"/>
                  <a:cs typeface="Tahoma"/>
                </a:rPr>
                <a:t>(</a:t>
              </a:r>
              <a:r>
                <a:rPr sz="1600" dirty="0">
                  <a:latin typeface="Tahoma"/>
                  <a:cs typeface="Tahoma"/>
                </a:rPr>
                <a:t>X</a:t>
              </a:r>
              <a:r>
                <a:rPr sz="1600" spc="-10" dirty="0">
                  <a:latin typeface="Tahoma"/>
                  <a:cs typeface="Tahoma"/>
                </a:rPr>
                <a:t> </a:t>
              </a:r>
              <a:r>
                <a:rPr sz="1600" dirty="0">
                  <a:solidFill>
                    <a:srgbClr val="EB2B05"/>
                  </a:solidFill>
                  <a:latin typeface="Tahoma"/>
                  <a:cs typeface="Tahoma"/>
                </a:rPr>
                <a:t>OR</a:t>
              </a:r>
              <a:r>
                <a:rPr sz="1600" spc="-5" dirty="0">
                  <a:solidFill>
                    <a:srgbClr val="EB2B05"/>
                  </a:solidFill>
                  <a:latin typeface="Tahoma"/>
                  <a:cs typeface="Tahoma"/>
                </a:rPr>
                <a:t> </a:t>
              </a:r>
              <a:r>
                <a:rPr sz="1600" dirty="0">
                  <a:latin typeface="Tahoma"/>
                  <a:cs typeface="Tahoma"/>
                </a:rPr>
                <a:t>Y)</a:t>
              </a:r>
            </a:p>
          </p:txBody>
        </p:sp>
        <p:sp>
          <p:nvSpPr>
            <p:cNvPr id="18" name="object 17"/>
            <p:cNvSpPr txBox="1"/>
            <p:nvPr/>
          </p:nvSpPr>
          <p:spPr>
            <a:xfrm>
              <a:off x="7512949" y="5854661"/>
              <a:ext cx="1859583" cy="46166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algn="ctr">
                <a:lnSpc>
                  <a:spcPts val="1760"/>
                </a:lnSpc>
              </a:pPr>
              <a:r>
                <a:rPr sz="1600" dirty="0">
                  <a:latin typeface="Tahoma"/>
                  <a:cs typeface="Tahoma"/>
                </a:rPr>
                <a:t>X</a:t>
              </a:r>
              <a:r>
                <a:rPr sz="1600" spc="-5" dirty="0">
                  <a:latin typeface="Tahoma"/>
                  <a:cs typeface="Tahoma"/>
                </a:rPr>
                <a:t> </a:t>
              </a:r>
              <a:r>
                <a:rPr sz="1600" spc="-5" dirty="0">
                  <a:solidFill>
                    <a:srgbClr val="EB2B05"/>
                  </a:solidFill>
                  <a:latin typeface="Tahoma"/>
                  <a:cs typeface="Tahoma"/>
                </a:rPr>
                <a:t>NAN</a:t>
              </a:r>
              <a:r>
                <a:rPr sz="1600" dirty="0">
                  <a:solidFill>
                    <a:srgbClr val="EB2B05"/>
                  </a:solidFill>
                  <a:latin typeface="Tahoma"/>
                  <a:cs typeface="Tahoma"/>
                </a:rPr>
                <a:t>D</a:t>
              </a:r>
              <a:r>
                <a:rPr sz="1600" spc="-5" dirty="0">
                  <a:solidFill>
                    <a:srgbClr val="EB2B05"/>
                  </a:solidFill>
                  <a:latin typeface="Tahoma"/>
                  <a:cs typeface="Tahoma"/>
                </a:rPr>
                <a:t> </a:t>
              </a:r>
              <a:r>
                <a:rPr sz="1600" dirty="0">
                  <a:latin typeface="Tahoma"/>
                  <a:cs typeface="Tahoma"/>
                </a:rPr>
                <a:t>Y</a:t>
              </a:r>
            </a:p>
            <a:p>
              <a:pPr algn="ctr">
                <a:lnSpc>
                  <a:spcPts val="1760"/>
                </a:lnSpc>
              </a:pPr>
              <a:r>
                <a:rPr sz="1600" spc="-5" dirty="0">
                  <a:solidFill>
                    <a:srgbClr val="EB2B05"/>
                  </a:solidFill>
                  <a:latin typeface="Tahoma"/>
                  <a:cs typeface="Tahoma"/>
                </a:rPr>
                <a:t>NO</a:t>
              </a:r>
              <a:r>
                <a:rPr sz="1600" dirty="0">
                  <a:solidFill>
                    <a:srgbClr val="EB2B05"/>
                  </a:solidFill>
                  <a:latin typeface="Tahoma"/>
                  <a:cs typeface="Tahoma"/>
                </a:rPr>
                <a:t>T</a:t>
              </a:r>
              <a:r>
                <a:rPr sz="1600" spc="-5" dirty="0">
                  <a:solidFill>
                    <a:srgbClr val="EB2B05"/>
                  </a:solidFill>
                  <a:latin typeface="Tahoma"/>
                  <a:cs typeface="Tahoma"/>
                </a:rPr>
                <a:t> </a:t>
              </a:r>
              <a:r>
                <a:rPr sz="1600" spc="-5" dirty="0">
                  <a:latin typeface="Tahoma"/>
                  <a:cs typeface="Tahoma"/>
                </a:rPr>
                <a:t>(</a:t>
              </a:r>
              <a:r>
                <a:rPr sz="1600" dirty="0">
                  <a:latin typeface="Tahoma"/>
                  <a:cs typeface="Tahoma"/>
                </a:rPr>
                <a:t>X</a:t>
              </a:r>
              <a:r>
                <a:rPr sz="1600" spc="-10" dirty="0">
                  <a:latin typeface="Tahoma"/>
                  <a:cs typeface="Tahoma"/>
                </a:rPr>
                <a:t> </a:t>
              </a:r>
              <a:r>
                <a:rPr sz="1600" spc="-5" dirty="0">
                  <a:solidFill>
                    <a:srgbClr val="EB2B05"/>
                  </a:solidFill>
                  <a:latin typeface="Tahoma"/>
                  <a:cs typeface="Tahoma"/>
                </a:rPr>
                <a:t>AN</a:t>
              </a:r>
              <a:r>
                <a:rPr sz="1600" dirty="0">
                  <a:solidFill>
                    <a:srgbClr val="EB2B05"/>
                  </a:solidFill>
                  <a:latin typeface="Tahoma"/>
                  <a:cs typeface="Tahoma"/>
                </a:rPr>
                <a:t>D</a:t>
              </a:r>
              <a:r>
                <a:rPr sz="1600" spc="-5" dirty="0">
                  <a:solidFill>
                    <a:srgbClr val="EB2B05"/>
                  </a:solidFill>
                  <a:latin typeface="Tahoma"/>
                  <a:cs typeface="Tahoma"/>
                </a:rPr>
                <a:t> </a:t>
              </a:r>
              <a:r>
                <a:rPr sz="1600" dirty="0">
                  <a:latin typeface="Tahoma"/>
                  <a:cs typeface="Tahoma"/>
                </a:rPr>
                <a:t>Y)</a:t>
              </a:r>
            </a:p>
          </p:txBody>
        </p:sp>
        <p:sp>
          <p:nvSpPr>
            <p:cNvPr id="19" name="object 18"/>
            <p:cNvSpPr/>
            <p:nvPr/>
          </p:nvSpPr>
          <p:spPr>
            <a:xfrm>
              <a:off x="7876143" y="5267925"/>
              <a:ext cx="332389" cy="532735"/>
            </a:xfrm>
            <a:custGeom>
              <a:avLst/>
              <a:gdLst/>
              <a:ahLst/>
              <a:cxnLst/>
              <a:rect l="l" t="t" r="r" b="b"/>
              <a:pathLst>
                <a:path w="364998" h="569976">
                  <a:moveTo>
                    <a:pt x="0" y="0"/>
                  </a:moveTo>
                  <a:lnTo>
                    <a:pt x="364998" y="56997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20" name="object 19"/>
            <p:cNvSpPr/>
            <p:nvPr/>
          </p:nvSpPr>
          <p:spPr>
            <a:xfrm>
              <a:off x="5076056" y="5309198"/>
              <a:ext cx="153537" cy="460630"/>
            </a:xfrm>
            <a:custGeom>
              <a:avLst/>
              <a:gdLst/>
              <a:ahLst/>
              <a:cxnLst/>
              <a:rect l="l" t="t" r="r" b="b"/>
              <a:pathLst>
                <a:path w="342900" h="784098">
                  <a:moveTo>
                    <a:pt x="0" y="0"/>
                  </a:moveTo>
                  <a:lnTo>
                    <a:pt x="342900" y="78409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21" name="object 20"/>
            <p:cNvSpPr txBox="1"/>
            <p:nvPr/>
          </p:nvSpPr>
          <p:spPr>
            <a:xfrm>
              <a:off x="8773840" y="5539587"/>
              <a:ext cx="136525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600" dirty="0">
                  <a:latin typeface="Tahoma"/>
                  <a:cs typeface="Tahoma"/>
                </a:rPr>
                <a:t>1</a:t>
              </a:r>
            </a:p>
          </p:txBody>
        </p:sp>
        <p:sp>
          <p:nvSpPr>
            <p:cNvPr id="22" name="object 21"/>
            <p:cNvSpPr/>
            <p:nvPr/>
          </p:nvSpPr>
          <p:spPr>
            <a:xfrm>
              <a:off x="1172270" y="5241504"/>
              <a:ext cx="203453" cy="369332"/>
            </a:xfrm>
            <a:custGeom>
              <a:avLst/>
              <a:gdLst/>
              <a:ahLst/>
              <a:cxnLst/>
              <a:rect l="l" t="t" r="r" b="b"/>
              <a:pathLst>
                <a:path w="178307" h="127253">
                  <a:moveTo>
                    <a:pt x="178307" y="0"/>
                  </a:moveTo>
                  <a:lnTo>
                    <a:pt x="0" y="12725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23" name="object 22"/>
            <p:cNvSpPr/>
            <p:nvPr/>
          </p:nvSpPr>
          <p:spPr>
            <a:xfrm>
              <a:off x="8296969" y="5318731"/>
              <a:ext cx="426691" cy="270505"/>
            </a:xfrm>
            <a:custGeom>
              <a:avLst/>
              <a:gdLst/>
              <a:ahLst/>
              <a:cxnLst/>
              <a:rect l="l" t="t" r="r" b="b"/>
              <a:pathLst>
                <a:path w="152400" h="126492">
                  <a:moveTo>
                    <a:pt x="0" y="0"/>
                  </a:moveTo>
                  <a:lnTo>
                    <a:pt x="152400" y="12649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24" name="object 23"/>
            <p:cNvSpPr/>
            <p:nvPr/>
          </p:nvSpPr>
          <p:spPr>
            <a:xfrm>
              <a:off x="6876256" y="5301208"/>
              <a:ext cx="334180" cy="250118"/>
            </a:xfrm>
            <a:custGeom>
              <a:avLst/>
              <a:gdLst/>
              <a:ahLst/>
              <a:cxnLst/>
              <a:rect l="l" t="t" r="r" b="b"/>
              <a:pathLst>
                <a:path w="368807" h="241553">
                  <a:moveTo>
                    <a:pt x="0" y="0"/>
                  </a:moveTo>
                  <a:lnTo>
                    <a:pt x="368807" y="24155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25" name="object 24"/>
            <p:cNvSpPr txBox="1"/>
            <p:nvPr/>
          </p:nvSpPr>
          <p:spPr>
            <a:xfrm>
              <a:off x="1040751" y="5609679"/>
              <a:ext cx="1198573" cy="556563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600" dirty="0">
                  <a:latin typeface="Tahoma"/>
                  <a:cs typeface="Tahoma"/>
                </a:rPr>
                <a:t>0</a:t>
              </a:r>
            </a:p>
            <a:p>
              <a:pPr marL="28575">
                <a:spcBef>
                  <a:spcPts val="480"/>
                </a:spcBef>
              </a:pPr>
              <a:r>
                <a:rPr sz="1600" dirty="0">
                  <a:latin typeface="Tahoma"/>
                  <a:cs typeface="Tahoma"/>
                </a:rPr>
                <a:t>X</a:t>
              </a:r>
              <a:r>
                <a:rPr sz="1600" spc="-5" dirty="0">
                  <a:latin typeface="Tahoma"/>
                  <a:cs typeface="Tahoma"/>
                </a:rPr>
                <a:t> </a:t>
              </a:r>
              <a:r>
                <a:rPr sz="1600" spc="-5" dirty="0">
                  <a:solidFill>
                    <a:srgbClr val="FF5050"/>
                  </a:solidFill>
                  <a:latin typeface="Tahoma"/>
                  <a:cs typeface="Tahoma"/>
                </a:rPr>
                <a:t>AN</a:t>
              </a:r>
              <a:r>
                <a:rPr sz="1600" dirty="0">
                  <a:solidFill>
                    <a:srgbClr val="FF5050"/>
                  </a:solidFill>
                  <a:latin typeface="Tahoma"/>
                  <a:cs typeface="Tahoma"/>
                </a:rPr>
                <a:t>D</a:t>
              </a:r>
              <a:r>
                <a:rPr sz="1600" spc="-5" dirty="0">
                  <a:solidFill>
                    <a:srgbClr val="FF5050"/>
                  </a:solidFill>
                  <a:latin typeface="Tahoma"/>
                  <a:cs typeface="Tahoma"/>
                </a:rPr>
                <a:t> </a:t>
              </a:r>
              <a:r>
                <a:rPr sz="1600" dirty="0">
                  <a:latin typeface="Tahoma"/>
                  <a:cs typeface="Tahoma"/>
                </a:rPr>
                <a:t>Y</a:t>
              </a:r>
            </a:p>
          </p:txBody>
        </p:sp>
        <p:sp>
          <p:nvSpPr>
            <p:cNvPr id="26" name="object 25"/>
            <p:cNvSpPr txBox="1"/>
            <p:nvPr/>
          </p:nvSpPr>
          <p:spPr>
            <a:xfrm>
              <a:off x="6876256" y="5554439"/>
              <a:ext cx="1118603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600" spc="-5" dirty="0">
                  <a:solidFill>
                    <a:srgbClr val="EB2B05"/>
                  </a:solidFill>
                  <a:latin typeface="Tahoma"/>
                  <a:cs typeface="Tahoma"/>
                </a:rPr>
                <a:t>NO</a:t>
              </a:r>
              <a:r>
                <a:rPr sz="1600" dirty="0">
                  <a:solidFill>
                    <a:srgbClr val="EB2B05"/>
                  </a:solidFill>
                  <a:latin typeface="Tahoma"/>
                  <a:cs typeface="Tahoma"/>
                </a:rPr>
                <a:t>T</a:t>
              </a:r>
              <a:r>
                <a:rPr sz="1600" spc="-5" dirty="0">
                  <a:solidFill>
                    <a:srgbClr val="EB2B05"/>
                  </a:solidFill>
                  <a:latin typeface="Tahoma"/>
                  <a:cs typeface="Tahoma"/>
                </a:rPr>
                <a:t> </a:t>
              </a:r>
              <a:r>
                <a:rPr sz="1600" dirty="0">
                  <a:latin typeface="Tahoma"/>
                  <a:cs typeface="Tahoma"/>
                </a:rPr>
                <a:t>X</a:t>
              </a:r>
            </a:p>
          </p:txBody>
        </p:sp>
        <p:sp>
          <p:nvSpPr>
            <p:cNvPr id="27" name="object 26"/>
            <p:cNvSpPr txBox="1"/>
            <p:nvPr/>
          </p:nvSpPr>
          <p:spPr>
            <a:xfrm>
              <a:off x="2815283" y="5805261"/>
              <a:ext cx="1660707" cy="53091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600" dirty="0">
                  <a:latin typeface="Tahoma"/>
                  <a:cs typeface="Tahoma"/>
                </a:rPr>
                <a:t>X</a:t>
              </a:r>
              <a:r>
                <a:rPr sz="1600" spc="-5" dirty="0">
                  <a:latin typeface="Tahoma"/>
                  <a:cs typeface="Tahoma"/>
                </a:rPr>
                <a:t> </a:t>
              </a:r>
              <a:r>
                <a:rPr sz="1600" spc="-5" dirty="0">
                  <a:solidFill>
                    <a:srgbClr val="EB2B05"/>
                  </a:solidFill>
                  <a:latin typeface="Tahoma"/>
                  <a:cs typeface="Tahoma"/>
                </a:rPr>
                <a:t>XO</a:t>
              </a:r>
              <a:r>
                <a:rPr sz="1600" dirty="0">
                  <a:solidFill>
                    <a:srgbClr val="EB2B05"/>
                  </a:solidFill>
                  <a:latin typeface="Tahoma"/>
                  <a:cs typeface="Tahoma"/>
                </a:rPr>
                <a:t>R</a:t>
              </a:r>
              <a:r>
                <a:rPr sz="1600" spc="-5" dirty="0">
                  <a:solidFill>
                    <a:srgbClr val="EB2B05"/>
                  </a:solidFill>
                  <a:latin typeface="Tahoma"/>
                  <a:cs typeface="Tahoma"/>
                </a:rPr>
                <a:t> </a:t>
              </a:r>
              <a:r>
                <a:rPr sz="1600" dirty="0">
                  <a:latin typeface="Tahoma"/>
                  <a:cs typeface="Tahoma"/>
                </a:rPr>
                <a:t>Y</a:t>
              </a:r>
            </a:p>
            <a:p>
              <a:pPr marL="567696">
                <a:spcBef>
                  <a:spcPts val="315"/>
                </a:spcBef>
              </a:pPr>
              <a:r>
                <a:rPr sz="1600" dirty="0">
                  <a:latin typeface="Tahoma"/>
                  <a:cs typeface="Tahoma"/>
                </a:rPr>
                <a:t>X</a:t>
              </a:r>
              <a:r>
                <a:rPr sz="1600" spc="-5" dirty="0">
                  <a:latin typeface="Tahoma"/>
                  <a:cs typeface="Tahoma"/>
                </a:rPr>
                <a:t> </a:t>
              </a:r>
              <a:r>
                <a:rPr sz="1600" dirty="0">
                  <a:solidFill>
                    <a:srgbClr val="EB2B05"/>
                  </a:solidFill>
                  <a:latin typeface="Tahoma"/>
                  <a:cs typeface="Tahoma"/>
                </a:rPr>
                <a:t>OR</a:t>
              </a:r>
              <a:r>
                <a:rPr sz="1600" spc="-5" dirty="0">
                  <a:solidFill>
                    <a:srgbClr val="EB2B05"/>
                  </a:solidFill>
                  <a:latin typeface="Tahoma"/>
                  <a:cs typeface="Tahoma"/>
                </a:rPr>
                <a:t> </a:t>
              </a:r>
              <a:r>
                <a:rPr sz="1600" dirty="0">
                  <a:latin typeface="Tahoma"/>
                  <a:cs typeface="Tahoma"/>
                </a:rPr>
                <a:t>Y</a:t>
              </a:r>
            </a:p>
          </p:txBody>
        </p:sp>
        <p:sp>
          <p:nvSpPr>
            <p:cNvPr id="28" name="object 27"/>
            <p:cNvSpPr txBox="1"/>
            <p:nvPr/>
          </p:nvSpPr>
          <p:spPr>
            <a:xfrm>
              <a:off x="6362133" y="5915490"/>
              <a:ext cx="982253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600" spc="-5" dirty="0">
                  <a:solidFill>
                    <a:srgbClr val="EB2B05"/>
                  </a:solidFill>
                  <a:latin typeface="Tahoma"/>
                  <a:cs typeface="Tahoma"/>
                </a:rPr>
                <a:t>NO</a:t>
              </a:r>
              <a:r>
                <a:rPr sz="1600" dirty="0">
                  <a:solidFill>
                    <a:srgbClr val="EB2B05"/>
                  </a:solidFill>
                  <a:latin typeface="Tahoma"/>
                  <a:cs typeface="Tahoma"/>
                </a:rPr>
                <a:t>T</a:t>
              </a:r>
              <a:r>
                <a:rPr sz="1600" spc="-5" dirty="0">
                  <a:solidFill>
                    <a:srgbClr val="EB2B05"/>
                  </a:solidFill>
                  <a:latin typeface="Tahoma"/>
                  <a:cs typeface="Tahoma"/>
                </a:rPr>
                <a:t> </a:t>
              </a:r>
              <a:r>
                <a:rPr sz="1600" dirty="0">
                  <a:latin typeface="Tahoma"/>
                  <a:cs typeface="Tahoma"/>
                </a:rPr>
                <a:t>Y</a:t>
              </a:r>
            </a:p>
          </p:txBody>
        </p:sp>
        <p:sp>
          <p:nvSpPr>
            <p:cNvPr id="29" name="object 28"/>
            <p:cNvSpPr/>
            <p:nvPr/>
          </p:nvSpPr>
          <p:spPr>
            <a:xfrm>
              <a:off x="1552014" y="5244998"/>
              <a:ext cx="317487" cy="609663"/>
            </a:xfrm>
            <a:custGeom>
              <a:avLst/>
              <a:gdLst/>
              <a:ahLst/>
              <a:cxnLst/>
              <a:rect l="l" t="t" r="r" b="b"/>
              <a:pathLst>
                <a:path w="355854" h="432053">
                  <a:moveTo>
                    <a:pt x="355854" y="0"/>
                  </a:moveTo>
                  <a:lnTo>
                    <a:pt x="0" y="432053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30" name="object 29"/>
            <p:cNvSpPr/>
            <p:nvPr/>
          </p:nvSpPr>
          <p:spPr>
            <a:xfrm>
              <a:off x="4095867" y="5254719"/>
              <a:ext cx="541979" cy="761966"/>
            </a:xfrm>
            <a:custGeom>
              <a:avLst/>
              <a:gdLst/>
              <a:ahLst/>
              <a:cxnLst/>
              <a:rect l="l" t="t" r="r" b="b"/>
              <a:pathLst>
                <a:path w="368046" h="622553">
                  <a:moveTo>
                    <a:pt x="368046" y="0"/>
                  </a:moveTo>
                  <a:lnTo>
                    <a:pt x="0" y="62255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31" name="object 30"/>
            <p:cNvSpPr/>
            <p:nvPr/>
          </p:nvSpPr>
          <p:spPr>
            <a:xfrm>
              <a:off x="5996493" y="5250530"/>
              <a:ext cx="649752" cy="604131"/>
            </a:xfrm>
            <a:custGeom>
              <a:avLst/>
              <a:gdLst/>
              <a:ahLst/>
              <a:cxnLst/>
              <a:rect l="l" t="t" r="r" b="b"/>
              <a:pathLst>
                <a:path w="546353" h="266700">
                  <a:moveTo>
                    <a:pt x="0" y="0"/>
                  </a:moveTo>
                  <a:lnTo>
                    <a:pt x="546353" y="2667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32" name="object 31"/>
            <p:cNvSpPr/>
            <p:nvPr/>
          </p:nvSpPr>
          <p:spPr>
            <a:xfrm>
              <a:off x="3534723" y="5280247"/>
              <a:ext cx="605229" cy="481102"/>
            </a:xfrm>
            <a:custGeom>
              <a:avLst/>
              <a:gdLst/>
              <a:ahLst/>
              <a:cxnLst/>
              <a:rect l="l" t="t" r="r" b="b"/>
              <a:pathLst>
                <a:path w="342900" h="381000">
                  <a:moveTo>
                    <a:pt x="342900" y="0"/>
                  </a:moveTo>
                  <a:lnTo>
                    <a:pt x="0" y="381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  <p:sp>
          <p:nvSpPr>
            <p:cNvPr id="33" name="object 32"/>
            <p:cNvSpPr txBox="1"/>
            <p:nvPr/>
          </p:nvSpPr>
          <p:spPr>
            <a:xfrm>
              <a:off x="5532107" y="5559040"/>
              <a:ext cx="870501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12700"/>
              <a:r>
                <a:rPr sz="1600" dirty="0">
                  <a:latin typeface="Tahoma"/>
                  <a:cs typeface="Tahoma"/>
                </a:rPr>
                <a:t>X</a:t>
              </a:r>
              <a:r>
                <a:rPr sz="1600" spc="-5" dirty="0">
                  <a:latin typeface="Tahoma"/>
                  <a:cs typeface="Tahoma"/>
                </a:rPr>
                <a:t> </a:t>
              </a:r>
              <a:r>
                <a:rPr sz="1600" dirty="0">
                  <a:latin typeface="Tahoma"/>
                  <a:cs typeface="Tahoma"/>
                </a:rPr>
                <a:t>=</a:t>
              </a:r>
              <a:r>
                <a:rPr sz="1600" spc="-5" dirty="0">
                  <a:latin typeface="Tahoma"/>
                  <a:cs typeface="Tahoma"/>
                </a:rPr>
                <a:t> </a:t>
              </a:r>
              <a:r>
                <a:rPr sz="1600" dirty="0">
                  <a:latin typeface="Tahoma"/>
                  <a:cs typeface="Tahoma"/>
                </a:rPr>
                <a:t>Y</a:t>
              </a:r>
            </a:p>
          </p:txBody>
        </p:sp>
        <p:sp>
          <p:nvSpPr>
            <p:cNvPr id="34" name="object 33"/>
            <p:cNvSpPr/>
            <p:nvPr/>
          </p:nvSpPr>
          <p:spPr>
            <a:xfrm>
              <a:off x="5540817" y="5280248"/>
              <a:ext cx="319151" cy="308989"/>
            </a:xfrm>
            <a:custGeom>
              <a:avLst/>
              <a:gdLst/>
              <a:ahLst/>
              <a:cxnLst/>
              <a:rect l="l" t="t" r="r" b="b"/>
              <a:pathLst>
                <a:path w="317753" h="381000">
                  <a:moveTo>
                    <a:pt x="0" y="0"/>
                  </a:moveTo>
                  <a:lnTo>
                    <a:pt x="317753" y="38100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>
              <a:spAutoFit/>
            </a:bodyPr>
            <a:lstStyle/>
            <a:p>
              <a:endParaRPr/>
            </a:p>
          </p:txBody>
        </p:sp>
      </p:grpSp>
      <p:sp>
        <p:nvSpPr>
          <p:cNvPr id="37" name="右箭头 36"/>
          <p:cNvSpPr/>
          <p:nvPr/>
        </p:nvSpPr>
        <p:spPr>
          <a:xfrm>
            <a:off x="3592463" y="2807825"/>
            <a:ext cx="335693" cy="27699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右箭头 38"/>
          <p:cNvSpPr/>
          <p:nvPr/>
        </p:nvSpPr>
        <p:spPr>
          <a:xfrm>
            <a:off x="3599859" y="3153109"/>
            <a:ext cx="335693" cy="27699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右箭头 39"/>
          <p:cNvSpPr/>
          <p:nvPr/>
        </p:nvSpPr>
        <p:spPr>
          <a:xfrm>
            <a:off x="4640858" y="2960224"/>
            <a:ext cx="335693" cy="27699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2277401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邏輯代數（</a:t>
            </a:r>
            <a:r>
              <a:rPr lang="en-US" altLang="zh-CN" dirty="0"/>
              <a:t>6</a:t>
            </a:r>
            <a:r>
              <a:rPr lang="zh-CN" altLang="en-US" dirty="0"/>
              <a:t>）</a:t>
            </a:r>
          </a:p>
        </p:txBody>
      </p:sp>
      <p:sp>
        <p:nvSpPr>
          <p:cNvPr id="9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94D43-49D7-482E-885A-E8B0C6BBE01D}" type="slidenum">
              <a:rPr lang="en-US" altLang="zh-CN"/>
              <a:pPr/>
              <a:t>41</a:t>
            </a:fld>
            <a:endParaRPr lang="en-US" altLang="zh-CN" dirty="0"/>
          </a:p>
        </p:txBody>
      </p:sp>
      <p:sp>
        <p:nvSpPr>
          <p:cNvPr id="11571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996" y="1412776"/>
            <a:ext cx="8384468" cy="4607024"/>
          </a:xfrm>
        </p:spPr>
        <p:txBody>
          <a:bodyPr/>
          <a:lstStyle/>
          <a:p>
            <a:r>
              <a:rPr lang="en-US" altLang="zh-CN" dirty="0"/>
              <a:t>2.1  </a:t>
            </a:r>
            <a:r>
              <a:rPr lang="zh-CN" altLang="en-US" dirty="0"/>
              <a:t>邏輯代數的基本運算與公式</a:t>
            </a:r>
          </a:p>
          <a:p>
            <a:pPr lvl="1"/>
            <a:r>
              <a:rPr lang="zh-CN" altLang="en-US" dirty="0"/>
              <a:t>邏輯代數的基本運算：與、或、非</a:t>
            </a:r>
          </a:p>
          <a:p>
            <a:pPr lvl="2">
              <a:buFont typeface="Wingdings" pitchFamily="2" charset="2"/>
              <a:buNone/>
            </a:pPr>
            <a:r>
              <a:rPr lang="zh-CN" altLang="en-US" dirty="0"/>
              <a:t> </a:t>
            </a:r>
            <a:r>
              <a:rPr lang="en-US" altLang="zh-CN" dirty="0"/>
              <a:t>(1)  </a:t>
            </a:r>
            <a:r>
              <a:rPr lang="zh-CN" altLang="en-US" dirty="0"/>
              <a:t>與運算，邏輯乘</a:t>
            </a:r>
          </a:p>
        </p:txBody>
      </p:sp>
      <p:graphicFrame>
        <p:nvGraphicFramePr>
          <p:cNvPr id="115798" name="Group 8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0922592"/>
              </p:ext>
            </p:extLst>
          </p:nvPr>
        </p:nvGraphicFramePr>
        <p:xfrm>
          <a:off x="1943101" y="3200401"/>
          <a:ext cx="2514600" cy="2164635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15793" name="Group 81"/>
          <p:cNvGrpSpPr>
            <a:grpSpLocks/>
          </p:cNvGrpSpPr>
          <p:nvPr/>
        </p:nvGrpSpPr>
        <p:grpSpPr bwMode="auto">
          <a:xfrm>
            <a:off x="4743451" y="2590800"/>
            <a:ext cx="3086100" cy="1447800"/>
            <a:chOff x="3024" y="1872"/>
            <a:chExt cx="2592" cy="912"/>
          </a:xfrm>
        </p:grpSpPr>
        <p:grpSp>
          <p:nvGrpSpPr>
            <p:cNvPr id="115719" name="Group 7"/>
            <p:cNvGrpSpPr>
              <a:grpSpLocks/>
            </p:cNvGrpSpPr>
            <p:nvPr/>
          </p:nvGrpSpPr>
          <p:grpSpPr bwMode="auto">
            <a:xfrm>
              <a:off x="3648" y="1872"/>
              <a:ext cx="288" cy="192"/>
              <a:chOff x="2832" y="1968"/>
              <a:chExt cx="288" cy="192"/>
            </a:xfrm>
          </p:grpSpPr>
          <p:sp>
            <p:nvSpPr>
              <p:cNvPr id="115716" name="Oval 4"/>
              <p:cNvSpPr>
                <a:spLocks noChangeArrowheads="1"/>
              </p:cNvSpPr>
              <p:nvPr/>
            </p:nvSpPr>
            <p:spPr bwMode="auto">
              <a:xfrm>
                <a:off x="2832" y="2064"/>
                <a:ext cx="96" cy="9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17" name="Oval 5"/>
              <p:cNvSpPr>
                <a:spLocks noChangeArrowheads="1"/>
              </p:cNvSpPr>
              <p:nvPr/>
            </p:nvSpPr>
            <p:spPr bwMode="auto">
              <a:xfrm>
                <a:off x="3024" y="2064"/>
                <a:ext cx="96" cy="9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18" name="Line 6"/>
              <p:cNvSpPr>
                <a:spLocks noChangeShapeType="1"/>
              </p:cNvSpPr>
              <p:nvPr/>
            </p:nvSpPr>
            <p:spPr bwMode="auto">
              <a:xfrm flipV="1">
                <a:off x="2880" y="1968"/>
                <a:ext cx="192" cy="9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115720" name="Group 8"/>
            <p:cNvGrpSpPr>
              <a:grpSpLocks/>
            </p:cNvGrpSpPr>
            <p:nvPr/>
          </p:nvGrpSpPr>
          <p:grpSpPr bwMode="auto">
            <a:xfrm>
              <a:off x="4368" y="1872"/>
              <a:ext cx="288" cy="192"/>
              <a:chOff x="2832" y="1968"/>
              <a:chExt cx="288" cy="192"/>
            </a:xfrm>
          </p:grpSpPr>
          <p:sp>
            <p:nvSpPr>
              <p:cNvPr id="115721" name="Oval 9"/>
              <p:cNvSpPr>
                <a:spLocks noChangeArrowheads="1"/>
              </p:cNvSpPr>
              <p:nvPr/>
            </p:nvSpPr>
            <p:spPr bwMode="auto">
              <a:xfrm>
                <a:off x="2832" y="2064"/>
                <a:ext cx="96" cy="9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22" name="Oval 10"/>
              <p:cNvSpPr>
                <a:spLocks noChangeArrowheads="1"/>
              </p:cNvSpPr>
              <p:nvPr/>
            </p:nvSpPr>
            <p:spPr bwMode="auto">
              <a:xfrm>
                <a:off x="3024" y="2064"/>
                <a:ext cx="96" cy="9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23" name="Line 11"/>
              <p:cNvSpPr>
                <a:spLocks noChangeShapeType="1"/>
              </p:cNvSpPr>
              <p:nvPr/>
            </p:nvSpPr>
            <p:spPr bwMode="auto">
              <a:xfrm flipV="1">
                <a:off x="2880" y="1968"/>
                <a:ext cx="192" cy="9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15724" name="Line 12"/>
            <p:cNvSpPr>
              <a:spLocks noChangeShapeType="1"/>
            </p:cNvSpPr>
            <p:nvPr/>
          </p:nvSpPr>
          <p:spPr bwMode="auto">
            <a:xfrm>
              <a:off x="3936" y="201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115728" name="Group 16"/>
            <p:cNvGrpSpPr>
              <a:grpSpLocks/>
            </p:cNvGrpSpPr>
            <p:nvPr/>
          </p:nvGrpSpPr>
          <p:grpSpPr bwMode="auto">
            <a:xfrm>
              <a:off x="4992" y="2304"/>
              <a:ext cx="240" cy="240"/>
              <a:chOff x="2832" y="2688"/>
              <a:chExt cx="240" cy="240"/>
            </a:xfrm>
          </p:grpSpPr>
          <p:sp>
            <p:nvSpPr>
              <p:cNvPr id="115725" name="Oval 13"/>
              <p:cNvSpPr>
                <a:spLocks noChangeArrowheads="1"/>
              </p:cNvSpPr>
              <p:nvPr/>
            </p:nvSpPr>
            <p:spPr bwMode="auto">
              <a:xfrm>
                <a:off x="2832" y="2688"/>
                <a:ext cx="240" cy="24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26" name="Line 14"/>
              <p:cNvSpPr>
                <a:spLocks noChangeShapeType="1"/>
              </p:cNvSpPr>
              <p:nvPr/>
            </p:nvSpPr>
            <p:spPr bwMode="auto">
              <a:xfrm>
                <a:off x="2880" y="2736"/>
                <a:ext cx="144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5727" name="Line 15"/>
              <p:cNvSpPr>
                <a:spLocks noChangeShapeType="1"/>
              </p:cNvSpPr>
              <p:nvPr/>
            </p:nvSpPr>
            <p:spPr bwMode="auto">
              <a:xfrm flipH="1">
                <a:off x="2880" y="2736"/>
                <a:ext cx="144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15729" name="Line 17"/>
            <p:cNvSpPr>
              <a:spLocks noChangeShapeType="1"/>
            </p:cNvSpPr>
            <p:nvPr/>
          </p:nvSpPr>
          <p:spPr bwMode="auto">
            <a:xfrm>
              <a:off x="4656" y="2016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5730" name="Line 18"/>
            <p:cNvSpPr>
              <a:spLocks noChangeShapeType="1"/>
            </p:cNvSpPr>
            <p:nvPr/>
          </p:nvSpPr>
          <p:spPr bwMode="auto">
            <a:xfrm>
              <a:off x="5136" y="201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5731" name="Line 19"/>
            <p:cNvSpPr>
              <a:spLocks noChangeShapeType="1"/>
            </p:cNvSpPr>
            <p:nvPr/>
          </p:nvSpPr>
          <p:spPr bwMode="auto">
            <a:xfrm>
              <a:off x="5136" y="254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5732" name="Line 20"/>
            <p:cNvSpPr>
              <a:spLocks noChangeShapeType="1"/>
            </p:cNvSpPr>
            <p:nvPr/>
          </p:nvSpPr>
          <p:spPr bwMode="auto">
            <a:xfrm flipH="1">
              <a:off x="3264" y="2784"/>
              <a:ext cx="18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5733" name="Line 21"/>
            <p:cNvSpPr>
              <a:spLocks noChangeShapeType="1"/>
            </p:cNvSpPr>
            <p:nvPr/>
          </p:nvSpPr>
          <p:spPr bwMode="auto">
            <a:xfrm flipV="1">
              <a:off x="3264" y="2448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5734" name="Line 22"/>
            <p:cNvSpPr>
              <a:spLocks noChangeShapeType="1"/>
            </p:cNvSpPr>
            <p:nvPr/>
          </p:nvSpPr>
          <p:spPr bwMode="auto">
            <a:xfrm>
              <a:off x="3264" y="201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5735" name="Line 23"/>
            <p:cNvSpPr>
              <a:spLocks noChangeShapeType="1"/>
            </p:cNvSpPr>
            <p:nvPr/>
          </p:nvSpPr>
          <p:spPr bwMode="auto">
            <a:xfrm>
              <a:off x="3168" y="2448"/>
              <a:ext cx="1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5736" name="Line 24"/>
            <p:cNvSpPr>
              <a:spLocks noChangeShapeType="1"/>
            </p:cNvSpPr>
            <p:nvPr/>
          </p:nvSpPr>
          <p:spPr bwMode="auto">
            <a:xfrm>
              <a:off x="3024" y="2400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5737" name="Line 25"/>
            <p:cNvSpPr>
              <a:spLocks noChangeShapeType="1"/>
            </p:cNvSpPr>
            <p:nvPr/>
          </p:nvSpPr>
          <p:spPr bwMode="auto">
            <a:xfrm>
              <a:off x="3264" y="201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5738" name="Text Box 26"/>
            <p:cNvSpPr txBox="1">
              <a:spLocks noChangeArrowheads="1"/>
            </p:cNvSpPr>
            <p:nvPr/>
          </p:nvSpPr>
          <p:spPr bwMode="auto">
            <a:xfrm>
              <a:off x="3648" y="2064"/>
              <a:ext cx="33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A</a:t>
              </a:r>
            </a:p>
          </p:txBody>
        </p:sp>
        <p:sp>
          <p:nvSpPr>
            <p:cNvPr id="115739" name="Text Box 27"/>
            <p:cNvSpPr txBox="1">
              <a:spLocks noChangeArrowheads="1"/>
            </p:cNvSpPr>
            <p:nvPr/>
          </p:nvSpPr>
          <p:spPr bwMode="auto">
            <a:xfrm>
              <a:off x="4368" y="2064"/>
              <a:ext cx="33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B</a:t>
              </a:r>
            </a:p>
          </p:txBody>
        </p:sp>
        <p:sp>
          <p:nvSpPr>
            <p:cNvPr id="115768" name="Text Box 56"/>
            <p:cNvSpPr txBox="1">
              <a:spLocks noChangeArrowheads="1"/>
            </p:cNvSpPr>
            <p:nvPr/>
          </p:nvSpPr>
          <p:spPr bwMode="auto">
            <a:xfrm>
              <a:off x="5280" y="2256"/>
              <a:ext cx="33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F</a:t>
              </a:r>
            </a:p>
          </p:txBody>
        </p:sp>
      </p:grpSp>
      <p:graphicFrame>
        <p:nvGraphicFramePr>
          <p:cNvPr id="115799" name="Object 8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1412484"/>
              </p:ext>
            </p:extLst>
          </p:nvPr>
        </p:nvGraphicFramePr>
        <p:xfrm>
          <a:off x="2465766" y="5808108"/>
          <a:ext cx="1530170" cy="4292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49160" imgH="164880" progId="Equation.DSMT4">
                  <p:embed/>
                </p:oleObj>
              </mc:Choice>
              <mc:Fallback>
                <p:oleObj name="Equation" r:id="rId2" imgW="74916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5766" y="5808108"/>
                        <a:ext cx="1530170" cy="42921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5801" name="Group 89"/>
          <p:cNvGrpSpPr>
            <a:grpSpLocks/>
          </p:cNvGrpSpPr>
          <p:nvPr/>
        </p:nvGrpSpPr>
        <p:grpSpPr bwMode="auto">
          <a:xfrm>
            <a:off x="4743462" y="4114800"/>
            <a:ext cx="3042048" cy="1295400"/>
            <a:chOff x="3024" y="3024"/>
            <a:chExt cx="2555" cy="816"/>
          </a:xfrm>
        </p:grpSpPr>
        <p:grpSp>
          <p:nvGrpSpPr>
            <p:cNvPr id="115794" name="Group 82"/>
            <p:cNvGrpSpPr>
              <a:grpSpLocks/>
            </p:cNvGrpSpPr>
            <p:nvPr/>
          </p:nvGrpSpPr>
          <p:grpSpPr bwMode="auto">
            <a:xfrm>
              <a:off x="3024" y="3024"/>
              <a:ext cx="2208" cy="816"/>
              <a:chOff x="3024" y="3024"/>
              <a:chExt cx="2208" cy="816"/>
            </a:xfrm>
          </p:grpSpPr>
          <p:sp>
            <p:nvSpPr>
              <p:cNvPr id="115770" name="Oval 58"/>
              <p:cNvSpPr>
                <a:spLocks noChangeArrowheads="1"/>
              </p:cNvSpPr>
              <p:nvPr/>
            </p:nvSpPr>
            <p:spPr bwMode="auto">
              <a:xfrm>
                <a:off x="3648" y="3024"/>
                <a:ext cx="96" cy="96"/>
              </a:xfrm>
              <a:prstGeom prst="ellips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115771" name="Oval 59"/>
              <p:cNvSpPr>
                <a:spLocks noChangeArrowheads="1"/>
              </p:cNvSpPr>
              <p:nvPr/>
            </p:nvSpPr>
            <p:spPr bwMode="auto">
              <a:xfrm>
                <a:off x="3840" y="3024"/>
                <a:ext cx="96" cy="96"/>
              </a:xfrm>
              <a:prstGeom prst="ellips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115772" name="Line 60"/>
              <p:cNvSpPr>
                <a:spLocks noChangeShapeType="1"/>
              </p:cNvSpPr>
              <p:nvPr/>
            </p:nvSpPr>
            <p:spPr bwMode="auto">
              <a:xfrm>
                <a:off x="3744" y="3072"/>
                <a:ext cx="96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115774" name="Oval 62"/>
              <p:cNvSpPr>
                <a:spLocks noChangeArrowheads="1"/>
              </p:cNvSpPr>
              <p:nvPr/>
            </p:nvSpPr>
            <p:spPr bwMode="auto">
              <a:xfrm>
                <a:off x="4368" y="3024"/>
                <a:ext cx="96" cy="96"/>
              </a:xfrm>
              <a:prstGeom prst="ellips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75" name="Oval 63"/>
              <p:cNvSpPr>
                <a:spLocks noChangeArrowheads="1"/>
              </p:cNvSpPr>
              <p:nvPr/>
            </p:nvSpPr>
            <p:spPr bwMode="auto">
              <a:xfrm>
                <a:off x="4560" y="3024"/>
                <a:ext cx="96" cy="96"/>
              </a:xfrm>
              <a:prstGeom prst="ellips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776" name="Line 64"/>
              <p:cNvSpPr>
                <a:spLocks noChangeShapeType="1"/>
              </p:cNvSpPr>
              <p:nvPr/>
            </p:nvSpPr>
            <p:spPr bwMode="auto">
              <a:xfrm>
                <a:off x="4464" y="3072"/>
                <a:ext cx="96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5777" name="Line 65"/>
              <p:cNvSpPr>
                <a:spLocks noChangeShapeType="1"/>
              </p:cNvSpPr>
              <p:nvPr/>
            </p:nvSpPr>
            <p:spPr bwMode="auto">
              <a:xfrm>
                <a:off x="3936" y="3072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grpSp>
            <p:nvGrpSpPr>
              <p:cNvPr id="115778" name="Group 66"/>
              <p:cNvGrpSpPr>
                <a:grpSpLocks/>
              </p:cNvGrpSpPr>
              <p:nvPr/>
            </p:nvGrpSpPr>
            <p:grpSpPr bwMode="auto">
              <a:xfrm>
                <a:off x="4992" y="3360"/>
                <a:ext cx="240" cy="240"/>
                <a:chOff x="2832" y="2688"/>
                <a:chExt cx="240" cy="240"/>
              </a:xfrm>
            </p:grpSpPr>
            <p:sp>
              <p:nvSpPr>
                <p:cNvPr id="115779" name="Oval 67"/>
                <p:cNvSpPr>
                  <a:spLocks noChangeArrowheads="1"/>
                </p:cNvSpPr>
                <p:nvPr/>
              </p:nvSpPr>
              <p:spPr bwMode="auto">
                <a:xfrm>
                  <a:off x="2832" y="2688"/>
                  <a:ext cx="240" cy="240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5780" name="Line 68"/>
                <p:cNvSpPr>
                  <a:spLocks noChangeShapeType="1"/>
                </p:cNvSpPr>
                <p:nvPr/>
              </p:nvSpPr>
              <p:spPr bwMode="auto">
                <a:xfrm>
                  <a:off x="2880" y="2736"/>
                  <a:ext cx="144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15781" name="Line 69"/>
                <p:cNvSpPr>
                  <a:spLocks noChangeShapeType="1"/>
                </p:cNvSpPr>
                <p:nvPr/>
              </p:nvSpPr>
              <p:spPr bwMode="auto">
                <a:xfrm flipH="1">
                  <a:off x="2880" y="2736"/>
                  <a:ext cx="144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sp>
            <p:nvSpPr>
              <p:cNvPr id="115782" name="Line 70"/>
              <p:cNvSpPr>
                <a:spLocks noChangeShapeType="1"/>
              </p:cNvSpPr>
              <p:nvPr/>
            </p:nvSpPr>
            <p:spPr bwMode="auto">
              <a:xfrm>
                <a:off x="4656" y="3072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5783" name="Line 71"/>
              <p:cNvSpPr>
                <a:spLocks noChangeShapeType="1"/>
              </p:cNvSpPr>
              <p:nvPr/>
            </p:nvSpPr>
            <p:spPr bwMode="auto">
              <a:xfrm>
                <a:off x="5136" y="3072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5784" name="Line 72"/>
              <p:cNvSpPr>
                <a:spLocks noChangeShapeType="1"/>
              </p:cNvSpPr>
              <p:nvPr/>
            </p:nvSpPr>
            <p:spPr bwMode="auto">
              <a:xfrm>
                <a:off x="5136" y="360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5785" name="Line 73"/>
              <p:cNvSpPr>
                <a:spLocks noChangeShapeType="1"/>
              </p:cNvSpPr>
              <p:nvPr/>
            </p:nvSpPr>
            <p:spPr bwMode="auto">
              <a:xfrm flipH="1">
                <a:off x="3264" y="3840"/>
                <a:ext cx="18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5786" name="Line 74"/>
              <p:cNvSpPr>
                <a:spLocks noChangeShapeType="1"/>
              </p:cNvSpPr>
              <p:nvPr/>
            </p:nvSpPr>
            <p:spPr bwMode="auto">
              <a:xfrm flipV="1">
                <a:off x="3264" y="3504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5787" name="Line 75"/>
              <p:cNvSpPr>
                <a:spLocks noChangeShapeType="1"/>
              </p:cNvSpPr>
              <p:nvPr/>
            </p:nvSpPr>
            <p:spPr bwMode="auto">
              <a:xfrm>
                <a:off x="3264" y="3072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5788" name="Line 76"/>
              <p:cNvSpPr>
                <a:spLocks noChangeShapeType="1"/>
              </p:cNvSpPr>
              <p:nvPr/>
            </p:nvSpPr>
            <p:spPr bwMode="auto">
              <a:xfrm>
                <a:off x="3168" y="3504"/>
                <a:ext cx="19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5789" name="Line 77"/>
              <p:cNvSpPr>
                <a:spLocks noChangeShapeType="1"/>
              </p:cNvSpPr>
              <p:nvPr/>
            </p:nvSpPr>
            <p:spPr bwMode="auto">
              <a:xfrm>
                <a:off x="3024" y="3456"/>
                <a:ext cx="43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5790" name="Line 78"/>
              <p:cNvSpPr>
                <a:spLocks noChangeShapeType="1"/>
              </p:cNvSpPr>
              <p:nvPr/>
            </p:nvSpPr>
            <p:spPr bwMode="auto">
              <a:xfrm>
                <a:off x="3264" y="3072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5791" name="Text Box 79"/>
              <p:cNvSpPr txBox="1">
                <a:spLocks noChangeArrowheads="1"/>
              </p:cNvSpPr>
              <p:nvPr/>
            </p:nvSpPr>
            <p:spPr bwMode="auto">
              <a:xfrm>
                <a:off x="3648" y="3120"/>
                <a:ext cx="336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A</a:t>
                </a:r>
              </a:p>
            </p:txBody>
          </p:sp>
          <p:sp>
            <p:nvSpPr>
              <p:cNvPr id="115792" name="Text Box 80"/>
              <p:cNvSpPr txBox="1">
                <a:spLocks noChangeArrowheads="1"/>
              </p:cNvSpPr>
              <p:nvPr/>
            </p:nvSpPr>
            <p:spPr bwMode="auto">
              <a:xfrm>
                <a:off x="4368" y="3120"/>
                <a:ext cx="336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B</a:t>
                </a:r>
              </a:p>
            </p:txBody>
          </p:sp>
        </p:grpSp>
        <p:sp>
          <p:nvSpPr>
            <p:cNvPr id="115800" name="Rectangle 88"/>
            <p:cNvSpPr>
              <a:spLocks noChangeArrowheads="1"/>
            </p:cNvSpPr>
            <p:nvPr/>
          </p:nvSpPr>
          <p:spPr bwMode="auto">
            <a:xfrm>
              <a:off x="5280" y="3360"/>
              <a:ext cx="299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dirty="0"/>
                <a:t>F</a:t>
              </a:r>
            </a:p>
          </p:txBody>
        </p:sp>
      </p:grpSp>
      <p:grpSp>
        <p:nvGrpSpPr>
          <p:cNvPr id="115802" name="Group 90"/>
          <p:cNvGrpSpPr>
            <a:grpSpLocks/>
          </p:cNvGrpSpPr>
          <p:nvPr/>
        </p:nvGrpSpPr>
        <p:grpSpPr bwMode="auto">
          <a:xfrm>
            <a:off x="4686310" y="5638810"/>
            <a:ext cx="1513285" cy="796926"/>
            <a:chOff x="3877" y="2053"/>
            <a:chExt cx="1271" cy="502"/>
          </a:xfrm>
        </p:grpSpPr>
        <p:sp>
          <p:nvSpPr>
            <p:cNvPr id="115803" name="Rectangle 91"/>
            <p:cNvSpPr>
              <a:spLocks noChangeArrowheads="1"/>
            </p:cNvSpPr>
            <p:nvPr/>
          </p:nvSpPr>
          <p:spPr bwMode="auto">
            <a:xfrm>
              <a:off x="4377" y="2114"/>
              <a:ext cx="226" cy="3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804" name="Line 92"/>
            <p:cNvSpPr>
              <a:spLocks noChangeShapeType="1"/>
            </p:cNvSpPr>
            <p:nvPr/>
          </p:nvSpPr>
          <p:spPr bwMode="auto">
            <a:xfrm flipH="1">
              <a:off x="4104" y="2205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805" name="Line 93"/>
            <p:cNvSpPr>
              <a:spLocks noChangeShapeType="1"/>
            </p:cNvSpPr>
            <p:nvPr/>
          </p:nvSpPr>
          <p:spPr bwMode="auto">
            <a:xfrm flipH="1">
              <a:off x="4105" y="2387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806" name="Line 94"/>
            <p:cNvSpPr>
              <a:spLocks noChangeShapeType="1"/>
            </p:cNvSpPr>
            <p:nvPr/>
          </p:nvSpPr>
          <p:spPr bwMode="auto">
            <a:xfrm flipH="1">
              <a:off x="4604" y="2296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807" name="Text Box 95"/>
            <p:cNvSpPr txBox="1">
              <a:spLocks noChangeArrowheads="1"/>
            </p:cNvSpPr>
            <p:nvPr/>
          </p:nvSpPr>
          <p:spPr bwMode="auto">
            <a:xfrm>
              <a:off x="3877" y="2264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B</a:t>
              </a:r>
            </a:p>
          </p:txBody>
        </p:sp>
        <p:sp>
          <p:nvSpPr>
            <p:cNvPr id="115808" name="Text Box 96"/>
            <p:cNvSpPr txBox="1">
              <a:spLocks noChangeArrowheads="1"/>
            </p:cNvSpPr>
            <p:nvPr/>
          </p:nvSpPr>
          <p:spPr bwMode="auto">
            <a:xfrm>
              <a:off x="3878" y="2053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A</a:t>
              </a:r>
            </a:p>
          </p:txBody>
        </p:sp>
        <p:sp>
          <p:nvSpPr>
            <p:cNvPr id="115809" name="Text Box 97"/>
            <p:cNvSpPr txBox="1">
              <a:spLocks noChangeArrowheads="1"/>
            </p:cNvSpPr>
            <p:nvPr/>
          </p:nvSpPr>
          <p:spPr bwMode="auto">
            <a:xfrm>
              <a:off x="4921" y="2144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41551758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57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57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5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5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邏輯代數（</a:t>
            </a:r>
            <a:r>
              <a:rPr lang="en-US" altLang="zh-CN" dirty="0"/>
              <a:t>7</a:t>
            </a:r>
            <a:r>
              <a:rPr lang="zh-CN" altLang="en-US" dirty="0"/>
              <a:t>）</a:t>
            </a:r>
          </a:p>
        </p:txBody>
      </p:sp>
      <p:sp>
        <p:nvSpPr>
          <p:cNvPr id="7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1A2BC-3173-45AF-A403-3DF0D2B623BC}" type="slidenum">
              <a:rPr lang="en-US" altLang="zh-CN"/>
              <a:pPr/>
              <a:t>42</a:t>
            </a:fld>
            <a:endParaRPr lang="en-US" altLang="zh-CN" dirty="0"/>
          </a:p>
        </p:txBody>
      </p:sp>
      <p:sp>
        <p:nvSpPr>
          <p:cNvPr id="11673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2.1  </a:t>
            </a:r>
            <a:r>
              <a:rPr lang="zh-CN" altLang="en-US" dirty="0"/>
              <a:t>邏輯代數的基本運算與公式</a:t>
            </a:r>
          </a:p>
          <a:p>
            <a:pPr lvl="1"/>
            <a:r>
              <a:rPr lang="zh-CN" altLang="en-US" dirty="0"/>
              <a:t>邏輯代數的基本運算：與、或、非</a:t>
            </a:r>
          </a:p>
          <a:p>
            <a:pPr lvl="2">
              <a:buFont typeface="Wingdings" pitchFamily="2" charset="2"/>
              <a:buNone/>
            </a:pPr>
            <a:r>
              <a:rPr lang="zh-CN" altLang="en-US" dirty="0"/>
              <a:t>  </a:t>
            </a:r>
            <a:r>
              <a:rPr lang="en-US" altLang="zh-CN" dirty="0"/>
              <a:t>(2)  </a:t>
            </a:r>
            <a:r>
              <a:rPr lang="zh-CN" altLang="en-US" dirty="0"/>
              <a:t>或運算，邏輯加</a:t>
            </a:r>
          </a:p>
        </p:txBody>
      </p:sp>
      <p:graphicFrame>
        <p:nvGraphicFramePr>
          <p:cNvPr id="116833" name="Group 97"/>
          <p:cNvGraphicFramePr>
            <a:graphicFrameLocks noGrp="1"/>
          </p:cNvGraphicFramePr>
          <p:nvPr/>
        </p:nvGraphicFramePr>
        <p:xfrm>
          <a:off x="1943101" y="3235326"/>
          <a:ext cx="2514600" cy="2164635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6792" name="Object 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0628502"/>
              </p:ext>
            </p:extLst>
          </p:nvPr>
        </p:nvGraphicFramePr>
        <p:xfrm>
          <a:off x="2477274" y="5733271"/>
          <a:ext cx="1590670" cy="432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74360" imgH="164880" progId="Equation.DSMT4">
                  <p:embed/>
                </p:oleObj>
              </mc:Choice>
              <mc:Fallback>
                <p:oleObj name="Equation" r:id="rId2" imgW="774360" imgH="164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7274" y="5733271"/>
                        <a:ext cx="1590670" cy="43296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6823" name="Group 87"/>
          <p:cNvGrpSpPr>
            <a:grpSpLocks/>
          </p:cNvGrpSpPr>
          <p:nvPr/>
        </p:nvGrpSpPr>
        <p:grpSpPr bwMode="auto">
          <a:xfrm>
            <a:off x="4743451" y="2819413"/>
            <a:ext cx="3086100" cy="1787525"/>
            <a:chOff x="3024" y="2090"/>
            <a:chExt cx="2592" cy="1126"/>
          </a:xfrm>
        </p:grpSpPr>
        <p:grpSp>
          <p:nvGrpSpPr>
            <p:cNvPr id="116767" name="Group 31"/>
            <p:cNvGrpSpPr>
              <a:grpSpLocks/>
            </p:cNvGrpSpPr>
            <p:nvPr/>
          </p:nvGrpSpPr>
          <p:grpSpPr bwMode="auto">
            <a:xfrm>
              <a:off x="3984" y="2090"/>
              <a:ext cx="288" cy="192"/>
              <a:chOff x="2832" y="1968"/>
              <a:chExt cx="288" cy="192"/>
            </a:xfrm>
          </p:grpSpPr>
          <p:sp>
            <p:nvSpPr>
              <p:cNvPr id="116768" name="Oval 32"/>
              <p:cNvSpPr>
                <a:spLocks noChangeArrowheads="1"/>
              </p:cNvSpPr>
              <p:nvPr/>
            </p:nvSpPr>
            <p:spPr bwMode="auto">
              <a:xfrm>
                <a:off x="2832" y="2064"/>
                <a:ext cx="96" cy="9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6769" name="Oval 33"/>
              <p:cNvSpPr>
                <a:spLocks noChangeArrowheads="1"/>
              </p:cNvSpPr>
              <p:nvPr/>
            </p:nvSpPr>
            <p:spPr bwMode="auto">
              <a:xfrm>
                <a:off x="3024" y="2064"/>
                <a:ext cx="96" cy="9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6770" name="Line 34"/>
              <p:cNvSpPr>
                <a:spLocks noChangeShapeType="1"/>
              </p:cNvSpPr>
              <p:nvPr/>
            </p:nvSpPr>
            <p:spPr bwMode="auto">
              <a:xfrm flipV="1">
                <a:off x="2880" y="1968"/>
                <a:ext cx="192" cy="9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116771" name="Group 35"/>
            <p:cNvGrpSpPr>
              <a:grpSpLocks/>
            </p:cNvGrpSpPr>
            <p:nvPr/>
          </p:nvGrpSpPr>
          <p:grpSpPr bwMode="auto">
            <a:xfrm>
              <a:off x="3984" y="2522"/>
              <a:ext cx="288" cy="192"/>
              <a:chOff x="2832" y="1968"/>
              <a:chExt cx="288" cy="192"/>
            </a:xfrm>
          </p:grpSpPr>
          <p:sp>
            <p:nvSpPr>
              <p:cNvPr id="116772" name="Oval 36"/>
              <p:cNvSpPr>
                <a:spLocks noChangeArrowheads="1"/>
              </p:cNvSpPr>
              <p:nvPr/>
            </p:nvSpPr>
            <p:spPr bwMode="auto">
              <a:xfrm>
                <a:off x="2832" y="2064"/>
                <a:ext cx="96" cy="9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6773" name="Oval 37"/>
              <p:cNvSpPr>
                <a:spLocks noChangeArrowheads="1"/>
              </p:cNvSpPr>
              <p:nvPr/>
            </p:nvSpPr>
            <p:spPr bwMode="auto">
              <a:xfrm>
                <a:off x="3024" y="2064"/>
                <a:ext cx="96" cy="9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6774" name="Line 38"/>
              <p:cNvSpPr>
                <a:spLocks noChangeShapeType="1"/>
              </p:cNvSpPr>
              <p:nvPr/>
            </p:nvSpPr>
            <p:spPr bwMode="auto">
              <a:xfrm flipV="1">
                <a:off x="2880" y="1968"/>
                <a:ext cx="192" cy="9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16775" name="Line 39"/>
            <p:cNvSpPr>
              <a:spLocks noChangeShapeType="1"/>
            </p:cNvSpPr>
            <p:nvPr/>
          </p:nvSpPr>
          <p:spPr bwMode="auto">
            <a:xfrm>
              <a:off x="3648" y="223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116776" name="Group 40"/>
            <p:cNvGrpSpPr>
              <a:grpSpLocks/>
            </p:cNvGrpSpPr>
            <p:nvPr/>
          </p:nvGrpSpPr>
          <p:grpSpPr bwMode="auto">
            <a:xfrm>
              <a:off x="4992" y="2736"/>
              <a:ext cx="240" cy="240"/>
              <a:chOff x="2832" y="2688"/>
              <a:chExt cx="240" cy="240"/>
            </a:xfrm>
          </p:grpSpPr>
          <p:sp>
            <p:nvSpPr>
              <p:cNvPr id="116777" name="Oval 41"/>
              <p:cNvSpPr>
                <a:spLocks noChangeArrowheads="1"/>
              </p:cNvSpPr>
              <p:nvPr/>
            </p:nvSpPr>
            <p:spPr bwMode="auto">
              <a:xfrm>
                <a:off x="2832" y="2688"/>
                <a:ext cx="240" cy="24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6778" name="Line 42"/>
              <p:cNvSpPr>
                <a:spLocks noChangeShapeType="1"/>
              </p:cNvSpPr>
              <p:nvPr/>
            </p:nvSpPr>
            <p:spPr bwMode="auto">
              <a:xfrm>
                <a:off x="2880" y="2736"/>
                <a:ext cx="144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6779" name="Line 43"/>
              <p:cNvSpPr>
                <a:spLocks noChangeShapeType="1"/>
              </p:cNvSpPr>
              <p:nvPr/>
            </p:nvSpPr>
            <p:spPr bwMode="auto">
              <a:xfrm flipH="1">
                <a:off x="2880" y="2736"/>
                <a:ext cx="144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16780" name="Line 44"/>
            <p:cNvSpPr>
              <a:spLocks noChangeShapeType="1"/>
            </p:cNvSpPr>
            <p:nvPr/>
          </p:nvSpPr>
          <p:spPr bwMode="auto">
            <a:xfrm flipV="1">
              <a:off x="4608" y="2474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6781" name="Line 45"/>
            <p:cNvSpPr>
              <a:spLocks noChangeShapeType="1"/>
            </p:cNvSpPr>
            <p:nvPr/>
          </p:nvSpPr>
          <p:spPr bwMode="auto">
            <a:xfrm>
              <a:off x="5136" y="247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6782" name="Line 46"/>
            <p:cNvSpPr>
              <a:spLocks noChangeShapeType="1"/>
            </p:cNvSpPr>
            <p:nvPr/>
          </p:nvSpPr>
          <p:spPr bwMode="auto">
            <a:xfrm>
              <a:off x="5136" y="297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6783" name="Line 47"/>
            <p:cNvSpPr>
              <a:spLocks noChangeShapeType="1"/>
            </p:cNvSpPr>
            <p:nvPr/>
          </p:nvSpPr>
          <p:spPr bwMode="auto">
            <a:xfrm flipH="1">
              <a:off x="3264" y="3216"/>
              <a:ext cx="18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6784" name="Line 48"/>
            <p:cNvSpPr>
              <a:spLocks noChangeShapeType="1"/>
            </p:cNvSpPr>
            <p:nvPr/>
          </p:nvSpPr>
          <p:spPr bwMode="auto">
            <a:xfrm flipV="1">
              <a:off x="3264" y="2880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6785" name="Line 49"/>
            <p:cNvSpPr>
              <a:spLocks noChangeShapeType="1"/>
            </p:cNvSpPr>
            <p:nvPr/>
          </p:nvSpPr>
          <p:spPr bwMode="auto">
            <a:xfrm>
              <a:off x="3264" y="2448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6786" name="Line 50"/>
            <p:cNvSpPr>
              <a:spLocks noChangeShapeType="1"/>
            </p:cNvSpPr>
            <p:nvPr/>
          </p:nvSpPr>
          <p:spPr bwMode="auto">
            <a:xfrm>
              <a:off x="3168" y="2880"/>
              <a:ext cx="1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6787" name="Line 51"/>
            <p:cNvSpPr>
              <a:spLocks noChangeShapeType="1"/>
            </p:cNvSpPr>
            <p:nvPr/>
          </p:nvSpPr>
          <p:spPr bwMode="auto">
            <a:xfrm>
              <a:off x="3024" y="2832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6788" name="Line 52"/>
            <p:cNvSpPr>
              <a:spLocks noChangeShapeType="1"/>
            </p:cNvSpPr>
            <p:nvPr/>
          </p:nvSpPr>
          <p:spPr bwMode="auto">
            <a:xfrm>
              <a:off x="3264" y="24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6789" name="Text Box 53"/>
            <p:cNvSpPr txBox="1">
              <a:spLocks noChangeArrowheads="1"/>
            </p:cNvSpPr>
            <p:nvPr/>
          </p:nvSpPr>
          <p:spPr bwMode="auto">
            <a:xfrm>
              <a:off x="4032" y="2234"/>
              <a:ext cx="33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A</a:t>
              </a:r>
            </a:p>
          </p:txBody>
        </p:sp>
        <p:sp>
          <p:nvSpPr>
            <p:cNvPr id="116790" name="Text Box 54"/>
            <p:cNvSpPr txBox="1">
              <a:spLocks noChangeArrowheads="1"/>
            </p:cNvSpPr>
            <p:nvPr/>
          </p:nvSpPr>
          <p:spPr bwMode="auto">
            <a:xfrm>
              <a:off x="4032" y="2714"/>
              <a:ext cx="33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B</a:t>
              </a:r>
            </a:p>
          </p:txBody>
        </p:sp>
        <p:sp>
          <p:nvSpPr>
            <p:cNvPr id="116791" name="Text Box 55"/>
            <p:cNvSpPr txBox="1">
              <a:spLocks noChangeArrowheads="1"/>
            </p:cNvSpPr>
            <p:nvPr/>
          </p:nvSpPr>
          <p:spPr bwMode="auto">
            <a:xfrm>
              <a:off x="5280" y="2688"/>
              <a:ext cx="33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F</a:t>
              </a:r>
            </a:p>
          </p:txBody>
        </p:sp>
        <p:sp>
          <p:nvSpPr>
            <p:cNvPr id="116818" name="Line 82"/>
            <p:cNvSpPr>
              <a:spLocks noChangeShapeType="1"/>
            </p:cNvSpPr>
            <p:nvPr/>
          </p:nvSpPr>
          <p:spPr bwMode="auto">
            <a:xfrm>
              <a:off x="3648" y="223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6819" name="Line 83"/>
            <p:cNvSpPr>
              <a:spLocks noChangeShapeType="1"/>
            </p:cNvSpPr>
            <p:nvPr/>
          </p:nvSpPr>
          <p:spPr bwMode="auto">
            <a:xfrm>
              <a:off x="3648" y="266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6820" name="Line 84"/>
            <p:cNvSpPr>
              <a:spLocks noChangeShapeType="1"/>
            </p:cNvSpPr>
            <p:nvPr/>
          </p:nvSpPr>
          <p:spPr bwMode="auto">
            <a:xfrm>
              <a:off x="4272" y="223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6821" name="Line 85"/>
            <p:cNvSpPr>
              <a:spLocks noChangeShapeType="1"/>
            </p:cNvSpPr>
            <p:nvPr/>
          </p:nvSpPr>
          <p:spPr bwMode="auto">
            <a:xfrm>
              <a:off x="4608" y="223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6822" name="Line 86"/>
            <p:cNvSpPr>
              <a:spLocks noChangeShapeType="1"/>
            </p:cNvSpPr>
            <p:nvPr/>
          </p:nvSpPr>
          <p:spPr bwMode="auto">
            <a:xfrm>
              <a:off x="4272" y="266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16824" name="Group 88"/>
          <p:cNvGrpSpPr>
            <a:grpSpLocks/>
          </p:cNvGrpSpPr>
          <p:nvPr/>
        </p:nvGrpSpPr>
        <p:grpSpPr bwMode="auto">
          <a:xfrm>
            <a:off x="5143510" y="5486410"/>
            <a:ext cx="1513285" cy="796926"/>
            <a:chOff x="3878" y="3265"/>
            <a:chExt cx="1271" cy="502"/>
          </a:xfrm>
        </p:grpSpPr>
        <p:sp>
          <p:nvSpPr>
            <p:cNvPr id="116825" name="Rectangle 89"/>
            <p:cNvSpPr>
              <a:spLocks noChangeArrowheads="1"/>
            </p:cNvSpPr>
            <p:nvPr/>
          </p:nvSpPr>
          <p:spPr bwMode="auto">
            <a:xfrm>
              <a:off x="4377" y="3339"/>
              <a:ext cx="226" cy="3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6826" name="Line 90"/>
            <p:cNvSpPr>
              <a:spLocks noChangeShapeType="1"/>
            </p:cNvSpPr>
            <p:nvPr/>
          </p:nvSpPr>
          <p:spPr bwMode="auto">
            <a:xfrm flipH="1">
              <a:off x="4105" y="3430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27" name="Line 91"/>
            <p:cNvSpPr>
              <a:spLocks noChangeShapeType="1"/>
            </p:cNvSpPr>
            <p:nvPr/>
          </p:nvSpPr>
          <p:spPr bwMode="auto">
            <a:xfrm flipH="1">
              <a:off x="4106" y="3612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28" name="Line 92"/>
            <p:cNvSpPr>
              <a:spLocks noChangeShapeType="1"/>
            </p:cNvSpPr>
            <p:nvPr/>
          </p:nvSpPr>
          <p:spPr bwMode="auto">
            <a:xfrm flipH="1">
              <a:off x="4604" y="3521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829" name="Text Box 93"/>
            <p:cNvSpPr txBox="1">
              <a:spLocks noChangeArrowheads="1"/>
            </p:cNvSpPr>
            <p:nvPr/>
          </p:nvSpPr>
          <p:spPr bwMode="auto">
            <a:xfrm>
              <a:off x="3878" y="3476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B</a:t>
              </a:r>
            </a:p>
          </p:txBody>
        </p:sp>
        <p:sp>
          <p:nvSpPr>
            <p:cNvPr id="116830" name="Text Box 94"/>
            <p:cNvSpPr txBox="1">
              <a:spLocks noChangeArrowheads="1"/>
            </p:cNvSpPr>
            <p:nvPr/>
          </p:nvSpPr>
          <p:spPr bwMode="auto">
            <a:xfrm>
              <a:off x="3879" y="3265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A</a:t>
              </a:r>
            </a:p>
          </p:txBody>
        </p:sp>
        <p:sp>
          <p:nvSpPr>
            <p:cNvPr id="116831" name="Text Box 95"/>
            <p:cNvSpPr txBox="1">
              <a:spLocks noChangeArrowheads="1"/>
            </p:cNvSpPr>
            <p:nvPr/>
          </p:nvSpPr>
          <p:spPr bwMode="auto">
            <a:xfrm>
              <a:off x="4922" y="3385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F</a:t>
              </a:r>
            </a:p>
          </p:txBody>
        </p:sp>
        <p:sp>
          <p:nvSpPr>
            <p:cNvPr id="116832" name="Text Box 96"/>
            <p:cNvSpPr txBox="1">
              <a:spLocks noChangeArrowheads="1"/>
            </p:cNvSpPr>
            <p:nvPr/>
          </p:nvSpPr>
          <p:spPr bwMode="auto">
            <a:xfrm>
              <a:off x="4331" y="3385"/>
              <a:ext cx="273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2000" dirty="0">
                  <a:latin typeface="Tahoma" pitchFamily="34" charset="0"/>
                </a:rPr>
                <a:t>+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87798836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6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68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68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6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邏輯代數（</a:t>
            </a:r>
            <a:r>
              <a:rPr lang="en-US" altLang="zh-CN" dirty="0"/>
              <a:t>8</a:t>
            </a:r>
            <a:r>
              <a:rPr lang="zh-CN" altLang="en-US" dirty="0"/>
              <a:t>）</a:t>
            </a:r>
          </a:p>
        </p:txBody>
      </p:sp>
      <p:sp>
        <p:nvSpPr>
          <p:cNvPr id="5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AFFC3-E0F2-4CF7-83F4-3B307CF4E902}" type="slidenum">
              <a:rPr lang="en-US" altLang="zh-CN"/>
              <a:pPr/>
              <a:t>43</a:t>
            </a:fld>
            <a:endParaRPr lang="en-US" altLang="zh-CN" dirty="0"/>
          </a:p>
        </p:txBody>
      </p:sp>
      <p:sp>
        <p:nvSpPr>
          <p:cNvPr id="11776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2.1  </a:t>
            </a:r>
            <a:r>
              <a:rPr lang="zh-CN" altLang="en-US" dirty="0"/>
              <a:t>邏輯代數的基本運算與公式</a:t>
            </a:r>
          </a:p>
          <a:p>
            <a:pPr lvl="1"/>
            <a:r>
              <a:rPr lang="zh-CN" altLang="en-US" dirty="0"/>
              <a:t>邏輯代數的基本運算：與、或、非</a:t>
            </a:r>
          </a:p>
          <a:p>
            <a:pPr lvl="2">
              <a:buFont typeface="Wingdings" pitchFamily="2" charset="2"/>
              <a:buNone/>
            </a:pPr>
            <a:r>
              <a:rPr lang="zh-CN" altLang="en-US" dirty="0"/>
              <a:t>  </a:t>
            </a:r>
            <a:r>
              <a:rPr lang="en-US" altLang="zh-CN" dirty="0"/>
              <a:t>(3)  </a:t>
            </a:r>
            <a:r>
              <a:rPr lang="zh-CN" altLang="en-US" dirty="0"/>
              <a:t>非運算，取反</a:t>
            </a:r>
          </a:p>
          <a:p>
            <a:endParaRPr lang="en-US" altLang="zh-CN" dirty="0"/>
          </a:p>
        </p:txBody>
      </p:sp>
      <p:graphicFrame>
        <p:nvGraphicFramePr>
          <p:cNvPr id="117828" name="Group 68"/>
          <p:cNvGraphicFramePr>
            <a:graphicFrameLocks noGrp="1"/>
          </p:cNvGraphicFramePr>
          <p:nvPr/>
        </p:nvGraphicFramePr>
        <p:xfrm>
          <a:off x="2457451" y="3581401"/>
          <a:ext cx="1676400" cy="1298781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7821" name="Object 6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7188538"/>
              </p:ext>
            </p:extLst>
          </p:nvPr>
        </p:nvGraphicFramePr>
        <p:xfrm>
          <a:off x="2843820" y="5157192"/>
          <a:ext cx="1152116" cy="5735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69800" imgH="215640" progId="Equation.DSMT4">
                  <p:embed/>
                </p:oleObj>
              </mc:Choice>
              <mc:Fallback>
                <p:oleObj name="Equation" r:id="rId2" imgW="4698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20" y="5157192"/>
                        <a:ext cx="1152116" cy="57355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7830" name="Group 70"/>
          <p:cNvGrpSpPr>
            <a:grpSpLocks/>
          </p:cNvGrpSpPr>
          <p:nvPr/>
        </p:nvGrpSpPr>
        <p:grpSpPr bwMode="auto">
          <a:xfrm>
            <a:off x="4629150" y="3429000"/>
            <a:ext cx="3086100" cy="1295400"/>
            <a:chOff x="3024" y="2400"/>
            <a:chExt cx="2592" cy="816"/>
          </a:xfrm>
        </p:grpSpPr>
        <p:sp>
          <p:nvSpPr>
            <p:cNvPr id="117789" name="Text Box 29"/>
            <p:cNvSpPr txBox="1">
              <a:spLocks noChangeArrowheads="1"/>
            </p:cNvSpPr>
            <p:nvPr/>
          </p:nvSpPr>
          <p:spPr bwMode="auto">
            <a:xfrm>
              <a:off x="5280" y="2688"/>
              <a:ext cx="33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F</a:t>
              </a:r>
            </a:p>
          </p:txBody>
        </p:sp>
        <p:grpSp>
          <p:nvGrpSpPr>
            <p:cNvPr id="117829" name="Group 69"/>
            <p:cNvGrpSpPr>
              <a:grpSpLocks/>
            </p:cNvGrpSpPr>
            <p:nvPr/>
          </p:nvGrpSpPr>
          <p:grpSpPr bwMode="auto">
            <a:xfrm>
              <a:off x="3024" y="2400"/>
              <a:ext cx="2208" cy="816"/>
              <a:chOff x="3024" y="2400"/>
              <a:chExt cx="2208" cy="816"/>
            </a:xfrm>
          </p:grpSpPr>
          <p:sp>
            <p:nvSpPr>
              <p:cNvPr id="117770" name="Oval 10"/>
              <p:cNvSpPr>
                <a:spLocks noChangeArrowheads="1"/>
              </p:cNvSpPr>
              <p:nvPr/>
            </p:nvSpPr>
            <p:spPr bwMode="auto">
              <a:xfrm>
                <a:off x="4416" y="2880"/>
                <a:ext cx="96" cy="9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7771" name="Oval 11"/>
              <p:cNvSpPr>
                <a:spLocks noChangeArrowheads="1"/>
              </p:cNvSpPr>
              <p:nvPr/>
            </p:nvSpPr>
            <p:spPr bwMode="auto">
              <a:xfrm>
                <a:off x="4416" y="2688"/>
                <a:ext cx="96" cy="9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7772" name="Line 12"/>
              <p:cNvSpPr>
                <a:spLocks noChangeShapeType="1"/>
              </p:cNvSpPr>
              <p:nvPr/>
            </p:nvSpPr>
            <p:spPr bwMode="auto">
              <a:xfrm>
                <a:off x="4512" y="2784"/>
                <a:ext cx="96" cy="14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grpSp>
            <p:nvGrpSpPr>
              <p:cNvPr id="117774" name="Group 14"/>
              <p:cNvGrpSpPr>
                <a:grpSpLocks/>
              </p:cNvGrpSpPr>
              <p:nvPr/>
            </p:nvGrpSpPr>
            <p:grpSpPr bwMode="auto">
              <a:xfrm>
                <a:off x="4992" y="2736"/>
                <a:ext cx="240" cy="240"/>
                <a:chOff x="2832" y="2688"/>
                <a:chExt cx="240" cy="240"/>
              </a:xfrm>
            </p:grpSpPr>
            <p:sp>
              <p:nvSpPr>
                <p:cNvPr id="117775" name="Oval 15"/>
                <p:cNvSpPr>
                  <a:spLocks noChangeArrowheads="1"/>
                </p:cNvSpPr>
                <p:nvPr/>
              </p:nvSpPr>
              <p:spPr bwMode="auto">
                <a:xfrm>
                  <a:off x="2832" y="2688"/>
                  <a:ext cx="240" cy="240"/>
                </a:xfrm>
                <a:prstGeom prst="ellipse">
                  <a:avLst/>
                </a:prstGeom>
                <a:solidFill>
                  <a:srgbClr val="FF0000"/>
                </a:solidFill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7776" name="Line 16"/>
                <p:cNvSpPr>
                  <a:spLocks noChangeShapeType="1"/>
                </p:cNvSpPr>
                <p:nvPr/>
              </p:nvSpPr>
              <p:spPr bwMode="auto">
                <a:xfrm>
                  <a:off x="2880" y="2736"/>
                  <a:ext cx="144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117777" name="Line 17"/>
                <p:cNvSpPr>
                  <a:spLocks noChangeShapeType="1"/>
                </p:cNvSpPr>
                <p:nvPr/>
              </p:nvSpPr>
              <p:spPr bwMode="auto">
                <a:xfrm flipH="1">
                  <a:off x="2880" y="2736"/>
                  <a:ext cx="144" cy="144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sp>
            <p:nvSpPr>
              <p:cNvPr id="117778" name="Line 18"/>
              <p:cNvSpPr>
                <a:spLocks noChangeShapeType="1"/>
              </p:cNvSpPr>
              <p:nvPr/>
            </p:nvSpPr>
            <p:spPr bwMode="auto">
              <a:xfrm flipV="1">
                <a:off x="3984" y="2448"/>
                <a:ext cx="1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7779" name="Line 19"/>
              <p:cNvSpPr>
                <a:spLocks noChangeShapeType="1"/>
              </p:cNvSpPr>
              <p:nvPr/>
            </p:nvSpPr>
            <p:spPr bwMode="auto">
              <a:xfrm>
                <a:off x="5136" y="2448"/>
                <a:ext cx="0" cy="2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7780" name="Line 20"/>
              <p:cNvSpPr>
                <a:spLocks noChangeShapeType="1"/>
              </p:cNvSpPr>
              <p:nvPr/>
            </p:nvSpPr>
            <p:spPr bwMode="auto">
              <a:xfrm>
                <a:off x="5136" y="2976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7781" name="Line 21"/>
              <p:cNvSpPr>
                <a:spLocks noChangeShapeType="1"/>
              </p:cNvSpPr>
              <p:nvPr/>
            </p:nvSpPr>
            <p:spPr bwMode="auto">
              <a:xfrm flipH="1">
                <a:off x="3264" y="3216"/>
                <a:ext cx="18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7782" name="Line 22"/>
              <p:cNvSpPr>
                <a:spLocks noChangeShapeType="1"/>
              </p:cNvSpPr>
              <p:nvPr/>
            </p:nvSpPr>
            <p:spPr bwMode="auto">
              <a:xfrm flipV="1">
                <a:off x="3264" y="2880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7783" name="Line 23"/>
              <p:cNvSpPr>
                <a:spLocks noChangeShapeType="1"/>
              </p:cNvSpPr>
              <p:nvPr/>
            </p:nvSpPr>
            <p:spPr bwMode="auto">
              <a:xfrm>
                <a:off x="3264" y="2448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7784" name="Line 24"/>
              <p:cNvSpPr>
                <a:spLocks noChangeShapeType="1"/>
              </p:cNvSpPr>
              <p:nvPr/>
            </p:nvSpPr>
            <p:spPr bwMode="auto">
              <a:xfrm>
                <a:off x="3168" y="2880"/>
                <a:ext cx="19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7785" name="Line 25"/>
              <p:cNvSpPr>
                <a:spLocks noChangeShapeType="1"/>
              </p:cNvSpPr>
              <p:nvPr/>
            </p:nvSpPr>
            <p:spPr bwMode="auto">
              <a:xfrm>
                <a:off x="3024" y="2832"/>
                <a:ext cx="43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7786" name="Line 26"/>
              <p:cNvSpPr>
                <a:spLocks noChangeShapeType="1"/>
              </p:cNvSpPr>
              <p:nvPr/>
            </p:nvSpPr>
            <p:spPr bwMode="auto">
              <a:xfrm>
                <a:off x="3264" y="2448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7822" name="Line 62"/>
              <p:cNvSpPr>
                <a:spLocks noChangeShapeType="1"/>
              </p:cNvSpPr>
              <p:nvPr/>
            </p:nvSpPr>
            <p:spPr bwMode="auto">
              <a:xfrm>
                <a:off x="4464" y="2448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7823" name="Line 63"/>
              <p:cNvSpPr>
                <a:spLocks noChangeShapeType="1"/>
              </p:cNvSpPr>
              <p:nvPr/>
            </p:nvSpPr>
            <p:spPr bwMode="auto">
              <a:xfrm>
                <a:off x="4464" y="2976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7824" name="Rectangle 64"/>
              <p:cNvSpPr>
                <a:spLocks noChangeArrowheads="1"/>
              </p:cNvSpPr>
              <p:nvPr/>
            </p:nvSpPr>
            <p:spPr bwMode="auto">
              <a:xfrm>
                <a:off x="3648" y="2400"/>
                <a:ext cx="336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7825" name="Rectangle 65"/>
              <p:cNvSpPr>
                <a:spLocks noChangeArrowheads="1"/>
              </p:cNvSpPr>
              <p:nvPr/>
            </p:nvSpPr>
            <p:spPr bwMode="auto">
              <a:xfrm>
                <a:off x="4133" y="2640"/>
                <a:ext cx="331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A</a:t>
                </a:r>
              </a:p>
            </p:txBody>
          </p:sp>
          <p:sp>
            <p:nvSpPr>
              <p:cNvPr id="117826" name="Rectangle 66"/>
              <p:cNvSpPr>
                <a:spLocks noChangeArrowheads="1"/>
              </p:cNvSpPr>
              <p:nvPr/>
            </p:nvSpPr>
            <p:spPr bwMode="auto">
              <a:xfrm>
                <a:off x="3696" y="2544"/>
                <a:ext cx="356" cy="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R</a:t>
                </a:r>
              </a:p>
            </p:txBody>
          </p:sp>
        </p:grpSp>
      </p:grpSp>
      <p:grpSp>
        <p:nvGrpSpPr>
          <p:cNvPr id="117831" name="Group 71"/>
          <p:cNvGrpSpPr>
            <a:grpSpLocks/>
          </p:cNvGrpSpPr>
          <p:nvPr/>
        </p:nvGrpSpPr>
        <p:grpSpPr bwMode="auto">
          <a:xfrm>
            <a:off x="5086360" y="5257814"/>
            <a:ext cx="1565672" cy="576263"/>
            <a:chOff x="3878" y="1479"/>
            <a:chExt cx="1315" cy="363"/>
          </a:xfrm>
        </p:grpSpPr>
        <p:sp>
          <p:nvSpPr>
            <p:cNvPr id="117832" name="Rectangle 72"/>
            <p:cNvSpPr>
              <a:spLocks noChangeArrowheads="1"/>
            </p:cNvSpPr>
            <p:nvPr/>
          </p:nvSpPr>
          <p:spPr bwMode="auto">
            <a:xfrm>
              <a:off x="4377" y="1479"/>
              <a:ext cx="226" cy="3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7833" name="Oval 73"/>
            <p:cNvSpPr>
              <a:spLocks noChangeArrowheads="1"/>
            </p:cNvSpPr>
            <p:nvPr/>
          </p:nvSpPr>
          <p:spPr bwMode="auto">
            <a:xfrm>
              <a:off x="4603" y="1615"/>
              <a:ext cx="91" cy="9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7834" name="Line 74"/>
            <p:cNvSpPr>
              <a:spLocks noChangeShapeType="1"/>
            </p:cNvSpPr>
            <p:nvPr/>
          </p:nvSpPr>
          <p:spPr bwMode="auto">
            <a:xfrm flipH="1">
              <a:off x="4104" y="1661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35" name="Line 75"/>
            <p:cNvSpPr>
              <a:spLocks noChangeShapeType="1"/>
            </p:cNvSpPr>
            <p:nvPr/>
          </p:nvSpPr>
          <p:spPr bwMode="auto">
            <a:xfrm flipH="1">
              <a:off x="4694" y="1661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36" name="Text Box 76"/>
            <p:cNvSpPr txBox="1">
              <a:spLocks noChangeArrowheads="1"/>
            </p:cNvSpPr>
            <p:nvPr/>
          </p:nvSpPr>
          <p:spPr bwMode="auto">
            <a:xfrm>
              <a:off x="3878" y="1525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A</a:t>
              </a:r>
            </a:p>
          </p:txBody>
        </p:sp>
        <p:sp>
          <p:nvSpPr>
            <p:cNvPr id="117837" name="Text Box 77"/>
            <p:cNvSpPr txBox="1">
              <a:spLocks noChangeArrowheads="1"/>
            </p:cNvSpPr>
            <p:nvPr/>
          </p:nvSpPr>
          <p:spPr bwMode="auto">
            <a:xfrm>
              <a:off x="4966" y="1525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9916448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78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78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7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邏輯代數（</a:t>
            </a:r>
            <a:r>
              <a:rPr lang="en-US" altLang="zh-CN" dirty="0"/>
              <a:t>9</a:t>
            </a:r>
            <a:r>
              <a:rPr lang="zh-CN" altLang="en-US" dirty="0"/>
              <a:t>）</a:t>
            </a:r>
          </a:p>
        </p:txBody>
      </p:sp>
      <p:sp>
        <p:nvSpPr>
          <p:cNvPr id="5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4351-DC15-4F6F-A2AD-D8F248D50D6E}" type="slidenum">
              <a:rPr lang="en-US" altLang="zh-CN"/>
              <a:pPr/>
              <a:t>44</a:t>
            </a:fld>
            <a:endParaRPr lang="en-US" altLang="zh-CN" dirty="0"/>
          </a:p>
        </p:txBody>
      </p:sp>
      <p:sp>
        <p:nvSpPr>
          <p:cNvPr id="264196" name="Rectangle 4"/>
          <p:cNvSpPr>
            <a:spLocks noGrp="1" noChangeArrowheads="1"/>
          </p:cNvSpPr>
          <p:nvPr>
            <p:ph sz="quarter" idx="1"/>
          </p:nvPr>
        </p:nvSpPr>
        <p:spPr>
          <a:noFill/>
          <a:ln/>
        </p:spPr>
        <p:txBody>
          <a:bodyPr/>
          <a:lstStyle/>
          <a:p>
            <a:r>
              <a:rPr lang="en-US" altLang="zh-CN" dirty="0"/>
              <a:t>2.1  </a:t>
            </a:r>
            <a:r>
              <a:rPr lang="zh-CN" altLang="en-US" dirty="0"/>
              <a:t>邏輯代數的基本運算與公式</a:t>
            </a:r>
          </a:p>
          <a:p>
            <a:pPr lvl="1"/>
            <a:r>
              <a:rPr lang="zh-CN" altLang="en-US" dirty="0"/>
              <a:t>其他基本的邏輯電路</a:t>
            </a:r>
          </a:p>
          <a:p>
            <a:pPr lvl="2"/>
            <a:r>
              <a:rPr lang="zh-CN" altLang="en-US" dirty="0"/>
              <a:t>“與非”門：實現“與非”運算的電路。</a:t>
            </a:r>
          </a:p>
        </p:txBody>
      </p:sp>
      <p:graphicFrame>
        <p:nvGraphicFramePr>
          <p:cNvPr id="264319" name="Group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4921827"/>
              </p:ext>
            </p:extLst>
          </p:nvPr>
        </p:nvGraphicFramePr>
        <p:xfrm>
          <a:off x="1475656" y="3429001"/>
          <a:ext cx="3953594" cy="2278269"/>
        </p:xfrm>
        <a:graphic>
          <a:graphicData uri="http://schemas.openxmlformats.org/drawingml/2006/table">
            <a:tbl>
              <a:tblPr/>
              <a:tblGrid>
                <a:gridCol w="4771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3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14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96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L="68580" marR="6858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F’</a:t>
                      </a:r>
                      <a:r>
                        <a:rPr kumimoji="1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＝</a:t>
                      </a: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AB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6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64223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999818"/>
              </p:ext>
            </p:extLst>
          </p:nvPr>
        </p:nvGraphicFramePr>
        <p:xfrm>
          <a:off x="5956400" y="3645024"/>
          <a:ext cx="1436797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71320" imgH="215640" progId="Equation.DSMT4">
                  <p:embed/>
                </p:oleObj>
              </mc:Choice>
              <mc:Fallback>
                <p:oleObj name="Equation" r:id="rId2" imgW="5713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6400" y="3645024"/>
                        <a:ext cx="1436797" cy="5905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4233" name="Group 41"/>
          <p:cNvGrpSpPr>
            <a:grpSpLocks/>
          </p:cNvGrpSpPr>
          <p:nvPr/>
        </p:nvGrpSpPr>
        <p:grpSpPr bwMode="auto">
          <a:xfrm>
            <a:off x="5886460" y="4724410"/>
            <a:ext cx="2069915" cy="796926"/>
            <a:chOff x="3216" y="2928"/>
            <a:chExt cx="1379" cy="502"/>
          </a:xfrm>
        </p:grpSpPr>
        <p:sp>
          <p:nvSpPr>
            <p:cNvPr id="264225" name="Rectangle 33"/>
            <p:cNvSpPr>
              <a:spLocks noChangeArrowheads="1"/>
            </p:cNvSpPr>
            <p:nvPr/>
          </p:nvSpPr>
          <p:spPr bwMode="auto">
            <a:xfrm>
              <a:off x="3716" y="2989"/>
              <a:ext cx="226" cy="3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4226" name="Line 34"/>
            <p:cNvSpPr>
              <a:spLocks noChangeShapeType="1"/>
            </p:cNvSpPr>
            <p:nvPr/>
          </p:nvSpPr>
          <p:spPr bwMode="auto">
            <a:xfrm flipH="1">
              <a:off x="3443" y="3080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4227" name="Line 35"/>
            <p:cNvSpPr>
              <a:spLocks noChangeShapeType="1"/>
            </p:cNvSpPr>
            <p:nvPr/>
          </p:nvSpPr>
          <p:spPr bwMode="auto">
            <a:xfrm flipH="1">
              <a:off x="3444" y="3262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4228" name="Line 36"/>
            <p:cNvSpPr>
              <a:spLocks noChangeShapeType="1"/>
            </p:cNvSpPr>
            <p:nvPr/>
          </p:nvSpPr>
          <p:spPr bwMode="auto">
            <a:xfrm flipH="1">
              <a:off x="4032" y="3168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4229" name="Text Box 37"/>
            <p:cNvSpPr txBox="1">
              <a:spLocks noChangeArrowheads="1"/>
            </p:cNvSpPr>
            <p:nvPr/>
          </p:nvSpPr>
          <p:spPr bwMode="auto">
            <a:xfrm>
              <a:off x="3216" y="3139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B</a:t>
              </a:r>
            </a:p>
          </p:txBody>
        </p:sp>
        <p:sp>
          <p:nvSpPr>
            <p:cNvPr id="264230" name="Text Box 38"/>
            <p:cNvSpPr txBox="1">
              <a:spLocks noChangeArrowheads="1"/>
            </p:cNvSpPr>
            <p:nvPr/>
          </p:nvSpPr>
          <p:spPr bwMode="auto">
            <a:xfrm>
              <a:off x="3217" y="2928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A</a:t>
              </a:r>
            </a:p>
          </p:txBody>
        </p:sp>
        <p:sp>
          <p:nvSpPr>
            <p:cNvPr id="264231" name="Text Box 39"/>
            <p:cNvSpPr txBox="1">
              <a:spLocks noChangeArrowheads="1"/>
            </p:cNvSpPr>
            <p:nvPr/>
          </p:nvSpPr>
          <p:spPr bwMode="auto">
            <a:xfrm>
              <a:off x="4368" y="3024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F</a:t>
              </a:r>
            </a:p>
          </p:txBody>
        </p:sp>
        <p:sp>
          <p:nvSpPr>
            <p:cNvPr id="264232" name="Oval 40"/>
            <p:cNvSpPr>
              <a:spLocks noChangeArrowheads="1"/>
            </p:cNvSpPr>
            <p:nvPr/>
          </p:nvSpPr>
          <p:spPr bwMode="auto">
            <a:xfrm>
              <a:off x="3936" y="3120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64298" name="Group 106"/>
          <p:cNvGrpSpPr>
            <a:grpSpLocks/>
          </p:cNvGrpSpPr>
          <p:nvPr/>
        </p:nvGrpSpPr>
        <p:grpSpPr bwMode="auto">
          <a:xfrm>
            <a:off x="4211960" y="3429008"/>
            <a:ext cx="1085851" cy="523876"/>
            <a:chOff x="4032" y="1584"/>
            <a:chExt cx="912" cy="330"/>
          </a:xfrm>
        </p:grpSpPr>
        <p:sp>
          <p:nvSpPr>
            <p:cNvPr id="264296" name="Rectangle 104"/>
            <p:cNvSpPr>
              <a:spLocks noChangeArrowheads="1"/>
            </p:cNvSpPr>
            <p:nvPr/>
          </p:nvSpPr>
          <p:spPr bwMode="auto">
            <a:xfrm>
              <a:off x="4032" y="1584"/>
              <a:ext cx="912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 dirty="0"/>
                <a:t>F=AB</a:t>
              </a:r>
            </a:p>
          </p:txBody>
        </p:sp>
        <p:sp>
          <p:nvSpPr>
            <p:cNvPr id="264295" name="Line 103"/>
            <p:cNvSpPr>
              <a:spLocks noChangeShapeType="1"/>
            </p:cNvSpPr>
            <p:nvPr/>
          </p:nvSpPr>
          <p:spPr bwMode="auto">
            <a:xfrm>
              <a:off x="4530" y="1632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64318" name="Group 126"/>
          <p:cNvGrpSpPr>
            <a:grpSpLocks/>
          </p:cNvGrpSpPr>
          <p:nvPr/>
        </p:nvGrpSpPr>
        <p:grpSpPr bwMode="auto">
          <a:xfrm>
            <a:off x="4625589" y="3933056"/>
            <a:ext cx="367904" cy="1819276"/>
            <a:chOff x="2925" y="2532"/>
            <a:chExt cx="309" cy="1146"/>
          </a:xfrm>
        </p:grpSpPr>
        <p:sp>
          <p:nvSpPr>
            <p:cNvPr id="264314" name="Rectangle 122"/>
            <p:cNvSpPr>
              <a:spLocks noChangeArrowheads="1"/>
            </p:cNvSpPr>
            <p:nvPr/>
          </p:nvSpPr>
          <p:spPr bwMode="auto">
            <a:xfrm>
              <a:off x="2928" y="2532"/>
              <a:ext cx="30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 dirty="0"/>
                <a:t>1</a:t>
              </a:r>
            </a:p>
          </p:txBody>
        </p:sp>
        <p:sp>
          <p:nvSpPr>
            <p:cNvPr id="264315" name="Rectangle 123"/>
            <p:cNvSpPr>
              <a:spLocks noChangeArrowheads="1"/>
            </p:cNvSpPr>
            <p:nvPr/>
          </p:nvSpPr>
          <p:spPr bwMode="auto">
            <a:xfrm>
              <a:off x="2928" y="2793"/>
              <a:ext cx="30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 dirty="0"/>
                <a:t>1</a:t>
              </a:r>
            </a:p>
          </p:txBody>
        </p:sp>
        <p:sp>
          <p:nvSpPr>
            <p:cNvPr id="264316" name="Rectangle 124"/>
            <p:cNvSpPr>
              <a:spLocks noChangeArrowheads="1"/>
            </p:cNvSpPr>
            <p:nvPr/>
          </p:nvSpPr>
          <p:spPr bwMode="auto">
            <a:xfrm>
              <a:off x="2928" y="3072"/>
              <a:ext cx="30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 dirty="0"/>
                <a:t>1</a:t>
              </a:r>
            </a:p>
          </p:txBody>
        </p:sp>
        <p:sp>
          <p:nvSpPr>
            <p:cNvPr id="264317" name="Rectangle 125"/>
            <p:cNvSpPr>
              <a:spLocks noChangeArrowheads="1"/>
            </p:cNvSpPr>
            <p:nvPr/>
          </p:nvSpPr>
          <p:spPr bwMode="auto">
            <a:xfrm>
              <a:off x="2925" y="3348"/>
              <a:ext cx="30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 dirty="0"/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29098591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4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64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64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4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4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64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邏輯代數（</a:t>
            </a:r>
            <a:r>
              <a:rPr lang="en-US" altLang="zh-CN" dirty="0"/>
              <a:t>10</a:t>
            </a:r>
            <a:r>
              <a:rPr lang="zh-CN" altLang="en-US" dirty="0"/>
              <a:t>）</a:t>
            </a:r>
          </a:p>
        </p:txBody>
      </p:sp>
      <p:sp>
        <p:nvSpPr>
          <p:cNvPr id="5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7379F-E325-4011-B4D1-724939167004}" type="slidenum">
              <a:rPr lang="en-US" altLang="zh-CN"/>
              <a:pPr/>
              <a:t>45</a:t>
            </a:fld>
            <a:endParaRPr lang="en-US" altLang="zh-CN" dirty="0"/>
          </a:p>
        </p:txBody>
      </p:sp>
      <p:sp>
        <p:nvSpPr>
          <p:cNvPr id="265221" name="Rectangle 5"/>
          <p:cNvSpPr>
            <a:spLocks noGrp="1" noChangeArrowheads="1"/>
          </p:cNvSpPr>
          <p:nvPr>
            <p:ph sz="quarter" idx="1"/>
          </p:nvPr>
        </p:nvSpPr>
        <p:spPr>
          <a:noFill/>
          <a:ln/>
        </p:spPr>
        <p:txBody>
          <a:bodyPr/>
          <a:lstStyle/>
          <a:p>
            <a:r>
              <a:rPr lang="en-US" altLang="zh-CN" dirty="0"/>
              <a:t>2.1  </a:t>
            </a:r>
            <a:r>
              <a:rPr lang="zh-CN" altLang="en-US" dirty="0"/>
              <a:t>邏輯代數的基本運算與公式</a:t>
            </a:r>
          </a:p>
          <a:p>
            <a:pPr lvl="1"/>
            <a:r>
              <a:rPr lang="zh-CN" altLang="en-US" dirty="0"/>
              <a:t>其他基本的邏輯電路</a:t>
            </a:r>
          </a:p>
          <a:p>
            <a:pPr lvl="2"/>
            <a:r>
              <a:rPr lang="zh-CN" altLang="en-US" dirty="0"/>
              <a:t>“或非”門：實現“或非”運算的電路。</a:t>
            </a:r>
          </a:p>
        </p:txBody>
      </p:sp>
      <p:graphicFrame>
        <p:nvGraphicFramePr>
          <p:cNvPr id="265273" name="Group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2753858"/>
              </p:ext>
            </p:extLst>
          </p:nvPr>
        </p:nvGraphicFramePr>
        <p:xfrm>
          <a:off x="827585" y="3429001"/>
          <a:ext cx="4629060" cy="2278269"/>
        </p:xfrm>
        <a:graphic>
          <a:graphicData uri="http://schemas.openxmlformats.org/drawingml/2006/table">
            <a:tbl>
              <a:tblPr/>
              <a:tblGrid>
                <a:gridCol w="55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4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54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64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F’</a:t>
                      </a:r>
                      <a:r>
                        <a:rPr kumimoji="1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＝</a:t>
                      </a: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  <a:r>
                        <a:rPr kumimoji="1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＋</a:t>
                      </a: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8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6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65254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7897530"/>
              </p:ext>
            </p:extLst>
          </p:nvPr>
        </p:nvGraphicFramePr>
        <p:xfrm>
          <a:off x="5635447" y="3633793"/>
          <a:ext cx="174486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74360" imgH="215640" progId="Equation.DSMT4">
                  <p:embed/>
                </p:oleObj>
              </mc:Choice>
              <mc:Fallback>
                <p:oleObj name="Equation" r:id="rId2" imgW="7743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5447" y="3633793"/>
                        <a:ext cx="1744865" cy="5143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5274" name="Group 58"/>
          <p:cNvGrpSpPr>
            <a:grpSpLocks/>
          </p:cNvGrpSpPr>
          <p:nvPr/>
        </p:nvGrpSpPr>
        <p:grpSpPr bwMode="auto">
          <a:xfrm>
            <a:off x="4012417" y="3443285"/>
            <a:ext cx="1444228" cy="523874"/>
            <a:chOff x="3936" y="1440"/>
            <a:chExt cx="1213" cy="330"/>
          </a:xfrm>
        </p:grpSpPr>
        <p:sp>
          <p:nvSpPr>
            <p:cNvPr id="265265" name="Rectangle 49"/>
            <p:cNvSpPr>
              <a:spLocks noChangeArrowheads="1"/>
            </p:cNvSpPr>
            <p:nvPr/>
          </p:nvSpPr>
          <p:spPr bwMode="auto">
            <a:xfrm>
              <a:off x="3936" y="1440"/>
              <a:ext cx="1213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 dirty="0"/>
                <a:t>F=A</a:t>
              </a:r>
              <a:r>
                <a:rPr lang="zh-CN" altLang="en-US" sz="2800" dirty="0"/>
                <a:t>＋</a:t>
              </a:r>
              <a:r>
                <a:rPr lang="en-US" altLang="zh-CN" sz="2800" dirty="0"/>
                <a:t>B</a:t>
              </a:r>
            </a:p>
          </p:txBody>
        </p:sp>
        <p:sp>
          <p:nvSpPr>
            <p:cNvPr id="265266" name="Line 50"/>
            <p:cNvSpPr>
              <a:spLocks noChangeShapeType="1"/>
            </p:cNvSpPr>
            <p:nvPr/>
          </p:nvSpPr>
          <p:spPr bwMode="auto">
            <a:xfrm flipV="1">
              <a:off x="4332" y="1485"/>
              <a:ext cx="739" cy="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65275" name="Group 59"/>
          <p:cNvGrpSpPr>
            <a:grpSpLocks/>
          </p:cNvGrpSpPr>
          <p:nvPr/>
        </p:nvGrpSpPr>
        <p:grpSpPr bwMode="auto">
          <a:xfrm>
            <a:off x="4408542" y="3886206"/>
            <a:ext cx="364332" cy="1833563"/>
            <a:chOff x="4464" y="768"/>
            <a:chExt cx="306" cy="1155"/>
          </a:xfrm>
        </p:grpSpPr>
        <p:sp>
          <p:nvSpPr>
            <p:cNvPr id="265268" name="Rectangle 52"/>
            <p:cNvSpPr>
              <a:spLocks noChangeArrowheads="1"/>
            </p:cNvSpPr>
            <p:nvPr/>
          </p:nvSpPr>
          <p:spPr bwMode="auto">
            <a:xfrm>
              <a:off x="4464" y="768"/>
              <a:ext cx="30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 dirty="0"/>
                <a:t>1</a:t>
              </a:r>
            </a:p>
          </p:txBody>
        </p:sp>
        <p:sp>
          <p:nvSpPr>
            <p:cNvPr id="265269" name="Rectangle 53"/>
            <p:cNvSpPr>
              <a:spLocks noChangeArrowheads="1"/>
            </p:cNvSpPr>
            <p:nvPr/>
          </p:nvSpPr>
          <p:spPr bwMode="auto">
            <a:xfrm>
              <a:off x="4464" y="1065"/>
              <a:ext cx="30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 dirty="0"/>
                <a:t>0</a:t>
              </a:r>
            </a:p>
          </p:txBody>
        </p:sp>
        <p:sp>
          <p:nvSpPr>
            <p:cNvPr id="265270" name="Rectangle 54"/>
            <p:cNvSpPr>
              <a:spLocks noChangeArrowheads="1"/>
            </p:cNvSpPr>
            <p:nvPr/>
          </p:nvSpPr>
          <p:spPr bwMode="auto">
            <a:xfrm>
              <a:off x="4464" y="1332"/>
              <a:ext cx="30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 dirty="0"/>
                <a:t>0</a:t>
              </a:r>
            </a:p>
          </p:txBody>
        </p:sp>
        <p:sp>
          <p:nvSpPr>
            <p:cNvPr id="265271" name="Rectangle 55"/>
            <p:cNvSpPr>
              <a:spLocks noChangeArrowheads="1"/>
            </p:cNvSpPr>
            <p:nvPr/>
          </p:nvSpPr>
          <p:spPr bwMode="auto">
            <a:xfrm>
              <a:off x="4464" y="1593"/>
              <a:ext cx="30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800" dirty="0"/>
                <a:t>0</a:t>
              </a:r>
            </a:p>
          </p:txBody>
        </p:sp>
      </p:grpSp>
      <p:grpSp>
        <p:nvGrpSpPr>
          <p:cNvPr id="265277" name="Group 61"/>
          <p:cNvGrpSpPr>
            <a:grpSpLocks/>
          </p:cNvGrpSpPr>
          <p:nvPr/>
        </p:nvGrpSpPr>
        <p:grpSpPr bwMode="auto">
          <a:xfrm>
            <a:off x="5543560" y="4724410"/>
            <a:ext cx="2412816" cy="796926"/>
            <a:chOff x="3696" y="2976"/>
            <a:chExt cx="1379" cy="502"/>
          </a:xfrm>
        </p:grpSpPr>
        <p:grpSp>
          <p:nvGrpSpPr>
            <p:cNvPr id="265255" name="Group 39"/>
            <p:cNvGrpSpPr>
              <a:grpSpLocks/>
            </p:cNvGrpSpPr>
            <p:nvPr/>
          </p:nvGrpSpPr>
          <p:grpSpPr bwMode="auto">
            <a:xfrm>
              <a:off x="3696" y="2976"/>
              <a:ext cx="1379" cy="502"/>
              <a:chOff x="3216" y="2928"/>
              <a:chExt cx="1379" cy="502"/>
            </a:xfrm>
          </p:grpSpPr>
          <p:sp>
            <p:nvSpPr>
              <p:cNvPr id="265256" name="Rectangle 40"/>
              <p:cNvSpPr>
                <a:spLocks noChangeArrowheads="1"/>
              </p:cNvSpPr>
              <p:nvPr/>
            </p:nvSpPr>
            <p:spPr bwMode="auto">
              <a:xfrm>
                <a:off x="3716" y="2989"/>
                <a:ext cx="226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5257" name="Line 41"/>
              <p:cNvSpPr>
                <a:spLocks noChangeShapeType="1"/>
              </p:cNvSpPr>
              <p:nvPr/>
            </p:nvSpPr>
            <p:spPr bwMode="auto">
              <a:xfrm flipH="1">
                <a:off x="3443" y="3080"/>
                <a:ext cx="2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5258" name="Line 42"/>
              <p:cNvSpPr>
                <a:spLocks noChangeShapeType="1"/>
              </p:cNvSpPr>
              <p:nvPr/>
            </p:nvSpPr>
            <p:spPr bwMode="auto">
              <a:xfrm flipH="1">
                <a:off x="3444" y="3262"/>
                <a:ext cx="2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5259" name="Line 43"/>
              <p:cNvSpPr>
                <a:spLocks noChangeShapeType="1"/>
              </p:cNvSpPr>
              <p:nvPr/>
            </p:nvSpPr>
            <p:spPr bwMode="auto">
              <a:xfrm flipH="1">
                <a:off x="4032" y="3168"/>
                <a:ext cx="2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5260" name="Text Box 44"/>
              <p:cNvSpPr txBox="1">
                <a:spLocks noChangeArrowheads="1"/>
              </p:cNvSpPr>
              <p:nvPr/>
            </p:nvSpPr>
            <p:spPr bwMode="auto">
              <a:xfrm>
                <a:off x="3216" y="3139"/>
                <a:ext cx="227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B</a:t>
                </a:r>
              </a:p>
            </p:txBody>
          </p:sp>
          <p:sp>
            <p:nvSpPr>
              <p:cNvPr id="265261" name="Text Box 45"/>
              <p:cNvSpPr txBox="1">
                <a:spLocks noChangeArrowheads="1"/>
              </p:cNvSpPr>
              <p:nvPr/>
            </p:nvSpPr>
            <p:spPr bwMode="auto">
              <a:xfrm>
                <a:off x="3217" y="2928"/>
                <a:ext cx="227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A</a:t>
                </a:r>
              </a:p>
            </p:txBody>
          </p:sp>
          <p:sp>
            <p:nvSpPr>
              <p:cNvPr id="265262" name="Text Box 46"/>
              <p:cNvSpPr txBox="1">
                <a:spLocks noChangeArrowheads="1"/>
              </p:cNvSpPr>
              <p:nvPr/>
            </p:nvSpPr>
            <p:spPr bwMode="auto">
              <a:xfrm>
                <a:off x="4368" y="3024"/>
                <a:ext cx="227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F</a:t>
                </a:r>
              </a:p>
            </p:txBody>
          </p:sp>
          <p:sp>
            <p:nvSpPr>
              <p:cNvPr id="265263" name="Oval 47"/>
              <p:cNvSpPr>
                <a:spLocks noChangeArrowheads="1"/>
              </p:cNvSpPr>
              <p:nvPr/>
            </p:nvSpPr>
            <p:spPr bwMode="auto">
              <a:xfrm>
                <a:off x="3936" y="3120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65276" name="Text Box 60"/>
            <p:cNvSpPr txBox="1">
              <a:spLocks noChangeArrowheads="1"/>
            </p:cNvSpPr>
            <p:nvPr/>
          </p:nvSpPr>
          <p:spPr bwMode="auto">
            <a:xfrm>
              <a:off x="4224" y="3072"/>
              <a:ext cx="33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+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42832512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5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65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5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5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65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65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邏輯代數（</a:t>
            </a:r>
            <a:r>
              <a:rPr lang="en-US" altLang="zh-CN" dirty="0"/>
              <a:t>11</a:t>
            </a:r>
            <a:r>
              <a:rPr lang="zh-CN" altLang="en-US" dirty="0"/>
              <a:t>）</a:t>
            </a:r>
          </a:p>
        </p:txBody>
      </p:sp>
      <p:sp>
        <p:nvSpPr>
          <p:cNvPr id="5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70008-FB00-4FBE-AFDF-FEEA633C6E2C}" type="slidenum">
              <a:rPr lang="en-US" altLang="zh-CN"/>
              <a:pPr/>
              <a:t>46</a:t>
            </a:fld>
            <a:endParaRPr lang="en-US" altLang="zh-CN" dirty="0"/>
          </a:p>
        </p:txBody>
      </p:sp>
      <p:sp>
        <p:nvSpPr>
          <p:cNvPr id="266244" name="Rectangle 4"/>
          <p:cNvSpPr>
            <a:spLocks noGrp="1" noChangeArrowheads="1"/>
          </p:cNvSpPr>
          <p:nvPr>
            <p:ph sz="quarter" idx="1"/>
          </p:nvPr>
        </p:nvSpPr>
        <p:spPr>
          <a:noFill/>
          <a:ln/>
        </p:spPr>
        <p:txBody>
          <a:bodyPr/>
          <a:lstStyle/>
          <a:p>
            <a:r>
              <a:rPr lang="en-US" altLang="zh-CN" dirty="0"/>
              <a:t>2.1  </a:t>
            </a:r>
            <a:r>
              <a:rPr lang="zh-CN" altLang="en-US" dirty="0"/>
              <a:t>邏輯代數的基本運算與公式</a:t>
            </a:r>
          </a:p>
          <a:p>
            <a:pPr lvl="1"/>
            <a:r>
              <a:rPr lang="zh-CN" altLang="en-US" dirty="0"/>
              <a:t>其他基本的邏輯電路</a:t>
            </a:r>
          </a:p>
          <a:p>
            <a:pPr lvl="2"/>
            <a:r>
              <a:rPr lang="zh-CN" altLang="en-US" dirty="0"/>
              <a:t>“與或非”門：實現“與或非”運算的電路。</a:t>
            </a:r>
          </a:p>
        </p:txBody>
      </p:sp>
      <p:graphicFrame>
        <p:nvGraphicFramePr>
          <p:cNvPr id="266277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3654501"/>
              </p:ext>
            </p:extLst>
          </p:nvPr>
        </p:nvGraphicFramePr>
        <p:xfrm>
          <a:off x="2556413" y="3501008"/>
          <a:ext cx="2031066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27000" imgH="215640" progId="Equation.DSMT4">
                  <p:embed/>
                </p:oleObj>
              </mc:Choice>
              <mc:Fallback>
                <p:oleObj name="Equation" r:id="rId2" imgW="9270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6413" y="3501008"/>
                        <a:ext cx="2031066" cy="50405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6318" name="Group 78"/>
          <p:cNvGrpSpPr>
            <a:grpSpLocks/>
          </p:cNvGrpSpPr>
          <p:nvPr/>
        </p:nvGrpSpPr>
        <p:grpSpPr bwMode="auto">
          <a:xfrm>
            <a:off x="3886211" y="4910137"/>
            <a:ext cx="1046560" cy="576262"/>
            <a:chOff x="2544" y="3093"/>
            <a:chExt cx="879" cy="363"/>
          </a:xfrm>
        </p:grpSpPr>
        <p:sp>
          <p:nvSpPr>
            <p:cNvPr id="266279" name="Rectangle 39"/>
            <p:cNvSpPr>
              <a:spLocks noChangeArrowheads="1"/>
            </p:cNvSpPr>
            <p:nvPr/>
          </p:nvSpPr>
          <p:spPr bwMode="auto">
            <a:xfrm>
              <a:off x="2544" y="3093"/>
              <a:ext cx="226" cy="3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282" name="Line 42"/>
            <p:cNvSpPr>
              <a:spLocks noChangeShapeType="1"/>
            </p:cNvSpPr>
            <p:nvPr/>
          </p:nvSpPr>
          <p:spPr bwMode="auto">
            <a:xfrm flipH="1">
              <a:off x="2860" y="3272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285" name="Text Box 45"/>
            <p:cNvSpPr txBox="1">
              <a:spLocks noChangeArrowheads="1"/>
            </p:cNvSpPr>
            <p:nvPr/>
          </p:nvSpPr>
          <p:spPr bwMode="auto">
            <a:xfrm>
              <a:off x="3196" y="3128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F</a:t>
              </a:r>
            </a:p>
          </p:txBody>
        </p:sp>
        <p:sp>
          <p:nvSpPr>
            <p:cNvPr id="266286" name="Oval 46"/>
            <p:cNvSpPr>
              <a:spLocks noChangeArrowheads="1"/>
            </p:cNvSpPr>
            <p:nvPr/>
          </p:nvSpPr>
          <p:spPr bwMode="auto">
            <a:xfrm>
              <a:off x="2764" y="3224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66315" name="Group 75"/>
          <p:cNvGrpSpPr>
            <a:grpSpLocks/>
          </p:cNvGrpSpPr>
          <p:nvPr/>
        </p:nvGrpSpPr>
        <p:grpSpPr bwMode="auto">
          <a:xfrm>
            <a:off x="1771650" y="4267210"/>
            <a:ext cx="1190625" cy="796926"/>
            <a:chOff x="768" y="2688"/>
            <a:chExt cx="1000" cy="502"/>
          </a:xfrm>
        </p:grpSpPr>
        <p:sp>
          <p:nvSpPr>
            <p:cNvPr id="266288" name="Rectangle 48"/>
            <p:cNvSpPr>
              <a:spLocks noChangeArrowheads="1"/>
            </p:cNvSpPr>
            <p:nvPr/>
          </p:nvSpPr>
          <p:spPr bwMode="auto">
            <a:xfrm>
              <a:off x="1268" y="2749"/>
              <a:ext cx="226" cy="3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289" name="Line 49"/>
            <p:cNvSpPr>
              <a:spLocks noChangeShapeType="1"/>
            </p:cNvSpPr>
            <p:nvPr/>
          </p:nvSpPr>
          <p:spPr bwMode="auto">
            <a:xfrm flipH="1">
              <a:off x="995" y="2840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290" name="Line 50"/>
            <p:cNvSpPr>
              <a:spLocks noChangeShapeType="1"/>
            </p:cNvSpPr>
            <p:nvPr/>
          </p:nvSpPr>
          <p:spPr bwMode="auto">
            <a:xfrm flipH="1">
              <a:off x="996" y="3022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291" name="Line 51"/>
            <p:cNvSpPr>
              <a:spLocks noChangeShapeType="1"/>
            </p:cNvSpPr>
            <p:nvPr/>
          </p:nvSpPr>
          <p:spPr bwMode="auto">
            <a:xfrm flipH="1">
              <a:off x="1495" y="2931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292" name="Text Box 52"/>
            <p:cNvSpPr txBox="1">
              <a:spLocks noChangeArrowheads="1"/>
            </p:cNvSpPr>
            <p:nvPr/>
          </p:nvSpPr>
          <p:spPr bwMode="auto">
            <a:xfrm>
              <a:off x="768" y="2899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B</a:t>
              </a:r>
            </a:p>
          </p:txBody>
        </p:sp>
        <p:sp>
          <p:nvSpPr>
            <p:cNvPr id="266293" name="Text Box 53"/>
            <p:cNvSpPr txBox="1">
              <a:spLocks noChangeArrowheads="1"/>
            </p:cNvSpPr>
            <p:nvPr/>
          </p:nvSpPr>
          <p:spPr bwMode="auto">
            <a:xfrm>
              <a:off x="769" y="2688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A</a:t>
              </a:r>
            </a:p>
          </p:txBody>
        </p:sp>
      </p:grpSp>
      <p:grpSp>
        <p:nvGrpSpPr>
          <p:cNvPr id="266316" name="Group 76"/>
          <p:cNvGrpSpPr>
            <a:grpSpLocks/>
          </p:cNvGrpSpPr>
          <p:nvPr/>
        </p:nvGrpSpPr>
        <p:grpSpPr bwMode="auto">
          <a:xfrm>
            <a:off x="1771660" y="5257810"/>
            <a:ext cx="1189435" cy="796926"/>
            <a:chOff x="768" y="3312"/>
            <a:chExt cx="999" cy="502"/>
          </a:xfrm>
        </p:grpSpPr>
        <p:sp>
          <p:nvSpPr>
            <p:cNvPr id="266296" name="Rectangle 56"/>
            <p:cNvSpPr>
              <a:spLocks noChangeArrowheads="1"/>
            </p:cNvSpPr>
            <p:nvPr/>
          </p:nvSpPr>
          <p:spPr bwMode="auto">
            <a:xfrm>
              <a:off x="1267" y="3386"/>
              <a:ext cx="226" cy="3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297" name="Line 57"/>
            <p:cNvSpPr>
              <a:spLocks noChangeShapeType="1"/>
            </p:cNvSpPr>
            <p:nvPr/>
          </p:nvSpPr>
          <p:spPr bwMode="auto">
            <a:xfrm flipH="1">
              <a:off x="995" y="3477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298" name="Line 58"/>
            <p:cNvSpPr>
              <a:spLocks noChangeShapeType="1"/>
            </p:cNvSpPr>
            <p:nvPr/>
          </p:nvSpPr>
          <p:spPr bwMode="auto">
            <a:xfrm flipH="1">
              <a:off x="996" y="3659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299" name="Line 59"/>
            <p:cNvSpPr>
              <a:spLocks noChangeShapeType="1"/>
            </p:cNvSpPr>
            <p:nvPr/>
          </p:nvSpPr>
          <p:spPr bwMode="auto">
            <a:xfrm flipH="1">
              <a:off x="1494" y="3568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00" name="Text Box 60"/>
            <p:cNvSpPr txBox="1">
              <a:spLocks noChangeArrowheads="1"/>
            </p:cNvSpPr>
            <p:nvPr/>
          </p:nvSpPr>
          <p:spPr bwMode="auto">
            <a:xfrm>
              <a:off x="768" y="3523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D</a:t>
              </a:r>
            </a:p>
          </p:txBody>
        </p:sp>
        <p:sp>
          <p:nvSpPr>
            <p:cNvPr id="266301" name="Text Box 61"/>
            <p:cNvSpPr txBox="1">
              <a:spLocks noChangeArrowheads="1"/>
            </p:cNvSpPr>
            <p:nvPr/>
          </p:nvSpPr>
          <p:spPr bwMode="auto">
            <a:xfrm>
              <a:off x="769" y="3312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C</a:t>
              </a:r>
            </a:p>
          </p:txBody>
        </p:sp>
      </p:grpSp>
      <p:grpSp>
        <p:nvGrpSpPr>
          <p:cNvPr id="266317" name="Group 77"/>
          <p:cNvGrpSpPr>
            <a:grpSpLocks/>
          </p:cNvGrpSpPr>
          <p:nvPr/>
        </p:nvGrpSpPr>
        <p:grpSpPr bwMode="auto">
          <a:xfrm>
            <a:off x="2971800" y="4648200"/>
            <a:ext cx="919163" cy="990600"/>
            <a:chOff x="1776" y="2928"/>
            <a:chExt cx="772" cy="624"/>
          </a:xfrm>
        </p:grpSpPr>
        <p:sp>
          <p:nvSpPr>
            <p:cNvPr id="266305" name="Rectangle 65"/>
            <p:cNvSpPr>
              <a:spLocks noChangeArrowheads="1"/>
            </p:cNvSpPr>
            <p:nvPr/>
          </p:nvSpPr>
          <p:spPr bwMode="auto">
            <a:xfrm>
              <a:off x="2048" y="3093"/>
              <a:ext cx="226" cy="3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306" name="Line 66"/>
            <p:cNvSpPr>
              <a:spLocks noChangeShapeType="1"/>
            </p:cNvSpPr>
            <p:nvPr/>
          </p:nvSpPr>
          <p:spPr bwMode="auto">
            <a:xfrm flipH="1">
              <a:off x="1776" y="3184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07" name="Line 67"/>
            <p:cNvSpPr>
              <a:spLocks noChangeShapeType="1"/>
            </p:cNvSpPr>
            <p:nvPr/>
          </p:nvSpPr>
          <p:spPr bwMode="auto">
            <a:xfrm flipH="1">
              <a:off x="1777" y="3366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08" name="Line 68"/>
            <p:cNvSpPr>
              <a:spLocks noChangeShapeType="1"/>
            </p:cNvSpPr>
            <p:nvPr/>
          </p:nvSpPr>
          <p:spPr bwMode="auto">
            <a:xfrm flipH="1">
              <a:off x="2275" y="3275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12" name="Text Box 72"/>
            <p:cNvSpPr txBox="1">
              <a:spLocks noChangeArrowheads="1"/>
            </p:cNvSpPr>
            <p:nvPr/>
          </p:nvSpPr>
          <p:spPr bwMode="auto">
            <a:xfrm>
              <a:off x="2048" y="3139"/>
              <a:ext cx="227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2000" dirty="0">
                  <a:latin typeface="Tahoma" pitchFamily="34" charset="0"/>
                </a:rPr>
                <a:t>+</a:t>
              </a:r>
            </a:p>
          </p:txBody>
        </p:sp>
        <p:sp>
          <p:nvSpPr>
            <p:cNvPr id="266313" name="Line 73"/>
            <p:cNvSpPr>
              <a:spLocks noChangeShapeType="1"/>
            </p:cNvSpPr>
            <p:nvPr/>
          </p:nvSpPr>
          <p:spPr bwMode="auto">
            <a:xfrm>
              <a:off x="1776" y="29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14" name="Line 74"/>
            <p:cNvSpPr>
              <a:spLocks noChangeShapeType="1"/>
            </p:cNvSpPr>
            <p:nvPr/>
          </p:nvSpPr>
          <p:spPr bwMode="auto">
            <a:xfrm>
              <a:off x="1776" y="336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66337" name="Group 97"/>
          <p:cNvGrpSpPr>
            <a:grpSpLocks/>
          </p:cNvGrpSpPr>
          <p:nvPr/>
        </p:nvGrpSpPr>
        <p:grpSpPr bwMode="auto">
          <a:xfrm>
            <a:off x="5600700" y="4343407"/>
            <a:ext cx="2427684" cy="1528763"/>
            <a:chOff x="3648" y="2592"/>
            <a:chExt cx="1490" cy="963"/>
          </a:xfrm>
        </p:grpSpPr>
        <p:sp>
          <p:nvSpPr>
            <p:cNvPr id="266320" name="Rectangle 80"/>
            <p:cNvSpPr>
              <a:spLocks noChangeArrowheads="1"/>
            </p:cNvSpPr>
            <p:nvPr/>
          </p:nvSpPr>
          <p:spPr bwMode="auto">
            <a:xfrm>
              <a:off x="4128" y="2688"/>
              <a:ext cx="144" cy="3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321" name="Line 81"/>
            <p:cNvSpPr>
              <a:spLocks noChangeShapeType="1"/>
            </p:cNvSpPr>
            <p:nvPr/>
          </p:nvSpPr>
          <p:spPr bwMode="auto">
            <a:xfrm flipH="1">
              <a:off x="3888" y="278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22" name="Line 82"/>
            <p:cNvSpPr>
              <a:spLocks noChangeShapeType="1"/>
            </p:cNvSpPr>
            <p:nvPr/>
          </p:nvSpPr>
          <p:spPr bwMode="auto">
            <a:xfrm flipH="1" flipV="1">
              <a:off x="3888" y="297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23" name="Line 83"/>
            <p:cNvSpPr>
              <a:spLocks noChangeShapeType="1"/>
            </p:cNvSpPr>
            <p:nvPr/>
          </p:nvSpPr>
          <p:spPr bwMode="auto">
            <a:xfrm flipH="1">
              <a:off x="4512" y="3072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24" name="Text Box 84"/>
            <p:cNvSpPr txBox="1">
              <a:spLocks noChangeArrowheads="1"/>
            </p:cNvSpPr>
            <p:nvPr/>
          </p:nvSpPr>
          <p:spPr bwMode="auto">
            <a:xfrm>
              <a:off x="3648" y="2832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B</a:t>
              </a:r>
            </a:p>
          </p:txBody>
        </p:sp>
        <p:sp>
          <p:nvSpPr>
            <p:cNvPr id="266325" name="Text Box 85"/>
            <p:cNvSpPr txBox="1">
              <a:spLocks noChangeArrowheads="1"/>
            </p:cNvSpPr>
            <p:nvPr/>
          </p:nvSpPr>
          <p:spPr bwMode="auto">
            <a:xfrm>
              <a:off x="3649" y="2592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A</a:t>
              </a:r>
            </a:p>
          </p:txBody>
        </p:sp>
        <p:sp>
          <p:nvSpPr>
            <p:cNvPr id="266327" name="Rectangle 87"/>
            <p:cNvSpPr>
              <a:spLocks noChangeArrowheads="1"/>
            </p:cNvSpPr>
            <p:nvPr/>
          </p:nvSpPr>
          <p:spPr bwMode="auto">
            <a:xfrm>
              <a:off x="4128" y="3072"/>
              <a:ext cx="144" cy="3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328" name="Line 88"/>
            <p:cNvSpPr>
              <a:spLocks noChangeShapeType="1"/>
            </p:cNvSpPr>
            <p:nvPr/>
          </p:nvSpPr>
          <p:spPr bwMode="auto">
            <a:xfrm flipH="1">
              <a:off x="3888" y="316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29" name="Line 89"/>
            <p:cNvSpPr>
              <a:spLocks noChangeShapeType="1"/>
            </p:cNvSpPr>
            <p:nvPr/>
          </p:nvSpPr>
          <p:spPr bwMode="auto">
            <a:xfrm flipH="1">
              <a:off x="3888" y="3360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31" name="Text Box 91"/>
            <p:cNvSpPr txBox="1">
              <a:spLocks noChangeArrowheads="1"/>
            </p:cNvSpPr>
            <p:nvPr/>
          </p:nvSpPr>
          <p:spPr bwMode="auto">
            <a:xfrm>
              <a:off x="3648" y="3264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D</a:t>
              </a:r>
            </a:p>
          </p:txBody>
        </p:sp>
        <p:sp>
          <p:nvSpPr>
            <p:cNvPr id="266332" name="Text Box 92"/>
            <p:cNvSpPr txBox="1">
              <a:spLocks noChangeArrowheads="1"/>
            </p:cNvSpPr>
            <p:nvPr/>
          </p:nvSpPr>
          <p:spPr bwMode="auto">
            <a:xfrm>
              <a:off x="3649" y="3024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C</a:t>
              </a:r>
            </a:p>
          </p:txBody>
        </p:sp>
        <p:sp>
          <p:nvSpPr>
            <p:cNvPr id="266333" name="Rectangle 93"/>
            <p:cNvSpPr>
              <a:spLocks noChangeArrowheads="1"/>
            </p:cNvSpPr>
            <p:nvPr/>
          </p:nvSpPr>
          <p:spPr bwMode="auto">
            <a:xfrm>
              <a:off x="4272" y="2688"/>
              <a:ext cx="144" cy="76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334" name="Text Box 94"/>
            <p:cNvSpPr txBox="1">
              <a:spLocks noChangeArrowheads="1"/>
            </p:cNvSpPr>
            <p:nvPr/>
          </p:nvSpPr>
          <p:spPr bwMode="auto">
            <a:xfrm>
              <a:off x="4224" y="2928"/>
              <a:ext cx="24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+</a:t>
              </a:r>
            </a:p>
          </p:txBody>
        </p:sp>
        <p:sp>
          <p:nvSpPr>
            <p:cNvPr id="266335" name="Oval 95"/>
            <p:cNvSpPr>
              <a:spLocks noChangeArrowheads="1"/>
            </p:cNvSpPr>
            <p:nvPr/>
          </p:nvSpPr>
          <p:spPr bwMode="auto">
            <a:xfrm>
              <a:off x="4416" y="3024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336" name="Rectangle 96"/>
            <p:cNvSpPr>
              <a:spLocks noChangeArrowheads="1"/>
            </p:cNvSpPr>
            <p:nvPr/>
          </p:nvSpPr>
          <p:spPr bwMode="auto">
            <a:xfrm>
              <a:off x="4848" y="2928"/>
              <a:ext cx="29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0" lang="en-US" altLang="zh-CN" dirty="0">
                  <a:latin typeface="Tahoma" pitchFamily="34" charset="0"/>
                </a:rPr>
                <a:t>F</a:t>
              </a:r>
            </a:p>
          </p:txBody>
        </p:sp>
      </p:grpSp>
      <p:sp>
        <p:nvSpPr>
          <p:cNvPr id="266338" name="Rectangle 98"/>
          <p:cNvSpPr>
            <a:spLocks noChangeArrowheads="1"/>
          </p:cNvSpPr>
          <p:nvPr/>
        </p:nvSpPr>
        <p:spPr bwMode="auto">
          <a:xfrm>
            <a:off x="5514976" y="5973778"/>
            <a:ext cx="241925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3200" dirty="0"/>
              <a:t>“</a:t>
            </a:r>
            <a:r>
              <a:rPr lang="zh-CN" altLang="en-US" sz="3200" dirty="0"/>
              <a:t>與或非”門</a:t>
            </a:r>
          </a:p>
        </p:txBody>
      </p:sp>
    </p:spTree>
    <p:extLst>
      <p:ext uri="{BB962C8B-B14F-4D97-AF65-F5344CB8AC3E}">
        <p14:creationId xmlns:p14="http://schemas.microsoft.com/office/powerpoint/2010/main" val="4209119950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6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66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66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66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66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66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6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6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38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邏輯代數（</a:t>
            </a:r>
            <a:r>
              <a:rPr lang="en-US" altLang="zh-CN" dirty="0"/>
              <a:t>12</a:t>
            </a:r>
            <a:r>
              <a:rPr lang="zh-CN" altLang="en-US" dirty="0"/>
              <a:t>）</a:t>
            </a:r>
          </a:p>
        </p:txBody>
      </p:sp>
      <p:sp>
        <p:nvSpPr>
          <p:cNvPr id="4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32E51-0BB8-488D-A820-D0870B83DC5D}" type="slidenum">
              <a:rPr lang="en-US" altLang="zh-CN"/>
              <a:pPr/>
              <a:t>47</a:t>
            </a:fld>
            <a:endParaRPr lang="en-US" altLang="zh-CN" dirty="0"/>
          </a:p>
        </p:txBody>
      </p:sp>
      <p:sp>
        <p:nvSpPr>
          <p:cNvPr id="26726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996" y="1412776"/>
            <a:ext cx="8312460" cy="4607024"/>
          </a:xfrm>
          <a:noFill/>
          <a:ln/>
        </p:spPr>
        <p:txBody>
          <a:bodyPr/>
          <a:lstStyle/>
          <a:p>
            <a:r>
              <a:rPr lang="en-US" altLang="zh-CN" dirty="0"/>
              <a:t>2.1  </a:t>
            </a:r>
            <a:r>
              <a:rPr lang="zh-CN" altLang="en-US" dirty="0"/>
              <a:t>邏輯代數的基本運算與公式</a:t>
            </a:r>
          </a:p>
          <a:p>
            <a:pPr lvl="1"/>
            <a:r>
              <a:rPr lang="zh-CN" altLang="en-US" dirty="0"/>
              <a:t>其他基本的邏輯電路</a:t>
            </a:r>
          </a:p>
          <a:p>
            <a:pPr lvl="2"/>
            <a:r>
              <a:rPr lang="zh-CN" altLang="en-US" dirty="0"/>
              <a:t>“異或”門：實現“異或”運算的電路。</a:t>
            </a:r>
          </a:p>
        </p:txBody>
      </p:sp>
      <p:graphicFrame>
        <p:nvGraphicFramePr>
          <p:cNvPr id="2672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5066128"/>
              </p:ext>
            </p:extLst>
          </p:nvPr>
        </p:nvGraphicFramePr>
        <p:xfrm>
          <a:off x="2051720" y="3284984"/>
          <a:ext cx="1872208" cy="4467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99920" imgH="177480" progId="Equation.DSMT4">
                  <p:embed/>
                </p:oleObj>
              </mc:Choice>
              <mc:Fallback>
                <p:oleObj name="Equation" r:id="rId2" imgW="7999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720" y="3284984"/>
                        <a:ext cx="1872208" cy="44678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7312" name="Rectangle 48"/>
          <p:cNvSpPr>
            <a:spLocks noChangeArrowheads="1"/>
          </p:cNvSpPr>
          <p:nvPr/>
        </p:nvSpPr>
        <p:spPr bwMode="auto">
          <a:xfrm>
            <a:off x="5486411" y="5715014"/>
            <a:ext cx="200888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3200" dirty="0"/>
              <a:t>“</a:t>
            </a:r>
            <a:r>
              <a:rPr lang="zh-CN" altLang="en-US" sz="3200" dirty="0"/>
              <a:t>異或”門</a:t>
            </a:r>
          </a:p>
        </p:txBody>
      </p:sp>
      <p:graphicFrame>
        <p:nvGraphicFramePr>
          <p:cNvPr id="267313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7758823"/>
              </p:ext>
            </p:extLst>
          </p:nvPr>
        </p:nvGraphicFramePr>
        <p:xfrm>
          <a:off x="4031950" y="3212976"/>
          <a:ext cx="2098830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74360" imgH="215640" progId="Equation.DSMT4">
                  <p:embed/>
                </p:oleObj>
              </mc:Choice>
              <mc:Fallback>
                <p:oleObj name="Equation" r:id="rId4" imgW="7743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1950" y="3212976"/>
                        <a:ext cx="2098830" cy="50405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314" name="Group 50"/>
          <p:cNvGraphicFramePr>
            <a:graphicFrameLocks noGrp="1"/>
          </p:cNvGraphicFramePr>
          <p:nvPr/>
        </p:nvGraphicFramePr>
        <p:xfrm>
          <a:off x="1885951" y="4265614"/>
          <a:ext cx="2514600" cy="2164635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67343" name="Group 79"/>
          <p:cNvGrpSpPr>
            <a:grpSpLocks/>
          </p:cNvGrpSpPr>
          <p:nvPr/>
        </p:nvGrpSpPr>
        <p:grpSpPr bwMode="auto">
          <a:xfrm>
            <a:off x="5257800" y="4800608"/>
            <a:ext cx="3058615" cy="982663"/>
            <a:chOff x="3456" y="3024"/>
            <a:chExt cx="1920" cy="619"/>
          </a:xfrm>
        </p:grpSpPr>
        <p:sp>
          <p:nvSpPr>
            <p:cNvPr id="267270" name="Rectangle 6"/>
            <p:cNvSpPr>
              <a:spLocks noChangeArrowheads="1"/>
            </p:cNvSpPr>
            <p:nvPr/>
          </p:nvSpPr>
          <p:spPr bwMode="auto">
            <a:xfrm>
              <a:off x="4004" y="3085"/>
              <a:ext cx="226" cy="3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7271" name="Line 7"/>
            <p:cNvSpPr>
              <a:spLocks noChangeShapeType="1"/>
            </p:cNvSpPr>
            <p:nvPr/>
          </p:nvSpPr>
          <p:spPr bwMode="auto">
            <a:xfrm flipH="1">
              <a:off x="4224" y="3264"/>
              <a:ext cx="273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272" name="Text Box 8"/>
            <p:cNvSpPr txBox="1">
              <a:spLocks noChangeArrowheads="1"/>
            </p:cNvSpPr>
            <p:nvPr/>
          </p:nvSpPr>
          <p:spPr bwMode="auto">
            <a:xfrm>
              <a:off x="4560" y="3120"/>
              <a:ext cx="816" cy="5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F=A</a:t>
              </a:r>
              <a:r>
                <a:rPr kumimoji="0" lang="en-US" altLang="zh-CN" dirty="0">
                  <a:latin typeface="Tahoma" pitchFamily="34" charset="0"/>
                  <a:sym typeface="Symbol" pitchFamily="18" charset="2"/>
                </a:rPr>
                <a:t></a:t>
              </a:r>
              <a:r>
                <a:rPr kumimoji="0" lang="en-US" altLang="zh-CN" dirty="0">
                  <a:latin typeface="Tahoma" pitchFamily="34" charset="0"/>
                </a:rPr>
                <a:t>B</a:t>
              </a:r>
            </a:p>
          </p:txBody>
        </p:sp>
        <p:sp>
          <p:nvSpPr>
            <p:cNvPr id="267290" name="Line 26"/>
            <p:cNvSpPr>
              <a:spLocks noChangeShapeType="1"/>
            </p:cNvSpPr>
            <p:nvPr/>
          </p:nvSpPr>
          <p:spPr bwMode="auto">
            <a:xfrm flipH="1">
              <a:off x="3731" y="3176"/>
              <a:ext cx="273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291" name="Line 27"/>
            <p:cNvSpPr>
              <a:spLocks noChangeShapeType="1"/>
            </p:cNvSpPr>
            <p:nvPr/>
          </p:nvSpPr>
          <p:spPr bwMode="auto">
            <a:xfrm flipH="1">
              <a:off x="3732" y="3358"/>
              <a:ext cx="273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293" name="Text Box 29"/>
            <p:cNvSpPr txBox="1">
              <a:spLocks noChangeArrowheads="1"/>
            </p:cNvSpPr>
            <p:nvPr/>
          </p:nvSpPr>
          <p:spPr bwMode="auto">
            <a:xfrm>
              <a:off x="4019" y="3150"/>
              <a:ext cx="240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2000" dirty="0">
                  <a:latin typeface="Tahoma" pitchFamily="34" charset="0"/>
                  <a:sym typeface="Symbol" pitchFamily="18" charset="2"/>
                </a:rPr>
                <a:t></a:t>
              </a:r>
              <a:endParaRPr kumimoji="0" lang="en-US" altLang="zh-CN" sz="2000" dirty="0">
                <a:latin typeface="Tahoma" pitchFamily="34" charset="0"/>
              </a:endParaRPr>
            </a:p>
          </p:txBody>
        </p:sp>
        <p:sp>
          <p:nvSpPr>
            <p:cNvPr id="267340" name="Text Box 76"/>
            <p:cNvSpPr txBox="1">
              <a:spLocks noChangeArrowheads="1"/>
            </p:cNvSpPr>
            <p:nvPr/>
          </p:nvSpPr>
          <p:spPr bwMode="auto">
            <a:xfrm>
              <a:off x="3456" y="3024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A</a:t>
              </a:r>
            </a:p>
          </p:txBody>
        </p:sp>
        <p:sp>
          <p:nvSpPr>
            <p:cNvPr id="267341" name="Text Box 77"/>
            <p:cNvSpPr txBox="1">
              <a:spLocks noChangeArrowheads="1"/>
            </p:cNvSpPr>
            <p:nvPr/>
          </p:nvSpPr>
          <p:spPr bwMode="auto">
            <a:xfrm>
              <a:off x="3456" y="3264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78676188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7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67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7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7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67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67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67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312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邏輯代數（</a:t>
            </a:r>
            <a:r>
              <a:rPr lang="en-US" altLang="zh-CN" dirty="0"/>
              <a:t>13</a:t>
            </a:r>
            <a:r>
              <a:rPr lang="zh-CN" altLang="en-US" dirty="0"/>
              <a:t>）</a:t>
            </a:r>
          </a:p>
        </p:txBody>
      </p:sp>
      <p:sp>
        <p:nvSpPr>
          <p:cNvPr id="4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32EAF-662F-425C-A059-AC3E1C25561E}" type="slidenum">
              <a:rPr lang="en-US" altLang="zh-CN"/>
              <a:pPr/>
              <a:t>48</a:t>
            </a:fld>
            <a:endParaRPr lang="en-US" altLang="zh-CN" dirty="0"/>
          </a:p>
        </p:txBody>
      </p:sp>
      <p:sp>
        <p:nvSpPr>
          <p:cNvPr id="26931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996" y="1412776"/>
            <a:ext cx="8384468" cy="4607024"/>
          </a:xfrm>
          <a:noFill/>
          <a:ln/>
        </p:spPr>
        <p:txBody>
          <a:bodyPr/>
          <a:lstStyle/>
          <a:p>
            <a:r>
              <a:rPr lang="en-US" altLang="zh-CN" dirty="0"/>
              <a:t>2.1  </a:t>
            </a:r>
            <a:r>
              <a:rPr lang="zh-CN" altLang="en-US" dirty="0"/>
              <a:t>邏輯代數的基本運算與公式</a:t>
            </a:r>
          </a:p>
          <a:p>
            <a:pPr lvl="1"/>
            <a:r>
              <a:rPr lang="zh-CN" altLang="en-US" dirty="0"/>
              <a:t>其他基本的邏輯電路</a:t>
            </a:r>
          </a:p>
          <a:p>
            <a:pPr lvl="2"/>
            <a:r>
              <a:rPr lang="zh-CN" altLang="en-US" dirty="0"/>
              <a:t>“同或”門</a:t>
            </a:r>
            <a:r>
              <a:rPr lang="en-US" altLang="zh-CN" dirty="0"/>
              <a:t>(“</a:t>
            </a:r>
            <a:r>
              <a:rPr lang="zh-CN" altLang="en-US" dirty="0"/>
              <a:t>異或非”門</a:t>
            </a:r>
            <a:r>
              <a:rPr lang="en-US" altLang="zh-CN" dirty="0"/>
              <a:t>)</a:t>
            </a:r>
            <a:r>
              <a:rPr lang="zh-CN" altLang="en-US" dirty="0"/>
              <a:t>：實現“同或”運算的電路。</a:t>
            </a:r>
          </a:p>
        </p:txBody>
      </p:sp>
      <p:graphicFrame>
        <p:nvGraphicFramePr>
          <p:cNvPr id="2693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4543459"/>
              </p:ext>
            </p:extLst>
          </p:nvPr>
        </p:nvGraphicFramePr>
        <p:xfrm>
          <a:off x="3293858" y="3140968"/>
          <a:ext cx="2070230" cy="648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99920" imgH="228600" progId="Equation.DSMT4">
                  <p:embed/>
                </p:oleObj>
              </mc:Choice>
              <mc:Fallback>
                <p:oleObj name="Equation" r:id="rId2" imgW="7999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3858" y="3140968"/>
                        <a:ext cx="2070230" cy="64807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9317" name="Rectangle 5"/>
          <p:cNvSpPr>
            <a:spLocks noChangeArrowheads="1"/>
          </p:cNvSpPr>
          <p:nvPr/>
        </p:nvSpPr>
        <p:spPr bwMode="auto">
          <a:xfrm>
            <a:off x="5486411" y="5715014"/>
            <a:ext cx="200888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3200" dirty="0"/>
              <a:t>“</a:t>
            </a:r>
            <a:r>
              <a:rPr lang="zh-CN" altLang="en-US" sz="3200" dirty="0"/>
              <a:t>同或”門</a:t>
            </a:r>
          </a:p>
        </p:txBody>
      </p:sp>
      <p:graphicFrame>
        <p:nvGraphicFramePr>
          <p:cNvPr id="2693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8803594"/>
              </p:ext>
            </p:extLst>
          </p:nvPr>
        </p:nvGraphicFramePr>
        <p:xfrm>
          <a:off x="5616320" y="3140968"/>
          <a:ext cx="2268048" cy="576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74360" imgH="215640" progId="Equation.DSMT4">
                  <p:embed/>
                </p:oleObj>
              </mc:Choice>
              <mc:Fallback>
                <p:oleObj name="Equation" r:id="rId4" imgW="7743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6320" y="3140968"/>
                        <a:ext cx="2268048" cy="57606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57" name="Group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745128"/>
              </p:ext>
            </p:extLst>
          </p:nvPr>
        </p:nvGraphicFramePr>
        <p:xfrm>
          <a:off x="1187624" y="4265614"/>
          <a:ext cx="3212927" cy="2164635"/>
        </p:xfrm>
        <a:graphic>
          <a:graphicData uri="http://schemas.openxmlformats.org/drawingml/2006/table">
            <a:tbl>
              <a:tblPr/>
              <a:tblGrid>
                <a:gridCol w="10709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53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9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68580" marR="6858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69356" name="Group 44"/>
          <p:cNvGrpSpPr>
            <a:grpSpLocks/>
          </p:cNvGrpSpPr>
          <p:nvPr/>
        </p:nvGrpSpPr>
        <p:grpSpPr bwMode="auto">
          <a:xfrm>
            <a:off x="4788024" y="4800608"/>
            <a:ext cx="3634680" cy="982663"/>
            <a:chOff x="3456" y="3024"/>
            <a:chExt cx="2016" cy="619"/>
          </a:xfrm>
        </p:grpSpPr>
        <p:sp>
          <p:nvSpPr>
            <p:cNvPr id="269346" name="Rectangle 34"/>
            <p:cNvSpPr>
              <a:spLocks noChangeArrowheads="1"/>
            </p:cNvSpPr>
            <p:nvPr/>
          </p:nvSpPr>
          <p:spPr bwMode="auto">
            <a:xfrm>
              <a:off x="4004" y="3085"/>
              <a:ext cx="226" cy="3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9347" name="Line 35"/>
            <p:cNvSpPr>
              <a:spLocks noChangeShapeType="1"/>
            </p:cNvSpPr>
            <p:nvPr/>
          </p:nvSpPr>
          <p:spPr bwMode="auto">
            <a:xfrm flipH="1">
              <a:off x="4320" y="3264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9348" name="Text Box 36"/>
            <p:cNvSpPr txBox="1">
              <a:spLocks noChangeArrowheads="1"/>
            </p:cNvSpPr>
            <p:nvPr/>
          </p:nvSpPr>
          <p:spPr bwMode="auto">
            <a:xfrm>
              <a:off x="4560" y="3120"/>
              <a:ext cx="912" cy="5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F=A </a:t>
              </a:r>
              <a:r>
                <a:rPr kumimoji="0" lang="en-US" altLang="zh-CN" dirty="0">
                  <a:latin typeface="Tahoma" pitchFamily="34" charset="0"/>
                  <a:sym typeface="Symbol" pitchFamily="18" charset="2"/>
                </a:rPr>
                <a:t></a:t>
              </a:r>
              <a:r>
                <a:rPr kumimoji="0" lang="en-US" altLang="zh-CN" sz="2000" dirty="0">
                  <a:latin typeface="Tahoma" pitchFamily="34" charset="0"/>
                  <a:sym typeface="Symbol" pitchFamily="18" charset="2"/>
                </a:rPr>
                <a:t> </a:t>
              </a:r>
              <a:r>
                <a:rPr kumimoji="0" lang="en-US" altLang="zh-CN" dirty="0">
                  <a:latin typeface="Tahoma" pitchFamily="34" charset="0"/>
                  <a:sym typeface="Symbol" pitchFamily="18" charset="2"/>
                </a:rPr>
                <a:t>B</a:t>
              </a:r>
            </a:p>
          </p:txBody>
        </p:sp>
        <p:sp>
          <p:nvSpPr>
            <p:cNvPr id="269349" name="Line 37"/>
            <p:cNvSpPr>
              <a:spLocks noChangeShapeType="1"/>
            </p:cNvSpPr>
            <p:nvPr/>
          </p:nvSpPr>
          <p:spPr bwMode="auto">
            <a:xfrm flipH="1">
              <a:off x="3731" y="3176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9350" name="Line 38"/>
            <p:cNvSpPr>
              <a:spLocks noChangeShapeType="1"/>
            </p:cNvSpPr>
            <p:nvPr/>
          </p:nvSpPr>
          <p:spPr bwMode="auto">
            <a:xfrm flipH="1">
              <a:off x="3732" y="3358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9351" name="Text Box 39"/>
            <p:cNvSpPr txBox="1">
              <a:spLocks noChangeArrowheads="1"/>
            </p:cNvSpPr>
            <p:nvPr/>
          </p:nvSpPr>
          <p:spPr bwMode="auto">
            <a:xfrm>
              <a:off x="4019" y="3150"/>
              <a:ext cx="240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2000" dirty="0">
                  <a:latin typeface="Tahoma" pitchFamily="34" charset="0"/>
                  <a:sym typeface="Symbol" pitchFamily="18" charset="2"/>
                </a:rPr>
                <a:t></a:t>
              </a:r>
              <a:endParaRPr kumimoji="0" lang="en-US" altLang="zh-CN" sz="2000" dirty="0">
                <a:latin typeface="Tahoma" pitchFamily="34" charset="0"/>
              </a:endParaRPr>
            </a:p>
          </p:txBody>
        </p:sp>
        <p:sp>
          <p:nvSpPr>
            <p:cNvPr id="269352" name="Text Box 40"/>
            <p:cNvSpPr txBox="1">
              <a:spLocks noChangeArrowheads="1"/>
            </p:cNvSpPr>
            <p:nvPr/>
          </p:nvSpPr>
          <p:spPr bwMode="auto">
            <a:xfrm>
              <a:off x="3456" y="3024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A</a:t>
              </a:r>
            </a:p>
          </p:txBody>
        </p:sp>
        <p:sp>
          <p:nvSpPr>
            <p:cNvPr id="269353" name="Text Box 41"/>
            <p:cNvSpPr txBox="1">
              <a:spLocks noChangeArrowheads="1"/>
            </p:cNvSpPr>
            <p:nvPr/>
          </p:nvSpPr>
          <p:spPr bwMode="auto">
            <a:xfrm>
              <a:off x="3456" y="3264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B</a:t>
              </a:r>
            </a:p>
          </p:txBody>
        </p:sp>
        <p:sp>
          <p:nvSpPr>
            <p:cNvPr id="269354" name="Line 42"/>
            <p:cNvSpPr>
              <a:spLocks noChangeShapeType="1"/>
            </p:cNvSpPr>
            <p:nvPr/>
          </p:nvSpPr>
          <p:spPr bwMode="auto">
            <a:xfrm>
              <a:off x="4774" y="3120"/>
              <a:ext cx="4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9355" name="Oval 43"/>
            <p:cNvSpPr>
              <a:spLocks noChangeArrowheads="1"/>
            </p:cNvSpPr>
            <p:nvPr/>
          </p:nvSpPr>
          <p:spPr bwMode="auto">
            <a:xfrm>
              <a:off x="4224" y="3216"/>
              <a:ext cx="96" cy="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4138381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9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69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93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93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69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69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69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317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邏輯代數（</a:t>
            </a:r>
            <a:r>
              <a:rPr lang="en-US" altLang="zh-CN" dirty="0"/>
              <a:t>14</a:t>
            </a:r>
            <a:r>
              <a:rPr lang="zh-CN" altLang="en-US" dirty="0"/>
              <a:t>）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95E2-CB68-42E6-A5AF-574D39E186A5}" type="slidenum">
              <a:rPr lang="en-US" altLang="zh-CN" smtClean="0"/>
              <a:pPr/>
              <a:t>49</a:t>
            </a:fld>
            <a:endParaRPr lang="en-US" altLang="zh-CN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常用邏輯門符號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3729468"/>
              </p:ext>
            </p:extLst>
          </p:nvPr>
        </p:nvGraphicFramePr>
        <p:xfrm>
          <a:off x="755577" y="2092472"/>
          <a:ext cx="7938305" cy="4504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76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76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76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76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76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262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effectLst/>
                        </a:rPr>
                        <a:t>符號名稱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effectLst/>
                        </a:rPr>
                        <a:t>國標符號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effectLst/>
                        </a:rPr>
                        <a:t>常用符號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effectLst/>
                        </a:rPr>
                        <a:t>國際流行符號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effectLst/>
                        </a:rPr>
                        <a:t>IEEE</a:t>
                      </a:r>
                      <a:r>
                        <a:rPr lang="zh-CN" sz="2400" kern="0" dirty="0">
                          <a:effectLst/>
                        </a:rPr>
                        <a:t>邏輯符號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62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effectLst/>
                        </a:rPr>
                        <a:t>及閘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0">
                        <a:effectLst/>
                        <a:latin typeface="宋体"/>
                        <a:ea typeface="宋体"/>
                        <a:cs typeface="宋体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0">
                        <a:effectLst/>
                        <a:latin typeface="宋体"/>
                        <a:ea typeface="宋体"/>
                        <a:cs typeface="宋体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0">
                        <a:effectLst/>
                        <a:latin typeface="宋体"/>
                        <a:ea typeface="宋体"/>
                        <a:cs typeface="宋体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0" dirty="0">
                        <a:effectLst/>
                        <a:latin typeface="宋体"/>
                        <a:ea typeface="宋体"/>
                        <a:cs typeface="宋体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62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effectLst/>
                        </a:rPr>
                        <a:t>或閘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0">
                        <a:effectLst/>
                        <a:latin typeface="宋体"/>
                        <a:ea typeface="宋体"/>
                        <a:cs typeface="宋体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0">
                        <a:effectLst/>
                        <a:latin typeface="宋体"/>
                        <a:ea typeface="宋体"/>
                        <a:cs typeface="宋体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0">
                        <a:effectLst/>
                        <a:latin typeface="宋体"/>
                        <a:ea typeface="宋体"/>
                        <a:cs typeface="宋体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0" dirty="0">
                        <a:effectLst/>
                        <a:latin typeface="宋体"/>
                        <a:ea typeface="宋体"/>
                        <a:cs typeface="宋体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622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effectLst/>
                        </a:rPr>
                        <a:t>反閘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0">
                        <a:effectLst/>
                        <a:latin typeface="宋体"/>
                        <a:ea typeface="宋体"/>
                        <a:cs typeface="宋体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0" dirty="0">
                        <a:effectLst/>
                        <a:latin typeface="宋体"/>
                        <a:ea typeface="宋体"/>
                        <a:cs typeface="宋体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0">
                        <a:effectLst/>
                        <a:latin typeface="宋体"/>
                        <a:ea typeface="宋体"/>
                        <a:cs typeface="宋体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0" dirty="0">
                        <a:effectLst/>
                        <a:latin typeface="宋体"/>
                        <a:ea typeface="宋体"/>
                        <a:cs typeface="宋体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77538" name="Picture 34" descr="http://col.njtu.edu.cn/jingpinke/szlj/shuziwangluo/fulu/images/fuhao1.gif"/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3435313"/>
            <a:ext cx="1489826" cy="713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537" name="Picture 33" descr="http://col.njtu.edu.cn/jingpinke/szlj/shuziwangluo/fulu/images/fuhao2.gif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3449191"/>
            <a:ext cx="1460860" cy="699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536" name="Picture 32" descr="http://col.njtu.edu.cn/jingpinke/szlj/shuziwangluo/fulu/images/fuhao3.gif"/>
          <p:cNvPicPr>
            <a:picLocks noChangeAspect="1" noChangeArrowheads="1"/>
          </p:cNvPicPr>
          <p:nvPr/>
        </p:nvPicPr>
        <p:blipFill>
          <a:blip r:embed="rId6" r:link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1420" y="3573030"/>
            <a:ext cx="1460860" cy="49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535" name="Picture 31" descr="http://col.njtu.edu.cn/jingpinke/szlj/shuziwangluo/fulu/images/fuhao4.gif"/>
          <p:cNvPicPr>
            <a:picLocks noChangeAspect="1" noChangeArrowheads="1"/>
          </p:cNvPicPr>
          <p:nvPr/>
        </p:nvPicPr>
        <p:blipFill>
          <a:blip r:embed="rId8" r:link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98" y="3435072"/>
            <a:ext cx="1492029" cy="714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534" name="Picture 30" descr="http://col.njtu.edu.cn/jingpinke/szlj/shuziwangluo/fulu/images/fuhao5.gif"/>
          <p:cNvPicPr>
            <a:picLocks noChangeAspect="1" noChangeArrowheads="1"/>
          </p:cNvPicPr>
          <p:nvPr/>
        </p:nvPicPr>
        <p:blipFill>
          <a:blip r:embed="rId10" r:link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4581142"/>
            <a:ext cx="1489826" cy="713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533" name="Picture 29" descr="http://col.njtu.edu.cn/jingpinke/szlj/shuziwangluo/fulu/images/fuhao6.gif"/>
          <p:cNvPicPr>
            <a:picLocks noChangeAspect="1" noChangeArrowheads="1"/>
          </p:cNvPicPr>
          <p:nvPr/>
        </p:nvPicPr>
        <p:blipFill>
          <a:blip r:embed="rId12" r:link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4200" y="4594602"/>
            <a:ext cx="1533904" cy="706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532" name="Picture 28" descr="http://col.njtu.edu.cn/jingpinke/szlj/shuziwangluo/fulu/images/fuhao7.gif"/>
          <p:cNvPicPr>
            <a:picLocks noChangeAspect="1" noChangeArrowheads="1"/>
          </p:cNvPicPr>
          <p:nvPr/>
        </p:nvPicPr>
        <p:blipFill>
          <a:blip r:embed="rId14" r:link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1420" y="4628090"/>
            <a:ext cx="1460860" cy="601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531" name="Picture 27" descr="http://col.njtu.edu.cn/jingpinke/szlj/shuziwangluo/fulu/images/fuhao8.gif"/>
          <p:cNvPicPr>
            <a:picLocks noChangeAspect="1" noChangeArrowheads="1"/>
          </p:cNvPicPr>
          <p:nvPr/>
        </p:nvPicPr>
        <p:blipFill>
          <a:blip r:embed="rId16" r:link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4577548"/>
            <a:ext cx="1512168" cy="723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530" name="Picture 26" descr="http://col.njtu.edu.cn/jingpinke/szlj/shuziwangluo/fulu/images/fuhao9.gif"/>
          <p:cNvPicPr>
            <a:picLocks noChangeAspect="1" noChangeArrowheads="1"/>
          </p:cNvPicPr>
          <p:nvPr/>
        </p:nvPicPr>
        <p:blipFill>
          <a:blip r:embed="rId18" r:link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0913" y="5517232"/>
            <a:ext cx="1033824" cy="49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529" name="Picture 25" descr="http://col.njtu.edu.cn/jingpinke/szlj/shuziwangluo/fulu/images/fuhao10.gif"/>
          <p:cNvPicPr>
            <a:picLocks noChangeAspect="1" noChangeArrowheads="1"/>
          </p:cNvPicPr>
          <p:nvPr/>
        </p:nvPicPr>
        <p:blipFill>
          <a:blip r:embed="rId20" r:link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5204" y="6093296"/>
            <a:ext cx="1033824" cy="49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528" name="Picture 24" descr="http://col.njtu.edu.cn/jingpinke/szlj/shuziwangluo/fulu/images/fuhao11.gif"/>
          <p:cNvPicPr>
            <a:picLocks noChangeAspect="1" noChangeArrowheads="1"/>
          </p:cNvPicPr>
          <p:nvPr/>
        </p:nvPicPr>
        <p:blipFill>
          <a:blip r:embed="rId22" r:link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0234" y="5517232"/>
            <a:ext cx="1033824" cy="49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527" name="Picture 23" descr="http://col.njtu.edu.cn/jingpinke/szlj/shuziwangluo/fulu/images/fuhao12.gif"/>
          <p:cNvPicPr>
            <a:picLocks noChangeAspect="1" noChangeArrowheads="1"/>
          </p:cNvPicPr>
          <p:nvPr/>
        </p:nvPicPr>
        <p:blipFill>
          <a:blip r:embed="rId24" r:link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6217" y="6093296"/>
            <a:ext cx="1043487" cy="49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526" name="Picture 22" descr="http://col.njtu.edu.cn/jingpinke/szlj/shuziwangluo/fulu/images/fuhao13.gif"/>
          <p:cNvPicPr>
            <a:picLocks noChangeAspect="1" noChangeArrowheads="1"/>
          </p:cNvPicPr>
          <p:nvPr/>
        </p:nvPicPr>
        <p:blipFill>
          <a:blip r:embed="rId26" r:link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8865" y="5545807"/>
            <a:ext cx="1053149" cy="43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525" name="Picture 21" descr="http://col.njtu.edu.cn/jingpinke/szlj/shuziwangluo/fulu/images/fuhao14.gif"/>
          <p:cNvPicPr>
            <a:picLocks noChangeAspect="1" noChangeArrowheads="1"/>
          </p:cNvPicPr>
          <p:nvPr/>
        </p:nvPicPr>
        <p:blipFill>
          <a:blip r:embed="rId28" r:link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7444" y="6121872"/>
            <a:ext cx="1053149" cy="43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524" name="Picture 20" descr="http://col.njtu.edu.cn/jingpinke/szlj/shuziwangluo/fulu/images/fuhao11.gif"/>
          <p:cNvPicPr>
            <a:picLocks noChangeAspect="1" noChangeArrowheads="1"/>
          </p:cNvPicPr>
          <p:nvPr/>
        </p:nvPicPr>
        <p:blipFill>
          <a:blip r:embed="rId22" r:link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2025" y="5517232"/>
            <a:ext cx="1033824" cy="49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523" name="Picture 19" descr="http://col.njtu.edu.cn/jingpinke/szlj/shuziwangluo/fulu/images/fuhao12.gif"/>
          <p:cNvPicPr>
            <a:picLocks noChangeAspect="1" noChangeArrowheads="1"/>
          </p:cNvPicPr>
          <p:nvPr/>
        </p:nvPicPr>
        <p:blipFill>
          <a:blip r:embed="rId24" r:link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6305" y="6093296"/>
            <a:ext cx="1043487" cy="49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椭圆 5"/>
          <p:cNvSpPr/>
          <p:nvPr/>
        </p:nvSpPr>
        <p:spPr>
          <a:xfrm>
            <a:off x="4599024" y="4802645"/>
            <a:ext cx="189000" cy="252000"/>
          </a:xfrm>
          <a:prstGeom prst="ellipse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+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D0BAC06-61C7-4F56-9F90-4D1A97534AA3}"/>
              </a:ext>
            </a:extLst>
          </p:cNvPr>
          <p:cNvSpPr/>
          <p:nvPr/>
        </p:nvSpPr>
        <p:spPr>
          <a:xfrm>
            <a:off x="3901586" y="1988840"/>
            <a:ext cx="1653189" cy="4678660"/>
          </a:xfrm>
          <a:custGeom>
            <a:avLst/>
            <a:gdLst>
              <a:gd name="connsiteX0" fmla="*/ 0 w 1653189"/>
              <a:gd name="connsiteY0" fmla="*/ 0 h 4678660"/>
              <a:gd name="connsiteX1" fmla="*/ 551063 w 1653189"/>
              <a:gd name="connsiteY1" fmla="*/ 0 h 4678660"/>
              <a:gd name="connsiteX2" fmla="*/ 1118658 w 1653189"/>
              <a:gd name="connsiteY2" fmla="*/ 0 h 4678660"/>
              <a:gd name="connsiteX3" fmla="*/ 1653189 w 1653189"/>
              <a:gd name="connsiteY3" fmla="*/ 0 h 4678660"/>
              <a:gd name="connsiteX4" fmla="*/ 1653189 w 1653189"/>
              <a:gd name="connsiteY4" fmla="*/ 538046 h 4678660"/>
              <a:gd name="connsiteX5" fmla="*/ 1653189 w 1653189"/>
              <a:gd name="connsiteY5" fmla="*/ 1122878 h 4678660"/>
              <a:gd name="connsiteX6" fmla="*/ 1653189 w 1653189"/>
              <a:gd name="connsiteY6" fmla="*/ 1660924 h 4678660"/>
              <a:gd name="connsiteX7" fmla="*/ 1653189 w 1653189"/>
              <a:gd name="connsiteY7" fmla="*/ 2292543 h 4678660"/>
              <a:gd name="connsiteX8" fmla="*/ 1653189 w 1653189"/>
              <a:gd name="connsiteY8" fmla="*/ 2924163 h 4678660"/>
              <a:gd name="connsiteX9" fmla="*/ 1653189 w 1653189"/>
              <a:gd name="connsiteY9" fmla="*/ 3508995 h 4678660"/>
              <a:gd name="connsiteX10" fmla="*/ 1653189 w 1653189"/>
              <a:gd name="connsiteY10" fmla="*/ 3953468 h 4678660"/>
              <a:gd name="connsiteX11" fmla="*/ 1653189 w 1653189"/>
              <a:gd name="connsiteY11" fmla="*/ 4678660 h 4678660"/>
              <a:gd name="connsiteX12" fmla="*/ 1069062 w 1653189"/>
              <a:gd name="connsiteY12" fmla="*/ 4678660 h 4678660"/>
              <a:gd name="connsiteX13" fmla="*/ 567595 w 1653189"/>
              <a:gd name="connsiteY13" fmla="*/ 4678660 h 4678660"/>
              <a:gd name="connsiteX14" fmla="*/ 0 w 1653189"/>
              <a:gd name="connsiteY14" fmla="*/ 4678660 h 4678660"/>
              <a:gd name="connsiteX15" fmla="*/ 0 w 1653189"/>
              <a:gd name="connsiteY15" fmla="*/ 4140614 h 4678660"/>
              <a:gd name="connsiteX16" fmla="*/ 0 w 1653189"/>
              <a:gd name="connsiteY16" fmla="*/ 3555782 h 4678660"/>
              <a:gd name="connsiteX17" fmla="*/ 0 w 1653189"/>
              <a:gd name="connsiteY17" fmla="*/ 2877376 h 4678660"/>
              <a:gd name="connsiteX18" fmla="*/ 0 w 1653189"/>
              <a:gd name="connsiteY18" fmla="*/ 2245757 h 4678660"/>
              <a:gd name="connsiteX19" fmla="*/ 0 w 1653189"/>
              <a:gd name="connsiteY19" fmla="*/ 1801284 h 4678660"/>
              <a:gd name="connsiteX20" fmla="*/ 0 w 1653189"/>
              <a:gd name="connsiteY20" fmla="*/ 1356811 h 4678660"/>
              <a:gd name="connsiteX21" fmla="*/ 0 w 1653189"/>
              <a:gd name="connsiteY21" fmla="*/ 771979 h 4678660"/>
              <a:gd name="connsiteX22" fmla="*/ 0 w 1653189"/>
              <a:gd name="connsiteY22" fmla="*/ 0 h 4678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653189" h="4678660" extrusionOk="0">
                <a:moveTo>
                  <a:pt x="0" y="0"/>
                </a:moveTo>
                <a:cubicBezTo>
                  <a:pt x="116256" y="-50477"/>
                  <a:pt x="306385" y="11644"/>
                  <a:pt x="551063" y="0"/>
                </a:cubicBezTo>
                <a:cubicBezTo>
                  <a:pt x="795741" y="-11644"/>
                  <a:pt x="898351" y="37782"/>
                  <a:pt x="1118658" y="0"/>
                </a:cubicBezTo>
                <a:cubicBezTo>
                  <a:pt x="1338966" y="-37782"/>
                  <a:pt x="1477881" y="17135"/>
                  <a:pt x="1653189" y="0"/>
                </a:cubicBezTo>
                <a:cubicBezTo>
                  <a:pt x="1687449" y="158223"/>
                  <a:pt x="1642236" y="272547"/>
                  <a:pt x="1653189" y="538046"/>
                </a:cubicBezTo>
                <a:cubicBezTo>
                  <a:pt x="1664142" y="803545"/>
                  <a:pt x="1624221" y="860038"/>
                  <a:pt x="1653189" y="1122878"/>
                </a:cubicBezTo>
                <a:cubicBezTo>
                  <a:pt x="1682157" y="1385718"/>
                  <a:pt x="1607031" y="1449148"/>
                  <a:pt x="1653189" y="1660924"/>
                </a:cubicBezTo>
                <a:cubicBezTo>
                  <a:pt x="1699347" y="1872700"/>
                  <a:pt x="1593204" y="2100296"/>
                  <a:pt x="1653189" y="2292543"/>
                </a:cubicBezTo>
                <a:cubicBezTo>
                  <a:pt x="1713174" y="2484790"/>
                  <a:pt x="1650227" y="2793041"/>
                  <a:pt x="1653189" y="2924163"/>
                </a:cubicBezTo>
                <a:cubicBezTo>
                  <a:pt x="1656151" y="3055285"/>
                  <a:pt x="1608985" y="3292505"/>
                  <a:pt x="1653189" y="3508995"/>
                </a:cubicBezTo>
                <a:cubicBezTo>
                  <a:pt x="1697393" y="3725485"/>
                  <a:pt x="1609515" y="3859322"/>
                  <a:pt x="1653189" y="3953468"/>
                </a:cubicBezTo>
                <a:cubicBezTo>
                  <a:pt x="1696863" y="4047614"/>
                  <a:pt x="1650816" y="4338430"/>
                  <a:pt x="1653189" y="4678660"/>
                </a:cubicBezTo>
                <a:cubicBezTo>
                  <a:pt x="1398386" y="4732482"/>
                  <a:pt x="1199953" y="4625625"/>
                  <a:pt x="1069062" y="4678660"/>
                </a:cubicBezTo>
                <a:cubicBezTo>
                  <a:pt x="938171" y="4731695"/>
                  <a:pt x="805500" y="4653530"/>
                  <a:pt x="567595" y="4678660"/>
                </a:cubicBezTo>
                <a:cubicBezTo>
                  <a:pt x="329690" y="4703790"/>
                  <a:pt x="146004" y="4674984"/>
                  <a:pt x="0" y="4678660"/>
                </a:cubicBezTo>
                <a:cubicBezTo>
                  <a:pt x="-27077" y="4501347"/>
                  <a:pt x="39231" y="4299951"/>
                  <a:pt x="0" y="4140614"/>
                </a:cubicBezTo>
                <a:cubicBezTo>
                  <a:pt x="-39231" y="3981277"/>
                  <a:pt x="21032" y="3804533"/>
                  <a:pt x="0" y="3555782"/>
                </a:cubicBezTo>
                <a:cubicBezTo>
                  <a:pt x="-21032" y="3307031"/>
                  <a:pt x="69602" y="3207826"/>
                  <a:pt x="0" y="2877376"/>
                </a:cubicBezTo>
                <a:cubicBezTo>
                  <a:pt x="-69602" y="2546926"/>
                  <a:pt x="5079" y="2507257"/>
                  <a:pt x="0" y="2245757"/>
                </a:cubicBezTo>
                <a:cubicBezTo>
                  <a:pt x="-5079" y="1984257"/>
                  <a:pt x="19295" y="1990215"/>
                  <a:pt x="0" y="1801284"/>
                </a:cubicBezTo>
                <a:cubicBezTo>
                  <a:pt x="-19295" y="1612353"/>
                  <a:pt x="4688" y="1536600"/>
                  <a:pt x="0" y="1356811"/>
                </a:cubicBezTo>
                <a:cubicBezTo>
                  <a:pt x="-4688" y="1177022"/>
                  <a:pt x="68061" y="1032938"/>
                  <a:pt x="0" y="771979"/>
                </a:cubicBezTo>
                <a:cubicBezTo>
                  <a:pt x="-68061" y="511020"/>
                  <a:pt x="23917" y="162631"/>
                  <a:pt x="0" y="0"/>
                </a:cubicBezTo>
                <a:close/>
              </a:path>
            </a:pathLst>
          </a:custGeom>
          <a:noFill/>
          <a:ln w="3810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423770648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6783858"/>
      </p:ext>
    </p:extLst>
  </p:cSld>
  <p:clrMapOvr>
    <a:masterClrMapping/>
  </p:clrMapOvr>
  <p:transition spd="slow">
    <p:pull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8159165"/>
              </p:ext>
            </p:extLst>
          </p:nvPr>
        </p:nvGraphicFramePr>
        <p:xfrm>
          <a:off x="755576" y="2073439"/>
          <a:ext cx="7920880" cy="45959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1918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effectLst/>
                        </a:rPr>
                        <a:t>符號名稱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effectLst/>
                        </a:rPr>
                        <a:t>國標符號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effectLst/>
                        </a:rPr>
                        <a:t>常用符號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effectLst/>
                        </a:rPr>
                        <a:t>國際流行符號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effectLst/>
                        </a:rPr>
                        <a:t>IEEE</a:t>
                      </a:r>
                      <a:r>
                        <a:rPr lang="zh-CN" sz="2400" kern="0" dirty="0">
                          <a:effectLst/>
                        </a:rPr>
                        <a:t>邏輯符號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918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effectLst/>
                        </a:rPr>
                        <a:t>反及閘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0">
                        <a:effectLst/>
                        <a:latin typeface="宋体"/>
                        <a:ea typeface="宋体"/>
                        <a:cs typeface="宋体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0">
                        <a:effectLst/>
                        <a:latin typeface="宋体"/>
                        <a:ea typeface="宋体"/>
                        <a:cs typeface="宋体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0">
                        <a:effectLst/>
                        <a:latin typeface="宋体"/>
                        <a:ea typeface="宋体"/>
                        <a:cs typeface="宋体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0" dirty="0">
                        <a:effectLst/>
                        <a:latin typeface="宋体"/>
                        <a:ea typeface="宋体"/>
                        <a:cs typeface="宋体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918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effectLst/>
                        </a:rPr>
                        <a:t>反或閘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0">
                        <a:effectLst/>
                        <a:latin typeface="宋体"/>
                        <a:ea typeface="宋体"/>
                        <a:cs typeface="宋体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0">
                        <a:effectLst/>
                        <a:latin typeface="宋体"/>
                        <a:ea typeface="宋体"/>
                        <a:cs typeface="宋体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0">
                        <a:effectLst/>
                        <a:latin typeface="宋体"/>
                        <a:ea typeface="宋体"/>
                        <a:cs typeface="宋体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0">
                        <a:effectLst/>
                        <a:latin typeface="宋体"/>
                        <a:ea typeface="宋体"/>
                        <a:cs typeface="宋体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918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effectLst/>
                        </a:rPr>
                        <a:t>異或閘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0">
                        <a:effectLst/>
                        <a:latin typeface="宋体"/>
                        <a:ea typeface="宋体"/>
                        <a:cs typeface="宋体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0">
                        <a:effectLst/>
                        <a:latin typeface="宋体"/>
                        <a:ea typeface="宋体"/>
                        <a:cs typeface="宋体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0">
                        <a:effectLst/>
                        <a:latin typeface="宋体"/>
                        <a:ea typeface="宋体"/>
                        <a:cs typeface="宋体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0">
                        <a:effectLst/>
                        <a:latin typeface="宋体"/>
                        <a:ea typeface="宋体"/>
                        <a:cs typeface="宋体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918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kern="0" dirty="0">
                          <a:effectLst/>
                        </a:rPr>
                        <a:t>同或閘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0">
                        <a:effectLst/>
                        <a:latin typeface="宋体"/>
                        <a:ea typeface="宋体"/>
                        <a:cs typeface="宋体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0">
                        <a:effectLst/>
                        <a:latin typeface="宋体"/>
                        <a:ea typeface="宋体"/>
                        <a:cs typeface="宋体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0" dirty="0">
                        <a:effectLst/>
                        <a:latin typeface="宋体"/>
                        <a:ea typeface="宋体"/>
                        <a:cs typeface="宋体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400" kern="0" dirty="0">
                        <a:effectLst/>
                        <a:latin typeface="宋体"/>
                        <a:ea typeface="宋体"/>
                        <a:cs typeface="宋体"/>
                      </a:endParaRPr>
                    </a:p>
                  </a:txBody>
                  <a:tcPr marL="35719" marR="35719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邏輯代數（</a:t>
            </a:r>
            <a:r>
              <a:rPr lang="en-US" altLang="zh-CN" dirty="0"/>
              <a:t>15</a:t>
            </a:r>
            <a:r>
              <a:rPr lang="zh-CN" altLang="en-US" dirty="0"/>
              <a:t>）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95E2-CB68-42E6-A5AF-574D39E186A5}" type="slidenum">
              <a:rPr lang="en-US" altLang="zh-CN" smtClean="0"/>
              <a:pPr/>
              <a:t>50</a:t>
            </a:fld>
            <a:endParaRPr lang="en-US" altLang="zh-CN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常用邏輯門符號</a:t>
            </a:r>
          </a:p>
        </p:txBody>
      </p:sp>
      <p:pic>
        <p:nvPicPr>
          <p:cNvPr id="10" name="Picture 6" descr="http://col.njtu.edu.cn/jingpinke/szlj/shuziwangluo/fulu/images/fuhao27.gif"/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5845646"/>
            <a:ext cx="1392172" cy="675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5" descr="http://col.njtu.edu.cn/jingpinke/szlj/shuziwangluo/fulu/images/fuhao28.gif"/>
          <p:cNvPicPr>
            <a:picLocks noChangeAspect="1" noChangeArrowheads="1"/>
          </p:cNvPicPr>
          <p:nvPr/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32" y="5850599"/>
            <a:ext cx="1407018" cy="656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http://col.njtu.edu.cn/jingpinke/szlj/shuziwangluo/fulu/images/fuhao29.gif"/>
          <p:cNvPicPr>
            <a:picLocks noChangeAspect="1" noChangeArrowheads="1"/>
          </p:cNvPicPr>
          <p:nvPr/>
        </p:nvPicPr>
        <p:blipFill>
          <a:blip r:embed="rId6" r:link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9547" y="5904160"/>
            <a:ext cx="1432733" cy="54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3" descr="http://col.njtu.edu.cn/jingpinke/szlj/shuziwangluo/fulu/images/fuhao30.gif"/>
          <p:cNvPicPr>
            <a:picLocks noChangeAspect="1" noChangeArrowheads="1"/>
          </p:cNvPicPr>
          <p:nvPr/>
        </p:nvPicPr>
        <p:blipFill>
          <a:blip r:embed="rId8" r:link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2322" y="5852476"/>
            <a:ext cx="1372126" cy="640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椭圆 6"/>
          <p:cNvSpPr/>
          <p:nvPr/>
        </p:nvSpPr>
        <p:spPr>
          <a:xfrm>
            <a:off x="4572000" y="6057320"/>
            <a:ext cx="252456" cy="252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•</a:t>
            </a:r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14" name="Picture 10" descr="http://col.njtu.edu.cn/jingpinke/szlj/shuziwangluo/fulu/images/fuhao23.gif"/>
          <p:cNvPicPr>
            <a:picLocks noChangeAspect="1" noChangeArrowheads="1"/>
          </p:cNvPicPr>
          <p:nvPr/>
        </p:nvPicPr>
        <p:blipFill>
          <a:blip r:embed="rId10" r:link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4985901"/>
            <a:ext cx="1392172" cy="675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9" descr="http://col.njtu.edu.cn/jingpinke/szlj/shuziwangluo/fulu/images/fuhao24.gif"/>
          <p:cNvPicPr>
            <a:picLocks noChangeAspect="1" noChangeArrowheads="1"/>
          </p:cNvPicPr>
          <p:nvPr/>
        </p:nvPicPr>
        <p:blipFill>
          <a:blip r:embed="rId12" r:link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32" y="5013177"/>
            <a:ext cx="1382258" cy="644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8" descr="http://col.njtu.edu.cn/jingpinke/szlj/shuziwangluo/fulu/images/fuhao25.gif"/>
          <p:cNvPicPr>
            <a:picLocks noChangeAspect="1" noChangeArrowheads="1"/>
          </p:cNvPicPr>
          <p:nvPr/>
        </p:nvPicPr>
        <p:blipFill>
          <a:blip r:embed="rId14" r:link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9547" y="5089204"/>
            <a:ext cx="1432733" cy="572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7" descr="http://col.njtu.edu.cn/jingpinke/szlj/shuziwangluo/fulu/images/fuhao26.gif"/>
          <p:cNvPicPr>
            <a:picLocks noChangeAspect="1" noChangeArrowheads="1"/>
          </p:cNvPicPr>
          <p:nvPr/>
        </p:nvPicPr>
        <p:blipFill>
          <a:blip r:embed="rId16" r:link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2322" y="5022010"/>
            <a:ext cx="1372126" cy="664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椭圆 4"/>
          <p:cNvSpPr/>
          <p:nvPr/>
        </p:nvSpPr>
        <p:spPr>
          <a:xfrm>
            <a:off x="4580552" y="5197575"/>
            <a:ext cx="252456" cy="252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+</a:t>
            </a:r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18" name="Picture 14" descr="http://col.njtu.edu.cn/jingpinke/szlj/shuziwangluo/fulu/images/fuhao19.gif"/>
          <p:cNvPicPr>
            <a:picLocks noChangeAspect="1" noChangeArrowheads="1"/>
          </p:cNvPicPr>
          <p:nvPr/>
        </p:nvPicPr>
        <p:blipFill>
          <a:blip r:embed="rId18" r:link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4038625"/>
            <a:ext cx="1392172" cy="675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3" descr="http://col.njtu.edu.cn/jingpinke/szlj/shuziwangluo/fulu/images/fuhao20.gif"/>
          <p:cNvPicPr>
            <a:picLocks noChangeAspect="1" noChangeArrowheads="1"/>
          </p:cNvPicPr>
          <p:nvPr/>
        </p:nvPicPr>
        <p:blipFill>
          <a:blip r:embed="rId20" r:link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32" y="4080410"/>
            <a:ext cx="1382258" cy="644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2" descr="http://col.njtu.edu.cn/jingpinke/szlj/shuziwangluo/fulu/images/fuhao21.gif"/>
          <p:cNvPicPr>
            <a:picLocks noChangeAspect="1" noChangeArrowheads="1"/>
          </p:cNvPicPr>
          <p:nvPr/>
        </p:nvPicPr>
        <p:blipFill>
          <a:blip r:embed="rId22" r:link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9548" y="4147699"/>
            <a:ext cx="1430064" cy="566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11" descr="http://col.njtu.edu.cn/jingpinke/szlj/shuziwangluo/fulu/images/fuhao22.gif"/>
          <p:cNvPicPr>
            <a:picLocks noChangeAspect="1" noChangeArrowheads="1"/>
          </p:cNvPicPr>
          <p:nvPr/>
        </p:nvPicPr>
        <p:blipFill>
          <a:blip r:embed="rId24" r:link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2321" y="4038637"/>
            <a:ext cx="1372126" cy="640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椭圆 7"/>
          <p:cNvSpPr/>
          <p:nvPr/>
        </p:nvSpPr>
        <p:spPr>
          <a:xfrm>
            <a:off x="4599024" y="4257120"/>
            <a:ext cx="189000" cy="252000"/>
          </a:xfrm>
          <a:prstGeom prst="ellipse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+</a:t>
            </a:r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22" name="Picture 18" descr="http://col.njtu.edu.cn/jingpinke/szlj/shuziwangluo/fulu/images/fuhao15.gif"/>
          <p:cNvPicPr>
            <a:picLocks noChangeAspect="1" noChangeArrowheads="1"/>
          </p:cNvPicPr>
          <p:nvPr/>
        </p:nvPicPr>
        <p:blipFill>
          <a:blip r:embed="rId26" r:link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3100587"/>
            <a:ext cx="1392172" cy="675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7" descr="http://col.njtu.edu.cn/jingpinke/szlj/shuziwangluo/fulu/images/fuhao16.gif"/>
          <p:cNvPicPr>
            <a:picLocks noChangeAspect="1" noChangeArrowheads="1"/>
          </p:cNvPicPr>
          <p:nvPr/>
        </p:nvPicPr>
        <p:blipFill>
          <a:blip r:embed="rId28" r:link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31" y="3128321"/>
            <a:ext cx="1388429" cy="647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16" descr="http://col.njtu.edu.cn/jingpinke/szlj/shuziwangluo/fulu/images/fuhao17.gif"/>
          <p:cNvPicPr>
            <a:picLocks noChangeAspect="1" noChangeArrowheads="1"/>
          </p:cNvPicPr>
          <p:nvPr/>
        </p:nvPicPr>
        <p:blipFill>
          <a:blip r:embed="rId30" r:link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9558" y="3262061"/>
            <a:ext cx="1430064" cy="471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15" descr="http://col.njtu.edu.cn/jingpinke/szlj/shuziwangluo/fulu/images/fuhao18.gif"/>
          <p:cNvPicPr>
            <a:picLocks noChangeAspect="1" noChangeArrowheads="1"/>
          </p:cNvPicPr>
          <p:nvPr/>
        </p:nvPicPr>
        <p:blipFill>
          <a:blip r:embed="rId24" r:link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2310" y="3128306"/>
            <a:ext cx="1372125" cy="640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椭圆 25"/>
          <p:cNvSpPr/>
          <p:nvPr/>
        </p:nvSpPr>
        <p:spPr>
          <a:xfrm>
            <a:off x="7767376" y="3201670"/>
            <a:ext cx="189000" cy="252000"/>
          </a:xfrm>
          <a:prstGeom prst="ellipse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&amp;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C4F9153-AC7E-4EA9-91AA-CBD867EEFAF8}"/>
              </a:ext>
            </a:extLst>
          </p:cNvPr>
          <p:cNvSpPr/>
          <p:nvPr/>
        </p:nvSpPr>
        <p:spPr>
          <a:xfrm>
            <a:off x="3901586" y="1988840"/>
            <a:ext cx="1653189" cy="4678660"/>
          </a:xfrm>
          <a:custGeom>
            <a:avLst/>
            <a:gdLst>
              <a:gd name="connsiteX0" fmla="*/ 0 w 1653189"/>
              <a:gd name="connsiteY0" fmla="*/ 0 h 4678660"/>
              <a:gd name="connsiteX1" fmla="*/ 551063 w 1653189"/>
              <a:gd name="connsiteY1" fmla="*/ 0 h 4678660"/>
              <a:gd name="connsiteX2" fmla="*/ 1118658 w 1653189"/>
              <a:gd name="connsiteY2" fmla="*/ 0 h 4678660"/>
              <a:gd name="connsiteX3" fmla="*/ 1653189 w 1653189"/>
              <a:gd name="connsiteY3" fmla="*/ 0 h 4678660"/>
              <a:gd name="connsiteX4" fmla="*/ 1653189 w 1653189"/>
              <a:gd name="connsiteY4" fmla="*/ 538046 h 4678660"/>
              <a:gd name="connsiteX5" fmla="*/ 1653189 w 1653189"/>
              <a:gd name="connsiteY5" fmla="*/ 1122878 h 4678660"/>
              <a:gd name="connsiteX6" fmla="*/ 1653189 w 1653189"/>
              <a:gd name="connsiteY6" fmla="*/ 1660924 h 4678660"/>
              <a:gd name="connsiteX7" fmla="*/ 1653189 w 1653189"/>
              <a:gd name="connsiteY7" fmla="*/ 2292543 h 4678660"/>
              <a:gd name="connsiteX8" fmla="*/ 1653189 w 1653189"/>
              <a:gd name="connsiteY8" fmla="*/ 2924163 h 4678660"/>
              <a:gd name="connsiteX9" fmla="*/ 1653189 w 1653189"/>
              <a:gd name="connsiteY9" fmla="*/ 3508995 h 4678660"/>
              <a:gd name="connsiteX10" fmla="*/ 1653189 w 1653189"/>
              <a:gd name="connsiteY10" fmla="*/ 3953468 h 4678660"/>
              <a:gd name="connsiteX11" fmla="*/ 1653189 w 1653189"/>
              <a:gd name="connsiteY11" fmla="*/ 4678660 h 4678660"/>
              <a:gd name="connsiteX12" fmla="*/ 1069062 w 1653189"/>
              <a:gd name="connsiteY12" fmla="*/ 4678660 h 4678660"/>
              <a:gd name="connsiteX13" fmla="*/ 567595 w 1653189"/>
              <a:gd name="connsiteY13" fmla="*/ 4678660 h 4678660"/>
              <a:gd name="connsiteX14" fmla="*/ 0 w 1653189"/>
              <a:gd name="connsiteY14" fmla="*/ 4678660 h 4678660"/>
              <a:gd name="connsiteX15" fmla="*/ 0 w 1653189"/>
              <a:gd name="connsiteY15" fmla="*/ 4140614 h 4678660"/>
              <a:gd name="connsiteX16" fmla="*/ 0 w 1653189"/>
              <a:gd name="connsiteY16" fmla="*/ 3555782 h 4678660"/>
              <a:gd name="connsiteX17" fmla="*/ 0 w 1653189"/>
              <a:gd name="connsiteY17" fmla="*/ 2877376 h 4678660"/>
              <a:gd name="connsiteX18" fmla="*/ 0 w 1653189"/>
              <a:gd name="connsiteY18" fmla="*/ 2245757 h 4678660"/>
              <a:gd name="connsiteX19" fmla="*/ 0 w 1653189"/>
              <a:gd name="connsiteY19" fmla="*/ 1801284 h 4678660"/>
              <a:gd name="connsiteX20" fmla="*/ 0 w 1653189"/>
              <a:gd name="connsiteY20" fmla="*/ 1356811 h 4678660"/>
              <a:gd name="connsiteX21" fmla="*/ 0 w 1653189"/>
              <a:gd name="connsiteY21" fmla="*/ 771979 h 4678660"/>
              <a:gd name="connsiteX22" fmla="*/ 0 w 1653189"/>
              <a:gd name="connsiteY22" fmla="*/ 0 h 4678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653189" h="4678660" extrusionOk="0">
                <a:moveTo>
                  <a:pt x="0" y="0"/>
                </a:moveTo>
                <a:cubicBezTo>
                  <a:pt x="116256" y="-50477"/>
                  <a:pt x="306385" y="11644"/>
                  <a:pt x="551063" y="0"/>
                </a:cubicBezTo>
                <a:cubicBezTo>
                  <a:pt x="795741" y="-11644"/>
                  <a:pt x="898351" y="37782"/>
                  <a:pt x="1118658" y="0"/>
                </a:cubicBezTo>
                <a:cubicBezTo>
                  <a:pt x="1338966" y="-37782"/>
                  <a:pt x="1477881" y="17135"/>
                  <a:pt x="1653189" y="0"/>
                </a:cubicBezTo>
                <a:cubicBezTo>
                  <a:pt x="1687449" y="158223"/>
                  <a:pt x="1642236" y="272547"/>
                  <a:pt x="1653189" y="538046"/>
                </a:cubicBezTo>
                <a:cubicBezTo>
                  <a:pt x="1664142" y="803545"/>
                  <a:pt x="1624221" y="860038"/>
                  <a:pt x="1653189" y="1122878"/>
                </a:cubicBezTo>
                <a:cubicBezTo>
                  <a:pt x="1682157" y="1385718"/>
                  <a:pt x="1607031" y="1449148"/>
                  <a:pt x="1653189" y="1660924"/>
                </a:cubicBezTo>
                <a:cubicBezTo>
                  <a:pt x="1699347" y="1872700"/>
                  <a:pt x="1593204" y="2100296"/>
                  <a:pt x="1653189" y="2292543"/>
                </a:cubicBezTo>
                <a:cubicBezTo>
                  <a:pt x="1713174" y="2484790"/>
                  <a:pt x="1650227" y="2793041"/>
                  <a:pt x="1653189" y="2924163"/>
                </a:cubicBezTo>
                <a:cubicBezTo>
                  <a:pt x="1656151" y="3055285"/>
                  <a:pt x="1608985" y="3292505"/>
                  <a:pt x="1653189" y="3508995"/>
                </a:cubicBezTo>
                <a:cubicBezTo>
                  <a:pt x="1697393" y="3725485"/>
                  <a:pt x="1609515" y="3859322"/>
                  <a:pt x="1653189" y="3953468"/>
                </a:cubicBezTo>
                <a:cubicBezTo>
                  <a:pt x="1696863" y="4047614"/>
                  <a:pt x="1650816" y="4338430"/>
                  <a:pt x="1653189" y="4678660"/>
                </a:cubicBezTo>
                <a:cubicBezTo>
                  <a:pt x="1398386" y="4732482"/>
                  <a:pt x="1199953" y="4625625"/>
                  <a:pt x="1069062" y="4678660"/>
                </a:cubicBezTo>
                <a:cubicBezTo>
                  <a:pt x="938171" y="4731695"/>
                  <a:pt x="805500" y="4653530"/>
                  <a:pt x="567595" y="4678660"/>
                </a:cubicBezTo>
                <a:cubicBezTo>
                  <a:pt x="329690" y="4703790"/>
                  <a:pt x="146004" y="4674984"/>
                  <a:pt x="0" y="4678660"/>
                </a:cubicBezTo>
                <a:cubicBezTo>
                  <a:pt x="-27077" y="4501347"/>
                  <a:pt x="39231" y="4299951"/>
                  <a:pt x="0" y="4140614"/>
                </a:cubicBezTo>
                <a:cubicBezTo>
                  <a:pt x="-39231" y="3981277"/>
                  <a:pt x="21032" y="3804533"/>
                  <a:pt x="0" y="3555782"/>
                </a:cubicBezTo>
                <a:cubicBezTo>
                  <a:pt x="-21032" y="3307031"/>
                  <a:pt x="69602" y="3207826"/>
                  <a:pt x="0" y="2877376"/>
                </a:cubicBezTo>
                <a:cubicBezTo>
                  <a:pt x="-69602" y="2546926"/>
                  <a:pt x="5079" y="2507257"/>
                  <a:pt x="0" y="2245757"/>
                </a:cubicBezTo>
                <a:cubicBezTo>
                  <a:pt x="-5079" y="1984257"/>
                  <a:pt x="19295" y="1990215"/>
                  <a:pt x="0" y="1801284"/>
                </a:cubicBezTo>
                <a:cubicBezTo>
                  <a:pt x="-19295" y="1612353"/>
                  <a:pt x="4688" y="1536600"/>
                  <a:pt x="0" y="1356811"/>
                </a:cubicBezTo>
                <a:cubicBezTo>
                  <a:pt x="-4688" y="1177022"/>
                  <a:pt x="68061" y="1032938"/>
                  <a:pt x="0" y="771979"/>
                </a:cubicBezTo>
                <a:cubicBezTo>
                  <a:pt x="-68061" y="511020"/>
                  <a:pt x="23917" y="162631"/>
                  <a:pt x="0" y="0"/>
                </a:cubicBezTo>
                <a:close/>
              </a:path>
            </a:pathLst>
          </a:custGeom>
          <a:noFill/>
          <a:ln w="3810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423770648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4793024"/>
      </p:ext>
    </p:extLst>
  </p:cSld>
  <p:clrMapOvr>
    <a:masterClrMapping/>
  </p:clrMapOvr>
  <p:transition spd="slow">
    <p:pull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邏輯代數（</a:t>
            </a:r>
            <a:r>
              <a:rPr lang="en-US" altLang="zh-CN" dirty="0"/>
              <a:t>13</a:t>
            </a:r>
            <a:r>
              <a:rPr lang="zh-CN" altLang="en-US" dirty="0"/>
              <a:t>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F29DC-3059-47E7-B182-00BF598F35C8}" type="slidenum">
              <a:rPr lang="en-US" altLang="zh-CN"/>
              <a:pPr/>
              <a:t>51</a:t>
            </a:fld>
            <a:endParaRPr lang="en-US" altLang="zh-CN" dirty="0"/>
          </a:p>
        </p:txBody>
      </p:sp>
      <p:sp>
        <p:nvSpPr>
          <p:cNvPr id="27033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996" y="1412776"/>
            <a:ext cx="8384468" cy="4607024"/>
          </a:xfrm>
          <a:noFill/>
          <a:ln/>
        </p:spPr>
        <p:txBody>
          <a:bodyPr/>
          <a:lstStyle/>
          <a:p>
            <a:r>
              <a:rPr lang="en-US" altLang="zh-CN" dirty="0"/>
              <a:t>2.1  </a:t>
            </a:r>
            <a:r>
              <a:rPr lang="zh-CN" altLang="en-US" dirty="0"/>
              <a:t>邏輯代數的基本運算與公式</a:t>
            </a:r>
          </a:p>
          <a:p>
            <a:pPr lvl="1"/>
            <a:r>
              <a:rPr lang="zh-CN" altLang="en-US" dirty="0"/>
              <a:t>邏輯代數的基本運算</a:t>
            </a:r>
            <a:r>
              <a:rPr lang="en-US" altLang="zh-CN" dirty="0"/>
              <a:t>——</a:t>
            </a:r>
            <a:r>
              <a:rPr lang="zh-CN" altLang="en-US" dirty="0"/>
              <a:t>小結</a:t>
            </a:r>
          </a:p>
          <a:p>
            <a:pPr lvl="2"/>
            <a:r>
              <a:rPr lang="zh-CN" altLang="en-US" dirty="0"/>
              <a:t>基本運算：與、或、非</a:t>
            </a:r>
          </a:p>
          <a:p>
            <a:pPr lvl="3"/>
            <a:r>
              <a:rPr lang="zh-CN" altLang="en-US" dirty="0"/>
              <a:t>電路：“與”門，“或”門，“非”門</a:t>
            </a:r>
          </a:p>
          <a:p>
            <a:pPr lvl="2"/>
            <a:r>
              <a:rPr lang="zh-CN" altLang="en-US" dirty="0"/>
              <a:t>常用運算：與非、或非、與或非、異或、同或</a:t>
            </a:r>
          </a:p>
          <a:p>
            <a:pPr lvl="3"/>
            <a:r>
              <a:rPr lang="zh-CN" altLang="en-US" dirty="0"/>
              <a:t>電路：“與非”門，“或非”門，“與或非”門</a:t>
            </a:r>
          </a:p>
          <a:p>
            <a:pPr lvl="2">
              <a:buFont typeface="Wingdings" pitchFamily="2" charset="2"/>
              <a:buNone/>
            </a:pPr>
            <a:r>
              <a:rPr lang="zh-CN" altLang="en-US" dirty="0"/>
              <a:t>          “異或”門，“同或”門</a:t>
            </a:r>
          </a:p>
        </p:txBody>
      </p:sp>
    </p:spTree>
    <p:extLst>
      <p:ext uri="{BB962C8B-B14F-4D97-AF65-F5344CB8AC3E}">
        <p14:creationId xmlns:p14="http://schemas.microsoft.com/office/powerpoint/2010/main" val="1295502295"/>
      </p:ext>
    </p:extLst>
  </p:cSld>
  <p:clrMapOvr>
    <a:masterClrMapping/>
  </p:clrMapOvr>
  <p:transition spd="slow">
    <p:pull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邏輯代數（</a:t>
            </a:r>
            <a:r>
              <a:rPr lang="en-US" altLang="zh-CN" dirty="0"/>
              <a:t>14</a:t>
            </a:r>
            <a:r>
              <a:rPr lang="zh-CN" altLang="en-US" dirty="0"/>
              <a:t>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5E85F-DB96-4E38-9790-BCEAF489995F}" type="slidenum">
              <a:rPr lang="en-US" altLang="zh-CN"/>
              <a:pPr/>
              <a:t>52</a:t>
            </a:fld>
            <a:endParaRPr lang="en-US" altLang="zh-CN" dirty="0"/>
          </a:p>
        </p:txBody>
      </p:sp>
      <p:sp>
        <p:nvSpPr>
          <p:cNvPr id="27238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996" y="1412776"/>
            <a:ext cx="8312460" cy="4607024"/>
          </a:xfrm>
        </p:spPr>
        <p:txBody>
          <a:bodyPr/>
          <a:lstStyle/>
          <a:p>
            <a:r>
              <a:rPr lang="en-US" altLang="zh-CN" dirty="0"/>
              <a:t>2.1  </a:t>
            </a:r>
            <a:r>
              <a:rPr lang="zh-CN" altLang="en-US" dirty="0"/>
              <a:t>邏輯代數的基本運算與公式</a:t>
            </a:r>
          </a:p>
          <a:p>
            <a:pPr lvl="1"/>
            <a:r>
              <a:rPr lang="zh-CN" altLang="en-US" dirty="0"/>
              <a:t>邏輯代數的基本運算</a:t>
            </a:r>
          </a:p>
          <a:p>
            <a:pPr lvl="1"/>
            <a:r>
              <a:rPr lang="zh-CN" altLang="en-US" dirty="0">
                <a:solidFill>
                  <a:srgbClr val="0070C0"/>
                </a:solidFill>
              </a:rPr>
              <a:t>邏輯代數的基本公式</a:t>
            </a:r>
          </a:p>
        </p:txBody>
      </p:sp>
    </p:spTree>
    <p:extLst>
      <p:ext uri="{BB962C8B-B14F-4D97-AF65-F5344CB8AC3E}">
        <p14:creationId xmlns:p14="http://schemas.microsoft.com/office/powerpoint/2010/main" val="412277501"/>
      </p:ext>
    </p:extLst>
  </p:cSld>
  <p:clrMapOvr>
    <a:masterClrMapping/>
  </p:clrMapOvr>
  <p:transition spd="slow">
    <p:pull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邏輯代數（</a:t>
            </a:r>
            <a:r>
              <a:rPr lang="en-US" altLang="zh-CN" dirty="0"/>
              <a:t>15</a:t>
            </a:r>
            <a:r>
              <a:rPr lang="zh-CN" altLang="en-US" dirty="0"/>
              <a:t>）</a:t>
            </a: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206CB-1E5D-41D7-9753-D19A58B7A52E}" type="slidenum">
              <a:rPr lang="en-US" altLang="zh-CN"/>
              <a:pPr/>
              <a:t>53</a:t>
            </a:fld>
            <a:endParaRPr lang="en-US" altLang="zh-CN" dirty="0"/>
          </a:p>
        </p:txBody>
      </p:sp>
      <p:sp>
        <p:nvSpPr>
          <p:cNvPr id="1105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996" y="1412776"/>
            <a:ext cx="8384468" cy="4607024"/>
          </a:xfrm>
        </p:spPr>
        <p:txBody>
          <a:bodyPr/>
          <a:lstStyle/>
          <a:p>
            <a:r>
              <a:rPr lang="en-US" altLang="zh-CN" dirty="0"/>
              <a:t>2.1  </a:t>
            </a:r>
            <a:r>
              <a:rPr lang="zh-CN" altLang="en-US" dirty="0"/>
              <a:t>邏輯代數的基本運算與公式</a:t>
            </a:r>
          </a:p>
          <a:p>
            <a:pPr lvl="1"/>
            <a:r>
              <a:rPr lang="zh-CN" altLang="en-US" dirty="0"/>
              <a:t>邏輯代數的基本公式</a:t>
            </a:r>
            <a:r>
              <a:rPr kumimoji="1" lang="en-US" altLang="zh-CN" sz="2800" b="0" spc="-5" dirty="0">
                <a:solidFill>
                  <a:srgbClr val="000099"/>
                </a:solidFill>
                <a:latin typeface="Arial"/>
                <a:ea typeface="宋体" pitchFamily="2" charset="-122"/>
                <a:cs typeface="Arial"/>
              </a:rPr>
              <a:t>(Elementary)</a:t>
            </a:r>
            <a:endParaRPr kumimoji="1" lang="zh-CN" altLang="en-US" sz="2800" b="0" spc="-5" dirty="0">
              <a:solidFill>
                <a:srgbClr val="000099"/>
              </a:solidFill>
              <a:latin typeface="Arial"/>
              <a:ea typeface="宋体" pitchFamily="2" charset="-122"/>
              <a:cs typeface="Arial"/>
            </a:endParaRPr>
          </a:p>
          <a:p>
            <a:endParaRPr lang="en-US" altLang="zh-CN" dirty="0"/>
          </a:p>
        </p:txBody>
      </p:sp>
      <p:sp>
        <p:nvSpPr>
          <p:cNvPr id="110596" name="Rectangle 4"/>
          <p:cNvSpPr>
            <a:spLocks noChangeArrowheads="1"/>
          </p:cNvSpPr>
          <p:nvPr/>
        </p:nvSpPr>
        <p:spPr bwMode="auto">
          <a:xfrm>
            <a:off x="899592" y="3019433"/>
            <a:ext cx="126188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Font typeface="Wingdings" pitchFamily="2" charset="2"/>
              <a:buNone/>
            </a:pPr>
            <a:r>
              <a:rPr lang="zh-CN" altLang="en-US" sz="2800" dirty="0"/>
              <a:t>互補律</a:t>
            </a:r>
          </a:p>
        </p:txBody>
      </p:sp>
      <p:graphicFrame>
        <p:nvGraphicFramePr>
          <p:cNvPr id="11059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963110"/>
              </p:ext>
            </p:extLst>
          </p:nvPr>
        </p:nvGraphicFramePr>
        <p:xfrm>
          <a:off x="2237855" y="2638440"/>
          <a:ext cx="2265874" cy="1400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87320" imgH="507960" progId="Equation.DSMT4">
                  <p:embed/>
                </p:oleObj>
              </mc:Choice>
              <mc:Fallback>
                <p:oleObj name="Equation" r:id="rId2" imgW="78732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7855" y="2638440"/>
                        <a:ext cx="2265874" cy="14001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598" name="Rectangle 6"/>
          <p:cNvSpPr>
            <a:spLocks noChangeArrowheads="1"/>
          </p:cNvSpPr>
          <p:nvPr/>
        </p:nvSpPr>
        <p:spPr bwMode="auto">
          <a:xfrm>
            <a:off x="956747" y="4346584"/>
            <a:ext cx="7232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Font typeface="Wingdings" pitchFamily="2" charset="2"/>
              <a:buNone/>
            </a:pPr>
            <a:r>
              <a:rPr lang="en-US" altLang="zh-CN" sz="2800" dirty="0"/>
              <a:t>1</a:t>
            </a:r>
            <a:r>
              <a:rPr lang="zh-CN" altLang="en-US" sz="2800" dirty="0"/>
              <a:t>律</a:t>
            </a:r>
          </a:p>
        </p:txBody>
      </p:sp>
      <p:graphicFrame>
        <p:nvGraphicFramePr>
          <p:cNvPr id="11059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5593932"/>
              </p:ext>
            </p:extLst>
          </p:nvPr>
        </p:nvGraphicFramePr>
        <p:xfrm>
          <a:off x="2196183" y="4038600"/>
          <a:ext cx="2405199" cy="1208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761760" imgH="457200" progId="Equation.3">
                  <p:embed/>
                </p:oleObj>
              </mc:Choice>
              <mc:Fallback>
                <p:oleObj name="公式" r:id="rId4" imgW="76176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6183" y="4038600"/>
                        <a:ext cx="2405199" cy="12080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00" name="Rectangle 8"/>
          <p:cNvSpPr>
            <a:spLocks noChangeArrowheads="1"/>
          </p:cNvSpPr>
          <p:nvPr/>
        </p:nvSpPr>
        <p:spPr bwMode="auto">
          <a:xfrm>
            <a:off x="990085" y="5729289"/>
            <a:ext cx="7232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800" dirty="0"/>
              <a:t>0</a:t>
            </a:r>
            <a:r>
              <a:rPr lang="zh-CN" altLang="en-US" sz="2800" dirty="0"/>
              <a:t>律</a:t>
            </a:r>
          </a:p>
        </p:txBody>
      </p:sp>
      <p:graphicFrame>
        <p:nvGraphicFramePr>
          <p:cNvPr id="11060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0214095"/>
              </p:ext>
            </p:extLst>
          </p:nvPr>
        </p:nvGraphicFramePr>
        <p:xfrm>
          <a:off x="2218815" y="5351478"/>
          <a:ext cx="2419864" cy="1201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799920" imgH="457200" progId="Equation.3">
                  <p:embed/>
                </p:oleObj>
              </mc:Choice>
              <mc:Fallback>
                <p:oleObj name="公式" r:id="rId6" imgW="79992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8815" y="5351478"/>
                        <a:ext cx="2419864" cy="12017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6146479"/>
              </p:ext>
            </p:extLst>
          </p:nvPr>
        </p:nvGraphicFramePr>
        <p:xfrm>
          <a:off x="4970568" y="3429015"/>
          <a:ext cx="2337736" cy="126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12520" imgH="457200" progId="Equation.DSMT4">
                  <p:embed/>
                </p:oleObj>
              </mc:Choice>
              <mc:Fallback>
                <p:oleObj name="Equation" r:id="rId8" imgW="8125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0568" y="3429015"/>
                        <a:ext cx="2337736" cy="1260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4906313" y="2759868"/>
            <a:ext cx="126188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Font typeface="Wingdings" pitchFamily="2" charset="2"/>
              <a:buNone/>
            </a:pPr>
            <a:r>
              <a:rPr lang="zh-CN" altLang="en-US" sz="2800" dirty="0"/>
              <a:t>重疊律</a:t>
            </a:r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4906313" y="5144870"/>
            <a:ext cx="126188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 dirty="0"/>
              <a:t>對合律</a:t>
            </a:r>
          </a:p>
        </p:txBody>
      </p:sp>
      <p:graphicFrame>
        <p:nvGraphicFramePr>
          <p:cNvPr id="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6614353"/>
              </p:ext>
            </p:extLst>
          </p:nvPr>
        </p:nvGraphicFramePr>
        <p:xfrm>
          <a:off x="5286090" y="5731442"/>
          <a:ext cx="1126337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457200" imgH="241200" progId="Equation.3">
                  <p:embed/>
                </p:oleObj>
              </mc:Choice>
              <mc:Fallback>
                <p:oleObj name="公式" r:id="rId10" imgW="45720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6090" y="5731442"/>
                        <a:ext cx="1126337" cy="6429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7055367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0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0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0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0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06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06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邏輯代數（</a:t>
            </a:r>
            <a:r>
              <a:rPr lang="en-US" altLang="zh-CN" dirty="0"/>
              <a:t>16</a:t>
            </a:r>
            <a:r>
              <a:rPr lang="zh-CN" altLang="en-US" dirty="0"/>
              <a:t>）</a:t>
            </a: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43508" y="6283131"/>
            <a:ext cx="432048" cy="457200"/>
          </a:xfrm>
        </p:spPr>
        <p:txBody>
          <a:bodyPr/>
          <a:lstStyle/>
          <a:p>
            <a:fld id="{BF60C085-6B94-4658-9F05-1E4550AA8494}" type="slidenum">
              <a:rPr lang="en-US" altLang="zh-CN"/>
              <a:pPr/>
              <a:t>54</a:t>
            </a:fld>
            <a:endParaRPr lang="en-US" altLang="zh-CN" dirty="0"/>
          </a:p>
        </p:txBody>
      </p:sp>
      <p:sp>
        <p:nvSpPr>
          <p:cNvPr id="111620" name="Rectangle 4"/>
          <p:cNvSpPr>
            <a:spLocks noGrp="1" noChangeArrowheads="1"/>
          </p:cNvSpPr>
          <p:nvPr>
            <p:ph sz="quarter" idx="1"/>
          </p:nvPr>
        </p:nvSpPr>
        <p:spPr>
          <a:noFill/>
          <a:ln/>
        </p:spPr>
        <p:txBody>
          <a:bodyPr/>
          <a:lstStyle/>
          <a:p>
            <a:r>
              <a:rPr lang="en-US" altLang="zh-CN" dirty="0"/>
              <a:t>2.1  </a:t>
            </a:r>
            <a:r>
              <a:rPr lang="zh-CN" altLang="en-US" dirty="0"/>
              <a:t>邏輯代數的基本運算與公式</a:t>
            </a:r>
          </a:p>
          <a:p>
            <a:pPr lvl="1"/>
            <a:r>
              <a:rPr lang="zh-CN" altLang="en-US" dirty="0"/>
              <a:t>邏輯代數的基本公式</a:t>
            </a:r>
          </a:p>
          <a:p>
            <a:endParaRPr lang="en-US" altLang="zh-CN" dirty="0"/>
          </a:p>
        </p:txBody>
      </p:sp>
      <p:sp>
        <p:nvSpPr>
          <p:cNvPr id="111621" name="Rectangle 5"/>
          <p:cNvSpPr>
            <a:spLocks noChangeArrowheads="1"/>
          </p:cNvSpPr>
          <p:nvPr/>
        </p:nvSpPr>
        <p:spPr bwMode="auto">
          <a:xfrm>
            <a:off x="899592" y="2708934"/>
            <a:ext cx="2799791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800" dirty="0"/>
              <a:t>交換律</a:t>
            </a:r>
            <a:endParaRPr lang="en-US" altLang="zh-CN" sz="2800" dirty="0"/>
          </a:p>
          <a:p>
            <a:r>
              <a:rPr lang="en-US" altLang="zh-CN" sz="2000" spc="-5" dirty="0">
                <a:solidFill>
                  <a:srgbClr val="000099"/>
                </a:solidFill>
                <a:latin typeface="Arial"/>
                <a:cs typeface="Arial"/>
              </a:rPr>
              <a:t>(</a:t>
            </a:r>
            <a:r>
              <a:rPr lang="en-US" altLang="zh-CN" sz="2000" spc="-5" dirty="0" err="1">
                <a:solidFill>
                  <a:srgbClr val="000099"/>
                </a:solidFill>
                <a:latin typeface="Arial"/>
                <a:cs typeface="Arial"/>
              </a:rPr>
              <a:t>Commutativity</a:t>
            </a:r>
            <a:r>
              <a:rPr lang="en-US" altLang="zh-CN" sz="2000" spc="-5" dirty="0">
                <a:solidFill>
                  <a:srgbClr val="000099"/>
                </a:solidFill>
                <a:latin typeface="Arial"/>
                <a:cs typeface="Arial"/>
              </a:rPr>
              <a:t>)</a:t>
            </a:r>
            <a:endParaRPr lang="zh-CN" altLang="en-US" sz="2800" dirty="0"/>
          </a:p>
        </p:txBody>
      </p:sp>
      <p:graphicFrame>
        <p:nvGraphicFramePr>
          <p:cNvPr id="1116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2878326"/>
              </p:ext>
            </p:extLst>
          </p:nvPr>
        </p:nvGraphicFramePr>
        <p:xfrm>
          <a:off x="2843817" y="2743214"/>
          <a:ext cx="2463775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30040" imgH="457200" progId="Equation.3">
                  <p:embed/>
                </p:oleObj>
              </mc:Choice>
              <mc:Fallback>
                <p:oleObj name="公式" r:id="rId2" imgW="113004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17" y="2743214"/>
                        <a:ext cx="2463775" cy="10699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23" name="Rectangle 7"/>
          <p:cNvSpPr>
            <a:spLocks noChangeArrowheads="1"/>
          </p:cNvSpPr>
          <p:nvPr/>
        </p:nvSpPr>
        <p:spPr bwMode="auto">
          <a:xfrm>
            <a:off x="899592" y="4084687"/>
            <a:ext cx="2756510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Font typeface="Wingdings" pitchFamily="2" charset="2"/>
              <a:buNone/>
            </a:pPr>
            <a:r>
              <a:rPr lang="zh-CN" altLang="en-US" sz="2800" dirty="0"/>
              <a:t>結合律</a:t>
            </a:r>
            <a:endParaRPr lang="en-US" altLang="zh-CN" sz="2800" dirty="0"/>
          </a:p>
          <a:p>
            <a:pPr>
              <a:spcBef>
                <a:spcPct val="20000"/>
              </a:spcBef>
              <a:buClr>
                <a:schemeClr val="folHlink"/>
              </a:buClr>
              <a:buFont typeface="Wingdings" pitchFamily="2" charset="2"/>
              <a:buNone/>
            </a:pPr>
            <a:r>
              <a:rPr lang="en-US" altLang="zh-CN" sz="2000" spc="-5" dirty="0">
                <a:solidFill>
                  <a:srgbClr val="000099"/>
                </a:solidFill>
                <a:latin typeface="Arial"/>
                <a:cs typeface="Arial"/>
              </a:rPr>
              <a:t>(Associativity)</a:t>
            </a:r>
            <a:endParaRPr lang="zh-CN" altLang="en-US" sz="2800" dirty="0"/>
          </a:p>
        </p:txBody>
      </p:sp>
      <p:graphicFrame>
        <p:nvGraphicFramePr>
          <p:cNvPr id="11162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079047"/>
              </p:ext>
            </p:extLst>
          </p:nvPr>
        </p:nvGraphicFramePr>
        <p:xfrm>
          <a:off x="2843818" y="4050704"/>
          <a:ext cx="4176454" cy="110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917360" imgH="457200" progId="Equation.3">
                  <p:embed/>
                </p:oleObj>
              </mc:Choice>
              <mc:Fallback>
                <p:oleObj name="公式" r:id="rId4" imgW="191736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18" y="4050704"/>
                        <a:ext cx="4176454" cy="11064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25" name="Rectangle 9"/>
          <p:cNvSpPr>
            <a:spLocks noChangeArrowheads="1"/>
          </p:cNvSpPr>
          <p:nvPr/>
        </p:nvSpPr>
        <p:spPr bwMode="auto">
          <a:xfrm>
            <a:off x="899592" y="5452135"/>
            <a:ext cx="216024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800" dirty="0"/>
              <a:t>分配律</a:t>
            </a:r>
            <a:endParaRPr lang="en-US" altLang="zh-CN" sz="2800" dirty="0"/>
          </a:p>
          <a:p>
            <a:r>
              <a:rPr lang="en-US" altLang="zh-CN" sz="2000" spc="-5" dirty="0">
                <a:solidFill>
                  <a:srgbClr val="000099"/>
                </a:solidFill>
                <a:latin typeface="Arial"/>
                <a:cs typeface="Arial"/>
              </a:rPr>
              <a:t>(</a:t>
            </a:r>
            <a:r>
              <a:rPr lang="en-US" altLang="zh-CN" sz="2000" spc="-5" dirty="0" err="1">
                <a:solidFill>
                  <a:srgbClr val="000099"/>
                </a:solidFill>
                <a:latin typeface="Arial"/>
                <a:cs typeface="Arial"/>
              </a:rPr>
              <a:t>Distributivity</a:t>
            </a:r>
            <a:r>
              <a:rPr lang="en-US" altLang="zh-CN" sz="2000" spc="-5" dirty="0">
                <a:solidFill>
                  <a:srgbClr val="000099"/>
                </a:solidFill>
                <a:latin typeface="Arial"/>
                <a:cs typeface="Arial"/>
              </a:rPr>
              <a:t>)</a:t>
            </a:r>
            <a:endParaRPr lang="zh-CN" altLang="en-US" sz="2800" dirty="0"/>
          </a:p>
        </p:txBody>
      </p:sp>
      <p:graphicFrame>
        <p:nvGraphicFramePr>
          <p:cNvPr id="11162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8634853"/>
              </p:ext>
            </p:extLst>
          </p:nvPr>
        </p:nvGraphicFramePr>
        <p:xfrm>
          <a:off x="2843819" y="5403850"/>
          <a:ext cx="4832148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158920" imgH="457200" progId="Equation.3">
                  <p:embed/>
                </p:oleObj>
              </mc:Choice>
              <mc:Fallback>
                <p:oleObj name="公式" r:id="rId6" imgW="215892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19" y="5403850"/>
                        <a:ext cx="4832148" cy="10731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21305355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1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1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16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16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16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16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16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16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16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16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1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1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21" grpId="0"/>
      <p:bldP spid="111623" grpId="0"/>
      <p:bldP spid="11162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邏輯代數（</a:t>
            </a:r>
            <a:r>
              <a:rPr lang="en-US" altLang="zh-CN" dirty="0"/>
              <a:t>17</a:t>
            </a:r>
            <a:r>
              <a:rPr lang="zh-CN" altLang="en-US" dirty="0"/>
              <a:t>）</a:t>
            </a:r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1D295-3DB7-4263-835A-A6F694CFCD36}" type="slidenum">
              <a:rPr lang="en-US" altLang="zh-CN"/>
              <a:pPr/>
              <a:t>55</a:t>
            </a:fld>
            <a:endParaRPr lang="en-US" altLang="zh-CN" dirty="0"/>
          </a:p>
        </p:txBody>
      </p:sp>
      <p:sp>
        <p:nvSpPr>
          <p:cNvPr id="11264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2.1  </a:t>
            </a:r>
            <a:r>
              <a:rPr lang="zh-CN" altLang="en-US" dirty="0"/>
              <a:t>邏輯代數的基本運算與公式</a:t>
            </a:r>
          </a:p>
          <a:p>
            <a:pPr lvl="1"/>
            <a:r>
              <a:rPr lang="zh-CN" altLang="en-US" dirty="0"/>
              <a:t>邏輯代數的基本公式</a:t>
            </a:r>
          </a:p>
          <a:p>
            <a:endParaRPr lang="en-US" altLang="zh-CN" dirty="0"/>
          </a:p>
        </p:txBody>
      </p:sp>
      <p:sp>
        <p:nvSpPr>
          <p:cNvPr id="112645" name="Rectangle 5"/>
          <p:cNvSpPr>
            <a:spLocks noChangeArrowheads="1"/>
          </p:cNvSpPr>
          <p:nvPr/>
        </p:nvSpPr>
        <p:spPr bwMode="auto">
          <a:xfrm>
            <a:off x="905891" y="3124214"/>
            <a:ext cx="2527951" cy="1040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Font typeface="Wingdings" pitchFamily="2" charset="2"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吸收律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Font typeface="Wingdings" pitchFamily="2" charset="2"/>
              <a:buNone/>
            </a:pPr>
            <a:r>
              <a:rPr lang="en-US" altLang="zh-CN" sz="2800" spc="-5" dirty="0">
                <a:solidFill>
                  <a:srgbClr val="000099"/>
                </a:solidFill>
                <a:latin typeface="Arial"/>
                <a:cs typeface="Arial"/>
              </a:rPr>
              <a:t>(Absorption)</a:t>
            </a:r>
            <a:endParaRPr lang="zh-CN" altLang="en-US" sz="2800" dirty="0"/>
          </a:p>
        </p:txBody>
      </p:sp>
      <p:sp>
        <p:nvSpPr>
          <p:cNvPr id="112646" name="Rectangle 6"/>
          <p:cNvSpPr>
            <a:spLocks noChangeArrowheads="1"/>
          </p:cNvSpPr>
          <p:nvPr/>
        </p:nvSpPr>
        <p:spPr bwMode="auto">
          <a:xfrm>
            <a:off x="904410" y="5257815"/>
            <a:ext cx="3379558" cy="1169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Font typeface="Wingdings" pitchFamily="2" charset="2"/>
              <a:buNone/>
            </a:pPr>
            <a:r>
              <a:rPr lang="zh-CN" altLang="en-US" sz="2800" dirty="0"/>
              <a:t>反演律</a:t>
            </a:r>
            <a:r>
              <a:rPr lang="en-US" altLang="zh-CN" sz="2800" dirty="0"/>
              <a:t>(</a:t>
            </a:r>
            <a:r>
              <a:rPr lang="zh-CN" altLang="en-US" sz="2800" dirty="0"/>
              <a:t>德</a:t>
            </a:r>
            <a:r>
              <a:rPr lang="en-US" altLang="zh-CN" sz="2800" dirty="0"/>
              <a:t>·</a:t>
            </a:r>
            <a:r>
              <a:rPr lang="zh-CN" altLang="en-US" sz="2800" dirty="0"/>
              <a:t>摩根定律</a:t>
            </a:r>
            <a:r>
              <a:rPr lang="en-US" altLang="zh-CN" sz="2800" dirty="0"/>
              <a:t>)</a:t>
            </a:r>
          </a:p>
          <a:p>
            <a:pPr>
              <a:spcBef>
                <a:spcPct val="50000"/>
              </a:spcBef>
              <a:buClr>
                <a:schemeClr val="folHlink"/>
              </a:buClr>
              <a:buFont typeface="Wingdings" pitchFamily="2" charset="2"/>
              <a:buNone/>
            </a:pPr>
            <a:r>
              <a:rPr lang="en-US" altLang="zh-CN" sz="2800" dirty="0">
                <a:solidFill>
                  <a:srgbClr val="000099"/>
                </a:solidFill>
                <a:latin typeface="Arial"/>
                <a:cs typeface="Arial"/>
              </a:rPr>
              <a:t>(De</a:t>
            </a:r>
            <a:r>
              <a:rPr lang="en-US" altLang="zh-CN" sz="2800" spc="-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lang="en-US" altLang="zh-CN" sz="2800" dirty="0">
                <a:solidFill>
                  <a:srgbClr val="000099"/>
                </a:solidFill>
                <a:latin typeface="Arial"/>
                <a:cs typeface="Arial"/>
              </a:rPr>
              <a:t>Morgan's)</a:t>
            </a:r>
            <a:endParaRPr lang="en-US" altLang="zh-CN" sz="2800" dirty="0"/>
          </a:p>
        </p:txBody>
      </p:sp>
      <p:graphicFrame>
        <p:nvGraphicFramePr>
          <p:cNvPr id="11264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952805"/>
              </p:ext>
            </p:extLst>
          </p:nvPr>
        </p:nvGraphicFramePr>
        <p:xfrm>
          <a:off x="4371789" y="2514600"/>
          <a:ext cx="3584587" cy="238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434960" imgH="1041120" progId="Equation.3">
                  <p:embed/>
                </p:oleObj>
              </mc:Choice>
              <mc:Fallback>
                <p:oleObj name="公式" r:id="rId2" imgW="1434960" imgH="1041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1789" y="2514600"/>
                        <a:ext cx="3584587" cy="2387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4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2761317"/>
              </p:ext>
            </p:extLst>
          </p:nvPr>
        </p:nvGraphicFramePr>
        <p:xfrm>
          <a:off x="4368218" y="4864115"/>
          <a:ext cx="2935115" cy="163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066680" imgH="583920" progId="Equation.3">
                  <p:embed/>
                </p:oleObj>
              </mc:Choice>
              <mc:Fallback>
                <p:oleObj name="公式" r:id="rId4" imgW="1066680" imgH="5839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8218" y="4864115"/>
                        <a:ext cx="2935115" cy="16351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D9B7D188-BD88-4E84-B197-966BC36173BD}"/>
              </a:ext>
            </a:extLst>
          </p:cNvPr>
          <p:cNvSpPr/>
          <p:nvPr/>
        </p:nvSpPr>
        <p:spPr>
          <a:xfrm>
            <a:off x="755576" y="2514600"/>
            <a:ext cx="7704856" cy="2387600"/>
          </a:xfrm>
          <a:custGeom>
            <a:avLst/>
            <a:gdLst>
              <a:gd name="connsiteX0" fmla="*/ 0 w 7704856"/>
              <a:gd name="connsiteY0" fmla="*/ 0 h 2387600"/>
              <a:gd name="connsiteX1" fmla="*/ 592681 w 7704856"/>
              <a:gd name="connsiteY1" fmla="*/ 0 h 2387600"/>
              <a:gd name="connsiteX2" fmla="*/ 1262411 w 7704856"/>
              <a:gd name="connsiteY2" fmla="*/ 0 h 2387600"/>
              <a:gd name="connsiteX3" fmla="*/ 1855092 w 7704856"/>
              <a:gd name="connsiteY3" fmla="*/ 0 h 2387600"/>
              <a:gd name="connsiteX4" fmla="*/ 2370725 w 7704856"/>
              <a:gd name="connsiteY4" fmla="*/ 0 h 2387600"/>
              <a:gd name="connsiteX5" fmla="*/ 2886358 w 7704856"/>
              <a:gd name="connsiteY5" fmla="*/ 0 h 2387600"/>
              <a:gd name="connsiteX6" fmla="*/ 3247893 w 7704856"/>
              <a:gd name="connsiteY6" fmla="*/ 0 h 2387600"/>
              <a:gd name="connsiteX7" fmla="*/ 3609429 w 7704856"/>
              <a:gd name="connsiteY7" fmla="*/ 0 h 2387600"/>
              <a:gd name="connsiteX8" fmla="*/ 3970964 w 7704856"/>
              <a:gd name="connsiteY8" fmla="*/ 0 h 2387600"/>
              <a:gd name="connsiteX9" fmla="*/ 4640694 w 7704856"/>
              <a:gd name="connsiteY9" fmla="*/ 0 h 2387600"/>
              <a:gd name="connsiteX10" fmla="*/ 5233375 w 7704856"/>
              <a:gd name="connsiteY10" fmla="*/ 0 h 2387600"/>
              <a:gd name="connsiteX11" fmla="*/ 5826056 w 7704856"/>
              <a:gd name="connsiteY11" fmla="*/ 0 h 2387600"/>
              <a:gd name="connsiteX12" fmla="*/ 6495786 w 7704856"/>
              <a:gd name="connsiteY12" fmla="*/ 0 h 2387600"/>
              <a:gd name="connsiteX13" fmla="*/ 7165516 w 7704856"/>
              <a:gd name="connsiteY13" fmla="*/ 0 h 2387600"/>
              <a:gd name="connsiteX14" fmla="*/ 7704856 w 7704856"/>
              <a:gd name="connsiteY14" fmla="*/ 0 h 2387600"/>
              <a:gd name="connsiteX15" fmla="*/ 7704856 w 7704856"/>
              <a:gd name="connsiteY15" fmla="*/ 573024 h 2387600"/>
              <a:gd name="connsiteX16" fmla="*/ 7704856 w 7704856"/>
              <a:gd name="connsiteY16" fmla="*/ 1169924 h 2387600"/>
              <a:gd name="connsiteX17" fmla="*/ 7704856 w 7704856"/>
              <a:gd name="connsiteY17" fmla="*/ 1814576 h 2387600"/>
              <a:gd name="connsiteX18" fmla="*/ 7704856 w 7704856"/>
              <a:gd name="connsiteY18" fmla="*/ 2387600 h 2387600"/>
              <a:gd name="connsiteX19" fmla="*/ 7112175 w 7704856"/>
              <a:gd name="connsiteY19" fmla="*/ 2387600 h 2387600"/>
              <a:gd name="connsiteX20" fmla="*/ 6750639 w 7704856"/>
              <a:gd name="connsiteY20" fmla="*/ 2387600 h 2387600"/>
              <a:gd name="connsiteX21" fmla="*/ 6389104 w 7704856"/>
              <a:gd name="connsiteY21" fmla="*/ 2387600 h 2387600"/>
              <a:gd name="connsiteX22" fmla="*/ 5950520 w 7704856"/>
              <a:gd name="connsiteY22" fmla="*/ 2387600 h 2387600"/>
              <a:gd name="connsiteX23" fmla="*/ 5357838 w 7704856"/>
              <a:gd name="connsiteY23" fmla="*/ 2387600 h 2387600"/>
              <a:gd name="connsiteX24" fmla="*/ 4611060 w 7704856"/>
              <a:gd name="connsiteY24" fmla="*/ 2387600 h 2387600"/>
              <a:gd name="connsiteX25" fmla="*/ 4095427 w 7704856"/>
              <a:gd name="connsiteY25" fmla="*/ 2387600 h 2387600"/>
              <a:gd name="connsiteX26" fmla="*/ 3579795 w 7704856"/>
              <a:gd name="connsiteY26" fmla="*/ 2387600 h 2387600"/>
              <a:gd name="connsiteX27" fmla="*/ 3141211 w 7704856"/>
              <a:gd name="connsiteY27" fmla="*/ 2387600 h 2387600"/>
              <a:gd name="connsiteX28" fmla="*/ 2548529 w 7704856"/>
              <a:gd name="connsiteY28" fmla="*/ 2387600 h 2387600"/>
              <a:gd name="connsiteX29" fmla="*/ 2109945 w 7704856"/>
              <a:gd name="connsiteY29" fmla="*/ 2387600 h 2387600"/>
              <a:gd name="connsiteX30" fmla="*/ 1363167 w 7704856"/>
              <a:gd name="connsiteY30" fmla="*/ 2387600 h 2387600"/>
              <a:gd name="connsiteX31" fmla="*/ 693437 w 7704856"/>
              <a:gd name="connsiteY31" fmla="*/ 2387600 h 2387600"/>
              <a:gd name="connsiteX32" fmla="*/ 0 w 7704856"/>
              <a:gd name="connsiteY32" fmla="*/ 2387600 h 2387600"/>
              <a:gd name="connsiteX33" fmla="*/ 0 w 7704856"/>
              <a:gd name="connsiteY33" fmla="*/ 1838452 h 2387600"/>
              <a:gd name="connsiteX34" fmla="*/ 0 w 7704856"/>
              <a:gd name="connsiteY34" fmla="*/ 1217676 h 2387600"/>
              <a:gd name="connsiteX35" fmla="*/ 0 w 7704856"/>
              <a:gd name="connsiteY35" fmla="*/ 692404 h 2387600"/>
              <a:gd name="connsiteX36" fmla="*/ 0 w 7704856"/>
              <a:gd name="connsiteY36" fmla="*/ 0 h 238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7704856" h="2387600" extrusionOk="0">
                <a:moveTo>
                  <a:pt x="0" y="0"/>
                </a:moveTo>
                <a:cubicBezTo>
                  <a:pt x="236812" y="-66582"/>
                  <a:pt x="447737" y="5459"/>
                  <a:pt x="592681" y="0"/>
                </a:cubicBezTo>
                <a:cubicBezTo>
                  <a:pt x="737625" y="-5459"/>
                  <a:pt x="1083410" y="68398"/>
                  <a:pt x="1262411" y="0"/>
                </a:cubicBezTo>
                <a:cubicBezTo>
                  <a:pt x="1441412" y="-68398"/>
                  <a:pt x="1602449" y="7950"/>
                  <a:pt x="1855092" y="0"/>
                </a:cubicBezTo>
                <a:cubicBezTo>
                  <a:pt x="2107735" y="-7950"/>
                  <a:pt x="2235442" y="7826"/>
                  <a:pt x="2370725" y="0"/>
                </a:cubicBezTo>
                <a:cubicBezTo>
                  <a:pt x="2506008" y="-7826"/>
                  <a:pt x="2679766" y="24833"/>
                  <a:pt x="2886358" y="0"/>
                </a:cubicBezTo>
                <a:cubicBezTo>
                  <a:pt x="3092950" y="-24833"/>
                  <a:pt x="3119218" y="9347"/>
                  <a:pt x="3247893" y="0"/>
                </a:cubicBezTo>
                <a:cubicBezTo>
                  <a:pt x="3376569" y="-9347"/>
                  <a:pt x="3507682" y="30336"/>
                  <a:pt x="3609429" y="0"/>
                </a:cubicBezTo>
                <a:cubicBezTo>
                  <a:pt x="3711176" y="-30336"/>
                  <a:pt x="3830563" y="18799"/>
                  <a:pt x="3970964" y="0"/>
                </a:cubicBezTo>
                <a:cubicBezTo>
                  <a:pt x="4111366" y="-18799"/>
                  <a:pt x="4389162" y="56212"/>
                  <a:pt x="4640694" y="0"/>
                </a:cubicBezTo>
                <a:cubicBezTo>
                  <a:pt x="4892226" y="-56212"/>
                  <a:pt x="4938326" y="25891"/>
                  <a:pt x="5233375" y="0"/>
                </a:cubicBezTo>
                <a:cubicBezTo>
                  <a:pt x="5528424" y="-25891"/>
                  <a:pt x="5657748" y="17074"/>
                  <a:pt x="5826056" y="0"/>
                </a:cubicBezTo>
                <a:cubicBezTo>
                  <a:pt x="5994364" y="-17074"/>
                  <a:pt x="6176689" y="27214"/>
                  <a:pt x="6495786" y="0"/>
                </a:cubicBezTo>
                <a:cubicBezTo>
                  <a:pt x="6814883" y="-27214"/>
                  <a:pt x="6999118" y="53696"/>
                  <a:pt x="7165516" y="0"/>
                </a:cubicBezTo>
                <a:cubicBezTo>
                  <a:pt x="7331914" y="-53696"/>
                  <a:pt x="7490390" y="30993"/>
                  <a:pt x="7704856" y="0"/>
                </a:cubicBezTo>
                <a:cubicBezTo>
                  <a:pt x="7759372" y="147501"/>
                  <a:pt x="7656657" y="333813"/>
                  <a:pt x="7704856" y="573024"/>
                </a:cubicBezTo>
                <a:cubicBezTo>
                  <a:pt x="7753055" y="812235"/>
                  <a:pt x="7637677" y="879302"/>
                  <a:pt x="7704856" y="1169924"/>
                </a:cubicBezTo>
                <a:cubicBezTo>
                  <a:pt x="7772035" y="1460546"/>
                  <a:pt x="7642863" y="1639172"/>
                  <a:pt x="7704856" y="1814576"/>
                </a:cubicBezTo>
                <a:cubicBezTo>
                  <a:pt x="7766849" y="1989980"/>
                  <a:pt x="7647319" y="2114703"/>
                  <a:pt x="7704856" y="2387600"/>
                </a:cubicBezTo>
                <a:cubicBezTo>
                  <a:pt x="7519290" y="2456494"/>
                  <a:pt x="7319759" y="2348651"/>
                  <a:pt x="7112175" y="2387600"/>
                </a:cubicBezTo>
                <a:cubicBezTo>
                  <a:pt x="6904591" y="2426549"/>
                  <a:pt x="6921334" y="2385304"/>
                  <a:pt x="6750639" y="2387600"/>
                </a:cubicBezTo>
                <a:cubicBezTo>
                  <a:pt x="6579944" y="2389896"/>
                  <a:pt x="6559555" y="2372146"/>
                  <a:pt x="6389104" y="2387600"/>
                </a:cubicBezTo>
                <a:cubicBezTo>
                  <a:pt x="6218653" y="2403054"/>
                  <a:pt x="6105365" y="2349853"/>
                  <a:pt x="5950520" y="2387600"/>
                </a:cubicBezTo>
                <a:cubicBezTo>
                  <a:pt x="5795675" y="2425347"/>
                  <a:pt x="5651484" y="2337032"/>
                  <a:pt x="5357838" y="2387600"/>
                </a:cubicBezTo>
                <a:cubicBezTo>
                  <a:pt x="5064192" y="2438168"/>
                  <a:pt x="4929147" y="2323837"/>
                  <a:pt x="4611060" y="2387600"/>
                </a:cubicBezTo>
                <a:cubicBezTo>
                  <a:pt x="4292973" y="2451363"/>
                  <a:pt x="4201067" y="2350744"/>
                  <a:pt x="4095427" y="2387600"/>
                </a:cubicBezTo>
                <a:cubicBezTo>
                  <a:pt x="3989787" y="2424456"/>
                  <a:pt x="3748092" y="2338243"/>
                  <a:pt x="3579795" y="2387600"/>
                </a:cubicBezTo>
                <a:cubicBezTo>
                  <a:pt x="3411498" y="2436957"/>
                  <a:pt x="3329035" y="2348860"/>
                  <a:pt x="3141211" y="2387600"/>
                </a:cubicBezTo>
                <a:cubicBezTo>
                  <a:pt x="2953387" y="2426340"/>
                  <a:pt x="2842398" y="2326919"/>
                  <a:pt x="2548529" y="2387600"/>
                </a:cubicBezTo>
                <a:cubicBezTo>
                  <a:pt x="2254660" y="2448281"/>
                  <a:pt x="2228647" y="2385290"/>
                  <a:pt x="2109945" y="2387600"/>
                </a:cubicBezTo>
                <a:cubicBezTo>
                  <a:pt x="1991243" y="2389910"/>
                  <a:pt x="1727441" y="2330853"/>
                  <a:pt x="1363167" y="2387600"/>
                </a:cubicBezTo>
                <a:cubicBezTo>
                  <a:pt x="998893" y="2444347"/>
                  <a:pt x="892975" y="2307744"/>
                  <a:pt x="693437" y="2387600"/>
                </a:cubicBezTo>
                <a:cubicBezTo>
                  <a:pt x="493899" y="2467456"/>
                  <a:pt x="318073" y="2369749"/>
                  <a:pt x="0" y="2387600"/>
                </a:cubicBezTo>
                <a:cubicBezTo>
                  <a:pt x="-18513" y="2227948"/>
                  <a:pt x="42138" y="1986566"/>
                  <a:pt x="0" y="1838452"/>
                </a:cubicBezTo>
                <a:cubicBezTo>
                  <a:pt x="-42138" y="1690338"/>
                  <a:pt x="68250" y="1350909"/>
                  <a:pt x="0" y="1217676"/>
                </a:cubicBezTo>
                <a:cubicBezTo>
                  <a:pt x="-68250" y="1084443"/>
                  <a:pt x="7983" y="834789"/>
                  <a:pt x="0" y="692404"/>
                </a:cubicBezTo>
                <a:cubicBezTo>
                  <a:pt x="-7983" y="550019"/>
                  <a:pt x="20433" y="196273"/>
                  <a:pt x="0" y="0"/>
                </a:cubicBezTo>
                <a:close/>
              </a:path>
            </a:pathLst>
          </a:custGeom>
          <a:noFill/>
          <a:ln w="3810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423770648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6668205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26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26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26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2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26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26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5" grpId="0"/>
      <p:bldP spid="112646" grpId="0"/>
      <p:bldP spid="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邏輯代數（</a:t>
            </a:r>
            <a:r>
              <a:rPr lang="en-US" altLang="zh-CN" dirty="0"/>
              <a:t>18</a:t>
            </a:r>
            <a:r>
              <a:rPr lang="zh-CN" altLang="en-US" dirty="0"/>
              <a:t>）</a:t>
            </a: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398D5-6648-49E3-A53C-E8681405C938}" type="slidenum">
              <a:rPr lang="en-US" altLang="zh-CN"/>
              <a:pPr/>
              <a:t>56</a:t>
            </a:fld>
            <a:endParaRPr lang="en-US" altLang="zh-CN" dirty="0"/>
          </a:p>
        </p:txBody>
      </p:sp>
      <p:sp>
        <p:nvSpPr>
          <p:cNvPr id="27545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2.1  </a:t>
            </a:r>
            <a:r>
              <a:rPr lang="zh-CN" altLang="en-US" dirty="0"/>
              <a:t>邏輯代數的基本運算與公式</a:t>
            </a:r>
          </a:p>
          <a:p>
            <a:pPr lvl="1"/>
            <a:r>
              <a:rPr lang="zh-CN" altLang="en-US" dirty="0"/>
              <a:t>邏輯代數的基本公式</a:t>
            </a:r>
          </a:p>
          <a:p>
            <a:endParaRPr lang="en-US" altLang="zh-CN" dirty="0"/>
          </a:p>
        </p:txBody>
      </p:sp>
      <p:sp>
        <p:nvSpPr>
          <p:cNvPr id="275466" name="Rectangle 10"/>
          <p:cNvSpPr>
            <a:spLocks noChangeArrowheads="1"/>
          </p:cNvSpPr>
          <p:nvPr/>
        </p:nvSpPr>
        <p:spPr bwMode="auto">
          <a:xfrm>
            <a:off x="1525671" y="2924959"/>
            <a:ext cx="2398257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包含律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r>
              <a:rPr lang="en-US" altLang="zh-CN" sz="2800" spc="-5" dirty="0">
                <a:solidFill>
                  <a:srgbClr val="000099"/>
                </a:solidFill>
                <a:latin typeface="Arial"/>
                <a:cs typeface="Arial"/>
              </a:rPr>
              <a:t>(Consensus)</a:t>
            </a:r>
            <a:endParaRPr lang="zh-CN" altLang="en-US" sz="2800" dirty="0"/>
          </a:p>
        </p:txBody>
      </p:sp>
      <p:graphicFrame>
        <p:nvGraphicFramePr>
          <p:cNvPr id="27546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4456070"/>
              </p:ext>
            </p:extLst>
          </p:nvPr>
        </p:nvGraphicFramePr>
        <p:xfrm>
          <a:off x="1331640" y="4293111"/>
          <a:ext cx="7416824" cy="1512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08080" imgH="583920" progId="Equation.DSMT4">
                  <p:embed/>
                </p:oleObj>
              </mc:Choice>
              <mc:Fallback>
                <p:oleObj name="Equation" r:id="rId2" imgW="2908080" imgH="5839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4293111"/>
                        <a:ext cx="7416824" cy="15128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B864D197-F4CF-4E03-B3F7-AFEB791225E3}"/>
              </a:ext>
            </a:extLst>
          </p:cNvPr>
          <p:cNvSpPr/>
          <p:nvPr/>
        </p:nvSpPr>
        <p:spPr>
          <a:xfrm>
            <a:off x="974428" y="2780928"/>
            <a:ext cx="7990060" cy="3238872"/>
          </a:xfrm>
          <a:custGeom>
            <a:avLst/>
            <a:gdLst>
              <a:gd name="connsiteX0" fmla="*/ 0 w 7990060"/>
              <a:gd name="connsiteY0" fmla="*/ 0 h 3238872"/>
              <a:gd name="connsiteX1" fmla="*/ 570719 w 7990060"/>
              <a:gd name="connsiteY1" fmla="*/ 0 h 3238872"/>
              <a:gd name="connsiteX2" fmla="*/ 1221338 w 7990060"/>
              <a:gd name="connsiteY2" fmla="*/ 0 h 3238872"/>
              <a:gd name="connsiteX3" fmla="*/ 1792056 w 7990060"/>
              <a:gd name="connsiteY3" fmla="*/ 0 h 3238872"/>
              <a:gd name="connsiteX4" fmla="*/ 2282874 w 7990060"/>
              <a:gd name="connsiteY4" fmla="*/ 0 h 3238872"/>
              <a:gd name="connsiteX5" fmla="*/ 2773692 w 7990060"/>
              <a:gd name="connsiteY5" fmla="*/ 0 h 3238872"/>
              <a:gd name="connsiteX6" fmla="*/ 3104709 w 7990060"/>
              <a:gd name="connsiteY6" fmla="*/ 0 h 3238872"/>
              <a:gd name="connsiteX7" fmla="*/ 3435726 w 7990060"/>
              <a:gd name="connsiteY7" fmla="*/ 0 h 3238872"/>
              <a:gd name="connsiteX8" fmla="*/ 3766743 w 7990060"/>
              <a:gd name="connsiteY8" fmla="*/ 0 h 3238872"/>
              <a:gd name="connsiteX9" fmla="*/ 4417362 w 7990060"/>
              <a:gd name="connsiteY9" fmla="*/ 0 h 3238872"/>
              <a:gd name="connsiteX10" fmla="*/ 4988080 w 7990060"/>
              <a:gd name="connsiteY10" fmla="*/ 0 h 3238872"/>
              <a:gd name="connsiteX11" fmla="*/ 5558799 w 7990060"/>
              <a:gd name="connsiteY11" fmla="*/ 0 h 3238872"/>
              <a:gd name="connsiteX12" fmla="*/ 6209418 w 7990060"/>
              <a:gd name="connsiteY12" fmla="*/ 0 h 3238872"/>
              <a:gd name="connsiteX13" fmla="*/ 6860037 w 7990060"/>
              <a:gd name="connsiteY13" fmla="*/ 0 h 3238872"/>
              <a:gd name="connsiteX14" fmla="*/ 7990060 w 7990060"/>
              <a:gd name="connsiteY14" fmla="*/ 0 h 3238872"/>
              <a:gd name="connsiteX15" fmla="*/ 7990060 w 7990060"/>
              <a:gd name="connsiteY15" fmla="*/ 507423 h 3238872"/>
              <a:gd name="connsiteX16" fmla="*/ 7990060 w 7990060"/>
              <a:gd name="connsiteY16" fmla="*/ 1047235 h 3238872"/>
              <a:gd name="connsiteX17" fmla="*/ 7990060 w 7990060"/>
              <a:gd name="connsiteY17" fmla="*/ 1651825 h 3238872"/>
              <a:gd name="connsiteX18" fmla="*/ 7990060 w 7990060"/>
              <a:gd name="connsiteY18" fmla="*/ 2224025 h 3238872"/>
              <a:gd name="connsiteX19" fmla="*/ 7990060 w 7990060"/>
              <a:gd name="connsiteY19" fmla="*/ 2763837 h 3238872"/>
              <a:gd name="connsiteX20" fmla="*/ 7990060 w 7990060"/>
              <a:gd name="connsiteY20" fmla="*/ 3238872 h 3238872"/>
              <a:gd name="connsiteX21" fmla="*/ 7259540 w 7990060"/>
              <a:gd name="connsiteY21" fmla="*/ 3238872 h 3238872"/>
              <a:gd name="connsiteX22" fmla="*/ 6848623 w 7990060"/>
              <a:gd name="connsiteY22" fmla="*/ 3238872 h 3238872"/>
              <a:gd name="connsiteX23" fmla="*/ 6277904 w 7990060"/>
              <a:gd name="connsiteY23" fmla="*/ 3238872 h 3238872"/>
              <a:gd name="connsiteX24" fmla="*/ 5547385 w 7990060"/>
              <a:gd name="connsiteY24" fmla="*/ 3238872 h 3238872"/>
              <a:gd name="connsiteX25" fmla="*/ 5056567 w 7990060"/>
              <a:gd name="connsiteY25" fmla="*/ 3238872 h 3238872"/>
              <a:gd name="connsiteX26" fmla="*/ 4565749 w 7990060"/>
              <a:gd name="connsiteY26" fmla="*/ 3238872 h 3238872"/>
              <a:gd name="connsiteX27" fmla="*/ 4154831 w 7990060"/>
              <a:gd name="connsiteY27" fmla="*/ 3238872 h 3238872"/>
              <a:gd name="connsiteX28" fmla="*/ 3584113 w 7990060"/>
              <a:gd name="connsiteY28" fmla="*/ 3238872 h 3238872"/>
              <a:gd name="connsiteX29" fmla="*/ 3173195 w 7990060"/>
              <a:gd name="connsiteY29" fmla="*/ 3238872 h 3238872"/>
              <a:gd name="connsiteX30" fmla="*/ 2442675 w 7990060"/>
              <a:gd name="connsiteY30" fmla="*/ 3238872 h 3238872"/>
              <a:gd name="connsiteX31" fmla="*/ 1792056 w 7990060"/>
              <a:gd name="connsiteY31" fmla="*/ 3238872 h 3238872"/>
              <a:gd name="connsiteX32" fmla="*/ 1221338 w 7990060"/>
              <a:gd name="connsiteY32" fmla="*/ 3238872 h 3238872"/>
              <a:gd name="connsiteX33" fmla="*/ 810420 w 7990060"/>
              <a:gd name="connsiteY33" fmla="*/ 3238872 h 3238872"/>
              <a:gd name="connsiteX34" fmla="*/ 0 w 7990060"/>
              <a:gd name="connsiteY34" fmla="*/ 3238872 h 3238872"/>
              <a:gd name="connsiteX35" fmla="*/ 0 w 7990060"/>
              <a:gd name="connsiteY35" fmla="*/ 2763837 h 3238872"/>
              <a:gd name="connsiteX36" fmla="*/ 0 w 7990060"/>
              <a:gd name="connsiteY36" fmla="*/ 2191637 h 3238872"/>
              <a:gd name="connsiteX37" fmla="*/ 0 w 7990060"/>
              <a:gd name="connsiteY37" fmla="*/ 1587047 h 3238872"/>
              <a:gd name="connsiteX38" fmla="*/ 0 w 7990060"/>
              <a:gd name="connsiteY38" fmla="*/ 1079624 h 3238872"/>
              <a:gd name="connsiteX39" fmla="*/ 0 w 7990060"/>
              <a:gd name="connsiteY39" fmla="*/ 539812 h 3238872"/>
              <a:gd name="connsiteX40" fmla="*/ 0 w 7990060"/>
              <a:gd name="connsiteY40" fmla="*/ 0 h 3238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7990060" h="3238872" extrusionOk="0">
                <a:moveTo>
                  <a:pt x="0" y="0"/>
                </a:moveTo>
                <a:cubicBezTo>
                  <a:pt x="146436" y="-42515"/>
                  <a:pt x="326164" y="59102"/>
                  <a:pt x="570719" y="0"/>
                </a:cubicBezTo>
                <a:cubicBezTo>
                  <a:pt x="815274" y="-59102"/>
                  <a:pt x="1089940" y="33935"/>
                  <a:pt x="1221338" y="0"/>
                </a:cubicBezTo>
                <a:cubicBezTo>
                  <a:pt x="1352736" y="-33935"/>
                  <a:pt x="1632786" y="40495"/>
                  <a:pt x="1792056" y="0"/>
                </a:cubicBezTo>
                <a:cubicBezTo>
                  <a:pt x="1951326" y="-40495"/>
                  <a:pt x="2144340" y="27692"/>
                  <a:pt x="2282874" y="0"/>
                </a:cubicBezTo>
                <a:cubicBezTo>
                  <a:pt x="2421408" y="-27692"/>
                  <a:pt x="2614797" y="9531"/>
                  <a:pt x="2773692" y="0"/>
                </a:cubicBezTo>
                <a:cubicBezTo>
                  <a:pt x="2932587" y="-9531"/>
                  <a:pt x="2949443" y="15886"/>
                  <a:pt x="3104709" y="0"/>
                </a:cubicBezTo>
                <a:cubicBezTo>
                  <a:pt x="3259975" y="-15886"/>
                  <a:pt x="3295808" y="35096"/>
                  <a:pt x="3435726" y="0"/>
                </a:cubicBezTo>
                <a:cubicBezTo>
                  <a:pt x="3575644" y="-35096"/>
                  <a:pt x="3668309" y="1439"/>
                  <a:pt x="3766743" y="0"/>
                </a:cubicBezTo>
                <a:cubicBezTo>
                  <a:pt x="3865177" y="-1439"/>
                  <a:pt x="4188089" y="41169"/>
                  <a:pt x="4417362" y="0"/>
                </a:cubicBezTo>
                <a:cubicBezTo>
                  <a:pt x="4646635" y="-41169"/>
                  <a:pt x="4854288" y="4197"/>
                  <a:pt x="4988080" y="0"/>
                </a:cubicBezTo>
                <a:cubicBezTo>
                  <a:pt x="5121872" y="-4197"/>
                  <a:pt x="5366088" y="8919"/>
                  <a:pt x="5558799" y="0"/>
                </a:cubicBezTo>
                <a:cubicBezTo>
                  <a:pt x="5751510" y="-8919"/>
                  <a:pt x="6039292" y="71278"/>
                  <a:pt x="6209418" y="0"/>
                </a:cubicBezTo>
                <a:cubicBezTo>
                  <a:pt x="6379544" y="-71278"/>
                  <a:pt x="6603091" y="75792"/>
                  <a:pt x="6860037" y="0"/>
                </a:cubicBezTo>
                <a:cubicBezTo>
                  <a:pt x="7116983" y="-75792"/>
                  <a:pt x="7500230" y="99666"/>
                  <a:pt x="7990060" y="0"/>
                </a:cubicBezTo>
                <a:cubicBezTo>
                  <a:pt x="8047895" y="201447"/>
                  <a:pt x="7949195" y="377374"/>
                  <a:pt x="7990060" y="507423"/>
                </a:cubicBezTo>
                <a:cubicBezTo>
                  <a:pt x="8030925" y="637472"/>
                  <a:pt x="7928518" y="788219"/>
                  <a:pt x="7990060" y="1047235"/>
                </a:cubicBezTo>
                <a:cubicBezTo>
                  <a:pt x="8051602" y="1306251"/>
                  <a:pt x="7969874" y="1515221"/>
                  <a:pt x="7990060" y="1651825"/>
                </a:cubicBezTo>
                <a:cubicBezTo>
                  <a:pt x="8010246" y="1788429"/>
                  <a:pt x="7966803" y="2103813"/>
                  <a:pt x="7990060" y="2224025"/>
                </a:cubicBezTo>
                <a:cubicBezTo>
                  <a:pt x="8013317" y="2344237"/>
                  <a:pt x="7966637" y="2572252"/>
                  <a:pt x="7990060" y="2763837"/>
                </a:cubicBezTo>
                <a:cubicBezTo>
                  <a:pt x="8013483" y="2955422"/>
                  <a:pt x="7971152" y="3134619"/>
                  <a:pt x="7990060" y="3238872"/>
                </a:cubicBezTo>
                <a:cubicBezTo>
                  <a:pt x="7805650" y="3320569"/>
                  <a:pt x="7430131" y="3159802"/>
                  <a:pt x="7259540" y="3238872"/>
                </a:cubicBezTo>
                <a:cubicBezTo>
                  <a:pt x="7088949" y="3317942"/>
                  <a:pt x="6945489" y="3211751"/>
                  <a:pt x="6848623" y="3238872"/>
                </a:cubicBezTo>
                <a:cubicBezTo>
                  <a:pt x="6751757" y="3265993"/>
                  <a:pt x="6550847" y="3202357"/>
                  <a:pt x="6277904" y="3238872"/>
                </a:cubicBezTo>
                <a:cubicBezTo>
                  <a:pt x="6004961" y="3275387"/>
                  <a:pt x="5711086" y="3214821"/>
                  <a:pt x="5547385" y="3238872"/>
                </a:cubicBezTo>
                <a:cubicBezTo>
                  <a:pt x="5383684" y="3262923"/>
                  <a:pt x="5249759" y="3204710"/>
                  <a:pt x="5056567" y="3238872"/>
                </a:cubicBezTo>
                <a:cubicBezTo>
                  <a:pt x="4863375" y="3273034"/>
                  <a:pt x="4778091" y="3229706"/>
                  <a:pt x="4565749" y="3238872"/>
                </a:cubicBezTo>
                <a:cubicBezTo>
                  <a:pt x="4353407" y="3248038"/>
                  <a:pt x="4331450" y="3199964"/>
                  <a:pt x="4154831" y="3238872"/>
                </a:cubicBezTo>
                <a:cubicBezTo>
                  <a:pt x="3978212" y="3277780"/>
                  <a:pt x="3750633" y="3216080"/>
                  <a:pt x="3584113" y="3238872"/>
                </a:cubicBezTo>
                <a:cubicBezTo>
                  <a:pt x="3417593" y="3261664"/>
                  <a:pt x="3264068" y="3195617"/>
                  <a:pt x="3173195" y="3238872"/>
                </a:cubicBezTo>
                <a:cubicBezTo>
                  <a:pt x="3082322" y="3282127"/>
                  <a:pt x="2762058" y="3237457"/>
                  <a:pt x="2442675" y="3238872"/>
                </a:cubicBezTo>
                <a:cubicBezTo>
                  <a:pt x="2123292" y="3240287"/>
                  <a:pt x="2037074" y="3235967"/>
                  <a:pt x="1792056" y="3238872"/>
                </a:cubicBezTo>
                <a:cubicBezTo>
                  <a:pt x="1547038" y="3241777"/>
                  <a:pt x="1435019" y="3207406"/>
                  <a:pt x="1221338" y="3238872"/>
                </a:cubicBezTo>
                <a:cubicBezTo>
                  <a:pt x="1007657" y="3270338"/>
                  <a:pt x="973297" y="3200937"/>
                  <a:pt x="810420" y="3238872"/>
                </a:cubicBezTo>
                <a:cubicBezTo>
                  <a:pt x="647543" y="3276807"/>
                  <a:pt x="255647" y="3185938"/>
                  <a:pt x="0" y="3238872"/>
                </a:cubicBezTo>
                <a:cubicBezTo>
                  <a:pt x="-25297" y="3063093"/>
                  <a:pt x="52754" y="2934860"/>
                  <a:pt x="0" y="2763837"/>
                </a:cubicBezTo>
                <a:cubicBezTo>
                  <a:pt x="-52754" y="2592815"/>
                  <a:pt x="38421" y="2345805"/>
                  <a:pt x="0" y="2191637"/>
                </a:cubicBezTo>
                <a:cubicBezTo>
                  <a:pt x="-38421" y="2037469"/>
                  <a:pt x="61943" y="1743199"/>
                  <a:pt x="0" y="1587047"/>
                </a:cubicBezTo>
                <a:cubicBezTo>
                  <a:pt x="-61943" y="1430895"/>
                  <a:pt x="5714" y="1272897"/>
                  <a:pt x="0" y="1079624"/>
                </a:cubicBezTo>
                <a:cubicBezTo>
                  <a:pt x="-5714" y="886351"/>
                  <a:pt x="20646" y="727713"/>
                  <a:pt x="0" y="539812"/>
                </a:cubicBezTo>
                <a:cubicBezTo>
                  <a:pt x="-20646" y="351911"/>
                  <a:pt x="17807" y="250862"/>
                  <a:pt x="0" y="0"/>
                </a:cubicBezTo>
                <a:close/>
              </a:path>
            </a:pathLst>
          </a:custGeom>
          <a:noFill/>
          <a:ln w="3810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423770648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2741116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5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5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54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54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466" grpId="0" autoUpdateAnimBg="0"/>
      <p:bldP spid="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邏輯代數（</a:t>
            </a:r>
            <a:r>
              <a:rPr lang="en-US" altLang="zh-CN" dirty="0"/>
              <a:t>19</a:t>
            </a:r>
            <a:r>
              <a:rPr lang="zh-CN" altLang="en-US" dirty="0"/>
              <a:t>）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95E2-CB68-42E6-A5AF-574D39E186A5}" type="slidenum">
              <a:rPr lang="en-US" altLang="zh-CN" smtClean="0"/>
              <a:pPr/>
              <a:t>57</a:t>
            </a:fld>
            <a:endParaRPr lang="en-US" altLang="zh-CN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zh-CN" altLang="en-US" dirty="0"/>
              <a:t>反演規則</a:t>
            </a:r>
            <a:endParaRPr lang="en-US" altLang="zh-CN" dirty="0"/>
          </a:p>
          <a:p>
            <a:pPr lvl="1"/>
            <a:r>
              <a:rPr lang="zh-CN" altLang="en-US" sz="2200" dirty="0"/>
              <a:t>設</a:t>
            </a:r>
            <a:r>
              <a:rPr lang="en-US" altLang="zh-CN" sz="2200" dirty="0"/>
              <a:t>F</a:t>
            </a:r>
            <a:r>
              <a:rPr lang="zh-CN" altLang="en-US" sz="2200" dirty="0"/>
              <a:t>是邏輯函數，如將函數</a:t>
            </a:r>
            <a:r>
              <a:rPr lang="en-US" altLang="zh-CN" sz="2200" dirty="0"/>
              <a:t>F</a:t>
            </a:r>
            <a:r>
              <a:rPr lang="zh-CN" altLang="en-US" sz="2200" dirty="0"/>
              <a:t>中所有“與”符號換為“或”符號；所有“或”符號換為“與”符合；所有原變數換為反變數；所有反變數換為原變數；“</a:t>
            </a:r>
            <a:r>
              <a:rPr lang="en-US" altLang="zh-CN" sz="2200" dirty="0"/>
              <a:t>0</a:t>
            </a:r>
            <a:r>
              <a:rPr lang="zh-CN" altLang="en-US" sz="2200" dirty="0"/>
              <a:t>”換成“</a:t>
            </a:r>
            <a:r>
              <a:rPr lang="en-US" altLang="zh-CN" sz="2200" dirty="0"/>
              <a:t>1</a:t>
            </a:r>
            <a:r>
              <a:rPr lang="zh-CN" altLang="en-US" sz="2200" dirty="0"/>
              <a:t>”；“</a:t>
            </a:r>
            <a:r>
              <a:rPr lang="en-US" altLang="zh-CN" sz="2200" dirty="0"/>
              <a:t>1</a:t>
            </a:r>
            <a:r>
              <a:rPr lang="zh-CN" altLang="en-US" sz="2200" dirty="0"/>
              <a:t>”換成“</a:t>
            </a:r>
            <a:r>
              <a:rPr lang="en-US" altLang="zh-CN" sz="2200" dirty="0"/>
              <a:t>0</a:t>
            </a:r>
            <a:r>
              <a:rPr lang="zh-CN" altLang="en-US" sz="2200" dirty="0"/>
              <a:t>”，所得新的邏輯運算式為原函數的反函數。</a:t>
            </a:r>
            <a:endParaRPr lang="en-US" altLang="zh-CN" sz="2200" dirty="0"/>
          </a:p>
          <a:p>
            <a:pPr lvl="1"/>
            <a:r>
              <a:rPr lang="zh-CN" altLang="en-US" sz="2200" dirty="0"/>
              <a:t>利用反演規則可以方便地求得函數的反函數。</a:t>
            </a:r>
            <a:endParaRPr lang="en-US" altLang="zh-CN" sz="2200" dirty="0"/>
          </a:p>
          <a:p>
            <a:pPr lvl="1"/>
            <a:endParaRPr lang="en-US" altLang="zh-CN" sz="2200" dirty="0"/>
          </a:p>
          <a:p>
            <a:r>
              <a:rPr lang="zh-CN" altLang="en-US" dirty="0"/>
              <a:t>對偶規則</a:t>
            </a:r>
            <a:endParaRPr lang="en-US" altLang="zh-CN" dirty="0"/>
          </a:p>
          <a:p>
            <a:pPr lvl="1"/>
            <a:r>
              <a:rPr lang="zh-CN" altLang="en-US" sz="2200" dirty="0"/>
              <a:t>如果將邏輯函數</a:t>
            </a:r>
            <a:r>
              <a:rPr lang="en-US" altLang="zh-CN" sz="2200" dirty="0"/>
              <a:t>F</a:t>
            </a:r>
            <a:r>
              <a:rPr lang="zh-CN" altLang="en-US" sz="2200" dirty="0"/>
              <a:t>中的“與”符號換為“或”符號；將“或”符號換為“與”符號；將“</a:t>
            </a:r>
            <a:r>
              <a:rPr lang="en-US" altLang="zh-CN" sz="2200" dirty="0"/>
              <a:t>1</a:t>
            </a:r>
            <a:r>
              <a:rPr lang="zh-CN" altLang="en-US" sz="2200" dirty="0"/>
              <a:t>”換為“</a:t>
            </a:r>
            <a:r>
              <a:rPr lang="en-US" altLang="zh-CN" sz="2200" dirty="0"/>
              <a:t>0</a:t>
            </a:r>
            <a:r>
              <a:rPr lang="zh-CN" altLang="en-US" sz="2200" dirty="0"/>
              <a:t>”，將“</a:t>
            </a:r>
            <a:r>
              <a:rPr lang="en-US" altLang="zh-CN" sz="2200" dirty="0"/>
              <a:t>0</a:t>
            </a:r>
            <a:r>
              <a:rPr lang="zh-CN" altLang="en-US" sz="2200" dirty="0"/>
              <a:t>”換為“</a:t>
            </a:r>
            <a:r>
              <a:rPr lang="en-US" altLang="zh-CN" sz="2200" dirty="0"/>
              <a:t>1</a:t>
            </a:r>
            <a:r>
              <a:rPr lang="zh-CN" altLang="en-US" sz="2200" dirty="0"/>
              <a:t>”；但邏輯變數不進行反變換，得到新的邏輯函數運算式，記作</a:t>
            </a:r>
            <a:r>
              <a:rPr lang="en-US" altLang="zh-CN" sz="2200" dirty="0"/>
              <a:t>F’</a:t>
            </a:r>
            <a:r>
              <a:rPr lang="zh-CN" altLang="en-US" sz="2200" dirty="0"/>
              <a:t>，把</a:t>
            </a:r>
            <a:r>
              <a:rPr lang="en-US" altLang="zh-CN" sz="2200" dirty="0"/>
              <a:t>F’</a:t>
            </a:r>
            <a:r>
              <a:rPr lang="zh-CN" altLang="en-US" sz="2200" dirty="0"/>
              <a:t>稱為</a:t>
            </a:r>
            <a:r>
              <a:rPr lang="en-US" altLang="zh-CN" sz="2200" dirty="0"/>
              <a:t>F</a:t>
            </a:r>
            <a:r>
              <a:rPr lang="zh-CN" altLang="en-US" sz="2200" dirty="0"/>
              <a:t>的對偶式，獲得對偶式的規則稱為對偶規則。</a:t>
            </a:r>
          </a:p>
        </p:txBody>
      </p:sp>
    </p:spTree>
    <p:extLst>
      <p:ext uri="{BB962C8B-B14F-4D97-AF65-F5344CB8AC3E}">
        <p14:creationId xmlns:p14="http://schemas.microsoft.com/office/powerpoint/2010/main" val="447243924"/>
      </p:ext>
    </p:extLst>
  </p:cSld>
  <p:clrMapOvr>
    <a:masterClrMapping/>
  </p:clrMapOvr>
  <p:transition spd="slow">
    <p:pull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邏輯代數（</a:t>
            </a:r>
            <a:r>
              <a:rPr lang="en-US" altLang="zh-CN" dirty="0"/>
              <a:t>20</a:t>
            </a:r>
            <a:r>
              <a:rPr lang="zh-CN" altLang="en-US" dirty="0"/>
              <a:t>）</a:t>
            </a: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82652-23E6-4B61-8642-50FD12A654D8}" type="slidenum">
              <a:rPr lang="en-US" altLang="zh-CN"/>
              <a:pPr/>
              <a:t>58</a:t>
            </a:fld>
            <a:endParaRPr lang="en-US" altLang="zh-CN" dirty="0"/>
          </a:p>
        </p:txBody>
      </p:sp>
      <p:sp>
        <p:nvSpPr>
          <p:cNvPr id="11366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996" y="1412776"/>
            <a:ext cx="8312460" cy="4607024"/>
          </a:xfrm>
        </p:spPr>
        <p:txBody>
          <a:bodyPr/>
          <a:lstStyle/>
          <a:p>
            <a:r>
              <a:rPr lang="en-US" altLang="zh-CN" dirty="0"/>
              <a:t>2.1  </a:t>
            </a:r>
            <a:r>
              <a:rPr lang="zh-CN" altLang="en-US" dirty="0"/>
              <a:t>邏輯代數的基本運算與公式</a:t>
            </a:r>
          </a:p>
          <a:p>
            <a:pPr lvl="1"/>
            <a:r>
              <a:rPr lang="zh-CN" altLang="en-US" dirty="0"/>
              <a:t>邏輯代數的基本公式</a:t>
            </a:r>
            <a:br>
              <a:rPr lang="en-US" altLang="zh-CN" dirty="0"/>
            </a:br>
            <a:r>
              <a:rPr lang="zh-CN" altLang="en-US" sz="2400" dirty="0"/>
              <a:t>（可適用任意多個變數，以</a:t>
            </a:r>
            <a:r>
              <a:rPr lang="en-US" altLang="zh-CN" sz="2400" dirty="0"/>
              <a:t>3</a:t>
            </a:r>
            <a:r>
              <a:rPr lang="zh-CN" altLang="en-US" sz="2400" dirty="0"/>
              <a:t>變數為例）</a:t>
            </a:r>
            <a:endParaRPr lang="zh-CN" altLang="en-US" dirty="0"/>
          </a:p>
          <a:p>
            <a:endParaRPr lang="en-US" altLang="zh-CN" dirty="0"/>
          </a:p>
        </p:txBody>
      </p:sp>
      <p:sp>
        <p:nvSpPr>
          <p:cNvPr id="113674" name="Rectangle 10"/>
          <p:cNvSpPr>
            <a:spLocks noChangeArrowheads="1"/>
          </p:cNvSpPr>
          <p:nvPr/>
        </p:nvSpPr>
        <p:spPr bwMode="auto">
          <a:xfrm>
            <a:off x="1314450" y="2951654"/>
            <a:ext cx="1961406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800" b="1" dirty="0"/>
              <a:t>反演規則：</a:t>
            </a:r>
            <a:endParaRPr lang="en-US" altLang="zh-CN" sz="2800" b="1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b="1" dirty="0"/>
              <a:t>對偶規則：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1113689" y="3471378"/>
                <a:ext cx="3962367" cy="4624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latin typeface="Cambria Math"/>
                        </a:rPr>
                        <m:t>F</m:t>
                      </m:r>
                      <m:r>
                        <a:rPr lang="en-US" altLang="zh-CN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/>
                        </a:rPr>
                        <m:t>ABC</m:t>
                      </m:r>
                      <m:r>
                        <a:rPr lang="zh-CN" altLang="zh-CN">
                          <a:latin typeface="Cambria Math"/>
                        </a:rPr>
                        <m:t>＋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/>
                        </a:rPr>
                        <m:t>AB</m:t>
                      </m:r>
                      <m:acc>
                        <m:accPr>
                          <m:chr m:val="̅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/>
                            </a:rPr>
                            <m:t>C</m:t>
                          </m:r>
                        </m:e>
                      </m:acc>
                      <m:r>
                        <a:rPr lang="zh-CN" altLang="zh-CN">
                          <a:latin typeface="Cambria Math"/>
                        </a:rPr>
                        <m:t>＋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/>
                            </a:rPr>
                            <m:t>B</m:t>
                          </m:r>
                        </m:e>
                      </m:acc>
                      <m:r>
                        <m:rPr>
                          <m:sty m:val="p"/>
                        </m:rPr>
                        <a:rPr lang="en-US" altLang="zh-CN">
                          <a:latin typeface="Cambria Math"/>
                        </a:rPr>
                        <m:t>C</m:t>
                      </m:r>
                      <m:r>
                        <a:rPr lang="zh-CN" altLang="zh-CN">
                          <a:latin typeface="Cambria Math"/>
                        </a:rPr>
                        <m:t>＋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/>
                            </a:rPr>
                            <m:t>B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/>
                            </a:rPr>
                            <m:t>C</m:t>
                          </m:r>
                        </m:e>
                      </m:acc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689" y="3471378"/>
                <a:ext cx="3962367" cy="462434"/>
              </a:xfrm>
              <a:prstGeom prst="rect">
                <a:avLst/>
              </a:prstGeom>
              <a:blipFill rotWithShape="0">
                <a:blip r:embed="rId2"/>
                <a:stretch>
                  <a:fillRect r="-6923" b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1043608" y="4017055"/>
                <a:ext cx="8010078" cy="4624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/>
                            </a:rPr>
                            <m:t>F</m:t>
                          </m:r>
                        </m:e>
                      </m:acc>
                      <m:r>
                        <a:rPr lang="en-US" altLang="zh-CN">
                          <a:latin typeface="Cambria Math"/>
                        </a:rPr>
                        <m:t>=</m:t>
                      </m:r>
                      <m:r>
                        <a:rPr lang="zh-CN" altLang="zh-CN">
                          <a:latin typeface="Cambria Math"/>
                        </a:rPr>
                        <m:t>（</m:t>
                      </m:r>
                      <m:acc>
                        <m:accPr>
                          <m:chr m:val="̅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/>
                            </a:rPr>
                            <m:t>A</m:t>
                          </m:r>
                        </m:e>
                      </m:acc>
                      <m:r>
                        <a:rPr lang="zh-CN" altLang="zh-CN">
                          <a:latin typeface="Cambria Math"/>
                        </a:rPr>
                        <m:t>＋</m:t>
                      </m:r>
                      <m:acc>
                        <m:accPr>
                          <m:chr m:val="̅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/>
                            </a:rPr>
                            <m:t>B</m:t>
                          </m:r>
                        </m:e>
                      </m:acc>
                      <m:r>
                        <a:rPr lang="zh-CN" altLang="zh-CN">
                          <a:latin typeface="Cambria Math"/>
                        </a:rPr>
                        <m:t>＋</m:t>
                      </m:r>
                      <m:acc>
                        <m:accPr>
                          <m:chr m:val="̅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/>
                            </a:rPr>
                            <m:t>C</m:t>
                          </m:r>
                        </m:e>
                      </m:acc>
                      <m:r>
                        <a:rPr lang="zh-CN" altLang="zh-CN">
                          <a:latin typeface="Cambria Math"/>
                        </a:rPr>
                        <m:t>）（</m:t>
                      </m:r>
                      <m:acc>
                        <m:accPr>
                          <m:chr m:val="̅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/>
                            </a:rPr>
                            <m:t>A</m:t>
                          </m:r>
                        </m:e>
                      </m:acc>
                      <m:r>
                        <a:rPr lang="zh-CN" altLang="zh-CN">
                          <a:latin typeface="Cambria Math"/>
                        </a:rPr>
                        <m:t>＋</m:t>
                      </m:r>
                      <m:acc>
                        <m:accPr>
                          <m:chr m:val="̅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/>
                            </a:rPr>
                            <m:t>B</m:t>
                          </m:r>
                        </m:e>
                      </m:acc>
                      <m:r>
                        <a:rPr lang="zh-CN" altLang="zh-CN">
                          <a:latin typeface="Cambria Math"/>
                        </a:rPr>
                        <m:t>＋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/>
                        </a:rPr>
                        <m:t>C</m:t>
                      </m:r>
                      <m:r>
                        <a:rPr lang="zh-CN" altLang="zh-CN">
                          <a:latin typeface="Cambria Math"/>
                        </a:rPr>
                        <m:t>）（</m:t>
                      </m:r>
                      <m:acc>
                        <m:accPr>
                          <m:chr m:val="̅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/>
                            </a:rPr>
                            <m:t>A</m:t>
                          </m:r>
                        </m:e>
                      </m:acc>
                      <m:r>
                        <a:rPr lang="zh-CN" altLang="zh-CN">
                          <a:latin typeface="Cambria Math"/>
                        </a:rPr>
                        <m:t>＋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/>
                        </a:rPr>
                        <m:t>B</m:t>
                      </m:r>
                      <m:r>
                        <a:rPr lang="zh-CN" altLang="zh-CN">
                          <a:latin typeface="Cambria Math"/>
                        </a:rPr>
                        <m:t>＋</m:t>
                      </m:r>
                      <m:acc>
                        <m:accPr>
                          <m:chr m:val="̅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/>
                            </a:rPr>
                            <m:t>C</m:t>
                          </m:r>
                        </m:e>
                      </m:acc>
                      <m:r>
                        <a:rPr lang="zh-CN" altLang="zh-CN">
                          <a:latin typeface="Cambria Math"/>
                        </a:rPr>
                        <m:t>）（</m:t>
                      </m:r>
                      <m:acc>
                        <m:accPr>
                          <m:chr m:val="̅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/>
                            </a:rPr>
                            <m:t>A</m:t>
                          </m:r>
                        </m:e>
                      </m:acc>
                      <m:r>
                        <a:rPr lang="zh-CN" altLang="zh-CN">
                          <a:latin typeface="Cambria Math"/>
                        </a:rPr>
                        <m:t>＋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/>
                        </a:rPr>
                        <m:t>B</m:t>
                      </m:r>
                      <m:r>
                        <a:rPr lang="zh-CN" altLang="zh-CN">
                          <a:latin typeface="Cambria Math"/>
                        </a:rPr>
                        <m:t>＋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/>
                        </a:rPr>
                        <m:t>C</m:t>
                      </m:r>
                      <m:r>
                        <a:rPr lang="zh-CN" altLang="zh-CN">
                          <a:latin typeface="Cambria Math"/>
                        </a:rPr>
                        <m:t>）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4017055"/>
                <a:ext cx="8010078" cy="462434"/>
              </a:xfrm>
              <a:prstGeom prst="rect">
                <a:avLst/>
              </a:prstGeom>
              <a:blipFill rotWithShape="1">
                <a:blip r:embed="rId3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2033723" y="5241975"/>
                <a:ext cx="230325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latin typeface="Cambria Math"/>
                        </a:rPr>
                        <m:t>F</m:t>
                      </m:r>
                      <m:r>
                        <a:rPr lang="en-US" altLang="zh-CN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/>
                        </a:rPr>
                        <m:t>A</m:t>
                      </m:r>
                      <m:r>
                        <a:rPr lang="zh-CN" altLang="zh-CN">
                          <a:latin typeface="Cambria Math"/>
                        </a:rPr>
                        <m:t>（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/>
                        </a:rPr>
                        <m:t>B</m:t>
                      </m:r>
                      <m:r>
                        <a:rPr lang="zh-CN" altLang="zh-CN">
                          <a:latin typeface="Cambria Math"/>
                        </a:rPr>
                        <m:t>＋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/>
                        </a:rPr>
                        <m:t>C</m:t>
                      </m:r>
                      <m:r>
                        <a:rPr lang="zh-CN" altLang="zh-CN">
                          <a:latin typeface="Cambria Math"/>
                        </a:rPr>
                        <m:t>）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1630" y="5241974"/>
                <a:ext cx="2303259" cy="461665"/>
              </a:xfrm>
              <a:prstGeom prst="rect">
                <a:avLst/>
              </a:prstGeom>
              <a:blipFill rotWithShape="1">
                <a:blip r:embed="rId4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2033719" y="5775648"/>
                <a:ext cx="175503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latin typeface="Cambria Math"/>
                        </a:rPr>
                        <m:t>F</m:t>
                      </m:r>
                      <m:r>
                        <a:rPr lang="en-US" altLang="zh-CN">
                          <a:latin typeface="Cambria Math"/>
                        </a:rPr>
                        <m:t>’=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/>
                        </a:rPr>
                        <m:t>A</m:t>
                      </m:r>
                      <m:r>
                        <a:rPr lang="zh-CN" altLang="zh-CN">
                          <a:latin typeface="Cambria Math"/>
                        </a:rPr>
                        <m:t>＋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/>
                        </a:rPr>
                        <m:t>BC</m:t>
                      </m:r>
                    </m:oMath>
                  </m:oMathPara>
                </a14:m>
                <a:endParaRPr lang="zh-CN" altLang="zh-CN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1625" y="5775647"/>
                <a:ext cx="1755032" cy="46166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0"/>
          <p:cNvSpPr>
            <a:spLocks noChangeArrowheads="1"/>
          </p:cNvSpPr>
          <p:nvPr/>
        </p:nvSpPr>
        <p:spPr bwMode="auto">
          <a:xfrm>
            <a:off x="4427984" y="5103475"/>
            <a:ext cx="4369901" cy="1200329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205" indent="-457205">
              <a:buFont typeface="Arial" pitchFamily="34" charset="0"/>
              <a:buChar char="•"/>
            </a:pPr>
            <a:r>
              <a:rPr lang="zh-CN" altLang="en-US" dirty="0"/>
              <a:t>函數</a:t>
            </a:r>
            <a:r>
              <a:rPr lang="en-US" altLang="zh-CN" dirty="0"/>
              <a:t>F</a:t>
            </a:r>
            <a:r>
              <a:rPr lang="zh-CN" altLang="en-US" dirty="0"/>
              <a:t>和</a:t>
            </a:r>
            <a:r>
              <a:rPr lang="en-US" altLang="zh-CN" dirty="0"/>
              <a:t>G</a:t>
            </a:r>
            <a:r>
              <a:rPr lang="zh-CN" altLang="en-US" dirty="0"/>
              <a:t>相等，則</a:t>
            </a:r>
            <a:r>
              <a:rPr lang="en-US" altLang="zh-CN" dirty="0"/>
              <a:t>F’</a:t>
            </a:r>
            <a:r>
              <a:rPr lang="zh-CN" altLang="en-US" dirty="0"/>
              <a:t>和</a:t>
            </a:r>
            <a:r>
              <a:rPr lang="en-US" altLang="zh-CN" dirty="0"/>
              <a:t>G’</a:t>
            </a:r>
            <a:r>
              <a:rPr lang="zh-CN" altLang="en-US" dirty="0"/>
              <a:t>也相等。</a:t>
            </a:r>
            <a:endParaRPr lang="en-US" altLang="zh-CN" dirty="0"/>
          </a:p>
          <a:p>
            <a:pPr marL="457205" indent="-457205">
              <a:buFont typeface="Arial" pitchFamily="34" charset="0"/>
              <a:buChar char="•"/>
            </a:pPr>
            <a:r>
              <a:rPr lang="zh-CN" altLang="en-US" dirty="0"/>
              <a:t>對偶的對偶，為函數自身。</a:t>
            </a:r>
          </a:p>
        </p:txBody>
      </p:sp>
    </p:spTree>
    <p:extLst>
      <p:ext uri="{BB962C8B-B14F-4D97-AF65-F5344CB8AC3E}">
        <p14:creationId xmlns:p14="http://schemas.microsoft.com/office/powerpoint/2010/main" val="3722307327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7" grpId="0"/>
      <p:bldP spid="18" grpId="0" animBg="1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邏輯代數（</a:t>
            </a:r>
            <a:r>
              <a:rPr lang="en-US" altLang="zh-CN" dirty="0"/>
              <a:t>21</a:t>
            </a:r>
            <a:r>
              <a:rPr lang="zh-CN" altLang="en-US" dirty="0"/>
              <a:t>）</a:t>
            </a: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82652-23E6-4B61-8642-50FD12A654D8}" type="slidenum">
              <a:rPr lang="en-US" altLang="zh-CN"/>
              <a:pPr/>
              <a:t>59</a:t>
            </a:fld>
            <a:endParaRPr lang="en-US" altLang="zh-CN" dirty="0"/>
          </a:p>
        </p:txBody>
      </p:sp>
      <p:sp>
        <p:nvSpPr>
          <p:cNvPr id="11366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2.1  </a:t>
            </a:r>
            <a:r>
              <a:rPr lang="zh-CN" altLang="en-US" dirty="0"/>
              <a:t>邏輯代數的基本運算與公式</a:t>
            </a:r>
          </a:p>
          <a:p>
            <a:pPr lvl="1"/>
            <a:r>
              <a:rPr lang="zh-CN" altLang="en-US" dirty="0"/>
              <a:t>邏輯代數的基本公式</a:t>
            </a:r>
          </a:p>
          <a:p>
            <a:endParaRPr lang="en-US" altLang="zh-CN" dirty="0"/>
          </a:p>
        </p:txBody>
      </p:sp>
      <p:sp>
        <p:nvSpPr>
          <p:cNvPr id="113674" name="Rectangle 10"/>
          <p:cNvSpPr>
            <a:spLocks noChangeArrowheads="1"/>
          </p:cNvSpPr>
          <p:nvPr/>
        </p:nvSpPr>
        <p:spPr bwMode="auto">
          <a:xfrm>
            <a:off x="882392" y="2937976"/>
            <a:ext cx="217744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800" dirty="0"/>
              <a:t>包含律推論</a:t>
            </a:r>
          </a:p>
        </p:txBody>
      </p:sp>
      <p:graphicFrame>
        <p:nvGraphicFramePr>
          <p:cNvPr id="11367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1475706"/>
              </p:ext>
            </p:extLst>
          </p:nvPr>
        </p:nvGraphicFramePr>
        <p:xfrm>
          <a:off x="2902764" y="2636927"/>
          <a:ext cx="4535907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968480" imgH="291960" progId="Equation.3">
                  <p:embed/>
                </p:oleObj>
              </mc:Choice>
              <mc:Fallback>
                <p:oleObj name="公式" r:id="rId2" imgW="1968480" imgH="291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2764" y="2636927"/>
                        <a:ext cx="4535907" cy="7540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76" name="Rectangle 12"/>
          <p:cNvSpPr>
            <a:spLocks noChangeArrowheads="1"/>
          </p:cNvSpPr>
          <p:nvPr/>
        </p:nvSpPr>
        <p:spPr bwMode="auto">
          <a:xfrm>
            <a:off x="899581" y="3773992"/>
            <a:ext cx="118385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800" dirty="0"/>
              <a:t>證明：</a:t>
            </a:r>
          </a:p>
        </p:txBody>
      </p:sp>
      <p:graphicFrame>
        <p:nvGraphicFramePr>
          <p:cNvPr id="11367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6784839"/>
              </p:ext>
            </p:extLst>
          </p:nvPr>
        </p:nvGraphicFramePr>
        <p:xfrm>
          <a:off x="2351505" y="3489325"/>
          <a:ext cx="6468967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806560" imgH="291960" progId="Equation.3">
                  <p:embed/>
                </p:oleObj>
              </mc:Choice>
              <mc:Fallback>
                <p:oleObj name="公式" r:id="rId4" imgW="2806560" imgH="291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505" y="3489325"/>
                        <a:ext cx="6468967" cy="7556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4657275"/>
              </p:ext>
            </p:extLst>
          </p:nvPr>
        </p:nvGraphicFramePr>
        <p:xfrm>
          <a:off x="4585358" y="4175125"/>
          <a:ext cx="3835032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663560" imgH="317160" progId="Equation.3">
                  <p:embed/>
                </p:oleObj>
              </mc:Choice>
              <mc:Fallback>
                <p:oleObj name="公式" r:id="rId6" imgW="1663560" imgH="317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5358" y="4175125"/>
                        <a:ext cx="3835032" cy="8207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7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8521842"/>
              </p:ext>
            </p:extLst>
          </p:nvPr>
        </p:nvGraphicFramePr>
        <p:xfrm>
          <a:off x="4609458" y="4860940"/>
          <a:ext cx="2780893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206360" imgH="291960" progId="Equation.3">
                  <p:embed/>
                </p:oleObj>
              </mc:Choice>
              <mc:Fallback>
                <p:oleObj name="公式" r:id="rId8" imgW="1206360" imgH="291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9458" y="4860940"/>
                        <a:ext cx="2780893" cy="7540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8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5799865"/>
              </p:ext>
            </p:extLst>
          </p:nvPr>
        </p:nvGraphicFramePr>
        <p:xfrm>
          <a:off x="4630361" y="5470525"/>
          <a:ext cx="1901972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825480" imgH="291960" progId="Equation.3">
                  <p:embed/>
                </p:oleObj>
              </mc:Choice>
              <mc:Fallback>
                <p:oleObj name="公式" r:id="rId10" imgW="825480" imgH="291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0361" y="5470525"/>
                        <a:ext cx="1901972" cy="7556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E86385C-956C-421B-81D6-50DB39224805}"/>
              </a:ext>
            </a:extLst>
          </p:cNvPr>
          <p:cNvCxnSpPr/>
          <p:nvPr/>
        </p:nvCxnSpPr>
        <p:spPr>
          <a:xfrm>
            <a:off x="2411760" y="4297212"/>
            <a:ext cx="129614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D3237B44-4B37-4981-9D94-A58E36C42082}"/>
              </a:ext>
            </a:extLst>
          </p:cNvPr>
          <p:cNvCxnSpPr>
            <a:cxnSpLocks/>
          </p:cNvCxnSpPr>
          <p:nvPr/>
        </p:nvCxnSpPr>
        <p:spPr>
          <a:xfrm flipV="1">
            <a:off x="5364088" y="4244975"/>
            <a:ext cx="2376264" cy="248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3803642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3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3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3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36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3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13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13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13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13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74" grpId="0" autoUpdateAnimBg="0"/>
      <p:bldP spid="113676" grpId="0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邏輯代數（</a:t>
            </a:r>
            <a:r>
              <a:rPr lang="en-US" altLang="zh-CN" dirty="0"/>
              <a:t>22</a:t>
            </a:r>
            <a:r>
              <a:rPr lang="zh-CN" altLang="en-US" dirty="0"/>
              <a:t>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7F0A4-7A2D-44F1-95F0-6DCC6A768C57}" type="slidenum">
              <a:rPr lang="en-US" altLang="zh-CN"/>
              <a:pPr/>
              <a:t>60</a:t>
            </a:fld>
            <a:endParaRPr lang="en-US" altLang="zh-CN" dirty="0"/>
          </a:p>
        </p:txBody>
      </p:sp>
      <p:sp>
        <p:nvSpPr>
          <p:cNvPr id="27341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996" y="1412776"/>
            <a:ext cx="8312460" cy="4607024"/>
          </a:xfrm>
        </p:spPr>
        <p:txBody>
          <a:bodyPr>
            <a:normAutofit/>
          </a:bodyPr>
          <a:lstStyle/>
          <a:p>
            <a:r>
              <a:rPr lang="en-US" altLang="zh-CN" dirty="0"/>
              <a:t>2.1  </a:t>
            </a:r>
            <a:r>
              <a:rPr lang="zh-CN" altLang="en-US" dirty="0"/>
              <a:t>邏輯代數的基本運算與公式</a:t>
            </a:r>
            <a:br>
              <a:rPr lang="en-US" altLang="zh-CN" dirty="0"/>
            </a:br>
            <a:r>
              <a:rPr lang="en-US" altLang="zh-CN" dirty="0"/>
              <a:t>——</a:t>
            </a:r>
            <a:r>
              <a:rPr lang="zh-CN" altLang="en-US" dirty="0"/>
              <a:t>小結</a:t>
            </a:r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邏輯代數的基本運算：基本運算、常用運算</a:t>
            </a:r>
          </a:p>
          <a:p>
            <a:pPr lvl="1"/>
            <a:r>
              <a:rPr lang="zh-CN" altLang="en-US" dirty="0"/>
              <a:t>邏輯代數的基本公式：</a:t>
            </a:r>
            <a:endParaRPr lang="en-US" altLang="zh-CN" dirty="0"/>
          </a:p>
          <a:p>
            <a:pPr lvl="1">
              <a:buNone/>
            </a:pPr>
            <a:r>
              <a:rPr lang="zh-CN" altLang="en-US" dirty="0"/>
              <a:t>    各種運算基本公式</a:t>
            </a:r>
          </a:p>
          <a:p>
            <a:pPr lvl="1">
              <a:buFont typeface="Wingdings" pitchFamily="2" charset="2"/>
              <a:buNone/>
            </a:pPr>
            <a:r>
              <a:rPr lang="zh-CN" altLang="en-US" b="0" dirty="0"/>
              <a:t>      提醒注意“</a:t>
            </a:r>
            <a:r>
              <a:rPr lang="zh-CN" altLang="en-US" b="0" dirty="0">
                <a:solidFill>
                  <a:srgbClr val="FF0000"/>
                </a:solidFill>
              </a:rPr>
              <a:t>吸收律</a:t>
            </a:r>
            <a:r>
              <a:rPr lang="zh-CN" altLang="en-US" b="0" dirty="0"/>
              <a:t>”，“</a:t>
            </a:r>
            <a:r>
              <a:rPr lang="zh-CN" altLang="en-US" b="0" dirty="0">
                <a:solidFill>
                  <a:srgbClr val="FF0000"/>
                </a:solidFill>
              </a:rPr>
              <a:t>包含律</a:t>
            </a:r>
            <a:r>
              <a:rPr lang="zh-CN" altLang="en-US" b="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876991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邏輯代數（</a:t>
            </a:r>
            <a:r>
              <a:rPr lang="en-US" altLang="zh-CN" dirty="0"/>
              <a:t>23</a:t>
            </a:r>
            <a:r>
              <a:rPr lang="zh-CN" altLang="en-US" dirty="0"/>
              <a:t>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118D9-6306-4255-895B-CCB74F1589EA}" type="slidenum">
              <a:rPr lang="en-US" altLang="zh-CN"/>
              <a:pPr/>
              <a:t>61</a:t>
            </a:fld>
            <a:endParaRPr lang="en-US" altLang="zh-CN" dirty="0"/>
          </a:p>
        </p:txBody>
      </p:sp>
      <p:sp>
        <p:nvSpPr>
          <p:cNvPr id="11981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996" y="1412776"/>
            <a:ext cx="8312460" cy="4607024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dirty="0"/>
              <a:t>	2.1 </a:t>
            </a:r>
            <a:r>
              <a:rPr lang="zh-CN" altLang="en-US" dirty="0"/>
              <a:t>邏輯代數的基本運算與公式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solidFill>
                  <a:srgbClr val="00B0F0"/>
                </a:solidFill>
              </a:rPr>
              <a:t>	</a:t>
            </a:r>
            <a:r>
              <a:rPr lang="en-US" altLang="zh-CN" dirty="0">
                <a:solidFill>
                  <a:srgbClr val="00B0F0"/>
                </a:solidFill>
              </a:rPr>
              <a:t>2.2 </a:t>
            </a:r>
            <a:r>
              <a:rPr lang="zh-CN" altLang="en-US" dirty="0">
                <a:solidFill>
                  <a:srgbClr val="00B0F0"/>
                </a:solidFill>
              </a:rPr>
              <a:t>公式法化簡邏輯函數</a:t>
            </a:r>
          </a:p>
          <a:p>
            <a:pPr>
              <a:buFont typeface="Wingdings" pitchFamily="2" charset="2"/>
              <a:buNone/>
            </a:pPr>
            <a:r>
              <a:rPr lang="zh-CN" altLang="en-US" dirty="0"/>
              <a:t>	</a:t>
            </a:r>
            <a:r>
              <a:rPr lang="en-US" altLang="zh-CN" dirty="0"/>
              <a:t>2.3 </a:t>
            </a:r>
            <a:r>
              <a:rPr lang="zh-CN" altLang="en-US" dirty="0"/>
              <a:t>圖解法</a:t>
            </a:r>
            <a:r>
              <a:rPr lang="en-US" altLang="zh-CN" dirty="0"/>
              <a:t>(</a:t>
            </a:r>
            <a:r>
              <a:rPr lang="zh-CN" altLang="en-US" dirty="0"/>
              <a:t>坎諾圖</a:t>
            </a:r>
            <a:r>
              <a:rPr lang="en-US" altLang="zh-CN" dirty="0"/>
              <a:t>)</a:t>
            </a:r>
            <a:r>
              <a:rPr lang="zh-CN" altLang="en-US" dirty="0"/>
              <a:t>化簡邏輯函數</a:t>
            </a:r>
          </a:p>
          <a:p>
            <a:pPr>
              <a:buFont typeface="Wingdings" pitchFamily="2" charset="2"/>
              <a:buNone/>
            </a:pPr>
            <a:r>
              <a:rPr lang="zh-CN" altLang="en-US" dirty="0"/>
              <a:t>	</a:t>
            </a:r>
            <a:r>
              <a:rPr lang="en-US" altLang="zh-CN" dirty="0"/>
              <a:t>2.4 </a:t>
            </a:r>
            <a:r>
              <a:rPr lang="zh-CN" altLang="en-US" dirty="0"/>
              <a:t>邏輯函數的表格法化簡</a:t>
            </a:r>
            <a:r>
              <a:rPr lang="en-US" altLang="zh-CN" dirty="0"/>
              <a:t>(Q-M</a:t>
            </a:r>
            <a:r>
              <a:rPr lang="zh-CN" altLang="en-US" dirty="0"/>
              <a:t>法 </a:t>
            </a:r>
            <a:r>
              <a:rPr lang="en-US" altLang="zh-C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83561895"/>
      </p:ext>
    </p:extLst>
  </p:cSld>
  <p:clrMapOvr>
    <a:masterClrMapping/>
  </p:clrMapOvr>
  <p:transition spd="slow">
    <p:pull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邏輯代數（</a:t>
            </a:r>
            <a:r>
              <a:rPr lang="en-US" altLang="zh-CN" dirty="0"/>
              <a:t>24</a:t>
            </a:r>
            <a:r>
              <a:rPr lang="zh-CN" altLang="en-US" dirty="0"/>
              <a:t>）</a:t>
            </a:r>
          </a:p>
        </p:txBody>
      </p:sp>
      <p:sp>
        <p:nvSpPr>
          <p:cNvPr id="1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C13B8-EC17-4804-85FC-42CFFF58C9E5}" type="slidenum">
              <a:rPr lang="en-US" altLang="zh-CN"/>
              <a:pPr/>
              <a:t>62</a:t>
            </a:fld>
            <a:endParaRPr lang="en-US" altLang="zh-CN" dirty="0"/>
          </a:p>
        </p:txBody>
      </p:sp>
      <p:sp>
        <p:nvSpPr>
          <p:cNvPr id="12083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996" y="1412776"/>
            <a:ext cx="8312460" cy="4607024"/>
          </a:xfrm>
        </p:spPr>
        <p:txBody>
          <a:bodyPr/>
          <a:lstStyle/>
          <a:p>
            <a:r>
              <a:rPr lang="en-US" altLang="zh-CN" dirty="0"/>
              <a:t>2.2 </a:t>
            </a:r>
            <a:r>
              <a:rPr lang="zh-CN" altLang="en-US" dirty="0"/>
              <a:t>公式法化簡邏輯函數</a:t>
            </a:r>
          </a:p>
          <a:p>
            <a:pPr lvl="1"/>
            <a:r>
              <a:rPr lang="zh-CN" altLang="en-US" dirty="0"/>
              <a:t>化簡的目的</a:t>
            </a:r>
          </a:p>
          <a:p>
            <a:pPr lvl="2">
              <a:spcBef>
                <a:spcPct val="0"/>
              </a:spcBef>
            </a:pPr>
            <a:endParaRPr lang="zh-CN" altLang="en-US" dirty="0"/>
          </a:p>
          <a:p>
            <a:pPr lvl="2">
              <a:spcBef>
                <a:spcPct val="0"/>
              </a:spcBef>
            </a:pPr>
            <a:endParaRPr lang="zh-CN" altLang="en-US" dirty="0"/>
          </a:p>
          <a:p>
            <a:pPr lvl="2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20852" name="Rectangle 20"/>
          <p:cNvSpPr>
            <a:spLocks noChangeArrowheads="1"/>
          </p:cNvSpPr>
          <p:nvPr/>
        </p:nvSpPr>
        <p:spPr bwMode="auto">
          <a:xfrm>
            <a:off x="251520" y="2712223"/>
            <a:ext cx="792088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lvl="2">
              <a:spcBef>
                <a:spcPct val="50000"/>
              </a:spcBef>
              <a:buClr>
                <a:schemeClr val="folHlink"/>
              </a:buClr>
              <a:buFont typeface="Wingdings" pitchFamily="2" charset="2"/>
              <a:buChar char="ü"/>
            </a:pPr>
            <a:r>
              <a:rPr lang="zh-CN" altLang="en-US" sz="2800" dirty="0">
                <a:latin typeface="华文新魏" pitchFamily="2" charset="-122"/>
                <a:ea typeface="华文新魏" pitchFamily="2" charset="-122"/>
              </a:rPr>
              <a:t>讓邏輯函數運算式的含義更清楚。</a:t>
            </a:r>
            <a:endParaRPr lang="zh-CN" altLang="en-US" sz="2800" i="1" dirty="0">
              <a:latin typeface="华文新魏" pitchFamily="2" charset="-122"/>
              <a:ea typeface="华文新魏" pitchFamily="2" charset="-122"/>
            </a:endParaRPr>
          </a:p>
          <a:p>
            <a:pPr lvl="2">
              <a:spcBef>
                <a:spcPct val="50000"/>
              </a:spcBef>
              <a:buClr>
                <a:schemeClr val="folHlink"/>
              </a:buClr>
              <a:buFont typeface="Wingdings" pitchFamily="2" charset="2"/>
              <a:buChar char="ü"/>
            </a:pPr>
            <a:r>
              <a:rPr lang="zh-CN" altLang="en-US" sz="2800" dirty="0">
                <a:latin typeface="华文新魏" pitchFamily="2" charset="-122"/>
                <a:ea typeface="华文新魏" pitchFamily="2" charset="-122"/>
              </a:rPr>
              <a:t>節省資源：用最少的電路、器件，器件的輸入也最少。</a:t>
            </a:r>
            <a:endParaRPr lang="en-US" altLang="zh-CN" sz="2800" dirty="0">
              <a:latin typeface="华文新魏" pitchFamily="2" charset="-122"/>
              <a:ea typeface="华文新魏" pitchFamily="2" charset="-122"/>
            </a:endParaRPr>
          </a:p>
          <a:p>
            <a:pPr lvl="2">
              <a:spcBef>
                <a:spcPct val="50000"/>
              </a:spcBef>
              <a:buClr>
                <a:schemeClr val="folHlink"/>
              </a:buClr>
              <a:buFont typeface="Wingdings" pitchFamily="2" charset="2"/>
              <a:buChar char="ü"/>
            </a:pPr>
            <a:r>
              <a:rPr lang="zh-CN" altLang="en-US" sz="2800" dirty="0">
                <a:latin typeface="华文新魏" pitchFamily="2" charset="-122"/>
                <a:ea typeface="华文新魏" pitchFamily="2" charset="-122"/>
              </a:rPr>
              <a:t>化簡目的不同，運算式結果會不同。</a:t>
            </a:r>
          </a:p>
        </p:txBody>
      </p:sp>
    </p:spTree>
    <p:extLst>
      <p:ext uri="{BB962C8B-B14F-4D97-AF65-F5344CB8AC3E}">
        <p14:creationId xmlns:p14="http://schemas.microsoft.com/office/powerpoint/2010/main" val="340526823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0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52" grpId="0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邏輯代數（</a:t>
            </a:r>
            <a:r>
              <a:rPr lang="en-US" altLang="zh-CN" dirty="0"/>
              <a:t>25</a:t>
            </a:r>
            <a:r>
              <a:rPr lang="zh-CN" altLang="en-US" dirty="0"/>
              <a:t>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76AF4-8551-4DF0-8315-69DA594AF10F}" type="slidenum">
              <a:rPr lang="en-US" altLang="zh-CN"/>
              <a:pPr/>
              <a:t>63</a:t>
            </a:fld>
            <a:endParaRPr lang="en-US" altLang="zh-CN" dirty="0"/>
          </a:p>
        </p:txBody>
      </p:sp>
      <p:sp>
        <p:nvSpPr>
          <p:cNvPr id="12390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996" y="1412776"/>
            <a:ext cx="8384468" cy="4607024"/>
          </a:xfrm>
        </p:spPr>
        <p:txBody>
          <a:bodyPr/>
          <a:lstStyle/>
          <a:p>
            <a:r>
              <a:rPr lang="en-US" altLang="zh-CN" dirty="0"/>
              <a:t>2.2 </a:t>
            </a:r>
            <a:r>
              <a:rPr lang="zh-CN" altLang="en-US" dirty="0"/>
              <a:t>公式法化簡邏輯函數</a:t>
            </a:r>
          </a:p>
          <a:p>
            <a:pPr lvl="1"/>
            <a:r>
              <a:rPr lang="zh-CN" altLang="en-US" dirty="0">
                <a:solidFill>
                  <a:srgbClr val="00B0F0"/>
                </a:solidFill>
              </a:rPr>
              <a:t>與或運算式化簡</a:t>
            </a:r>
          </a:p>
          <a:p>
            <a:pPr lvl="1"/>
            <a:r>
              <a:rPr lang="zh-CN" altLang="en-US" dirty="0"/>
              <a:t>或與運算式化簡</a:t>
            </a:r>
          </a:p>
          <a:p>
            <a:pPr lvl="1"/>
            <a:r>
              <a:rPr lang="zh-CN" altLang="en-US" dirty="0"/>
              <a:t>其他形式邏輯函數化簡</a:t>
            </a:r>
          </a:p>
        </p:txBody>
      </p:sp>
    </p:spTree>
    <p:extLst>
      <p:ext uri="{BB962C8B-B14F-4D97-AF65-F5344CB8AC3E}">
        <p14:creationId xmlns:p14="http://schemas.microsoft.com/office/powerpoint/2010/main" val="2202203851"/>
      </p:ext>
    </p:extLst>
  </p:cSld>
  <p:clrMapOvr>
    <a:masterClrMapping/>
  </p:clrMapOvr>
  <p:transition spd="slow">
    <p:pull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邏輯代數（</a:t>
            </a:r>
            <a:r>
              <a:rPr lang="en-US" altLang="zh-CN" dirty="0"/>
              <a:t>26</a:t>
            </a:r>
            <a:r>
              <a:rPr lang="zh-CN" altLang="en-US" dirty="0"/>
              <a:t>）</a:t>
            </a:r>
          </a:p>
        </p:txBody>
      </p:sp>
      <p:sp>
        <p:nvSpPr>
          <p:cNvPr id="5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ACC91-948C-4B65-A3D4-DDE4A1905BFD}" type="slidenum">
              <a:rPr lang="en-US" altLang="zh-CN"/>
              <a:pPr/>
              <a:t>64</a:t>
            </a:fld>
            <a:endParaRPr lang="en-US" altLang="zh-CN" dirty="0"/>
          </a:p>
        </p:txBody>
      </p:sp>
      <p:sp>
        <p:nvSpPr>
          <p:cNvPr id="1228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996" y="1412776"/>
            <a:ext cx="8384468" cy="4607024"/>
          </a:xfrm>
        </p:spPr>
        <p:txBody>
          <a:bodyPr/>
          <a:lstStyle/>
          <a:p>
            <a:r>
              <a:rPr lang="zh-CN" altLang="en-US" dirty="0"/>
              <a:t>與或運算式化簡</a:t>
            </a:r>
          </a:p>
          <a:p>
            <a:pPr lvl="1"/>
            <a:r>
              <a:rPr lang="zh-CN" altLang="en-US" dirty="0"/>
              <a:t>最簡與或運算式：</a:t>
            </a:r>
          </a:p>
          <a:p>
            <a:pPr lvl="2">
              <a:buFont typeface="Wingdings" pitchFamily="2" charset="2"/>
              <a:buNone/>
            </a:pPr>
            <a:r>
              <a:rPr lang="en-US" altLang="zh-CN" sz="2400" dirty="0"/>
              <a:t>1</a:t>
            </a:r>
            <a:r>
              <a:rPr lang="zh-CN" altLang="en-US" sz="2400" dirty="0"/>
              <a:t>、乘積的個數最少</a:t>
            </a:r>
            <a:r>
              <a:rPr lang="en-US" altLang="zh-CN" sz="2400" dirty="0"/>
              <a:t>(</a:t>
            </a:r>
            <a:r>
              <a:rPr lang="zh-CN" altLang="en-US" sz="2400" dirty="0"/>
              <a:t>用門電路實現，用的及閘數最少）</a:t>
            </a:r>
          </a:p>
          <a:p>
            <a:pPr lvl="2">
              <a:buFont typeface="Wingdings" pitchFamily="2" charset="2"/>
              <a:buNone/>
            </a:pPr>
            <a:r>
              <a:rPr lang="en-US" altLang="zh-CN" sz="2400" dirty="0"/>
              <a:t>2</a:t>
            </a:r>
            <a:r>
              <a:rPr lang="zh-CN" altLang="en-US" sz="2400" dirty="0"/>
              <a:t>、在滿足</a:t>
            </a:r>
            <a:r>
              <a:rPr lang="en-US" altLang="zh-CN" sz="2400" dirty="0"/>
              <a:t>1</a:t>
            </a:r>
            <a:r>
              <a:rPr lang="zh-CN" altLang="en-US" sz="2400" dirty="0"/>
              <a:t>的條件下，乘積項中的變數最少</a:t>
            </a:r>
            <a:r>
              <a:rPr lang="en-US" altLang="zh-CN" sz="2400" dirty="0"/>
              <a:t>(</a:t>
            </a:r>
            <a:r>
              <a:rPr lang="zh-CN" altLang="en-US" sz="2400" dirty="0"/>
              <a:t>及閘的輸入端最少</a:t>
            </a:r>
            <a:r>
              <a:rPr lang="en-US" altLang="zh-CN" sz="2400" dirty="0"/>
              <a:t>)</a:t>
            </a:r>
          </a:p>
        </p:txBody>
      </p:sp>
      <p:sp>
        <p:nvSpPr>
          <p:cNvPr id="122886" name="Rectangle 6"/>
          <p:cNvSpPr>
            <a:spLocks noChangeArrowheads="1"/>
          </p:cNvSpPr>
          <p:nvPr/>
        </p:nvSpPr>
        <p:spPr bwMode="auto">
          <a:xfrm>
            <a:off x="4045183" y="3638694"/>
            <a:ext cx="398320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       運算式是否為最簡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?</a:t>
            </a:r>
          </a:p>
        </p:txBody>
      </p:sp>
      <p:grpSp>
        <p:nvGrpSpPr>
          <p:cNvPr id="2" name="Group 54"/>
          <p:cNvGrpSpPr>
            <a:grpSpLocks/>
          </p:cNvGrpSpPr>
          <p:nvPr/>
        </p:nvGrpSpPr>
        <p:grpSpPr bwMode="auto">
          <a:xfrm>
            <a:off x="1109709" y="4352441"/>
            <a:ext cx="4052607" cy="2133600"/>
            <a:chOff x="576" y="2928"/>
            <a:chExt cx="2579" cy="1344"/>
          </a:xfrm>
        </p:grpSpPr>
        <p:sp>
          <p:nvSpPr>
            <p:cNvPr id="122888" name="Rectangle 8"/>
            <p:cNvSpPr>
              <a:spLocks noChangeArrowheads="1"/>
            </p:cNvSpPr>
            <p:nvPr/>
          </p:nvSpPr>
          <p:spPr bwMode="auto">
            <a:xfrm>
              <a:off x="1076" y="3010"/>
              <a:ext cx="226" cy="3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889" name="Line 9"/>
            <p:cNvSpPr>
              <a:spLocks noChangeShapeType="1"/>
            </p:cNvSpPr>
            <p:nvPr/>
          </p:nvSpPr>
          <p:spPr bwMode="auto">
            <a:xfrm flipH="1">
              <a:off x="803" y="3101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890" name="Line 10"/>
            <p:cNvSpPr>
              <a:spLocks noChangeShapeType="1"/>
            </p:cNvSpPr>
            <p:nvPr/>
          </p:nvSpPr>
          <p:spPr bwMode="auto">
            <a:xfrm flipH="1">
              <a:off x="804" y="3283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891" name="Line 11"/>
            <p:cNvSpPr>
              <a:spLocks noChangeShapeType="1"/>
            </p:cNvSpPr>
            <p:nvPr/>
          </p:nvSpPr>
          <p:spPr bwMode="auto">
            <a:xfrm flipH="1">
              <a:off x="1303" y="3192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892" name="Text Box 12"/>
            <p:cNvSpPr txBox="1">
              <a:spLocks noChangeArrowheads="1"/>
            </p:cNvSpPr>
            <p:nvPr/>
          </p:nvSpPr>
          <p:spPr bwMode="auto">
            <a:xfrm>
              <a:off x="576" y="3160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B</a:t>
              </a:r>
            </a:p>
          </p:txBody>
        </p:sp>
        <p:sp>
          <p:nvSpPr>
            <p:cNvPr id="122893" name="Text Box 13"/>
            <p:cNvSpPr txBox="1">
              <a:spLocks noChangeArrowheads="1"/>
            </p:cNvSpPr>
            <p:nvPr/>
          </p:nvSpPr>
          <p:spPr bwMode="auto">
            <a:xfrm>
              <a:off x="576" y="2928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A</a:t>
              </a:r>
            </a:p>
          </p:txBody>
        </p:sp>
        <p:sp>
          <p:nvSpPr>
            <p:cNvPr id="122895" name="Rectangle 15"/>
            <p:cNvSpPr>
              <a:spLocks noChangeArrowheads="1"/>
            </p:cNvSpPr>
            <p:nvPr/>
          </p:nvSpPr>
          <p:spPr bwMode="auto">
            <a:xfrm>
              <a:off x="1776" y="3285"/>
              <a:ext cx="226" cy="3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896" name="Line 16"/>
            <p:cNvSpPr>
              <a:spLocks noChangeShapeType="1"/>
            </p:cNvSpPr>
            <p:nvPr/>
          </p:nvSpPr>
          <p:spPr bwMode="auto">
            <a:xfrm>
              <a:off x="1584" y="3189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897" name="Line 17"/>
            <p:cNvSpPr>
              <a:spLocks noChangeShapeType="1"/>
            </p:cNvSpPr>
            <p:nvPr/>
          </p:nvSpPr>
          <p:spPr bwMode="auto">
            <a:xfrm>
              <a:off x="1584" y="3381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898" name="Line 18"/>
            <p:cNvSpPr>
              <a:spLocks noChangeShapeType="1"/>
            </p:cNvSpPr>
            <p:nvPr/>
          </p:nvSpPr>
          <p:spPr bwMode="auto">
            <a:xfrm flipH="1">
              <a:off x="768" y="3573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899" name="Text Box 19"/>
            <p:cNvSpPr txBox="1">
              <a:spLocks noChangeArrowheads="1"/>
            </p:cNvSpPr>
            <p:nvPr/>
          </p:nvSpPr>
          <p:spPr bwMode="auto">
            <a:xfrm>
              <a:off x="576" y="3456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C</a:t>
              </a:r>
            </a:p>
          </p:txBody>
        </p:sp>
        <p:grpSp>
          <p:nvGrpSpPr>
            <p:cNvPr id="3" name="Group 27"/>
            <p:cNvGrpSpPr>
              <a:grpSpLocks/>
            </p:cNvGrpSpPr>
            <p:nvPr/>
          </p:nvGrpSpPr>
          <p:grpSpPr bwMode="auto">
            <a:xfrm>
              <a:off x="1104" y="3909"/>
              <a:ext cx="317" cy="363"/>
              <a:chOff x="1747" y="3696"/>
              <a:chExt cx="317" cy="363"/>
            </a:xfrm>
          </p:grpSpPr>
          <p:sp>
            <p:nvSpPr>
              <p:cNvPr id="122901" name="Rectangle 21"/>
              <p:cNvSpPr>
                <a:spLocks noChangeArrowheads="1"/>
              </p:cNvSpPr>
              <p:nvPr/>
            </p:nvSpPr>
            <p:spPr bwMode="auto">
              <a:xfrm>
                <a:off x="1747" y="3696"/>
                <a:ext cx="226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2902" name="Oval 22"/>
              <p:cNvSpPr>
                <a:spLocks noChangeArrowheads="1"/>
              </p:cNvSpPr>
              <p:nvPr/>
            </p:nvSpPr>
            <p:spPr bwMode="auto">
              <a:xfrm>
                <a:off x="1973" y="3832"/>
                <a:ext cx="91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22908" name="Line 28"/>
            <p:cNvSpPr>
              <a:spLocks noChangeShapeType="1"/>
            </p:cNvSpPr>
            <p:nvPr/>
          </p:nvSpPr>
          <p:spPr bwMode="auto">
            <a:xfrm>
              <a:off x="960" y="3573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09" name="Line 29"/>
            <p:cNvSpPr>
              <a:spLocks noChangeShapeType="1"/>
            </p:cNvSpPr>
            <p:nvPr/>
          </p:nvSpPr>
          <p:spPr bwMode="auto">
            <a:xfrm>
              <a:off x="960" y="4101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10" name="Line 30"/>
            <p:cNvSpPr>
              <a:spLocks noChangeShapeType="1"/>
            </p:cNvSpPr>
            <p:nvPr/>
          </p:nvSpPr>
          <p:spPr bwMode="auto">
            <a:xfrm>
              <a:off x="960" y="4101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11" name="Oval 31"/>
            <p:cNvSpPr>
              <a:spLocks noChangeArrowheads="1"/>
            </p:cNvSpPr>
            <p:nvPr/>
          </p:nvSpPr>
          <p:spPr bwMode="auto">
            <a:xfrm>
              <a:off x="912" y="3525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912" name="Rectangle 32"/>
            <p:cNvSpPr>
              <a:spLocks noChangeArrowheads="1"/>
            </p:cNvSpPr>
            <p:nvPr/>
          </p:nvSpPr>
          <p:spPr bwMode="auto">
            <a:xfrm>
              <a:off x="1776" y="3813"/>
              <a:ext cx="226" cy="3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913" name="Line 33"/>
            <p:cNvSpPr>
              <a:spLocks noChangeShapeType="1"/>
            </p:cNvSpPr>
            <p:nvPr/>
          </p:nvSpPr>
          <p:spPr bwMode="auto">
            <a:xfrm>
              <a:off x="1584" y="3909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14" name="Line 34"/>
            <p:cNvSpPr>
              <a:spLocks noChangeShapeType="1"/>
            </p:cNvSpPr>
            <p:nvPr/>
          </p:nvSpPr>
          <p:spPr bwMode="auto">
            <a:xfrm>
              <a:off x="1440" y="4101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15" name="Oval 35"/>
            <p:cNvSpPr>
              <a:spLocks noChangeArrowheads="1"/>
            </p:cNvSpPr>
            <p:nvPr/>
          </p:nvSpPr>
          <p:spPr bwMode="auto">
            <a:xfrm>
              <a:off x="1536" y="3333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917" name="Rectangle 37"/>
            <p:cNvSpPr>
              <a:spLocks noChangeArrowheads="1"/>
            </p:cNvSpPr>
            <p:nvPr/>
          </p:nvSpPr>
          <p:spPr bwMode="auto">
            <a:xfrm>
              <a:off x="2592" y="3477"/>
              <a:ext cx="254" cy="3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918" name="Line 38"/>
            <p:cNvSpPr>
              <a:spLocks noChangeShapeType="1"/>
            </p:cNvSpPr>
            <p:nvPr/>
          </p:nvSpPr>
          <p:spPr bwMode="auto">
            <a:xfrm flipH="1">
              <a:off x="2304" y="3568"/>
              <a:ext cx="296" cy="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19" name="Line 39"/>
            <p:cNvSpPr>
              <a:spLocks noChangeShapeType="1"/>
            </p:cNvSpPr>
            <p:nvPr/>
          </p:nvSpPr>
          <p:spPr bwMode="auto">
            <a:xfrm flipH="1">
              <a:off x="2304" y="3765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20" name="Line 40"/>
            <p:cNvSpPr>
              <a:spLocks noChangeShapeType="1"/>
            </p:cNvSpPr>
            <p:nvPr/>
          </p:nvSpPr>
          <p:spPr bwMode="auto">
            <a:xfrm flipH="1">
              <a:off x="2847" y="3659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24" name="Text Box 44"/>
            <p:cNvSpPr txBox="1">
              <a:spLocks noChangeArrowheads="1"/>
            </p:cNvSpPr>
            <p:nvPr/>
          </p:nvSpPr>
          <p:spPr bwMode="auto">
            <a:xfrm>
              <a:off x="2620" y="3523"/>
              <a:ext cx="227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2000" dirty="0">
                  <a:latin typeface="Tahoma" pitchFamily="34" charset="0"/>
                </a:rPr>
                <a:t>+</a:t>
              </a:r>
            </a:p>
          </p:txBody>
        </p:sp>
        <p:sp>
          <p:nvSpPr>
            <p:cNvPr id="122925" name="Line 45"/>
            <p:cNvSpPr>
              <a:spLocks noChangeShapeType="1"/>
            </p:cNvSpPr>
            <p:nvPr/>
          </p:nvSpPr>
          <p:spPr bwMode="auto">
            <a:xfrm>
              <a:off x="2016" y="3477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26" name="Line 46"/>
            <p:cNvSpPr>
              <a:spLocks noChangeShapeType="1"/>
            </p:cNvSpPr>
            <p:nvPr/>
          </p:nvSpPr>
          <p:spPr bwMode="auto">
            <a:xfrm>
              <a:off x="2304" y="3477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27" name="Line 47"/>
            <p:cNvSpPr>
              <a:spLocks noChangeShapeType="1"/>
            </p:cNvSpPr>
            <p:nvPr/>
          </p:nvSpPr>
          <p:spPr bwMode="auto">
            <a:xfrm>
              <a:off x="2016" y="4005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28" name="Line 48"/>
            <p:cNvSpPr>
              <a:spLocks noChangeShapeType="1"/>
            </p:cNvSpPr>
            <p:nvPr/>
          </p:nvSpPr>
          <p:spPr bwMode="auto">
            <a:xfrm>
              <a:off x="2304" y="3765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30" name="Text Box 50"/>
            <p:cNvSpPr txBox="1">
              <a:spLocks noChangeArrowheads="1"/>
            </p:cNvSpPr>
            <p:nvPr/>
          </p:nvSpPr>
          <p:spPr bwMode="auto">
            <a:xfrm>
              <a:off x="2928" y="3360"/>
              <a:ext cx="22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F</a:t>
              </a:r>
            </a:p>
          </p:txBody>
        </p:sp>
      </p:grpSp>
      <p:grpSp>
        <p:nvGrpSpPr>
          <p:cNvPr id="4" name="Group 63"/>
          <p:cNvGrpSpPr>
            <a:grpSpLocks/>
          </p:cNvGrpSpPr>
          <p:nvPr/>
        </p:nvGrpSpPr>
        <p:grpSpPr bwMode="auto">
          <a:xfrm>
            <a:off x="5841497" y="4408003"/>
            <a:ext cx="1997234" cy="1327151"/>
            <a:chOff x="3696" y="3026"/>
            <a:chExt cx="1271" cy="836"/>
          </a:xfrm>
        </p:grpSpPr>
        <p:graphicFrame>
          <p:nvGraphicFramePr>
            <p:cNvPr id="122933" name="Object 5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05415644"/>
                </p:ext>
              </p:extLst>
            </p:nvPr>
          </p:nvGraphicFramePr>
          <p:xfrm>
            <a:off x="3754" y="3026"/>
            <a:ext cx="986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571320" imgH="164880" progId="Equation.DSMT4">
                    <p:embed/>
                  </p:oleObj>
                </mc:Choice>
                <mc:Fallback>
                  <p:oleObj name="Equation" r:id="rId2" imgW="57132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54" y="3026"/>
                          <a:ext cx="986" cy="28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" name="Group 55"/>
            <p:cNvGrpSpPr>
              <a:grpSpLocks/>
            </p:cNvGrpSpPr>
            <p:nvPr/>
          </p:nvGrpSpPr>
          <p:grpSpPr bwMode="auto">
            <a:xfrm>
              <a:off x="3696" y="3360"/>
              <a:ext cx="1271" cy="502"/>
              <a:chOff x="3877" y="2053"/>
              <a:chExt cx="1271" cy="502"/>
            </a:xfrm>
          </p:grpSpPr>
          <p:sp>
            <p:nvSpPr>
              <p:cNvPr id="122936" name="Rectangle 56"/>
              <p:cNvSpPr>
                <a:spLocks noChangeArrowheads="1"/>
              </p:cNvSpPr>
              <p:nvPr/>
            </p:nvSpPr>
            <p:spPr bwMode="auto">
              <a:xfrm>
                <a:off x="4377" y="2114"/>
                <a:ext cx="226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2937" name="Line 57"/>
              <p:cNvSpPr>
                <a:spLocks noChangeShapeType="1"/>
              </p:cNvSpPr>
              <p:nvPr/>
            </p:nvSpPr>
            <p:spPr bwMode="auto">
              <a:xfrm flipH="1">
                <a:off x="4104" y="2205"/>
                <a:ext cx="2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938" name="Line 58"/>
              <p:cNvSpPr>
                <a:spLocks noChangeShapeType="1"/>
              </p:cNvSpPr>
              <p:nvPr/>
            </p:nvSpPr>
            <p:spPr bwMode="auto">
              <a:xfrm flipH="1">
                <a:off x="4105" y="2387"/>
                <a:ext cx="2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939" name="Line 59"/>
              <p:cNvSpPr>
                <a:spLocks noChangeShapeType="1"/>
              </p:cNvSpPr>
              <p:nvPr/>
            </p:nvSpPr>
            <p:spPr bwMode="auto">
              <a:xfrm flipH="1">
                <a:off x="4604" y="2296"/>
                <a:ext cx="2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940" name="Text Box 60"/>
              <p:cNvSpPr txBox="1">
                <a:spLocks noChangeArrowheads="1"/>
              </p:cNvSpPr>
              <p:nvPr/>
            </p:nvSpPr>
            <p:spPr bwMode="auto">
              <a:xfrm>
                <a:off x="3877" y="2264"/>
                <a:ext cx="227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B</a:t>
                </a:r>
              </a:p>
            </p:txBody>
          </p:sp>
          <p:sp>
            <p:nvSpPr>
              <p:cNvPr id="122941" name="Text Box 61"/>
              <p:cNvSpPr txBox="1">
                <a:spLocks noChangeArrowheads="1"/>
              </p:cNvSpPr>
              <p:nvPr/>
            </p:nvSpPr>
            <p:spPr bwMode="auto">
              <a:xfrm>
                <a:off x="3878" y="2053"/>
                <a:ext cx="227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A</a:t>
                </a:r>
              </a:p>
            </p:txBody>
          </p:sp>
          <p:sp>
            <p:nvSpPr>
              <p:cNvPr id="122942" name="Text Box 62"/>
              <p:cNvSpPr txBox="1">
                <a:spLocks noChangeArrowheads="1"/>
              </p:cNvSpPr>
              <p:nvPr/>
            </p:nvSpPr>
            <p:spPr bwMode="auto">
              <a:xfrm>
                <a:off x="4921" y="2144"/>
                <a:ext cx="227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F</a:t>
                </a:r>
              </a:p>
            </p:txBody>
          </p:sp>
        </p:grpSp>
      </p:grp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6946634"/>
              </p:ext>
            </p:extLst>
          </p:nvPr>
        </p:nvGraphicFramePr>
        <p:xfrm>
          <a:off x="1151083" y="3573016"/>
          <a:ext cx="2894100" cy="5853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30040" imgH="215640" progId="Equation.DSMT4">
                  <p:embed/>
                </p:oleObj>
              </mc:Choice>
              <mc:Fallback>
                <p:oleObj name="Equation" r:id="rId4" imgW="11300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51083" y="3573016"/>
                        <a:ext cx="2894100" cy="5853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53585643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22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6" grpId="0" autoUpdateAnimBg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邏輯代數（</a:t>
            </a:r>
            <a:r>
              <a:rPr lang="en-US" altLang="zh-CN" dirty="0"/>
              <a:t>27</a:t>
            </a:r>
            <a:r>
              <a:rPr lang="zh-CN" altLang="en-US" dirty="0"/>
              <a:t>）</a:t>
            </a:r>
          </a:p>
        </p:txBody>
      </p:sp>
      <p:sp>
        <p:nvSpPr>
          <p:cNvPr id="1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F3FB3-2D61-4335-88A7-88195D0037AA}" type="slidenum">
              <a:rPr lang="en-US" altLang="zh-CN"/>
              <a:pPr/>
              <a:t>65</a:t>
            </a:fld>
            <a:endParaRPr lang="en-US" altLang="zh-CN" dirty="0"/>
          </a:p>
        </p:txBody>
      </p:sp>
      <p:sp>
        <p:nvSpPr>
          <p:cNvPr id="12493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13538" y="1447813"/>
            <a:ext cx="5821542" cy="4943475"/>
          </a:xfrm>
        </p:spPr>
        <p:txBody>
          <a:bodyPr/>
          <a:lstStyle/>
          <a:p>
            <a:r>
              <a:rPr lang="zh-CN" altLang="en-US" dirty="0"/>
              <a:t>與或運算式化簡</a:t>
            </a:r>
          </a:p>
          <a:p>
            <a:pPr lvl="1"/>
            <a:r>
              <a:rPr lang="zh-CN" altLang="en-US" dirty="0"/>
              <a:t>例</a:t>
            </a:r>
            <a:r>
              <a:rPr lang="en-US" altLang="zh-CN" dirty="0"/>
              <a:t>1</a:t>
            </a:r>
          </a:p>
        </p:txBody>
      </p:sp>
      <p:graphicFrame>
        <p:nvGraphicFramePr>
          <p:cNvPr id="1249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5672247"/>
              </p:ext>
            </p:extLst>
          </p:nvPr>
        </p:nvGraphicFramePr>
        <p:xfrm>
          <a:off x="1980288" y="2667000"/>
          <a:ext cx="5976088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108160" imgH="241200" progId="Equation.3">
                  <p:embed/>
                </p:oleObj>
              </mc:Choice>
              <mc:Fallback>
                <p:oleObj name="公式" r:id="rId2" imgW="210816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0288" y="2667000"/>
                        <a:ext cx="5976088" cy="6873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900515" y="3500441"/>
            <a:ext cx="6623447" cy="614362"/>
            <a:chOff x="283" y="2205"/>
            <a:chExt cx="5563" cy="387"/>
          </a:xfrm>
        </p:grpSpPr>
        <p:graphicFrame>
          <p:nvGraphicFramePr>
            <p:cNvPr id="124933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77810254"/>
                </p:ext>
              </p:extLst>
            </p:nvPr>
          </p:nvGraphicFramePr>
          <p:xfrm>
            <a:off x="1507" y="2205"/>
            <a:ext cx="4339" cy="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904760" imgH="215640" progId="Equation.3">
                    <p:embed/>
                  </p:oleObj>
                </mc:Choice>
                <mc:Fallback>
                  <p:oleObj name="公式" r:id="rId4" imgW="190476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7" y="2205"/>
                          <a:ext cx="4339" cy="38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4935" name="Rectangle 7"/>
            <p:cNvSpPr>
              <a:spLocks noChangeArrowheads="1"/>
            </p:cNvSpPr>
            <p:nvPr/>
          </p:nvSpPr>
          <p:spPr bwMode="auto">
            <a:xfrm>
              <a:off x="283" y="2221"/>
              <a:ext cx="1060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0" lang="zh-CN" altLang="en-US" sz="2800" b="1" dirty="0">
                  <a:latin typeface="华文新魏" pitchFamily="2" charset="-122"/>
                  <a:ea typeface="华文新魏" pitchFamily="2" charset="-122"/>
                </a:rPr>
                <a:t>展開：</a:t>
              </a:r>
            </a:p>
          </p:txBody>
        </p:sp>
      </p:grp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900038" y="4237038"/>
            <a:ext cx="7272338" cy="715962"/>
            <a:chOff x="303" y="2669"/>
            <a:chExt cx="6108" cy="451"/>
          </a:xfrm>
        </p:grpSpPr>
        <p:graphicFrame>
          <p:nvGraphicFramePr>
            <p:cNvPr id="124934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41669014"/>
                </p:ext>
              </p:extLst>
            </p:nvPr>
          </p:nvGraphicFramePr>
          <p:xfrm>
            <a:off x="1527" y="2669"/>
            <a:ext cx="4884" cy="4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2095200" imgH="241200" progId="Equation.3">
                    <p:embed/>
                  </p:oleObj>
                </mc:Choice>
                <mc:Fallback>
                  <p:oleObj name="公式" r:id="rId6" imgW="209520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27" y="2669"/>
                          <a:ext cx="4884" cy="451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4936" name="Rectangle 8"/>
            <p:cNvSpPr>
              <a:spLocks noChangeArrowheads="1"/>
            </p:cNvSpPr>
            <p:nvPr/>
          </p:nvSpPr>
          <p:spPr bwMode="auto">
            <a:xfrm>
              <a:off x="303" y="2733"/>
              <a:ext cx="1060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buClr>
                  <a:schemeClr val="hlink"/>
                </a:buClr>
                <a:buSzPct val="120000"/>
              </a:pPr>
              <a:r>
                <a:rPr kumimoji="0" lang="zh-CN" altLang="en-US" sz="2800" b="1" dirty="0">
                  <a:latin typeface="华文新魏" pitchFamily="2" charset="-122"/>
                  <a:ea typeface="华文新魏" pitchFamily="2" charset="-122"/>
                </a:rPr>
                <a:t>合併：</a:t>
              </a:r>
            </a:p>
          </p:txBody>
        </p:sp>
      </p:grp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900180" y="5029200"/>
            <a:ext cx="6768703" cy="742950"/>
            <a:chOff x="190" y="3168"/>
            <a:chExt cx="5685" cy="468"/>
          </a:xfrm>
        </p:grpSpPr>
        <p:sp>
          <p:nvSpPr>
            <p:cNvPr id="124937" name="Rectangle 9"/>
            <p:cNvSpPr>
              <a:spLocks noChangeArrowheads="1"/>
            </p:cNvSpPr>
            <p:nvPr/>
          </p:nvSpPr>
          <p:spPr bwMode="auto">
            <a:xfrm>
              <a:off x="190" y="3225"/>
              <a:ext cx="1361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buClr>
                  <a:schemeClr val="hlink"/>
                </a:buClr>
                <a:buSzPct val="120000"/>
              </a:pPr>
              <a:r>
                <a:rPr kumimoji="0" lang="zh-CN" altLang="en-US" sz="2800" b="1" dirty="0">
                  <a:latin typeface="华文新魏" pitchFamily="2" charset="-122"/>
                  <a:ea typeface="华文新魏" pitchFamily="2" charset="-122"/>
                </a:rPr>
                <a:t>分配律：</a:t>
              </a:r>
            </a:p>
          </p:txBody>
        </p:sp>
        <p:graphicFrame>
          <p:nvGraphicFramePr>
            <p:cNvPr id="124939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71227012"/>
                </p:ext>
              </p:extLst>
            </p:nvPr>
          </p:nvGraphicFramePr>
          <p:xfrm>
            <a:off x="1440" y="3168"/>
            <a:ext cx="4435" cy="4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777680" imgH="241200" progId="Equation.3">
                    <p:embed/>
                  </p:oleObj>
                </mc:Choice>
                <mc:Fallback>
                  <p:oleObj name="公式" r:id="rId8" imgW="177768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3168"/>
                          <a:ext cx="4435" cy="46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899592" y="5791203"/>
            <a:ext cx="4392217" cy="630238"/>
            <a:chOff x="231" y="3648"/>
            <a:chExt cx="3689" cy="397"/>
          </a:xfrm>
        </p:grpSpPr>
        <p:sp>
          <p:nvSpPr>
            <p:cNvPr id="124938" name="Rectangle 10"/>
            <p:cNvSpPr>
              <a:spLocks noChangeArrowheads="1"/>
            </p:cNvSpPr>
            <p:nvPr/>
          </p:nvSpPr>
          <p:spPr bwMode="auto">
            <a:xfrm>
              <a:off x="231" y="3696"/>
              <a:ext cx="1361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buClr>
                  <a:schemeClr val="hlink"/>
                </a:buClr>
                <a:buSzPct val="120000"/>
              </a:pPr>
              <a:r>
                <a:rPr kumimoji="0" lang="zh-CN" altLang="en-US" sz="2800" b="1" dirty="0">
                  <a:latin typeface="华文新魏" pitchFamily="2" charset="-122"/>
                  <a:ea typeface="华文新魏" pitchFamily="2" charset="-122"/>
                </a:rPr>
                <a:t>互補律：</a:t>
              </a:r>
            </a:p>
          </p:txBody>
        </p:sp>
        <p:graphicFrame>
          <p:nvGraphicFramePr>
            <p:cNvPr id="124940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4184116"/>
                </p:ext>
              </p:extLst>
            </p:nvPr>
          </p:nvGraphicFramePr>
          <p:xfrm>
            <a:off x="1493" y="3648"/>
            <a:ext cx="2427" cy="3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091880" imgH="215640" progId="Equation.3">
                    <p:embed/>
                  </p:oleObj>
                </mc:Choice>
                <mc:Fallback>
                  <p:oleObj name="公式" r:id="rId10" imgW="109188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93" y="3648"/>
                          <a:ext cx="2427" cy="39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7" name="直接箭头连接符 6"/>
          <p:cNvCxnSpPr/>
          <p:nvPr/>
        </p:nvCxnSpPr>
        <p:spPr>
          <a:xfrm flipH="1">
            <a:off x="4932040" y="4116403"/>
            <a:ext cx="2088233" cy="2222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4653586" y="4116403"/>
            <a:ext cx="1186123" cy="2222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5839709" y="4065618"/>
            <a:ext cx="1540603" cy="2730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0733838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4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邏輯代數（</a:t>
            </a:r>
            <a:r>
              <a:rPr lang="en-US" altLang="zh-CN" dirty="0"/>
              <a:t>28</a:t>
            </a:r>
            <a:r>
              <a:rPr lang="zh-CN" altLang="en-US" dirty="0"/>
              <a:t>）</a:t>
            </a:r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86863-762A-4B80-8DA1-76CC316D48BE}" type="slidenum">
              <a:rPr lang="en-US" altLang="zh-CN"/>
              <a:pPr/>
              <a:t>66</a:t>
            </a:fld>
            <a:endParaRPr lang="en-US" altLang="zh-CN" dirty="0"/>
          </a:p>
        </p:txBody>
      </p:sp>
      <p:sp>
        <p:nvSpPr>
          <p:cNvPr id="12595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與或運算式化簡</a:t>
            </a:r>
          </a:p>
          <a:p>
            <a:pPr lvl="1"/>
            <a:r>
              <a:rPr lang="zh-CN" altLang="en-US" dirty="0"/>
              <a:t>例</a:t>
            </a:r>
            <a:r>
              <a:rPr lang="en-US" altLang="zh-CN" dirty="0"/>
              <a:t>2</a:t>
            </a:r>
          </a:p>
          <a:p>
            <a:endParaRPr lang="en-US" altLang="zh-CN" dirty="0"/>
          </a:p>
        </p:txBody>
      </p:sp>
      <p:graphicFrame>
        <p:nvGraphicFramePr>
          <p:cNvPr id="1259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9332465"/>
              </p:ext>
            </p:extLst>
          </p:nvPr>
        </p:nvGraphicFramePr>
        <p:xfrm>
          <a:off x="4670734" y="2921688"/>
          <a:ext cx="3837986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371600" imgH="241200" progId="Equation.3">
                  <p:embed/>
                </p:oleObj>
              </mc:Choice>
              <mc:Fallback>
                <p:oleObj name="公式" r:id="rId2" imgW="137160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0734" y="2921688"/>
                        <a:ext cx="3837986" cy="6381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2761387"/>
              </p:ext>
            </p:extLst>
          </p:nvPr>
        </p:nvGraphicFramePr>
        <p:xfrm>
          <a:off x="4923135" y="3883714"/>
          <a:ext cx="2984703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066680" imgH="241200" progId="Equation.3">
                  <p:embed/>
                </p:oleObj>
              </mc:Choice>
              <mc:Fallback>
                <p:oleObj name="公式" r:id="rId4" imgW="106668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3135" y="3883714"/>
                        <a:ext cx="2984703" cy="6381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95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4065372"/>
              </p:ext>
            </p:extLst>
          </p:nvPr>
        </p:nvGraphicFramePr>
        <p:xfrm>
          <a:off x="4970771" y="4902889"/>
          <a:ext cx="1952911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698400" imgH="215640" progId="Equation.3">
                  <p:embed/>
                </p:oleObj>
              </mc:Choice>
              <mc:Fallback>
                <p:oleObj name="公式" r:id="rId6" imgW="6984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0771" y="4902889"/>
                        <a:ext cx="1952911" cy="5699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467544" y="3726542"/>
            <a:ext cx="4008838" cy="776287"/>
            <a:chOff x="65" y="1899"/>
            <a:chExt cx="3367" cy="489"/>
          </a:xfrm>
        </p:grpSpPr>
        <p:sp>
          <p:nvSpPr>
            <p:cNvPr id="125960" name="Rectangle 8"/>
            <p:cNvSpPr>
              <a:spLocks noChangeArrowheads="1"/>
            </p:cNvSpPr>
            <p:nvPr/>
          </p:nvSpPr>
          <p:spPr bwMode="auto">
            <a:xfrm>
              <a:off x="65" y="2051"/>
              <a:ext cx="1060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0" lang="zh-CN" altLang="en-US" sz="2800" b="1" dirty="0">
                  <a:latin typeface="华文新魏" pitchFamily="2" charset="-122"/>
                  <a:ea typeface="华文新魏" pitchFamily="2" charset="-122"/>
                </a:rPr>
                <a:t>反演律</a:t>
              </a:r>
            </a:p>
          </p:txBody>
        </p:sp>
        <p:graphicFrame>
          <p:nvGraphicFramePr>
            <p:cNvPr id="125961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69264294"/>
                </p:ext>
              </p:extLst>
            </p:nvPr>
          </p:nvGraphicFramePr>
          <p:xfrm>
            <a:off x="1204" y="1899"/>
            <a:ext cx="2228" cy="4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990360" imgH="291960" progId="Equation.3">
                    <p:embed/>
                  </p:oleObj>
                </mc:Choice>
                <mc:Fallback>
                  <p:oleObj name="公式" r:id="rId8" imgW="990360" imgH="291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4" y="1899"/>
                          <a:ext cx="2228" cy="489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467544" y="4901284"/>
            <a:ext cx="4237437" cy="615948"/>
            <a:chOff x="61" y="2966"/>
            <a:chExt cx="3559" cy="388"/>
          </a:xfrm>
        </p:grpSpPr>
        <p:sp>
          <p:nvSpPr>
            <p:cNvPr id="125959" name="Rectangle 7"/>
            <p:cNvSpPr>
              <a:spLocks noChangeArrowheads="1"/>
            </p:cNvSpPr>
            <p:nvPr/>
          </p:nvSpPr>
          <p:spPr bwMode="auto">
            <a:xfrm>
              <a:off x="61" y="3024"/>
              <a:ext cx="1060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kumimoji="0" lang="zh-CN" altLang="en-US" sz="2800" b="1" dirty="0">
                  <a:latin typeface="华文新魏" pitchFamily="2" charset="-122"/>
                  <a:ea typeface="华文新魏" pitchFamily="2" charset="-122"/>
                </a:rPr>
                <a:t>吸收律</a:t>
              </a:r>
            </a:p>
          </p:txBody>
        </p:sp>
        <p:graphicFrame>
          <p:nvGraphicFramePr>
            <p:cNvPr id="125963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83926529"/>
                </p:ext>
              </p:extLst>
            </p:nvPr>
          </p:nvGraphicFramePr>
          <p:xfrm>
            <a:off x="1190" y="2966"/>
            <a:ext cx="2430" cy="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130040" imgH="215640" progId="Equation.3">
                    <p:embed/>
                  </p:oleObj>
                </mc:Choice>
                <mc:Fallback>
                  <p:oleObj name="公式" r:id="rId10" imgW="11300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0" y="2966"/>
                          <a:ext cx="2430" cy="359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133394787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5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5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5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邏輯代數（</a:t>
            </a:r>
            <a:r>
              <a:rPr lang="en-US" altLang="zh-CN" dirty="0"/>
              <a:t>29</a:t>
            </a:r>
            <a:r>
              <a:rPr lang="zh-CN" altLang="en-US" dirty="0"/>
              <a:t>）</a:t>
            </a:r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688E6-1309-4790-8CD6-7092553E006C}" type="slidenum">
              <a:rPr lang="en-US" altLang="zh-CN"/>
              <a:pPr/>
              <a:t>67</a:t>
            </a:fld>
            <a:endParaRPr lang="en-US" altLang="zh-CN" dirty="0"/>
          </a:p>
        </p:txBody>
      </p:sp>
      <p:sp>
        <p:nvSpPr>
          <p:cNvPr id="27443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與或運算式化簡</a:t>
            </a:r>
          </a:p>
          <a:p>
            <a:pPr lvl="1"/>
            <a:r>
              <a:rPr lang="zh-CN" altLang="en-US" dirty="0"/>
              <a:t>例</a:t>
            </a:r>
            <a:r>
              <a:rPr lang="en-US" altLang="zh-CN" dirty="0"/>
              <a:t>3</a:t>
            </a:r>
          </a:p>
        </p:txBody>
      </p:sp>
      <p:graphicFrame>
        <p:nvGraphicFramePr>
          <p:cNvPr id="27443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7633615"/>
              </p:ext>
            </p:extLst>
          </p:nvPr>
        </p:nvGraphicFramePr>
        <p:xfrm>
          <a:off x="2049038" y="2743200"/>
          <a:ext cx="6123362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841400" imgH="215640" progId="Equation.3">
                  <p:embed/>
                </p:oleObj>
              </mc:Choice>
              <mc:Fallback>
                <p:oleObj name="公式" r:id="rId2" imgW="18414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9038" y="2743200"/>
                        <a:ext cx="6123362" cy="6159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4437" name="Rectangle 5"/>
          <p:cNvSpPr>
            <a:spLocks noChangeArrowheads="1"/>
          </p:cNvSpPr>
          <p:nvPr/>
        </p:nvSpPr>
        <p:spPr bwMode="auto">
          <a:xfrm>
            <a:off x="875077" y="3352801"/>
            <a:ext cx="126188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zh-CN" altLang="en-US" sz="2800" b="1" dirty="0">
                <a:latin typeface="华文新魏" pitchFamily="2" charset="-122"/>
                <a:ea typeface="华文新魏" pitchFamily="2" charset="-122"/>
              </a:rPr>
              <a:t>合併：</a:t>
            </a:r>
          </a:p>
        </p:txBody>
      </p:sp>
      <p:graphicFrame>
        <p:nvGraphicFramePr>
          <p:cNvPr id="27443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9496991"/>
              </p:ext>
            </p:extLst>
          </p:nvPr>
        </p:nvGraphicFramePr>
        <p:xfrm>
          <a:off x="2442043" y="3316303"/>
          <a:ext cx="5870285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765080" imgH="241200" progId="Equation.3">
                  <p:embed/>
                </p:oleObj>
              </mc:Choice>
              <mc:Fallback>
                <p:oleObj name="公式" r:id="rId4" imgW="176508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2043" y="3316303"/>
                        <a:ext cx="5870285" cy="6889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43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9749721"/>
              </p:ext>
            </p:extLst>
          </p:nvPr>
        </p:nvGraphicFramePr>
        <p:xfrm>
          <a:off x="2439152" y="3959240"/>
          <a:ext cx="5529673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663560" imgH="241200" progId="Equation.3">
                  <p:embed/>
                </p:oleObj>
              </mc:Choice>
              <mc:Fallback>
                <p:oleObj name="公式" r:id="rId6" imgW="166356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9152" y="3959240"/>
                        <a:ext cx="5529673" cy="6889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4440" name="Rectangle 8"/>
          <p:cNvSpPr>
            <a:spLocks noChangeArrowheads="1"/>
          </p:cNvSpPr>
          <p:nvPr/>
        </p:nvSpPr>
        <p:spPr bwMode="auto">
          <a:xfrm>
            <a:off x="875082" y="4038601"/>
            <a:ext cx="162095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zh-CN" altLang="en-US" sz="2800" b="1" dirty="0">
                <a:latin typeface="华文新魏" pitchFamily="2" charset="-122"/>
                <a:ea typeface="华文新魏" pitchFamily="2" charset="-122"/>
              </a:rPr>
              <a:t>分配律：</a:t>
            </a:r>
          </a:p>
        </p:txBody>
      </p:sp>
      <p:graphicFrame>
        <p:nvGraphicFramePr>
          <p:cNvPr id="27444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9533628"/>
              </p:ext>
            </p:extLst>
          </p:nvPr>
        </p:nvGraphicFramePr>
        <p:xfrm>
          <a:off x="2432407" y="4648200"/>
          <a:ext cx="4011203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206360" imgH="215640" progId="Equation.3">
                  <p:embed/>
                </p:oleObj>
              </mc:Choice>
              <mc:Fallback>
                <p:oleObj name="公式" r:id="rId8" imgW="12063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2407" y="4648200"/>
                        <a:ext cx="4011203" cy="6159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4442" name="Rectangle 10"/>
          <p:cNvSpPr>
            <a:spLocks noChangeArrowheads="1"/>
          </p:cNvSpPr>
          <p:nvPr/>
        </p:nvSpPr>
        <p:spPr bwMode="auto">
          <a:xfrm>
            <a:off x="875082" y="5334001"/>
            <a:ext cx="162095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zh-CN" altLang="en-US" sz="2800" b="1" dirty="0">
                <a:latin typeface="华文新魏" pitchFamily="2" charset="-122"/>
                <a:ea typeface="华文新魏" pitchFamily="2" charset="-122"/>
              </a:rPr>
              <a:t>吸收律：</a:t>
            </a:r>
          </a:p>
        </p:txBody>
      </p:sp>
      <p:graphicFrame>
        <p:nvGraphicFramePr>
          <p:cNvPr id="27444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9708000"/>
              </p:ext>
            </p:extLst>
          </p:nvPr>
        </p:nvGraphicFramePr>
        <p:xfrm>
          <a:off x="2441932" y="5257800"/>
          <a:ext cx="2534593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761760" imgH="215640" progId="Equation.3">
                  <p:embed/>
                </p:oleObj>
              </mc:Choice>
              <mc:Fallback>
                <p:oleObj name="公式" r:id="rId10" imgW="7617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1932" y="5257800"/>
                        <a:ext cx="2534593" cy="6159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4444" name="Rectangle 12"/>
          <p:cNvSpPr>
            <a:spLocks noChangeArrowheads="1"/>
          </p:cNvSpPr>
          <p:nvPr/>
        </p:nvSpPr>
        <p:spPr bwMode="auto">
          <a:xfrm>
            <a:off x="875071" y="4737101"/>
            <a:ext cx="113364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0" lang="en-US" altLang="zh-CN" sz="2800" b="1" dirty="0">
                <a:latin typeface="华文新魏" pitchFamily="2" charset="-122"/>
                <a:ea typeface="华文新魏" pitchFamily="2" charset="-122"/>
              </a:rPr>
              <a:t>1 </a:t>
            </a:r>
            <a:r>
              <a:rPr kumimoji="0" lang="zh-CN" altLang="en-US" sz="2800" b="1" dirty="0">
                <a:latin typeface="华文新魏" pitchFamily="2" charset="-122"/>
                <a:ea typeface="华文新魏" pitchFamily="2" charset="-122"/>
              </a:rPr>
              <a:t>律：</a:t>
            </a:r>
          </a:p>
        </p:txBody>
      </p:sp>
    </p:spTree>
    <p:extLst>
      <p:ext uri="{BB962C8B-B14F-4D97-AF65-F5344CB8AC3E}">
        <p14:creationId xmlns:p14="http://schemas.microsoft.com/office/powerpoint/2010/main" val="160649381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4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4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4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74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4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4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74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74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74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74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74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74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74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437" grpId="0" autoUpdateAnimBg="0"/>
      <p:bldP spid="274440" grpId="0" autoUpdateAnimBg="0"/>
      <p:bldP spid="274442" grpId="0" autoUpdateAnimBg="0"/>
      <p:bldP spid="274444" grpId="0" autoUpdateAnimBg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例題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95E2-CB68-42E6-A5AF-574D39E186A5}" type="slidenum">
              <a:rPr lang="en-US" altLang="zh-CN" smtClean="0"/>
              <a:pPr/>
              <a:t>68</a:t>
            </a:fld>
            <a:endParaRPr lang="en-US" altLang="zh-CN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0396745"/>
              </p:ext>
            </p:extLst>
          </p:nvPr>
        </p:nvGraphicFramePr>
        <p:xfrm>
          <a:off x="521550" y="1700227"/>
          <a:ext cx="8298922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705040" imgH="241200" progId="Equation.3">
                  <p:embed/>
                </p:oleObj>
              </mc:Choice>
              <mc:Fallback>
                <p:oleObj name="公式" r:id="rId2" imgW="270504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550" y="1700227"/>
                        <a:ext cx="8298922" cy="687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5060444"/>
              </p:ext>
            </p:extLst>
          </p:nvPr>
        </p:nvGraphicFramePr>
        <p:xfrm>
          <a:off x="559269" y="4292600"/>
          <a:ext cx="2500563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863280" imgH="164880" progId="Equation.3">
                  <p:embed/>
                </p:oleObj>
              </mc:Choice>
              <mc:Fallback>
                <p:oleObj name="公式" r:id="rId4" imgW="863280" imgH="164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269" y="4292600"/>
                        <a:ext cx="2500563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标题 1"/>
          <p:cNvSpPr txBox="1">
            <a:spLocks/>
          </p:cNvSpPr>
          <p:nvPr/>
        </p:nvSpPr>
        <p:spPr>
          <a:xfrm>
            <a:off x="670619" y="3140969"/>
            <a:ext cx="1454814" cy="985738"/>
          </a:xfrm>
          <a:prstGeom prst="rect">
            <a:avLst/>
          </a:prstGeom>
        </p:spPr>
        <p:txBody>
          <a:bodyPr bIns="91440" anchor="b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b="1" kern="12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  <a:cs typeface="+mj-cs"/>
              </a:defRPr>
            </a:lvl1pPr>
          </a:lstStyle>
          <a:p>
            <a:r>
              <a:rPr lang="zh-CN" altLang="en-US" dirty="0"/>
              <a:t>答案：</a:t>
            </a:r>
          </a:p>
        </p:txBody>
      </p:sp>
    </p:spTree>
    <p:extLst>
      <p:ext uri="{BB962C8B-B14F-4D97-AF65-F5344CB8AC3E}">
        <p14:creationId xmlns:p14="http://schemas.microsoft.com/office/powerpoint/2010/main" val="2749832385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邏輯代數（</a:t>
            </a:r>
            <a:r>
              <a:rPr lang="en-US" altLang="zh-CN" dirty="0"/>
              <a:t>28</a:t>
            </a:r>
            <a:r>
              <a:rPr lang="zh-CN" altLang="en-US" dirty="0"/>
              <a:t>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87B13-363F-4F92-995A-87E0162AE83E}" type="slidenum">
              <a:rPr lang="en-US" altLang="zh-CN"/>
              <a:pPr/>
              <a:t>69</a:t>
            </a:fld>
            <a:endParaRPr lang="en-US" altLang="zh-CN" dirty="0"/>
          </a:p>
        </p:txBody>
      </p:sp>
      <p:sp>
        <p:nvSpPr>
          <p:cNvPr id="12800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996" y="1412776"/>
            <a:ext cx="8384468" cy="4607024"/>
          </a:xfrm>
        </p:spPr>
        <p:txBody>
          <a:bodyPr/>
          <a:lstStyle/>
          <a:p>
            <a:r>
              <a:rPr lang="en-US" altLang="zh-CN" dirty="0"/>
              <a:t>2.2 </a:t>
            </a:r>
            <a:r>
              <a:rPr lang="zh-CN" altLang="en-US" dirty="0"/>
              <a:t>公式法化簡邏輯函數</a:t>
            </a:r>
          </a:p>
          <a:p>
            <a:pPr lvl="1"/>
            <a:r>
              <a:rPr lang="zh-CN" altLang="en-US" dirty="0"/>
              <a:t>與或運算式化簡</a:t>
            </a:r>
          </a:p>
          <a:p>
            <a:pPr lvl="1"/>
            <a:r>
              <a:rPr lang="zh-CN" altLang="en-US" dirty="0">
                <a:solidFill>
                  <a:srgbClr val="00B0F0"/>
                </a:solidFill>
              </a:rPr>
              <a:t>或與運算式化簡</a:t>
            </a:r>
          </a:p>
          <a:p>
            <a:pPr lvl="1"/>
            <a:r>
              <a:rPr lang="zh-CN" altLang="en-US" dirty="0"/>
              <a:t>其他形式邏輯函數化簡</a:t>
            </a:r>
          </a:p>
        </p:txBody>
      </p:sp>
    </p:spTree>
    <p:extLst>
      <p:ext uri="{BB962C8B-B14F-4D97-AF65-F5344CB8AC3E}">
        <p14:creationId xmlns:p14="http://schemas.microsoft.com/office/powerpoint/2010/main" val="123015581"/>
      </p:ext>
    </p:extLst>
  </p:cSld>
  <p:clrMapOvr>
    <a:masterClrMapping/>
  </p:clrMapOvr>
  <p:transition spd="slow">
    <p:pull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86" name="Rectangle 10"/>
          <p:cNvSpPr>
            <a:spLocks noChangeArrowheads="1"/>
          </p:cNvSpPr>
          <p:nvPr/>
        </p:nvSpPr>
        <p:spPr bwMode="auto">
          <a:xfrm>
            <a:off x="467544" y="2819414"/>
            <a:ext cx="7272808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lvl="1">
              <a:spcBef>
                <a:spcPct val="50000"/>
              </a:spcBef>
              <a:buClr>
                <a:schemeClr val="folHlink"/>
              </a:buClr>
            </a:pPr>
            <a:endParaRPr lang="en-US" altLang="zh-CN" sz="2800" dirty="0">
              <a:latin typeface="华文新魏" pitchFamily="2" charset="-122"/>
              <a:ea typeface="华文新魏" pitchFamily="2" charset="-122"/>
            </a:endParaRPr>
          </a:p>
          <a:p>
            <a:pPr lvl="1">
              <a:spcBef>
                <a:spcPct val="50000"/>
              </a:spcBef>
              <a:buClr>
                <a:schemeClr val="folHlink"/>
              </a:buClr>
            </a:pPr>
            <a:r>
              <a:rPr lang="zh-CN" altLang="en-US" sz="2800" dirty="0">
                <a:latin typeface="华文新魏" pitchFamily="2" charset="-122"/>
                <a:ea typeface="华文新魏" pitchFamily="2" charset="-122"/>
              </a:rPr>
              <a:t>結果要求：化簡結果仍為或與運算式</a:t>
            </a:r>
          </a:p>
        </p:txBody>
      </p:sp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邏輯代數（</a:t>
            </a:r>
            <a:r>
              <a:rPr lang="en-US" altLang="zh-CN" dirty="0"/>
              <a:t>29</a:t>
            </a:r>
            <a:r>
              <a:rPr lang="zh-CN" altLang="en-US" dirty="0"/>
              <a:t>）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70EC5-C1E6-4626-AF22-23CF2CB891FB}" type="slidenum">
              <a:rPr lang="en-US" altLang="zh-CN"/>
              <a:pPr/>
              <a:t>70</a:t>
            </a:fld>
            <a:endParaRPr lang="en-US" altLang="zh-CN" dirty="0"/>
          </a:p>
        </p:txBody>
      </p:sp>
      <p:sp>
        <p:nvSpPr>
          <p:cNvPr id="12697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996" y="1412776"/>
            <a:ext cx="8384468" cy="4607024"/>
          </a:xfrm>
        </p:spPr>
        <p:txBody>
          <a:bodyPr/>
          <a:lstStyle/>
          <a:p>
            <a:r>
              <a:rPr lang="zh-CN" altLang="en-US" dirty="0"/>
              <a:t>或與運算式化簡</a:t>
            </a:r>
          </a:p>
          <a:p>
            <a:pPr lvl="1"/>
            <a:r>
              <a:rPr lang="zh-CN" altLang="en-US" dirty="0"/>
              <a:t>或與運算式：</a:t>
            </a:r>
          </a:p>
        </p:txBody>
      </p:sp>
      <p:graphicFrame>
        <p:nvGraphicFramePr>
          <p:cNvPr id="12698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9843767"/>
              </p:ext>
            </p:extLst>
          </p:nvPr>
        </p:nvGraphicFramePr>
        <p:xfrm>
          <a:off x="2013421" y="2708920"/>
          <a:ext cx="5510907" cy="63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044440" imgH="241200" progId="Equation.3">
                  <p:embed/>
                </p:oleObj>
              </mc:Choice>
              <mc:Fallback>
                <p:oleObj name="公式" r:id="rId2" imgW="204444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3421" y="2708920"/>
                        <a:ext cx="5510907" cy="6365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6985" name="Rectangle 9"/>
          <p:cNvSpPr>
            <a:spLocks noChangeArrowheads="1"/>
          </p:cNvSpPr>
          <p:nvPr/>
        </p:nvSpPr>
        <p:spPr bwMode="auto">
          <a:xfrm>
            <a:off x="467544" y="3425840"/>
            <a:ext cx="8136904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lvl="1">
              <a:spcBef>
                <a:spcPct val="50000"/>
              </a:spcBef>
              <a:buClr>
                <a:schemeClr val="folHlink"/>
              </a:buClr>
            </a:pPr>
            <a:endParaRPr lang="en-US" altLang="zh-CN" sz="2800" dirty="0">
              <a:latin typeface="华文新魏" pitchFamily="2" charset="-122"/>
              <a:ea typeface="华文新魏" pitchFamily="2" charset="-122"/>
            </a:endParaRPr>
          </a:p>
          <a:p>
            <a:pPr lvl="1">
              <a:spcBef>
                <a:spcPct val="50000"/>
              </a:spcBef>
              <a:buClr>
                <a:schemeClr val="folHlink"/>
              </a:buClr>
            </a:pPr>
            <a:r>
              <a:rPr lang="zh-CN" altLang="en-US" sz="2800" dirty="0">
                <a:latin typeface="华文新魏" pitchFamily="2" charset="-122"/>
                <a:ea typeface="华文新魏" pitchFamily="2" charset="-122"/>
              </a:rPr>
              <a:t>最簡條件：</a:t>
            </a:r>
          </a:p>
          <a:p>
            <a:pPr lvl="1">
              <a:spcBef>
                <a:spcPct val="50000"/>
              </a:spcBef>
              <a:buClr>
                <a:schemeClr val="folHlink"/>
              </a:buClr>
              <a:buFont typeface="Wingdings" pitchFamily="2" charset="2"/>
              <a:buNone/>
            </a:pPr>
            <a:r>
              <a:rPr lang="zh-CN" altLang="en-US" sz="2800" dirty="0">
                <a:latin typeface="华文新魏" pitchFamily="2" charset="-122"/>
                <a:ea typeface="华文新魏" pitchFamily="2" charset="-122"/>
              </a:rPr>
              <a:t>	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</a:rPr>
              <a:t>(1)</a:t>
            </a:r>
            <a:r>
              <a:rPr lang="zh-CN" altLang="en-US" sz="2800" dirty="0">
                <a:latin typeface="华文新魏" pitchFamily="2" charset="-122"/>
                <a:ea typeface="华文新魏" pitchFamily="2" charset="-122"/>
              </a:rPr>
              <a:t>、或項個數最少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</a:rPr>
              <a:t>(</a:t>
            </a:r>
            <a:r>
              <a:rPr lang="zh-CN" altLang="en-US" sz="2800" dirty="0">
                <a:latin typeface="华文新魏" pitchFamily="2" charset="-122"/>
                <a:ea typeface="华文新魏" pitchFamily="2" charset="-122"/>
              </a:rPr>
              <a:t>或閘用的最少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</a:rPr>
              <a:t>)</a:t>
            </a:r>
          </a:p>
          <a:p>
            <a:pPr lvl="1">
              <a:spcBef>
                <a:spcPct val="50000"/>
              </a:spcBef>
              <a:buClr>
                <a:schemeClr val="folHlink"/>
              </a:buClr>
              <a:buFont typeface="Wingdings" pitchFamily="2" charset="2"/>
              <a:buNone/>
            </a:pPr>
            <a:r>
              <a:rPr lang="en-US" altLang="zh-CN" sz="2800" dirty="0">
                <a:latin typeface="华文新魏" pitchFamily="2" charset="-122"/>
                <a:ea typeface="华文新魏" pitchFamily="2" charset="-122"/>
              </a:rPr>
              <a:t>	(2)</a:t>
            </a:r>
            <a:r>
              <a:rPr lang="zh-CN" altLang="en-US" sz="2800" dirty="0">
                <a:latin typeface="华文新魏" pitchFamily="2" charset="-122"/>
                <a:ea typeface="华文新魏" pitchFamily="2" charset="-122"/>
              </a:rPr>
              <a:t>、在滿足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</a:rPr>
              <a:t>1</a:t>
            </a:r>
            <a:r>
              <a:rPr lang="zh-CN" altLang="en-US" sz="2800" dirty="0">
                <a:latin typeface="华文新魏" pitchFamily="2" charset="-122"/>
                <a:ea typeface="华文新魏" pitchFamily="2" charset="-122"/>
              </a:rPr>
              <a:t>的條件下，或項中變數數最少</a:t>
            </a:r>
          </a:p>
        </p:txBody>
      </p:sp>
    </p:spTree>
    <p:extLst>
      <p:ext uri="{BB962C8B-B14F-4D97-AF65-F5344CB8AC3E}">
        <p14:creationId xmlns:p14="http://schemas.microsoft.com/office/powerpoint/2010/main" val="2168234127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69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69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26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6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86" grpId="0" autoUpdateAnimBg="0"/>
      <p:bldP spid="126985" grpId="0" autoUpdateAnimBg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例題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95E2-CB68-42E6-A5AF-574D39E186A5}" type="slidenum">
              <a:rPr lang="en-US" altLang="zh-CN" smtClean="0"/>
              <a:pPr/>
              <a:t>71</a:t>
            </a:fld>
            <a:endParaRPr lang="en-US" altLang="zh-CN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6733636"/>
              </p:ext>
            </p:extLst>
          </p:nvPr>
        </p:nvGraphicFramePr>
        <p:xfrm>
          <a:off x="395536" y="1628800"/>
          <a:ext cx="8496944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136680" imgH="241200" progId="Equation.3">
                  <p:embed/>
                </p:oleObj>
              </mc:Choice>
              <mc:Fallback>
                <p:oleObj name="公式" r:id="rId2" imgW="3136680" imgH="241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1628800"/>
                        <a:ext cx="8496944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标题 1"/>
          <p:cNvSpPr txBox="1">
            <a:spLocks/>
          </p:cNvSpPr>
          <p:nvPr/>
        </p:nvSpPr>
        <p:spPr>
          <a:xfrm>
            <a:off x="1118964" y="3893171"/>
            <a:ext cx="1454814" cy="985738"/>
          </a:xfrm>
          <a:prstGeom prst="rect">
            <a:avLst/>
          </a:prstGeom>
        </p:spPr>
        <p:txBody>
          <a:bodyPr bIns="91440" anchor="b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b="1" kern="12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  <a:cs typeface="+mj-cs"/>
              </a:defRPr>
            </a:lvl1pPr>
          </a:lstStyle>
          <a:p>
            <a:r>
              <a:rPr lang="zh-CN" altLang="en-US" dirty="0"/>
              <a:t>答案：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7269405"/>
              </p:ext>
            </p:extLst>
          </p:nvPr>
        </p:nvGraphicFramePr>
        <p:xfrm>
          <a:off x="1114426" y="5008563"/>
          <a:ext cx="5401790" cy="652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777680" imgH="228600" progId="Equation.3">
                  <p:embed/>
                </p:oleObj>
              </mc:Choice>
              <mc:Fallback>
                <p:oleObj name="公式" r:id="rId4" imgW="1777680" imgH="228600" progId="Equation.3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4426" y="5008563"/>
                        <a:ext cx="5401790" cy="652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43563600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邏輯代數（</a:t>
            </a:r>
            <a:r>
              <a:rPr lang="en-US" altLang="zh-CN" dirty="0"/>
              <a:t>30</a:t>
            </a:r>
            <a:r>
              <a:rPr lang="zh-CN" altLang="en-US" dirty="0"/>
              <a:t>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5401D-3A86-457E-809D-6B790E888828}" type="slidenum">
              <a:rPr lang="en-US" altLang="zh-CN"/>
              <a:pPr/>
              <a:t>72</a:t>
            </a:fld>
            <a:endParaRPr lang="en-US" altLang="zh-CN" dirty="0"/>
          </a:p>
        </p:txBody>
      </p:sp>
      <p:sp>
        <p:nvSpPr>
          <p:cNvPr id="13414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996" y="1412776"/>
            <a:ext cx="8384468" cy="4607024"/>
          </a:xfrm>
        </p:spPr>
        <p:txBody>
          <a:bodyPr/>
          <a:lstStyle/>
          <a:p>
            <a:r>
              <a:rPr lang="en-US" altLang="zh-CN" dirty="0"/>
              <a:t>2.2 </a:t>
            </a:r>
            <a:r>
              <a:rPr lang="zh-CN" altLang="en-US" dirty="0"/>
              <a:t>公式法化簡邏輯函數</a:t>
            </a:r>
          </a:p>
          <a:p>
            <a:pPr lvl="1"/>
            <a:r>
              <a:rPr lang="zh-CN" altLang="en-US" dirty="0"/>
              <a:t>與或運算式化簡</a:t>
            </a:r>
          </a:p>
          <a:p>
            <a:pPr lvl="1"/>
            <a:r>
              <a:rPr lang="zh-CN" altLang="en-US" dirty="0"/>
              <a:t>或與運算式化簡</a:t>
            </a:r>
          </a:p>
          <a:p>
            <a:pPr lvl="1"/>
            <a:r>
              <a:rPr lang="zh-CN" altLang="en-US" dirty="0">
                <a:solidFill>
                  <a:srgbClr val="00B0F0"/>
                </a:solidFill>
              </a:rPr>
              <a:t>其他形式邏輯函數化簡</a:t>
            </a:r>
          </a:p>
          <a:p>
            <a:endParaRPr lang="en-US" altLang="zh-CN" sz="2600" dirty="0">
              <a:solidFill>
                <a:schemeClr val="fol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7987938"/>
      </p:ext>
    </p:extLst>
  </p:cSld>
  <p:clrMapOvr>
    <a:masterClrMapping/>
  </p:clrMapOvr>
  <p:transition spd="slow">
    <p:pull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邏輯代數（</a:t>
            </a:r>
            <a:r>
              <a:rPr lang="en-US" altLang="zh-CN" dirty="0"/>
              <a:t>31</a:t>
            </a:r>
            <a:r>
              <a:rPr lang="zh-CN" altLang="en-US" dirty="0"/>
              <a:t>）</a:t>
            </a: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DD476-B98B-4463-A154-EBB565DEDDCA}" type="slidenum">
              <a:rPr lang="en-US" altLang="zh-CN"/>
              <a:pPr/>
              <a:t>73</a:t>
            </a:fld>
            <a:endParaRPr lang="en-US" altLang="zh-CN" dirty="0"/>
          </a:p>
        </p:txBody>
      </p:sp>
      <p:sp>
        <p:nvSpPr>
          <p:cNvPr id="13517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996" y="1412776"/>
            <a:ext cx="8384468" cy="4607024"/>
          </a:xfrm>
        </p:spPr>
        <p:txBody>
          <a:bodyPr/>
          <a:lstStyle/>
          <a:p>
            <a:r>
              <a:rPr lang="en-US" altLang="zh-CN" dirty="0"/>
              <a:t>2.2 </a:t>
            </a:r>
            <a:r>
              <a:rPr lang="zh-CN" altLang="en-US" dirty="0"/>
              <a:t>公式法化簡邏輯函數</a:t>
            </a:r>
          </a:p>
          <a:p>
            <a:pPr lvl="1"/>
            <a:r>
              <a:rPr lang="zh-CN" altLang="en-US" dirty="0"/>
              <a:t>其他形式邏輯函數化簡</a:t>
            </a:r>
          </a:p>
          <a:p>
            <a:pPr lvl="2">
              <a:buNone/>
            </a:pPr>
            <a:r>
              <a:rPr lang="zh-CN" altLang="en-US" dirty="0"/>
              <a:t>轉換為與或運算式，再化簡</a:t>
            </a:r>
          </a:p>
        </p:txBody>
      </p:sp>
      <p:graphicFrame>
        <p:nvGraphicFramePr>
          <p:cNvPr id="13517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8685608"/>
              </p:ext>
            </p:extLst>
          </p:nvPr>
        </p:nvGraphicFramePr>
        <p:xfrm>
          <a:off x="1316153" y="5638800"/>
          <a:ext cx="2825735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68200" imgH="215640" progId="Equation.3">
                  <p:embed/>
                </p:oleObj>
              </mc:Choice>
              <mc:Fallback>
                <p:oleObj name="公式" r:id="rId2" imgW="11682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6153" y="5638800"/>
                        <a:ext cx="2825735" cy="4460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5044064"/>
              </p:ext>
            </p:extLst>
          </p:nvPr>
        </p:nvGraphicFramePr>
        <p:xfrm>
          <a:off x="1014981" y="3187714"/>
          <a:ext cx="3467948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434960" imgH="228600" progId="Equation.3">
                  <p:embed/>
                </p:oleObj>
              </mc:Choice>
              <mc:Fallback>
                <p:oleObj name="公式" r:id="rId4" imgW="143496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4981" y="3187714"/>
                        <a:ext cx="3467948" cy="4730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7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0270938"/>
              </p:ext>
            </p:extLst>
          </p:nvPr>
        </p:nvGraphicFramePr>
        <p:xfrm>
          <a:off x="1316143" y="3657615"/>
          <a:ext cx="377729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562040" imgH="215640" progId="Equation.3">
                  <p:embed/>
                </p:oleObj>
              </mc:Choice>
              <mc:Fallback>
                <p:oleObj name="公式" r:id="rId6" imgW="156204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6143" y="3657615"/>
                        <a:ext cx="3777295" cy="4476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7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3071307"/>
              </p:ext>
            </p:extLst>
          </p:nvPr>
        </p:nvGraphicFramePr>
        <p:xfrm>
          <a:off x="1316143" y="4114814"/>
          <a:ext cx="610916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527200" imgH="241200" progId="Equation.3">
                  <p:embed/>
                </p:oleObj>
              </mc:Choice>
              <mc:Fallback>
                <p:oleObj name="公式" r:id="rId8" imgW="252720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6143" y="4114814"/>
                        <a:ext cx="6109160" cy="4984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7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8494037"/>
              </p:ext>
            </p:extLst>
          </p:nvPr>
        </p:nvGraphicFramePr>
        <p:xfrm>
          <a:off x="1316142" y="4648200"/>
          <a:ext cx="6507152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692080" imgH="215640" progId="Equation.3">
                  <p:embed/>
                </p:oleObj>
              </mc:Choice>
              <mc:Fallback>
                <p:oleObj name="公式" r:id="rId10" imgW="26920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6142" y="4648200"/>
                        <a:ext cx="6507152" cy="4460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7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7043554"/>
              </p:ext>
            </p:extLst>
          </p:nvPr>
        </p:nvGraphicFramePr>
        <p:xfrm>
          <a:off x="1316141" y="5105415"/>
          <a:ext cx="7216299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984400" imgH="241200" progId="Equation.3">
                  <p:embed/>
                </p:oleObj>
              </mc:Choice>
              <mc:Fallback>
                <p:oleObj name="公式" r:id="rId12" imgW="298440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6141" y="5105415"/>
                        <a:ext cx="7216299" cy="4984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7366416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5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5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5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5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35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35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邏輯代數（</a:t>
            </a:r>
            <a:r>
              <a:rPr lang="en-US" altLang="zh-CN" dirty="0"/>
              <a:t>32</a:t>
            </a:r>
            <a:r>
              <a:rPr lang="zh-CN" altLang="en-US" dirty="0"/>
              <a:t>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A5744-6DD2-43DE-94E0-6B6750F6F054}" type="slidenum">
              <a:rPr lang="en-US" altLang="zh-CN"/>
              <a:pPr/>
              <a:t>74</a:t>
            </a:fld>
            <a:endParaRPr lang="en-US" altLang="zh-CN" dirty="0"/>
          </a:p>
        </p:txBody>
      </p:sp>
      <p:sp>
        <p:nvSpPr>
          <p:cNvPr id="27955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63996" y="1412776"/>
            <a:ext cx="8384468" cy="4607024"/>
          </a:xfrm>
        </p:spPr>
        <p:txBody>
          <a:bodyPr>
            <a:normAutofit/>
          </a:bodyPr>
          <a:lstStyle/>
          <a:p>
            <a:pPr marL="609606" indent="-609606"/>
            <a:r>
              <a:rPr lang="en-US" altLang="zh-CN" dirty="0"/>
              <a:t>2.2 </a:t>
            </a:r>
            <a:r>
              <a:rPr lang="zh-CN" altLang="en-US" dirty="0"/>
              <a:t>公式法化簡邏輯函數</a:t>
            </a:r>
            <a:br>
              <a:rPr lang="en-US" altLang="zh-CN" dirty="0"/>
            </a:br>
            <a:r>
              <a:rPr lang="en-US" altLang="zh-CN" dirty="0"/>
              <a:t>——</a:t>
            </a:r>
            <a:r>
              <a:rPr lang="zh-CN" altLang="en-US" dirty="0"/>
              <a:t>小結</a:t>
            </a:r>
            <a:endParaRPr lang="en-US" altLang="zh-CN" dirty="0"/>
          </a:p>
          <a:p>
            <a:pPr marL="609606" indent="-609606"/>
            <a:endParaRPr lang="zh-CN" altLang="en-US" dirty="0"/>
          </a:p>
          <a:p>
            <a:pPr marL="952509" lvl="1" indent="-495305">
              <a:buClr>
                <a:schemeClr val="tx1"/>
              </a:buClr>
              <a:buFont typeface="Wingdings" pitchFamily="2" charset="2"/>
              <a:buAutoNum type="arabicParenR"/>
            </a:pPr>
            <a:r>
              <a:rPr lang="zh-CN" altLang="en-US" dirty="0"/>
              <a:t>與或運算式化簡：利用基本公式化簡</a:t>
            </a:r>
          </a:p>
          <a:p>
            <a:pPr marL="952509" lvl="1" indent="-495305">
              <a:buClr>
                <a:schemeClr val="tx1"/>
              </a:buClr>
              <a:buFont typeface="Wingdings" pitchFamily="2" charset="2"/>
              <a:buAutoNum type="arabicParenR"/>
            </a:pPr>
            <a:r>
              <a:rPr lang="zh-CN" altLang="en-US" dirty="0"/>
              <a:t>其他形式邏輯函數化簡：轉換為“與或”運算式，再化簡</a:t>
            </a:r>
          </a:p>
        </p:txBody>
      </p:sp>
    </p:spTree>
    <p:extLst>
      <p:ext uri="{BB962C8B-B14F-4D97-AF65-F5344CB8AC3E}">
        <p14:creationId xmlns:p14="http://schemas.microsoft.com/office/powerpoint/2010/main" val="3896301910"/>
      </p:ext>
    </p:extLst>
  </p:cSld>
  <p:clrMapOvr>
    <a:masterClrMapping/>
  </p:clrMapOvr>
  <p:transition spd="slow">
    <p:pull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95E2-CB68-42E6-A5AF-574D39E186A5}" type="slidenum">
              <a:rPr lang="en-US" altLang="zh-CN" smtClean="0"/>
              <a:pPr/>
              <a:t>75</a:t>
            </a:fld>
            <a:endParaRPr lang="en-US" altLang="zh-CN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521550" y="1460579"/>
            <a:ext cx="3114346" cy="864096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altLang="zh-CN" sz="2800" dirty="0"/>
              <a:t>2.6</a:t>
            </a:r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）～（</a:t>
            </a:r>
            <a:r>
              <a:rPr lang="en-US" altLang="zh-CN" sz="2800" dirty="0"/>
              <a:t>6</a:t>
            </a:r>
            <a:r>
              <a:rPr lang="zh-CN" altLang="en-US" sz="2800" dirty="0"/>
              <a:t>）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作業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F8E94481-B2BE-4A34-9D9F-DDEC72BDF3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165"/>
          <a:stretch/>
        </p:blipFill>
        <p:spPr bwMode="auto">
          <a:xfrm>
            <a:off x="809581" y="2095936"/>
            <a:ext cx="6070499" cy="356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64016934"/>
      </p:ext>
    </p:extLst>
  </p:cSld>
  <p:clrMapOvr>
    <a:masterClrMapping/>
  </p:clrMapOvr>
  <p:transition spd="slow">
    <p:pull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平衡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平衡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平衡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模板</Template>
  <TotalTime>19788</TotalTime>
  <Words>5476</Words>
  <Application>Microsoft Office PowerPoint</Application>
  <PresentationFormat>Affichage à l'écran (4:3)</PresentationFormat>
  <Paragraphs>953</Paragraphs>
  <Slides>75</Slides>
  <Notes>6</Notes>
  <HiddenSlides>0</HiddenSlides>
  <MMClips>0</MMClips>
  <ScaleCrop>false</ScaleCrop>
  <HeadingPairs>
    <vt:vector size="8" baseType="variant">
      <vt:variant>
        <vt:lpstr>Polices utilisées</vt:lpstr>
      </vt:variant>
      <vt:variant>
        <vt:i4>15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2</vt:i4>
      </vt:variant>
      <vt:variant>
        <vt:lpstr>Titres des diapositives</vt:lpstr>
      </vt:variant>
      <vt:variant>
        <vt:i4>75</vt:i4>
      </vt:variant>
    </vt:vector>
  </HeadingPairs>
  <TitlesOfParts>
    <vt:vector size="93" baseType="lpstr">
      <vt:lpstr>华文中宋</vt:lpstr>
      <vt:lpstr>华文新魏</vt:lpstr>
      <vt:lpstr>华文楷体</vt:lpstr>
      <vt:lpstr>宋体</vt:lpstr>
      <vt:lpstr>方正姚体</vt:lpstr>
      <vt:lpstr>Arial</vt:lpstr>
      <vt:lpstr>Cambria Math</vt:lpstr>
      <vt:lpstr>Courier New</vt:lpstr>
      <vt:lpstr>Franklin Gothic Book</vt:lpstr>
      <vt:lpstr>Perpetua</vt:lpstr>
      <vt:lpstr>Symbol</vt:lpstr>
      <vt:lpstr>Tahoma</vt:lpstr>
      <vt:lpstr>Times New Roman</vt:lpstr>
      <vt:lpstr>Wingdings</vt:lpstr>
      <vt:lpstr>Wingdings 2</vt:lpstr>
      <vt:lpstr>平衡</vt:lpstr>
      <vt:lpstr>Equation</vt:lpstr>
      <vt:lpstr>公式</vt:lpstr>
      <vt:lpstr>數位邏輯電路</vt:lpstr>
      <vt:lpstr>課程基本情況（5）</vt:lpstr>
      <vt:lpstr>作業</vt:lpstr>
      <vt:lpstr>作業</vt:lpstr>
      <vt:lpstr>第一章 數制和碼制</vt:lpstr>
      <vt:lpstr>數制和碼制（1）</vt:lpstr>
      <vt:lpstr>數制和碼制（2）</vt:lpstr>
      <vt:lpstr>數制和碼制（3）</vt:lpstr>
      <vt:lpstr>數制和碼制（4）</vt:lpstr>
      <vt:lpstr>數制和碼制（5）</vt:lpstr>
      <vt:lpstr>數制和碼制（6）</vt:lpstr>
      <vt:lpstr>數制和碼制（7）</vt:lpstr>
      <vt:lpstr>數制和碼制（8）</vt:lpstr>
      <vt:lpstr>這是什麼數制和碼制？</vt:lpstr>
      <vt:lpstr>數制和碼制（9）</vt:lpstr>
      <vt:lpstr>數制和碼制（10）</vt:lpstr>
      <vt:lpstr>基數轉換中常用的數</vt:lpstr>
      <vt:lpstr>數制和碼制（11）</vt:lpstr>
      <vt:lpstr>數制和碼制（12）</vt:lpstr>
      <vt:lpstr>Présentation PowerPoint</vt:lpstr>
      <vt:lpstr>數制和碼制（13）</vt:lpstr>
      <vt:lpstr>數制和碼制（14）</vt:lpstr>
      <vt:lpstr>數制和碼制（15）</vt:lpstr>
      <vt:lpstr>數制和碼制（16）</vt:lpstr>
      <vt:lpstr>數制和碼制（17）</vt:lpstr>
      <vt:lpstr>數制和碼制（18）</vt:lpstr>
      <vt:lpstr>數制和碼制（19）</vt:lpstr>
      <vt:lpstr>數制和碼制（20）</vt:lpstr>
      <vt:lpstr>數制和碼制（21）</vt:lpstr>
      <vt:lpstr>數制和碼制（22）</vt:lpstr>
      <vt:lpstr>數制和碼制（23）</vt:lpstr>
      <vt:lpstr>數制和碼制（24）</vt:lpstr>
      <vt:lpstr>數制和碼制（25）</vt:lpstr>
      <vt:lpstr>數制和碼制——小結</vt:lpstr>
      <vt:lpstr>第二章 邏輯代數（1）</vt:lpstr>
      <vt:lpstr>第二章 邏輯代數（2）</vt:lpstr>
      <vt:lpstr>第二章 邏輯代數（3）</vt:lpstr>
      <vt:lpstr>第二章 邏輯代數（4）</vt:lpstr>
      <vt:lpstr>第二章 邏輯代數（4）</vt:lpstr>
      <vt:lpstr>第二章 邏輯代數（5）</vt:lpstr>
      <vt:lpstr>第二章 邏輯代數（6）</vt:lpstr>
      <vt:lpstr>第二章 邏輯代數（7）</vt:lpstr>
      <vt:lpstr>第二章 邏輯代數（8）</vt:lpstr>
      <vt:lpstr>第二章 邏輯代數（9）</vt:lpstr>
      <vt:lpstr>第二章 邏輯代數（10）</vt:lpstr>
      <vt:lpstr>第二章 邏輯代數（11）</vt:lpstr>
      <vt:lpstr>第二章 邏輯代數（12）</vt:lpstr>
      <vt:lpstr>第二章 邏輯代數（13）</vt:lpstr>
      <vt:lpstr>第二章 邏輯代數（14）</vt:lpstr>
      <vt:lpstr>第二章 邏輯代數（15）</vt:lpstr>
      <vt:lpstr>第二章 邏輯代數（13）</vt:lpstr>
      <vt:lpstr>第二章 邏輯代數（14）</vt:lpstr>
      <vt:lpstr>第二章 邏輯代數（15）</vt:lpstr>
      <vt:lpstr>第二章 邏輯代數（16）</vt:lpstr>
      <vt:lpstr>第二章 邏輯代數（17）</vt:lpstr>
      <vt:lpstr>第二章 邏輯代數（18）</vt:lpstr>
      <vt:lpstr>第二章 邏輯代數（19）</vt:lpstr>
      <vt:lpstr>第二章 邏輯代數（20）</vt:lpstr>
      <vt:lpstr>第二章 邏輯代數（21）</vt:lpstr>
      <vt:lpstr>第二章 邏輯代數（22）</vt:lpstr>
      <vt:lpstr>第二章 邏輯代數（23）</vt:lpstr>
      <vt:lpstr>第二章 邏輯代數（24）</vt:lpstr>
      <vt:lpstr>第二章 邏輯代數（25）</vt:lpstr>
      <vt:lpstr>第二章 邏輯代數（26）</vt:lpstr>
      <vt:lpstr>第二章 邏輯代數（27）</vt:lpstr>
      <vt:lpstr>第二章 邏輯代數（28）</vt:lpstr>
      <vt:lpstr>第二章 邏輯代數（29）</vt:lpstr>
      <vt:lpstr>例題</vt:lpstr>
      <vt:lpstr>第二章 邏輯代數（28）</vt:lpstr>
      <vt:lpstr>第二章 邏輯代數（29）</vt:lpstr>
      <vt:lpstr>例題</vt:lpstr>
      <vt:lpstr>第二章 邏輯代數（30）</vt:lpstr>
      <vt:lpstr>第二章 邏輯代數（31）</vt:lpstr>
      <vt:lpstr>第二章 邏輯代數（32）</vt:lpstr>
      <vt:lpstr>作業</vt:lpstr>
    </vt:vector>
  </TitlesOfParts>
  <Company>cs-lab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第二章  逻辑代数及逻辑函数的化简</dc:title>
  <dc:creator>cs-lab23</dc:creator>
  <cp:lastModifiedBy>Terry C.</cp:lastModifiedBy>
  <cp:revision>310</cp:revision>
  <dcterms:created xsi:type="dcterms:W3CDTF">2002-01-07T08:53:03Z</dcterms:created>
  <dcterms:modified xsi:type="dcterms:W3CDTF">2025-03-07T06:40:16Z</dcterms:modified>
</cp:coreProperties>
</file>