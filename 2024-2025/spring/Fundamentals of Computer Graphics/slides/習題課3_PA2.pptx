
<file path=[Content_Types].xml><?xml version="1.0" encoding="utf-8"?>
<Types xmlns="http://schemas.openxmlformats.org/package/2006/content-types">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449" r:id="rId5"/>
    <p:sldId id="450" r:id="rId6"/>
    <p:sldId id="442" r:id="rId7"/>
    <p:sldId id="443" r:id="rId8"/>
    <p:sldId id="444" r:id="rId9"/>
    <p:sldId id="445" r:id="rId10"/>
    <p:sldId id="423" r:id="rId11"/>
    <p:sldId id="424" r:id="rId12"/>
    <p:sldId id="446" r:id="rId13"/>
    <p:sldId id="279" r:id="rId14"/>
    <p:sldId id="425" r:id="rId15"/>
    <p:sldId id="426" r:id="rId16"/>
    <p:sldId id="452" r:id="rId17"/>
    <p:sldId id="427" r:id="rId18"/>
    <p:sldId id="430" r:id="rId19"/>
    <p:sldId id="431" r:id="rId20"/>
    <p:sldId id="428" r:id="rId21"/>
    <p:sldId id="429" r:id="rId22"/>
    <p:sldId id="317" r:id="rId23"/>
    <p:sldId id="411" r:id="rId24"/>
    <p:sldId id="349" r:id="rId25"/>
    <p:sldId id="410" r:id="rId26"/>
    <p:sldId id="412" r:id="rId27"/>
    <p:sldId id="351" r:id="rId28"/>
    <p:sldId id="353" r:id="rId29"/>
    <p:sldId id="396" r:id="rId30"/>
    <p:sldId id="456" r:id="rId31"/>
    <p:sldId id="435" r:id="rId32"/>
    <p:sldId id="457" r:id="rId33"/>
    <p:sldId id="436" r:id="rId34"/>
    <p:sldId id="438" r:id="rId35"/>
    <p:sldId id="451" r:id="rId36"/>
    <p:sldId id="365" r:id="rId37"/>
    <p:sldId id="366" r:id="rId38"/>
    <p:sldId id="400" r:id="rId39"/>
    <p:sldId id="367" r:id="rId40"/>
    <p:sldId id="439" r:id="rId41"/>
    <p:sldId id="441" r:id="rId42"/>
    <p:sldId id="447" r:id="rId43"/>
    <p:sldId id="440" r:id="rId44"/>
    <p:sldId id="448" r:id="rId45"/>
    <p:sldId id="395" r:id="rId4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47" autoAdjust="0"/>
    <p:restoredTop sz="83666" autoAdjust="0"/>
  </p:normalViewPr>
  <p:slideViewPr>
    <p:cSldViewPr snapToGrid="0">
      <p:cViewPr varScale="1">
        <p:scale>
          <a:sx n="56" d="100"/>
          <a:sy n="56" d="100"/>
        </p:scale>
        <p:origin x="1422" y="45"/>
      </p:cViewPr>
      <p:guideLst/>
    </p:cSldViewPr>
  </p:slideViewPr>
  <p:notesTextViewPr>
    <p:cViewPr>
      <p:scale>
        <a:sx n="3" d="2"/>
        <a:sy n="3" d="2"/>
      </p:scale>
      <p:origin x="0" y="0"/>
    </p:cViewPr>
  </p:notesTextViewPr>
  <p:notesViewPr>
    <p:cSldViewPr snapToGrid="0">
      <p:cViewPr varScale="1">
        <p:scale>
          <a:sx n="89" d="100"/>
          <a:sy n="89" d="100"/>
        </p:scale>
        <p:origin x="3840" y="16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4A1168-E648-46B5-BC5D-68B30E6DA73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C6D0D-E51B-4BE5-990B-CEAC2FCCE1D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B%C3%A9zier_curve" TargetMode="External"/><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B%C3%A9zier_curve" TargetMode="External"/><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4" Type="http://schemas.openxmlformats.org/officeDocument/2006/relationships/image" Target="../media/image24.png"/><Relationship Id="rId3" Type="http://schemas.openxmlformats.org/officeDocument/2006/relationships/hyperlink" Target="https://en.wikipedia.org/wiki/De_Casteljau's_algorithm" TargetMode="External"/><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4" Type="http://schemas.openxmlformats.org/officeDocument/2006/relationships/image" Target="../media/image26.png"/><Relationship Id="rId3" Type="http://schemas.openxmlformats.org/officeDocument/2006/relationships/hyperlink" Target="https://en.wikipedia.org/wiki/De_Casteljau's_algorithm" TargetMode="External"/><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A0C6D0D-E51B-4BE5-990B-CEAC2FCCE1DC}"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p:txBody>
          <a:bodyPr/>
          <a:lstStyle/>
          <a:p>
            <a:fld id="{76853749-DBEA-6F4C-A359-F603E7575D2F}" type="slidenum">
              <a:rPr lang="en-US" smtClean="0"/>
            </a:fld>
            <a:endParaRPr lang="en-US" dirty="0"/>
          </a:p>
        </p:txBody>
      </p:sp>
      <p:sp>
        <p:nvSpPr>
          <p:cNvPr id="28676" name="Rectangle 3"/>
          <p:cNvSpPr>
            <a:spLocks noGrp="1" noChangeArrowheads="1"/>
          </p:cNvSpPr>
          <p:nvPr>
            <p:ph type="body" idx="1"/>
          </p:nvPr>
        </p:nvSpPr>
        <p:spPr/>
        <p:txBody>
          <a:bodyPr/>
          <a:lstStyle/>
          <a:p>
            <a:r>
              <a:rPr lang="en-US"/>
              <a:t>OpenGL is a library of function calls for doing computer graphics. With it, you can create interactive applications that render high-quality color images composed of 2D and 3D geometric objects and images.</a:t>
            </a:r>
            <a:endParaRPr lang="en-US"/>
          </a:p>
          <a:p>
            <a:endParaRPr lang="en-US"/>
          </a:p>
          <a:p>
            <a:r>
              <a:rPr lang="en-US"/>
              <a:t>Additionally, the OpenGL API is independent of all operating systems, and their associated windowing systems. That means that the part of your application that draws can be platform independent. However, in order for OpenGL to be able to render, it needs a window to draw into. Generally,  this is controlled by the windowing system on whatever platform you are working on.</a:t>
            </a:r>
            <a:endParaRPr lang="en-US"/>
          </a:p>
          <a:p>
            <a:endParaRPr lang="en-US" dirty="0"/>
          </a:p>
        </p:txBody>
      </p:sp>
      <p:sp>
        <p:nvSpPr>
          <p:cNvPr id="4" name="Slide Image Placeholder 3"/>
          <p:cNvSpPr>
            <a:spLocks noGrp="1" noRot="1" noChangeAspect="1"/>
          </p:cNvSpPr>
          <p:nvPr>
            <p:ph type="sldImg"/>
          </p:nvPr>
        </p:nvSpPr>
        <p:spPr>
          <a:xfrm>
            <a:off x="1028700" y="741363"/>
            <a:ext cx="4686300" cy="3514725"/>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initial version of OpenGL was announced in July of 1994.  That version of OpenGL implemented what’s called a </a:t>
            </a:r>
            <a:r>
              <a:rPr lang="en-US" i="1" baseline="0" dirty="0"/>
              <a:t>fixed-function</a:t>
            </a:r>
            <a:r>
              <a:rPr lang="en-US" i="0" baseline="0" dirty="0"/>
              <a:t> </a:t>
            </a:r>
            <a:r>
              <a:rPr lang="en-US" i="1" baseline="0" dirty="0"/>
              <a:t>pipeline</a:t>
            </a:r>
            <a:r>
              <a:rPr lang="en-US" i="0" baseline="0" dirty="0"/>
              <a:t>, which means that all of the operations that OpenGL supported were fully-defined, and an application could only modify their operation by changing a set of input values (like colors or positions).  The other point of a fixed-function pipeline is that the order of operations was always the same – that is, you can’t reorder the sequence operations occur.</a:t>
            </a:r>
            <a:endParaRPr lang="en-US" i="0" baseline="0" dirty="0"/>
          </a:p>
          <a:p>
            <a:endParaRPr lang="en-US" i="0" baseline="0" dirty="0"/>
          </a:p>
          <a:p>
            <a:r>
              <a:rPr lang="en-US" i="0" baseline="0" dirty="0"/>
              <a:t>This pipeline was the basis of many versions of OpenGL and expanded in many ways, and is still available for use.  However, modern GPUs and their features have diverged from this pipeline, and support of these previous versions of OpenGL are for supporting current applications.  If you’re developing a new application, we strongly recommend using the techniques that we’ll discuss.  Those techniques can be more flexible, and will likely preform better than using one of these early versions of OpenGL since they can take advantage of the capabilities of recent Graphics Processing Units (</a:t>
            </a:r>
            <a:r>
              <a:rPr lang="en-US" i="0" baseline="0" dirty="0" err="1"/>
              <a:t>GPUs</a:t>
            </a:r>
            <a:r>
              <a:rPr lang="en-US" i="0" baseline="0" dirty="0"/>
              <a:t>).</a:t>
            </a:r>
            <a:endParaRPr lang="en-US" dirty="0"/>
          </a:p>
        </p:txBody>
      </p:sp>
      <p:sp>
        <p:nvSpPr>
          <p:cNvPr id="4" name="Slide Number Placeholder 3"/>
          <p:cNvSpPr>
            <a:spLocks noGrp="1"/>
          </p:cNvSpPr>
          <p:nvPr>
            <p:ph type="sldNum" sz="quarter" idx="10"/>
          </p:nvPr>
        </p:nvSpPr>
        <p:spPr/>
        <p:txBody>
          <a:bodyPr/>
          <a:lstStyle/>
          <a:p>
            <a:fld id="{706F8D69-B00F-F44E-9B61-4DC184CA17F8}"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OpenGL</a:t>
            </a:r>
            <a:r>
              <a:rPr lang="en-US" baseline="0" dirty="0"/>
              <a:t> version 3.1 was the first version to remove deprecated features, and break backwards compatibility with previous versions of OpenGL.  The features removed from included the old-style fixed-function pipeline, among other lesser features.</a:t>
            </a:r>
            <a:endParaRPr lang="en-US" baseline="0" dirty="0"/>
          </a:p>
          <a:p>
            <a:endParaRPr lang="en-US" baseline="0" dirty="0"/>
          </a:p>
          <a:p>
            <a:r>
              <a:rPr lang="en-US" baseline="0" dirty="0"/>
              <a:t>One major refinement introduced in 3.1 was requiring all data to be placed in GPU-resident </a:t>
            </a:r>
            <a:r>
              <a:rPr lang="en-US" i="1" baseline="0" dirty="0"/>
              <a:t>buffer objects</a:t>
            </a:r>
            <a:r>
              <a:rPr lang="en-US" i="0" baseline="0" dirty="0"/>
              <a:t>, which help reduce the impacts of various computer system architecture limitations related to </a:t>
            </a:r>
            <a:r>
              <a:rPr lang="en-US" i="0" baseline="0" dirty="0" err="1"/>
              <a:t>GPUs</a:t>
            </a:r>
            <a:r>
              <a:rPr lang="en-US" i="0" baseline="0" dirty="0"/>
              <a:t>.</a:t>
            </a:r>
            <a:endParaRPr lang="en-US" i="0" baseline="0" dirty="0"/>
          </a:p>
          <a:p>
            <a:endParaRPr lang="en-US" i="0" baseline="0" dirty="0"/>
          </a:p>
          <a:p>
            <a:r>
              <a:rPr lang="en-US" i="0" baseline="0" dirty="0"/>
              <a:t>While many features were removed from OpenGL 3.1, the OpenGL ARB realized that to make it easy for application developers to transition their products, they introduced an OpenGL extensions, </a:t>
            </a:r>
            <a:r>
              <a:rPr lang="en-US" i="0" baseline="0" dirty="0" err="1">
                <a:latin typeface="Consolas" pitchFamily="49" charset="0"/>
                <a:cs typeface="Consolas" pitchFamily="49" charset="0"/>
              </a:rPr>
              <a:t>GL_ARB_compatibility</a:t>
            </a:r>
            <a:r>
              <a:rPr lang="en-US" i="0" baseline="0" dirty="0"/>
              <a:t>, that allowed access to the removed features.</a:t>
            </a:r>
            <a:endParaRPr lang="en-US" i="1" dirty="0"/>
          </a:p>
        </p:txBody>
      </p:sp>
      <p:sp>
        <p:nvSpPr>
          <p:cNvPr id="4" name="Slide Number Placeholder 3"/>
          <p:cNvSpPr>
            <a:spLocks noGrp="1"/>
          </p:cNvSpPr>
          <p:nvPr>
            <p:ph type="sldNum" sz="quarter" idx="10"/>
          </p:nvPr>
        </p:nvSpPr>
        <p:spPr/>
        <p:txBody>
          <a:bodyPr/>
          <a:lstStyle/>
          <a:p>
            <a:fld id="{706F8D69-B00F-F44E-9B61-4DC184CA17F8}"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OpenGL</a:t>
            </a:r>
            <a:r>
              <a:rPr lang="en-US" baseline="0" dirty="0"/>
              <a:t> version 3.1 was the first version to remove deprecated features, and break backwards compatibility with previous versions of OpenGL.  The features removed from included the old-style fixed-function pipeline, among other lesser features.</a:t>
            </a:r>
            <a:endParaRPr lang="en-US" baseline="0" dirty="0"/>
          </a:p>
          <a:p>
            <a:endParaRPr lang="en-US" baseline="0" dirty="0"/>
          </a:p>
          <a:p>
            <a:r>
              <a:rPr lang="en-US" baseline="0" dirty="0"/>
              <a:t>One major refinement introduced in 3.1 was requiring all data to be placed in GPU-resident </a:t>
            </a:r>
            <a:r>
              <a:rPr lang="en-US" i="1" baseline="0" dirty="0"/>
              <a:t>buffer objects</a:t>
            </a:r>
            <a:r>
              <a:rPr lang="en-US" i="0" baseline="0" dirty="0"/>
              <a:t>, which help reduce the impacts of various computer system architecture limitations related to </a:t>
            </a:r>
            <a:r>
              <a:rPr lang="en-US" i="0" baseline="0" dirty="0" err="1"/>
              <a:t>GPUs</a:t>
            </a:r>
            <a:r>
              <a:rPr lang="en-US" i="0" baseline="0" dirty="0"/>
              <a:t>.</a:t>
            </a:r>
            <a:endParaRPr lang="en-US" i="0" baseline="0" dirty="0"/>
          </a:p>
          <a:p>
            <a:endParaRPr lang="en-US" i="0" baseline="0" dirty="0"/>
          </a:p>
          <a:p>
            <a:r>
              <a:rPr lang="en-US" i="0" baseline="0" dirty="0"/>
              <a:t>While many features were removed from OpenGL 3.1, the OpenGL ARB realized that to make it easy for application developers to transition their products, they introduced an OpenGL extensions, </a:t>
            </a:r>
            <a:r>
              <a:rPr lang="en-US" i="0" baseline="0" dirty="0" err="1">
                <a:latin typeface="Consolas" pitchFamily="49" charset="0"/>
                <a:cs typeface="Consolas" pitchFamily="49" charset="0"/>
              </a:rPr>
              <a:t>GL_ARB_compatibility</a:t>
            </a:r>
            <a:r>
              <a:rPr lang="en-US" i="0" baseline="0" dirty="0"/>
              <a:t>, that allowed access to the removed features.</a:t>
            </a:r>
            <a:endParaRPr lang="en-US" i="1" dirty="0"/>
          </a:p>
        </p:txBody>
      </p:sp>
      <p:sp>
        <p:nvSpPr>
          <p:cNvPr id="4" name="Slide Number Placeholder 3"/>
          <p:cNvSpPr>
            <a:spLocks noGrp="1"/>
          </p:cNvSpPr>
          <p:nvPr>
            <p:ph type="sldNum" sz="quarter" idx="10"/>
          </p:nvPr>
        </p:nvSpPr>
        <p:spPr/>
        <p:txBody>
          <a:bodyPr/>
          <a:lstStyle/>
          <a:p>
            <a:fld id="{706F8D69-B00F-F44E-9B61-4DC184CA17F8}"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33E405C1-4260-1B48-AB6A-1B181C8E9BB2}" type="slidenum">
              <a:rPr lang="en-US"/>
            </a:fld>
            <a:endParaRPr lang="en-US"/>
          </a:p>
        </p:txBody>
      </p:sp>
      <p:sp>
        <p:nvSpPr>
          <p:cNvPr id="55299" name="Rectangle 2"/>
          <p:cNvSpPr>
            <a:spLocks noGrp="1" noRot="1" noChangeAspect="1" noChangeArrowheads="1" noTextEdit="1"/>
          </p:cNvSpPr>
          <p:nvPr>
            <p:ph type="sldImg"/>
          </p:nvPr>
        </p:nvSpPr>
        <p:spPr>
          <a:xfrm>
            <a:off x="1028700" y="741363"/>
            <a:ext cx="4686300" cy="3514725"/>
          </a:xfrm>
        </p:spPr>
      </p:sp>
      <p:sp>
        <p:nvSpPr>
          <p:cNvPr id="55300" name="Rectangle 3"/>
          <p:cNvSpPr>
            <a:spLocks noGrp="1" noChangeArrowheads="1"/>
          </p:cNvSpPr>
          <p:nvPr>
            <p:ph type="body" idx="1"/>
          </p:nvPr>
        </p:nvSpPr>
        <p:spPr>
          <a:noFill/>
        </p:spPr>
        <p:txBody>
          <a:bodyPr/>
          <a:lstStyle/>
          <a:p>
            <a:pPr eaLnBrk="1" hangingPunct="1"/>
            <a:r>
              <a:rPr lang="en-US" dirty="0">
                <a:latin typeface="Arial" panose="020B0604020202020204" pitchFamily="34" charset="0"/>
                <a:ea typeface="MS PGothic" charset="-128"/>
                <a:cs typeface="MS PGothic" charset="-128"/>
              </a:rPr>
              <a:t>To form 3D</a:t>
            </a:r>
            <a:r>
              <a:rPr lang="en-US" baseline="0" dirty="0">
                <a:latin typeface="Arial" panose="020B0604020202020204" pitchFamily="34" charset="0"/>
                <a:ea typeface="MS PGothic" charset="-128"/>
                <a:cs typeface="MS PGothic" charset="-128"/>
              </a:rPr>
              <a:t> geometric objects, you need to decompose them into geometric primitives that OpenGL can draw.  OpenGL only knows how to draw three things: points, lines, and triangles, but can use collections of the same type of primitive to optimize rendering.</a:t>
            </a:r>
            <a:endParaRPr lang="en-US" baseline="0" dirty="0">
              <a:latin typeface="Arial" panose="020B0604020202020204" pitchFamily="34" charset="0"/>
              <a:ea typeface="MS PGothic" charset="-128"/>
              <a:cs typeface="MS PGothic" charset="-128"/>
            </a:endParaRPr>
          </a:p>
          <a:p>
            <a:pPr eaLnBrk="1" hangingPunct="1"/>
            <a:endParaRPr lang="en-US" dirty="0">
              <a:latin typeface="Arial" panose="020B0604020202020204" pitchFamily="34" charset="0"/>
              <a:ea typeface="MS PGothic" charset="-128"/>
              <a:cs typeface="MS PGothic" charset="-128"/>
            </a:endParaRPr>
          </a:p>
          <a:p>
            <a:pPr eaLnBrk="1" hangingPunct="1"/>
            <a:r>
              <a:rPr lang="en-US" dirty="0">
                <a:latin typeface="Arial" panose="020B0604020202020204" pitchFamily="34" charset="0"/>
                <a:ea typeface="MS PGothic" charset="-128"/>
                <a:cs typeface="MS PGothic" charset="-128"/>
              </a:rPr>
              <a:t>STRIP</a:t>
            </a:r>
            <a:r>
              <a:rPr lang="zh-CN" altLang="en-US" dirty="0">
                <a:latin typeface="Arial" panose="020B0604020202020204" pitchFamily="34" charset="0"/>
                <a:ea typeface="MS PGothic" charset="-128"/>
                <a:cs typeface="MS PGothic" charset="-128"/>
              </a:rPr>
              <a:t>：将顶点按顺序连接</a:t>
            </a:r>
            <a:endParaRPr lang="en-US" altLang="zh-CN" dirty="0">
              <a:latin typeface="Arial" panose="020B0604020202020204" pitchFamily="34" charset="0"/>
              <a:ea typeface="MS PGothic" charset="-128"/>
              <a:cs typeface="MS PGothic" charset="-128"/>
            </a:endParaRPr>
          </a:p>
          <a:p>
            <a:pPr eaLnBrk="1" hangingPunct="1"/>
            <a:r>
              <a:rPr lang="en-US" dirty="0">
                <a:latin typeface="Arial" panose="020B0604020202020204" pitchFamily="34" charset="0"/>
                <a:ea typeface="MS PGothic" charset="-128"/>
                <a:cs typeface="MS PGothic" charset="-128"/>
              </a:rPr>
              <a:t>FAN</a:t>
            </a:r>
            <a:r>
              <a:rPr lang="zh-CN" altLang="en-US" dirty="0">
                <a:latin typeface="Arial" panose="020B0604020202020204" pitchFamily="34" charset="0"/>
                <a:ea typeface="MS PGothic" charset="-128"/>
                <a:cs typeface="MS PGothic" charset="-128"/>
              </a:rPr>
              <a:t>：所有三角形共用第一个顶点</a:t>
            </a:r>
            <a:endParaRPr lang="en-US" dirty="0">
              <a:latin typeface="Arial" panose="020B0604020202020204" pitchFamily="34" charset="0"/>
              <a:ea typeface="MS PGothic" charset="-128"/>
              <a:cs typeface="MS PGothic" charset="-128"/>
            </a:endParaRPr>
          </a:p>
        </p:txBody>
      </p:sp>
      <p:graphicFrame>
        <p:nvGraphicFramePr>
          <p:cNvPr id="6" name="Table 5"/>
          <p:cNvGraphicFramePr>
            <a:graphicFrameLocks noGrp="1"/>
          </p:cNvGraphicFramePr>
          <p:nvPr/>
        </p:nvGraphicFramePr>
        <p:xfrm>
          <a:off x="511382" y="5602981"/>
          <a:ext cx="5720936" cy="4141414"/>
        </p:xfrm>
        <a:graphic>
          <a:graphicData uri="http://schemas.openxmlformats.org/drawingml/2006/table">
            <a:tbl>
              <a:tblPr firstRow="1" bandRow="1">
                <a:tableStyleId>{00A15C55-8517-42AA-B614-E9B94910E393}</a:tableStyleId>
              </a:tblPr>
              <a:tblGrid>
                <a:gridCol w="1541642"/>
                <a:gridCol w="2529255"/>
                <a:gridCol w="1650039"/>
              </a:tblGrid>
              <a:tr h="411934">
                <a:tc>
                  <a:txBody>
                    <a:bodyPr/>
                    <a:lstStyle/>
                    <a:p>
                      <a:r>
                        <a:rPr lang="en-US" sz="1100" dirty="0"/>
                        <a:t>OpenGL Primitive</a:t>
                      </a:r>
                      <a:endParaRPr lang="en-US" sz="1100" dirty="0"/>
                    </a:p>
                  </a:txBody>
                  <a:tcPr marL="89916" marR="89916" marT="49403" marB="49403" anchor="ctr"/>
                </a:tc>
                <a:tc>
                  <a:txBody>
                    <a:bodyPr/>
                    <a:lstStyle/>
                    <a:p>
                      <a:r>
                        <a:rPr lang="en-US" sz="1100" dirty="0"/>
                        <a:t>Description</a:t>
                      </a:r>
                      <a:endParaRPr lang="en-US" sz="1100" dirty="0"/>
                    </a:p>
                  </a:txBody>
                  <a:tcPr marL="89916" marR="89916" marT="49403" marB="49403" anchor="ctr"/>
                </a:tc>
                <a:tc>
                  <a:txBody>
                    <a:bodyPr/>
                    <a:lstStyle/>
                    <a:p>
                      <a:r>
                        <a:rPr lang="en-US" sz="1100" dirty="0"/>
                        <a:t>Total</a:t>
                      </a:r>
                      <a:r>
                        <a:rPr lang="en-US" sz="1100" baseline="0" dirty="0"/>
                        <a:t> Vertices for </a:t>
                      </a:r>
                      <a:r>
                        <a:rPr lang="en-US" sz="1100" i="1" baseline="0" dirty="0"/>
                        <a:t>n</a:t>
                      </a:r>
                      <a:r>
                        <a:rPr lang="en-US" sz="1100" i="0" baseline="0" dirty="0"/>
                        <a:t> Primitives</a:t>
                      </a:r>
                      <a:endParaRPr lang="en-US" sz="1100" dirty="0"/>
                    </a:p>
                  </a:txBody>
                  <a:tcPr marL="89916" marR="89916" marT="49403" marB="49403" anchor="ctr"/>
                </a:tc>
              </a:tr>
              <a:tr h="515760">
                <a:tc>
                  <a:txBody>
                    <a:bodyPr/>
                    <a:lstStyle/>
                    <a:p>
                      <a:r>
                        <a:rPr lang="en-US" sz="1100" dirty="0">
                          <a:latin typeface="Consolas" pitchFamily="49" charset="0"/>
                          <a:cs typeface="Consolas" pitchFamily="49" charset="0"/>
                        </a:rPr>
                        <a:t>GL_POINTS</a:t>
                      </a:r>
                      <a:endParaRPr lang="en-US" sz="1100" dirty="0">
                        <a:latin typeface="Consolas" pitchFamily="49" charset="0"/>
                        <a:cs typeface="Consolas" pitchFamily="49" charset="0"/>
                      </a:endParaRPr>
                    </a:p>
                  </a:txBody>
                  <a:tcPr marL="89916" marR="89916" marT="49403" marB="49403" anchor="ctr"/>
                </a:tc>
                <a:tc>
                  <a:txBody>
                    <a:bodyPr/>
                    <a:lstStyle/>
                    <a:p>
                      <a:r>
                        <a:rPr lang="en-US" sz="1100" dirty="0"/>
                        <a:t>Render a single</a:t>
                      </a:r>
                      <a:r>
                        <a:rPr lang="en-US" sz="1100" baseline="0" dirty="0"/>
                        <a:t> point per vertex (points may be larger than a single pixel)</a:t>
                      </a:r>
                      <a:endParaRPr lang="en-US" sz="1100" dirty="0"/>
                    </a:p>
                  </a:txBody>
                  <a:tcPr marL="89916" marR="89916" marT="49403" marB="49403" anchor="ctr"/>
                </a:tc>
                <a:tc>
                  <a:txBody>
                    <a:bodyPr/>
                    <a:lstStyle/>
                    <a:p>
                      <a:pPr algn="ctr"/>
                      <a:r>
                        <a:rPr lang="en-US" sz="1100" dirty="0"/>
                        <a:t>n</a:t>
                      </a:r>
                      <a:endParaRPr lang="en-US" sz="1100" dirty="0"/>
                    </a:p>
                  </a:txBody>
                  <a:tcPr marL="89916" marR="89916" marT="49403" marB="49403" anchor="ctr"/>
                </a:tc>
              </a:tr>
              <a:tr h="411934">
                <a:tc>
                  <a:txBody>
                    <a:bodyPr/>
                    <a:lstStyle/>
                    <a:p>
                      <a:r>
                        <a:rPr lang="en-US" sz="1100" dirty="0">
                          <a:latin typeface="Consolas" pitchFamily="49" charset="0"/>
                          <a:cs typeface="Consolas" pitchFamily="49" charset="0"/>
                        </a:rPr>
                        <a:t>GL_LINES</a:t>
                      </a:r>
                      <a:endParaRPr lang="en-US" sz="1100" dirty="0">
                        <a:latin typeface="Consolas" pitchFamily="49" charset="0"/>
                        <a:cs typeface="Consolas" pitchFamily="49" charset="0"/>
                      </a:endParaRPr>
                    </a:p>
                  </a:txBody>
                  <a:tcPr marL="89916" marR="89916" marT="49403" marB="49403" anchor="ctr"/>
                </a:tc>
                <a:tc>
                  <a:txBody>
                    <a:bodyPr/>
                    <a:lstStyle/>
                    <a:p>
                      <a:r>
                        <a:rPr lang="en-US" sz="1100" dirty="0"/>
                        <a:t>Connect each pair of vertices with a single line segment.</a:t>
                      </a:r>
                      <a:endParaRPr lang="en-US" sz="1100" dirty="0"/>
                    </a:p>
                  </a:txBody>
                  <a:tcPr marL="89916" marR="89916" marT="49403" marB="49403" anchor="ctr"/>
                </a:tc>
                <a:tc>
                  <a:txBody>
                    <a:bodyPr/>
                    <a:lstStyle/>
                    <a:p>
                      <a:pPr algn="ctr"/>
                      <a:r>
                        <a:rPr lang="en-US" sz="1100" dirty="0"/>
                        <a:t>2n</a:t>
                      </a:r>
                      <a:endParaRPr lang="en-US" sz="1100" dirty="0"/>
                    </a:p>
                  </a:txBody>
                  <a:tcPr marL="89916" marR="89916" marT="49403" marB="49403" anchor="ctr"/>
                </a:tc>
              </a:tr>
              <a:tr h="503514">
                <a:tc>
                  <a:txBody>
                    <a:bodyPr/>
                    <a:lstStyle/>
                    <a:p>
                      <a:r>
                        <a:rPr lang="en-US" sz="1100" dirty="0">
                          <a:latin typeface="Consolas" pitchFamily="49" charset="0"/>
                          <a:cs typeface="Consolas" pitchFamily="49" charset="0"/>
                        </a:rPr>
                        <a:t>GL_LINE_STRIP</a:t>
                      </a:r>
                      <a:endParaRPr lang="en-US" sz="1100" dirty="0">
                        <a:latin typeface="Consolas" pitchFamily="49" charset="0"/>
                        <a:cs typeface="Consolas" pitchFamily="49" charset="0"/>
                      </a:endParaRPr>
                    </a:p>
                  </a:txBody>
                  <a:tcPr marL="89916" marR="89916" marT="49403" marB="49403" anchor="ctr"/>
                </a:tc>
                <a:tc>
                  <a:txBody>
                    <a:bodyPr/>
                    <a:lstStyle/>
                    <a:p>
                      <a:r>
                        <a:rPr lang="en-US" sz="1100" dirty="0"/>
                        <a:t>Connect</a:t>
                      </a:r>
                      <a:r>
                        <a:rPr lang="en-US" sz="1100" baseline="0" dirty="0"/>
                        <a:t> each successive vertex to the previous one with a line segment.</a:t>
                      </a:r>
                      <a:endParaRPr lang="en-US" sz="1100" dirty="0"/>
                    </a:p>
                  </a:txBody>
                  <a:tcPr marL="89916" marR="89916" marT="49403" marB="49403" anchor="ctr"/>
                </a:tc>
                <a:tc>
                  <a:txBody>
                    <a:bodyPr/>
                    <a:lstStyle/>
                    <a:p>
                      <a:pPr algn="ctr"/>
                      <a:r>
                        <a:rPr lang="en-US" sz="1100" dirty="0"/>
                        <a:t>n+1</a:t>
                      </a:r>
                      <a:endParaRPr lang="en-US" sz="1100" dirty="0"/>
                    </a:p>
                  </a:txBody>
                  <a:tcPr marL="89916" marR="89916" marT="49403" marB="49403" anchor="ctr"/>
                </a:tc>
              </a:tr>
              <a:tr h="411934">
                <a:tc>
                  <a:txBody>
                    <a:bodyPr/>
                    <a:lstStyle/>
                    <a:p>
                      <a:r>
                        <a:rPr lang="en-US" sz="1100" dirty="0">
                          <a:latin typeface="Consolas" pitchFamily="49" charset="0"/>
                          <a:cs typeface="Consolas" pitchFamily="49" charset="0"/>
                        </a:rPr>
                        <a:t>GL_LINE_LOOP</a:t>
                      </a:r>
                      <a:endParaRPr lang="en-US" sz="1100" dirty="0">
                        <a:latin typeface="Consolas" pitchFamily="49" charset="0"/>
                        <a:cs typeface="Consolas" pitchFamily="49" charset="0"/>
                      </a:endParaRPr>
                    </a:p>
                  </a:txBody>
                  <a:tcPr marL="89916" marR="89916" marT="49403" marB="49403" anchor="ctr"/>
                </a:tc>
                <a:tc>
                  <a:txBody>
                    <a:bodyPr/>
                    <a:lstStyle/>
                    <a:p>
                      <a:r>
                        <a:rPr lang="en-US" sz="1100" dirty="0"/>
                        <a:t>Connect all vertices</a:t>
                      </a:r>
                      <a:r>
                        <a:rPr lang="en-US" sz="1100" baseline="0" dirty="0"/>
                        <a:t> in a loop of line segments.</a:t>
                      </a:r>
                      <a:endParaRPr lang="en-US" sz="1100" dirty="0"/>
                    </a:p>
                  </a:txBody>
                  <a:tcPr marL="89916" marR="89916" marT="49403" marB="49403" anchor="ctr"/>
                </a:tc>
                <a:tc>
                  <a:txBody>
                    <a:bodyPr/>
                    <a:lstStyle/>
                    <a:p>
                      <a:pPr algn="ctr"/>
                      <a:r>
                        <a:rPr lang="en-US" sz="1100" dirty="0"/>
                        <a:t>n</a:t>
                      </a:r>
                      <a:endParaRPr lang="en-US" sz="1100" dirty="0"/>
                    </a:p>
                  </a:txBody>
                  <a:tcPr marL="89916" marR="89916" marT="49403" marB="49403" anchor="ctr"/>
                </a:tc>
              </a:tr>
              <a:tr h="371400">
                <a:tc>
                  <a:txBody>
                    <a:bodyPr/>
                    <a:lstStyle/>
                    <a:p>
                      <a:r>
                        <a:rPr lang="en-US" sz="1100" dirty="0">
                          <a:latin typeface="Consolas" pitchFamily="49" charset="0"/>
                          <a:cs typeface="Consolas" pitchFamily="49" charset="0"/>
                        </a:rPr>
                        <a:t>GL_TRIANGLES</a:t>
                      </a:r>
                      <a:endParaRPr lang="en-US" sz="1100" dirty="0">
                        <a:latin typeface="Consolas" pitchFamily="49" charset="0"/>
                        <a:cs typeface="Consolas" pitchFamily="49" charset="0"/>
                      </a:endParaRPr>
                    </a:p>
                  </a:txBody>
                  <a:tcPr marL="89916" marR="89916" marT="49403" marB="49403" anchor="ctr"/>
                </a:tc>
                <a:tc>
                  <a:txBody>
                    <a:bodyPr/>
                    <a:lstStyle/>
                    <a:p>
                      <a:r>
                        <a:rPr lang="en-US" sz="1100" dirty="0"/>
                        <a:t>Render a triangle for each triple of vertices.</a:t>
                      </a:r>
                      <a:endParaRPr lang="en-US" sz="1100" dirty="0"/>
                    </a:p>
                  </a:txBody>
                  <a:tcPr marL="89916" marR="89916" marT="49403" marB="49403" anchor="ctr"/>
                </a:tc>
                <a:tc>
                  <a:txBody>
                    <a:bodyPr/>
                    <a:lstStyle/>
                    <a:p>
                      <a:pPr algn="ctr"/>
                      <a:r>
                        <a:rPr lang="en-US" sz="1100" dirty="0"/>
                        <a:t>3n</a:t>
                      </a:r>
                      <a:endParaRPr lang="en-US" sz="1100" dirty="0"/>
                    </a:p>
                  </a:txBody>
                  <a:tcPr marL="89916" marR="89916" marT="49403" marB="49403" anchor="ctr"/>
                </a:tc>
              </a:tr>
              <a:tr h="784070">
                <a:tc>
                  <a:txBody>
                    <a:bodyPr/>
                    <a:lstStyle/>
                    <a:p>
                      <a:r>
                        <a:rPr lang="en-US" sz="1100" dirty="0">
                          <a:latin typeface="Consolas" pitchFamily="49" charset="0"/>
                          <a:cs typeface="Consolas" pitchFamily="49" charset="0"/>
                        </a:rPr>
                        <a:t>GL_TRIANGLE_STRIP</a:t>
                      </a:r>
                      <a:endParaRPr lang="en-US" sz="1100" dirty="0">
                        <a:latin typeface="Consolas" pitchFamily="49" charset="0"/>
                        <a:cs typeface="Consolas" pitchFamily="49" charset="0"/>
                      </a:endParaRPr>
                    </a:p>
                  </a:txBody>
                  <a:tcPr marL="89916" marR="89916" marT="49403" marB="49403" anchor="ctr"/>
                </a:tc>
                <a:tc>
                  <a:txBody>
                    <a:bodyPr/>
                    <a:lstStyle/>
                    <a:p>
                      <a:r>
                        <a:rPr lang="en-US" sz="1100" dirty="0"/>
                        <a:t>Render</a:t>
                      </a:r>
                      <a:r>
                        <a:rPr lang="en-US" sz="1100" baseline="0" dirty="0"/>
                        <a:t> a triangle from the first three vertices in the list, and then create a new triangle with the last two rendered vertices, and the new vertex.</a:t>
                      </a:r>
                      <a:endParaRPr lang="en-US" sz="1100" dirty="0"/>
                    </a:p>
                  </a:txBody>
                  <a:tcPr marL="89916" marR="89916" marT="49403" marB="49403" anchor="ctr"/>
                </a:tc>
                <a:tc>
                  <a:txBody>
                    <a:bodyPr/>
                    <a:lstStyle/>
                    <a:p>
                      <a:pPr algn="ctr"/>
                      <a:r>
                        <a:rPr lang="en-US" sz="1100" dirty="0"/>
                        <a:t>n+2</a:t>
                      </a:r>
                      <a:endParaRPr lang="en-US" sz="1100" dirty="0"/>
                    </a:p>
                  </a:txBody>
                  <a:tcPr marL="89916" marR="89916" marT="49403" marB="49403" anchor="ctr"/>
                </a:tc>
              </a:tr>
              <a:tr h="515760">
                <a:tc>
                  <a:txBody>
                    <a:bodyPr/>
                    <a:lstStyle/>
                    <a:p>
                      <a:r>
                        <a:rPr lang="en-US" sz="1100" dirty="0">
                          <a:latin typeface="Consolas" pitchFamily="49" charset="0"/>
                          <a:cs typeface="Consolas" pitchFamily="49" charset="0"/>
                        </a:rPr>
                        <a:t>GL_TRIANGLE_FAN</a:t>
                      </a:r>
                      <a:endParaRPr lang="en-US" sz="1100" dirty="0">
                        <a:latin typeface="Consolas" pitchFamily="49" charset="0"/>
                        <a:cs typeface="Consolas" pitchFamily="49" charset="0"/>
                      </a:endParaRPr>
                    </a:p>
                  </a:txBody>
                  <a:tcPr marL="89916" marR="89916" marT="49403" marB="49403" anchor="ctr"/>
                </a:tc>
                <a:tc>
                  <a:txBody>
                    <a:bodyPr/>
                    <a:lstStyle/>
                    <a:p>
                      <a:r>
                        <a:rPr lang="en-US" sz="1100" dirty="0"/>
                        <a:t>Create triangles by using the first vertex</a:t>
                      </a:r>
                      <a:r>
                        <a:rPr lang="en-US" sz="1100" baseline="0" dirty="0"/>
                        <a:t> in the list, and pairs of successive vertices.</a:t>
                      </a:r>
                      <a:endParaRPr lang="en-US" sz="1100" dirty="0"/>
                    </a:p>
                  </a:txBody>
                  <a:tcPr marL="89916" marR="89916" marT="49403" marB="49403" anchor="ctr"/>
                </a:tc>
                <a:tc>
                  <a:txBody>
                    <a:bodyPr/>
                    <a:lstStyle/>
                    <a:p>
                      <a:pPr algn="ctr"/>
                      <a:r>
                        <a:rPr lang="en-US" sz="1100" dirty="0"/>
                        <a:t>n+2</a:t>
                      </a:r>
                      <a:endParaRPr lang="en-US" sz="1100" dirty="0"/>
                    </a:p>
                  </a:txBody>
                  <a:tcPr marL="89916" marR="89916" marT="49403" marB="49403" anchor="ctr"/>
                </a:tc>
              </a:tr>
            </a:tbl>
          </a:graphicData>
        </a:graphic>
      </p:graphicFrame>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Bezier = Open-Uniform Non-rational B-Spline</a:t>
            </a:r>
            <a:endParaRPr kumimoji="1" lang="en-US" altLang="zh-CN" dirty="0"/>
          </a:p>
          <a:p>
            <a:r>
              <a:rPr kumimoji="1" lang="zh-CN" altLang="en-US" dirty="0"/>
              <a:t>参数曲面是常用的曲面绘制工具，例如</a:t>
            </a:r>
            <a:r>
              <a:rPr kumimoji="1" lang="en-US" altLang="zh-CN" dirty="0"/>
              <a:t>CAD</a:t>
            </a:r>
            <a:r>
              <a:rPr kumimoji="1" lang="zh-CN" altLang="en-US" dirty="0"/>
              <a:t>造型，</a:t>
            </a:r>
            <a:r>
              <a:rPr kumimoji="1" lang="en-US" altLang="zh-CN" dirty="0"/>
              <a:t>windows/office</a:t>
            </a:r>
            <a:r>
              <a:rPr kumimoji="1" lang="zh-CN" altLang="en-US" dirty="0"/>
              <a:t>中的曲线工具。</a:t>
            </a:r>
            <a:endParaRPr kumimoji="1" lang="en-US" altLang="zh-CN" dirty="0"/>
          </a:p>
          <a:p>
            <a:r>
              <a:rPr kumimoji="1" lang="zh-CN" altLang="en-US" dirty="0"/>
              <a:t>在</a:t>
            </a:r>
            <a:r>
              <a:rPr kumimoji="1" lang="en-US" altLang="zh-CN" dirty="0"/>
              <a:t>UI</a:t>
            </a:r>
            <a:r>
              <a:rPr kumimoji="1" lang="zh-CN" altLang="en-US" dirty="0"/>
              <a:t>中，用户通常是通过点几个点</a:t>
            </a:r>
            <a:r>
              <a:rPr kumimoji="1" lang="en-US" altLang="zh-CN" dirty="0"/>
              <a:t>(</a:t>
            </a:r>
            <a:r>
              <a:rPr kumimoji="1" lang="zh-CN" altLang="en-US" dirty="0"/>
              <a:t>控制点</a:t>
            </a:r>
            <a:r>
              <a:rPr kumimoji="1" lang="en-US" altLang="zh-CN" dirty="0"/>
              <a:t>)</a:t>
            </a:r>
            <a:r>
              <a:rPr kumimoji="1" lang="zh-CN" altLang="en-US" dirty="0"/>
              <a:t>并拖动，实现曲线的设计。</a:t>
            </a:r>
            <a:endParaRPr kumimoji="1" lang="en-US" altLang="zh-CN" dirty="0"/>
          </a:p>
          <a:p>
            <a:r>
              <a:rPr kumimoji="1" lang="zh-CN" altLang="en-US" dirty="0"/>
              <a:t>自变量一般含有</a:t>
            </a:r>
            <a:r>
              <a:rPr kumimoji="1" lang="en-US" altLang="zh-CN" dirty="0"/>
              <a:t>1</a:t>
            </a:r>
            <a:r>
              <a:rPr kumimoji="1" lang="zh-CN" altLang="en-US" dirty="0"/>
              <a:t>个</a:t>
            </a:r>
            <a:r>
              <a:rPr kumimoji="1" lang="en-US" altLang="zh-CN" dirty="0"/>
              <a:t>(</a:t>
            </a:r>
            <a:r>
              <a:rPr kumimoji="1" lang="zh-CN" altLang="en-US" dirty="0"/>
              <a:t>曲线</a:t>
            </a:r>
            <a:r>
              <a:rPr kumimoji="1" lang="en-US" altLang="zh-CN" dirty="0"/>
              <a:t>)</a:t>
            </a:r>
            <a:r>
              <a:rPr kumimoji="1" lang="zh-CN" altLang="en-US" dirty="0"/>
              <a:t>或者</a:t>
            </a:r>
            <a:r>
              <a:rPr kumimoji="1" lang="en-US" altLang="zh-CN" dirty="0"/>
              <a:t>2</a:t>
            </a:r>
            <a:r>
              <a:rPr kumimoji="1" lang="zh-CN" altLang="en-US" dirty="0"/>
              <a:t>个</a:t>
            </a:r>
            <a:r>
              <a:rPr kumimoji="1" lang="en-US" altLang="zh-CN" dirty="0"/>
              <a:t>(</a:t>
            </a:r>
            <a:r>
              <a:rPr kumimoji="1" lang="zh-CN" altLang="en-US" dirty="0"/>
              <a:t>曲面</a:t>
            </a:r>
            <a:r>
              <a:rPr kumimoji="1" lang="en-US" altLang="zh-CN" dirty="0"/>
              <a:t>)</a:t>
            </a:r>
            <a:r>
              <a:rPr kumimoji="1" lang="zh-CN" altLang="en-US" dirty="0"/>
              <a:t>，自变量的不同取值组合的集合，便得到了这样的一个曲线</a:t>
            </a:r>
            <a:r>
              <a:rPr kumimoji="1" lang="en-US" altLang="zh-CN" dirty="0"/>
              <a:t>/</a:t>
            </a:r>
            <a:r>
              <a:rPr kumimoji="1" lang="zh-CN" altLang="en-US" dirty="0"/>
              <a:t>曲面。</a:t>
            </a:r>
            <a:endParaRPr kumimoji="1" lang="en-US" altLang="zh-CN" dirty="0"/>
          </a:p>
          <a:p>
            <a:endParaRPr kumimoji="1" lang="en-US" altLang="zh-CN" dirty="0"/>
          </a:p>
          <a:p>
            <a:r>
              <a:rPr kumimoji="1" lang="zh-CN" altLang="en-US" dirty="0"/>
              <a:t>常见的曲线曲面有</a:t>
            </a:r>
            <a:r>
              <a:rPr kumimoji="1" lang="en-US" altLang="zh-CN" dirty="0"/>
              <a:t>Bezier</a:t>
            </a:r>
            <a:r>
              <a:rPr kumimoji="1" lang="zh-CN" altLang="en-US" dirty="0"/>
              <a:t>，</a:t>
            </a:r>
            <a:r>
              <a:rPr kumimoji="1" lang="en-US" altLang="zh-CN" dirty="0"/>
              <a:t>B</a:t>
            </a:r>
            <a:r>
              <a:rPr kumimoji="1" lang="zh-CN" altLang="en-US" dirty="0"/>
              <a:t>样条等等，我们以</a:t>
            </a:r>
            <a:r>
              <a:rPr kumimoji="1" lang="en-US" altLang="zh-CN" dirty="0"/>
              <a:t>Bezier</a:t>
            </a:r>
            <a:r>
              <a:rPr kumimoji="1" lang="zh-CN" altLang="en-US" dirty="0"/>
              <a:t>曲线曲面为例进行介绍，大家在实现的时候选用其他参数曲面也是可以的。</a:t>
            </a:r>
            <a:endParaRPr kumimoji="1" lang="en-US" altLang="zh-CN" dirty="0"/>
          </a:p>
          <a:p>
            <a:r>
              <a:rPr lang="en-US" altLang="zh-CN" dirty="0">
                <a:hlinkClick r:id="rId3"/>
              </a:rPr>
              <a:t>https://en.wikipedia.org/wiki/B%C3%A9zier_curve</a:t>
            </a:r>
            <a:endParaRPr kumimoji="1" lang="zh-CN" altLang="en-US" dirty="0"/>
          </a:p>
        </p:txBody>
      </p:sp>
      <p:sp>
        <p:nvSpPr>
          <p:cNvPr id="4" name="幻灯片编号占位符 3"/>
          <p:cNvSpPr>
            <a:spLocks noGrp="1"/>
          </p:cNvSpPr>
          <p:nvPr>
            <p:ph type="sldNum" sz="quarter" idx="10"/>
          </p:nvPr>
        </p:nvSpPr>
        <p:spPr/>
        <p:txBody>
          <a:bodyPr/>
          <a:lstStyle/>
          <a:p>
            <a:fld id="{5A0C6D0D-E51B-4BE5-990B-CEAC2FCCE1DC}"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Bezier = Open-Uniform Non-rational B-Spline</a:t>
            </a:r>
            <a:endParaRPr kumimoji="1" lang="en-US" altLang="zh-CN" dirty="0"/>
          </a:p>
          <a:p>
            <a:r>
              <a:rPr kumimoji="1" lang="zh-CN" altLang="en-US" dirty="0"/>
              <a:t>参数曲面是常用的曲面绘制工具，例如</a:t>
            </a:r>
            <a:r>
              <a:rPr kumimoji="1" lang="en-US" altLang="zh-CN" dirty="0"/>
              <a:t>CAD</a:t>
            </a:r>
            <a:r>
              <a:rPr kumimoji="1" lang="zh-CN" altLang="en-US" dirty="0"/>
              <a:t>造型，</a:t>
            </a:r>
            <a:r>
              <a:rPr kumimoji="1" lang="en-US" altLang="zh-CN" dirty="0"/>
              <a:t>windows/office</a:t>
            </a:r>
            <a:r>
              <a:rPr kumimoji="1" lang="zh-CN" altLang="en-US" dirty="0"/>
              <a:t>中的曲线工具。</a:t>
            </a:r>
            <a:endParaRPr kumimoji="1" lang="en-US" altLang="zh-CN" dirty="0"/>
          </a:p>
          <a:p>
            <a:r>
              <a:rPr kumimoji="1" lang="zh-CN" altLang="en-US" dirty="0"/>
              <a:t>在</a:t>
            </a:r>
            <a:r>
              <a:rPr kumimoji="1" lang="en-US" altLang="zh-CN" dirty="0"/>
              <a:t>UI</a:t>
            </a:r>
            <a:r>
              <a:rPr kumimoji="1" lang="zh-CN" altLang="en-US" dirty="0"/>
              <a:t>中，用户通常是通过点几个点</a:t>
            </a:r>
            <a:r>
              <a:rPr kumimoji="1" lang="en-US" altLang="zh-CN" dirty="0"/>
              <a:t>(</a:t>
            </a:r>
            <a:r>
              <a:rPr kumimoji="1" lang="zh-CN" altLang="en-US" dirty="0"/>
              <a:t>控制点</a:t>
            </a:r>
            <a:r>
              <a:rPr kumimoji="1" lang="en-US" altLang="zh-CN" dirty="0"/>
              <a:t>)</a:t>
            </a:r>
            <a:r>
              <a:rPr kumimoji="1" lang="zh-CN" altLang="en-US" dirty="0"/>
              <a:t>并拖动，实现曲线的设计。</a:t>
            </a:r>
            <a:endParaRPr kumimoji="1" lang="en-US" altLang="zh-CN" dirty="0"/>
          </a:p>
          <a:p>
            <a:r>
              <a:rPr kumimoji="1" lang="zh-CN" altLang="en-US" dirty="0"/>
              <a:t>自变量一般含有</a:t>
            </a:r>
            <a:r>
              <a:rPr kumimoji="1" lang="en-US" altLang="zh-CN" dirty="0"/>
              <a:t>1</a:t>
            </a:r>
            <a:r>
              <a:rPr kumimoji="1" lang="zh-CN" altLang="en-US" dirty="0"/>
              <a:t>个</a:t>
            </a:r>
            <a:r>
              <a:rPr kumimoji="1" lang="en-US" altLang="zh-CN" dirty="0"/>
              <a:t>(</a:t>
            </a:r>
            <a:r>
              <a:rPr kumimoji="1" lang="zh-CN" altLang="en-US" dirty="0"/>
              <a:t>曲线</a:t>
            </a:r>
            <a:r>
              <a:rPr kumimoji="1" lang="en-US" altLang="zh-CN" dirty="0"/>
              <a:t>)</a:t>
            </a:r>
            <a:r>
              <a:rPr kumimoji="1" lang="zh-CN" altLang="en-US" dirty="0"/>
              <a:t>或者</a:t>
            </a:r>
            <a:r>
              <a:rPr kumimoji="1" lang="en-US" altLang="zh-CN" dirty="0"/>
              <a:t>2</a:t>
            </a:r>
            <a:r>
              <a:rPr kumimoji="1" lang="zh-CN" altLang="en-US" dirty="0"/>
              <a:t>个</a:t>
            </a:r>
            <a:r>
              <a:rPr kumimoji="1" lang="en-US" altLang="zh-CN" dirty="0"/>
              <a:t>(</a:t>
            </a:r>
            <a:r>
              <a:rPr kumimoji="1" lang="zh-CN" altLang="en-US" dirty="0"/>
              <a:t>曲面</a:t>
            </a:r>
            <a:r>
              <a:rPr kumimoji="1" lang="en-US" altLang="zh-CN" dirty="0"/>
              <a:t>)</a:t>
            </a:r>
            <a:r>
              <a:rPr kumimoji="1" lang="zh-CN" altLang="en-US" dirty="0"/>
              <a:t>，自变量的不同取值组合的集合，便得到了这样的一个曲线</a:t>
            </a:r>
            <a:r>
              <a:rPr kumimoji="1" lang="en-US" altLang="zh-CN" dirty="0"/>
              <a:t>/</a:t>
            </a:r>
            <a:r>
              <a:rPr kumimoji="1" lang="zh-CN" altLang="en-US" dirty="0"/>
              <a:t>曲面。</a:t>
            </a:r>
            <a:endParaRPr kumimoji="1" lang="en-US" altLang="zh-CN" dirty="0"/>
          </a:p>
          <a:p>
            <a:endParaRPr kumimoji="1" lang="en-US" altLang="zh-CN" dirty="0"/>
          </a:p>
          <a:p>
            <a:r>
              <a:rPr kumimoji="1" lang="zh-CN" altLang="en-US" dirty="0"/>
              <a:t>常见的曲线曲面有</a:t>
            </a:r>
            <a:r>
              <a:rPr kumimoji="1" lang="en-US" altLang="zh-CN" dirty="0"/>
              <a:t>Bezier</a:t>
            </a:r>
            <a:r>
              <a:rPr kumimoji="1" lang="zh-CN" altLang="en-US" dirty="0"/>
              <a:t>，</a:t>
            </a:r>
            <a:r>
              <a:rPr kumimoji="1" lang="en-US" altLang="zh-CN" dirty="0"/>
              <a:t>B</a:t>
            </a:r>
            <a:r>
              <a:rPr kumimoji="1" lang="zh-CN" altLang="en-US" dirty="0"/>
              <a:t>样条等等，我们以</a:t>
            </a:r>
            <a:r>
              <a:rPr kumimoji="1" lang="en-US" altLang="zh-CN" dirty="0"/>
              <a:t>Bezier</a:t>
            </a:r>
            <a:r>
              <a:rPr kumimoji="1" lang="zh-CN" altLang="en-US" dirty="0"/>
              <a:t>曲线曲面为例进行介绍，大家在实现的时候选用其他参数曲面也是可以的。</a:t>
            </a:r>
            <a:endParaRPr kumimoji="1" lang="en-US" altLang="zh-CN" dirty="0"/>
          </a:p>
          <a:p>
            <a:r>
              <a:rPr lang="en-US" altLang="zh-CN" dirty="0">
                <a:hlinkClick r:id="rId3"/>
              </a:rPr>
              <a:t>https://en.wikipedia.org/wiki/B%C3%A9zier_curve</a:t>
            </a:r>
            <a:endParaRPr kumimoji="1" lang="zh-CN" altLang="en-US" dirty="0"/>
          </a:p>
        </p:txBody>
      </p:sp>
      <p:sp>
        <p:nvSpPr>
          <p:cNvPr id="4" name="幻灯片编号占位符 3"/>
          <p:cNvSpPr>
            <a:spLocks noGrp="1"/>
          </p:cNvSpPr>
          <p:nvPr>
            <p:ph type="sldNum" sz="quarter" idx="10"/>
          </p:nvPr>
        </p:nvSpPr>
        <p:spPr/>
        <p:txBody>
          <a:bodyPr/>
          <a:lstStyle/>
          <a:p>
            <a:fld id="{5A0C6D0D-E51B-4BE5-990B-CEAC2FCCE1D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oMath>
                </a14:m>
                <a:r>
                  <a:rPr lang="zh-CN" altLang="en-US" dirty="0"/>
                  <a:t>又被称作</a:t>
                </a:r>
                <a:r>
                  <a:rPr lang="en-US" altLang="zh-CN" dirty="0"/>
                  <a:t>Bernstein Basis Polynomial</a:t>
                </a:r>
                <a:r>
                  <a:rPr lang="zh-CN" altLang="en-US" dirty="0"/>
                  <a:t>，一个数值稳定的计算方法为</a:t>
                </a:r>
                <a:r>
                  <a:rPr lang="en-US" altLang="zh-CN" dirty="0"/>
                  <a:t>De </a:t>
                </a:r>
                <a:r>
                  <a:rPr lang="en-US" altLang="zh-CN" dirty="0" err="1"/>
                  <a:t>Casteljau</a:t>
                </a:r>
                <a:r>
                  <a:rPr lang="zh-CN" altLang="en-US" dirty="0"/>
                  <a:t>算法</a:t>
                </a:r>
                <a:endParaRPr lang="en-US" altLang="zh-CN" dirty="0"/>
              </a:p>
              <a:p>
                <a:r>
                  <a:rPr lang="en-US" altLang="zh-CN" dirty="0"/>
                  <a:t>Bernstein</a:t>
                </a:r>
                <a:r>
                  <a:rPr lang="zh-CN" altLang="en-US" dirty="0"/>
                  <a:t>和</a:t>
                </a:r>
                <a:r>
                  <a:rPr lang="en-US" altLang="zh-CN" dirty="0"/>
                  <a:t>x</a:t>
                </a:r>
                <a:r>
                  <a:rPr lang="zh-CN" altLang="en-US" dirty="0"/>
                  <a:t>轴的交点即为</a:t>
                </a:r>
                <a:r>
                  <a:rPr lang="en-US" altLang="zh-CN" dirty="0"/>
                  <a:t>knots</a:t>
                </a:r>
                <a:r>
                  <a:rPr lang="zh-CN" altLang="en-US" dirty="0"/>
                  <a:t>的位置（算重根），上图所有的交点非</a:t>
                </a:r>
                <a:r>
                  <a:rPr lang="en-US" altLang="zh-CN" dirty="0"/>
                  <a:t>0</a:t>
                </a:r>
                <a:r>
                  <a:rPr lang="zh-CN" altLang="en-US" dirty="0"/>
                  <a:t>即</a:t>
                </a:r>
                <a:r>
                  <a:rPr lang="en-US" altLang="zh-CN" dirty="0"/>
                  <a:t>1</a:t>
                </a:r>
                <a:r>
                  <a:rPr lang="zh-CN" altLang="en-US" dirty="0"/>
                  <a:t>，所以我们称</a:t>
                </a:r>
                <a:r>
                  <a:rPr lang="en-US" altLang="zh-CN" dirty="0" err="1"/>
                  <a:t>bezier</a:t>
                </a:r>
                <a:r>
                  <a:rPr lang="zh-CN" altLang="en-US" dirty="0"/>
                  <a:t>是“非有理”的。</a:t>
                </a:r>
                <a:endParaRPr lang="en-US" altLang="zh-CN" dirty="0"/>
              </a:p>
              <a:p>
                <a:r>
                  <a:rPr lang="en-US" altLang="zh-CN" dirty="0">
                    <a:hlinkClick r:id="rId3"/>
                  </a:rPr>
                  <a:t>https://en.wikipedia.org/wiki/De_Casteljau%27s_algorithm</a:t>
                </a:r>
                <a:endParaRPr lang="en-US" altLang="zh-CN" dirty="0"/>
              </a:p>
              <a:p>
                <a:r>
                  <a:rPr lang="zh-CN" altLang="en-US" dirty="0"/>
                  <a:t>这样定义出来的</a:t>
                </a:r>
                <a:r>
                  <a:rPr lang="en-US" altLang="zh-CN" dirty="0"/>
                  <a:t>Bezier</a:t>
                </a:r>
                <a:r>
                  <a:rPr lang="zh-CN" altLang="en-US" dirty="0"/>
                  <a:t>曲线有许多好玩儿的性质，你能找出几个？</a:t>
                </a:r>
                <a:endParaRPr lang="en-US" altLang="zh-CN" dirty="0"/>
              </a:p>
              <a:p>
                <a:r>
                  <a:rPr lang="zh-CN" altLang="en-US" dirty="0"/>
                  <a:t>如何快速计算</a:t>
                </a: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oMath>
                </a14:m>
                <a:r>
                  <a:rPr lang="zh-CN" altLang="en-US" dirty="0"/>
                  <a:t>？预计算加速渲染？</a:t>
                </a:r>
                <a:endParaRPr lang="zh-CN" altLang="en-US"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4"/>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5A0C6D0D-E51B-4BE5-990B-CEAC2FCCE1D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oMath>
                </a14:m>
                <a:r>
                  <a:rPr lang="zh-CN" altLang="en-US" dirty="0"/>
                  <a:t>又被称作</a:t>
                </a:r>
                <a:r>
                  <a:rPr lang="en-US" altLang="zh-CN" dirty="0"/>
                  <a:t>Bernstein Basis Polynomial</a:t>
                </a:r>
                <a:r>
                  <a:rPr lang="zh-CN" altLang="en-US" dirty="0"/>
                  <a:t>，一个数值稳定的计算方法为</a:t>
                </a:r>
                <a:r>
                  <a:rPr lang="en-US" altLang="zh-CN" dirty="0"/>
                  <a:t>De </a:t>
                </a:r>
                <a:r>
                  <a:rPr lang="en-US" altLang="zh-CN" dirty="0" err="1"/>
                  <a:t>Casteljau</a:t>
                </a:r>
                <a:r>
                  <a:rPr lang="zh-CN" altLang="en-US" dirty="0"/>
                  <a:t>算法</a:t>
                </a:r>
                <a:endParaRPr lang="en-US" altLang="zh-CN" dirty="0"/>
              </a:p>
              <a:p>
                <a:r>
                  <a:rPr lang="en-US" altLang="zh-CN" dirty="0">
                    <a:hlinkClick r:id="rId3"/>
                  </a:rPr>
                  <a:t>https://en.wikipedia.org/wiki/De_Casteljau%27s_algorithm</a:t>
                </a:r>
                <a:endParaRPr lang="en-US" altLang="zh-CN" dirty="0"/>
              </a:p>
              <a:p>
                <a:r>
                  <a:rPr lang="zh-CN" altLang="en-US" dirty="0"/>
                  <a:t>这样定义出来的</a:t>
                </a:r>
                <a:r>
                  <a:rPr lang="en-US" altLang="zh-CN" dirty="0"/>
                  <a:t>Bezier</a:t>
                </a:r>
                <a:r>
                  <a:rPr lang="zh-CN" altLang="en-US" dirty="0"/>
                  <a:t>曲线有许多好玩儿的性质，你能找出几个？</a:t>
                </a:r>
                <a:endParaRPr lang="en-US" altLang="zh-CN" dirty="0"/>
              </a:p>
              <a:p>
                <a:r>
                  <a:rPr lang="zh-CN" altLang="en-US" dirty="0"/>
                  <a:t>如何快速计算</a:t>
                </a: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oMath>
                </a14:m>
                <a:r>
                  <a:rPr lang="zh-CN" altLang="en-US" dirty="0"/>
                  <a:t>？预计算加速渲染？</a:t>
                </a:r>
                <a:endParaRPr lang="zh-CN" altLang="en-US"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4"/>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5A0C6D0D-E51B-4BE5-990B-CEAC2FCCE1DC}"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这一页中的</a:t>
            </a:r>
            <a:r>
              <a:rPr lang="en-US" altLang="zh-CN" dirty="0"/>
              <a:t>P</a:t>
            </a:r>
            <a:r>
              <a:rPr lang="zh-CN" altLang="en-US" dirty="0"/>
              <a:t>是二维的，不是三维的。用</a:t>
            </a:r>
            <a:r>
              <a:rPr lang="en-US" altLang="zh-CN" dirty="0"/>
              <a:t>Bezier</a:t>
            </a:r>
            <a:r>
              <a:rPr lang="zh-CN" altLang="en-US" dirty="0"/>
              <a:t>曲线去做造型，就相当于是在一张纸上画出这样一条线，然后把这张纸平个移或者转个圈。</a:t>
            </a:r>
            <a:endParaRPr lang="en-US" altLang="zh-CN" dirty="0"/>
          </a:p>
          <a:p>
            <a:r>
              <a:rPr lang="zh-CN" altLang="en-US" dirty="0"/>
              <a:t>所以也会构成两个自变量，一个是</a:t>
            </a:r>
            <a:r>
              <a:rPr lang="en-US" altLang="zh-CN" dirty="0"/>
              <a:t>t</a:t>
            </a:r>
            <a:r>
              <a:rPr lang="zh-CN" altLang="en-US" dirty="0"/>
              <a:t>代表的是参数曲线的自变量；另一个</a:t>
            </a:r>
            <a:r>
              <a:rPr lang="en-US" altLang="zh-CN" dirty="0"/>
              <a:t>\theta</a:t>
            </a:r>
            <a:r>
              <a:rPr lang="zh-CN" altLang="en-US" dirty="0"/>
              <a:t>便是旋转量。</a:t>
            </a:r>
            <a:endParaRPr lang="en-US" altLang="zh-CN" dirty="0"/>
          </a:p>
          <a:p>
            <a:endParaRPr lang="en-US" altLang="zh-CN" dirty="0"/>
          </a:p>
          <a:p>
            <a:r>
              <a:rPr lang="zh-CN" altLang="en-US" dirty="0"/>
              <a:t>列出这里的导数，主要是求交会用到。</a:t>
            </a:r>
            <a:endParaRPr lang="en-US" altLang="zh-CN" dirty="0"/>
          </a:p>
          <a:p>
            <a:r>
              <a:rPr lang="zh-CN" altLang="en-US" dirty="0"/>
              <a:t>（看来要板书）</a:t>
            </a:r>
            <a:endParaRPr lang="zh-CN" altLang="en-US" dirty="0"/>
          </a:p>
        </p:txBody>
      </p:sp>
      <p:sp>
        <p:nvSpPr>
          <p:cNvPr id="4" name="灯片编号占位符 3"/>
          <p:cNvSpPr>
            <a:spLocks noGrp="1"/>
          </p:cNvSpPr>
          <p:nvPr>
            <p:ph type="sldNum" sz="quarter" idx="10"/>
          </p:nvPr>
        </p:nvSpPr>
        <p:spPr/>
        <p:txBody>
          <a:bodyPr/>
          <a:lstStyle/>
          <a:p>
            <a:fld id="{5A0C6D0D-E51B-4BE5-990B-CEAC2FCCE1DC}"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一些展示</a:t>
            </a:r>
            <a:endParaRPr lang="en-US" altLang="zh-CN" dirty="0"/>
          </a:p>
          <a:p>
            <a:r>
              <a:rPr lang="en-US" altLang="zh-CN" dirty="0"/>
              <a:t>Tutorial</a:t>
            </a:r>
            <a:r>
              <a:rPr lang="en-US" altLang="zh-CN" baseline="0" dirty="0"/>
              <a:t> for this cup: http://www.3dworld-wide.com/spline-modeling-</a:t>
            </a:r>
            <a:r>
              <a:rPr lang="en-US" altLang="zh-CN" baseline="0" dirty="0" err="1"/>
              <a:t>glass.html</a:t>
            </a:r>
            <a:endParaRPr lang="en-US" altLang="zh-CN" dirty="0"/>
          </a:p>
          <a:p>
            <a:r>
              <a:rPr lang="en-US" altLang="zh-CN" dirty="0"/>
              <a:t>About this teapot: http://vis.berkeley.edu/~joshea/projects/bezier/</a:t>
            </a:r>
            <a:endParaRPr lang="zh-CN" altLang="en-US" dirty="0"/>
          </a:p>
        </p:txBody>
      </p:sp>
      <p:sp>
        <p:nvSpPr>
          <p:cNvPr id="4" name="灯片编号占位符 3"/>
          <p:cNvSpPr>
            <a:spLocks noGrp="1"/>
          </p:cNvSpPr>
          <p:nvPr>
            <p:ph type="sldNum" sz="quarter" idx="10"/>
          </p:nvPr>
        </p:nvSpPr>
        <p:spPr/>
        <p:txBody>
          <a:bodyPr/>
          <a:lstStyle/>
          <a:p>
            <a:fld id="{5A0C6D0D-E51B-4BE5-990B-CEAC2FCCE1DC}"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放大到局部，这两张分别是使用不同方法进行渲染而得到的结果。</a:t>
            </a:r>
            <a:endParaRPr kumimoji="1" lang="en-US" altLang="zh-CN" dirty="0"/>
          </a:p>
          <a:p>
            <a:r>
              <a:rPr kumimoji="1" lang="zh-CN" altLang="en-US" dirty="0"/>
              <a:t>左边这张：参数曲面渲染</a:t>
            </a:r>
            <a:endParaRPr kumimoji="1" lang="en-US" altLang="zh-CN" dirty="0"/>
          </a:p>
          <a:p>
            <a:r>
              <a:rPr kumimoji="1" lang="zh-CN" altLang="en-US" dirty="0"/>
              <a:t>右边这张：把参数曲面采样成网格，进行渲染</a:t>
            </a:r>
            <a:endParaRPr kumimoji="1" lang="en-US" altLang="zh-CN" dirty="0"/>
          </a:p>
          <a:p>
            <a:r>
              <a:rPr kumimoji="1" lang="zh-CN" altLang="en-US" dirty="0"/>
              <a:t>理论上来说，采样率越高，右边的结果就会越逼近左边的结果；但是和该网格对象求交的难度也会增加（判断相交面片）</a:t>
            </a:r>
            <a:endParaRPr kumimoji="1" lang="zh-CN" altLang="en-US" dirty="0"/>
          </a:p>
        </p:txBody>
      </p:sp>
      <p:sp>
        <p:nvSpPr>
          <p:cNvPr id="4" name="幻灯片编号占位符 3"/>
          <p:cNvSpPr>
            <a:spLocks noGrp="1"/>
          </p:cNvSpPr>
          <p:nvPr>
            <p:ph type="sldNum" sz="quarter" idx="10"/>
          </p:nvPr>
        </p:nvSpPr>
        <p:spPr/>
        <p:txBody>
          <a:bodyPr/>
          <a:lstStyle/>
          <a:p>
            <a:fld id="{5A0C6D0D-E51B-4BE5-990B-CEAC2FCCE1DC}"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光线与一般平面</a:t>
            </a:r>
            <a:r>
              <a:rPr lang="en-US" altLang="zh-CN" dirty="0"/>
              <a:t>/</a:t>
            </a:r>
            <a:r>
              <a:rPr lang="zh-CN" altLang="en-US" dirty="0"/>
              <a:t>球面的求交胡老师已经在课上讲过，参考 课件</a:t>
            </a:r>
            <a:r>
              <a:rPr lang="en-US" altLang="zh-CN" dirty="0"/>
              <a:t>-</a:t>
            </a:r>
            <a:r>
              <a:rPr lang="zh-CN" altLang="en-US" dirty="0"/>
              <a:t>光线跟踪</a:t>
            </a:r>
            <a:endParaRPr lang="en-US" altLang="zh-CN" dirty="0"/>
          </a:p>
          <a:p>
            <a:r>
              <a:rPr lang="zh-CN" altLang="en-US" dirty="0"/>
              <a:t>反射、折射公式参考 课件</a:t>
            </a:r>
            <a:r>
              <a:rPr lang="en-US" altLang="zh-CN" dirty="0"/>
              <a:t>-</a:t>
            </a:r>
            <a:r>
              <a:rPr lang="zh-CN" altLang="en-US" dirty="0"/>
              <a:t>光线跟踪</a:t>
            </a:r>
            <a:endParaRPr lang="zh-CN" altLang="en-US" dirty="0"/>
          </a:p>
        </p:txBody>
      </p:sp>
      <p:sp>
        <p:nvSpPr>
          <p:cNvPr id="4" name="灯片编号占位符 3"/>
          <p:cNvSpPr>
            <a:spLocks noGrp="1"/>
          </p:cNvSpPr>
          <p:nvPr>
            <p:ph type="sldNum" sz="quarter" idx="10"/>
          </p:nvPr>
        </p:nvSpPr>
        <p:spPr/>
        <p:txBody>
          <a:bodyPr/>
          <a:lstStyle/>
          <a:p>
            <a:fld id="{5A0C6D0D-E51B-4BE5-990B-CEAC2FCCE1DC}"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5A0C6D0D-E51B-4BE5-990B-CEAC2FCCE1DC}"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dirty="0"/>
              <a:t>迭进坑的话，允许暴力撒初值，当然时间代价也会更高</a:t>
            </a:r>
            <a:r>
              <a:rPr kumimoji="1" lang="zh-CN" altLang="en-US" dirty="0">
                <a:sym typeface="Wingdings" panose="05000000000000000000"/>
              </a:rPr>
              <a:t></a:t>
            </a:r>
            <a:endParaRPr kumimoji="1" lang="en-US" altLang="zh-CN" dirty="0">
              <a:sym typeface="Wingdings" panose="05000000000000000000"/>
            </a:endParaRPr>
          </a:p>
          <a:p>
            <a:endParaRPr lang="zh-CN" altLang="en-US" dirty="0"/>
          </a:p>
        </p:txBody>
      </p:sp>
      <p:sp>
        <p:nvSpPr>
          <p:cNvPr id="4" name="灯片编号占位符 3"/>
          <p:cNvSpPr>
            <a:spLocks noGrp="1"/>
          </p:cNvSpPr>
          <p:nvPr>
            <p:ph type="sldNum" sz="quarter" idx="10"/>
          </p:nvPr>
        </p:nvSpPr>
        <p:spPr/>
        <p:txBody>
          <a:bodyPr/>
          <a:lstStyle/>
          <a:p>
            <a:fld id="{5A0C6D0D-E51B-4BE5-990B-CEAC2FCCE1D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endParaRPr lang="zh-CN" altLang="en-US" dirty="0">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D32CFB6D-A033-429C-B1EB-9D2B73F121BA}"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2pPr>
              <a:defRPr sz="2600"/>
            </a:lvl2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E4EBA95B-5DAE-4441-8E74-1E9D7E8A25B5}" type="datetimeFigureOut">
              <a:rPr lang="zh-CN" altLang="en-US" smtClean="0">
                <a:solidFill>
                  <a:prstClr val="black">
                    <a:tint val="75000"/>
                  </a:prstClr>
                </a:solidFill>
              </a:rPr>
            </a:fld>
            <a:endParaRPr lang="zh-CN" altLang="en-US" dirty="0">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D32CFB6D-A033-429C-B1EB-9D2B73F121BA}" type="slidenum">
              <a:rPr lang="zh-CN" altLang="en-US" smtClean="0">
                <a:solidFill>
                  <a:prstClr val="black">
                    <a:tint val="75000"/>
                  </a:prstClr>
                </a:solidFill>
              </a:rPr>
            </a:fld>
            <a:endParaRPr lang="zh-CN" altLang="en-US" dirty="0">
              <a:solidFill>
                <a:prstClr val="black">
                  <a:tint val="75000"/>
                </a:prstClr>
              </a:solidFill>
            </a:endParaRPr>
          </a:p>
        </p:txBody>
      </p:sp>
      <p:sp>
        <p:nvSpPr>
          <p:cNvPr id="7" name="TextBox 6"/>
          <p:cNvSpPr txBox="1"/>
          <p:nvPr userDrawn="1"/>
        </p:nvSpPr>
        <p:spPr>
          <a:xfrm>
            <a:off x="6660233" y="6323344"/>
            <a:ext cx="2031325" cy="369332"/>
          </a:xfrm>
          <a:prstGeom prst="rect">
            <a:avLst/>
          </a:prstGeom>
          <a:noFill/>
        </p:spPr>
        <p:txBody>
          <a:bodyPr wrap="none" rtlCol="0">
            <a:spAutoFit/>
          </a:bodyPr>
          <a:lstStyle/>
          <a:p>
            <a:r>
              <a:rPr lang="zh-CN" altLang="en-US" sz="1800" b="1" dirty="0">
                <a:solidFill>
                  <a:srgbClr val="1F497D"/>
                </a:solidFill>
                <a:latin typeface="仿宋" pitchFamily="49" charset="-122"/>
                <a:ea typeface="仿宋" pitchFamily="49" charset="-122"/>
              </a:rPr>
              <a:t>计算机图形学基础</a:t>
            </a:r>
            <a:endParaRPr lang="zh-CN" altLang="en-US" sz="1800" b="1" dirty="0">
              <a:solidFill>
                <a:srgbClr val="1F497D"/>
              </a:solidFill>
              <a:latin typeface="仿宋" pitchFamily="49" charset="-122"/>
              <a:ea typeface="仿宋" pitchFamily="49" charset="-122"/>
            </a:endParaRPr>
          </a:p>
        </p:txBody>
      </p:sp>
      <p:sp>
        <p:nvSpPr>
          <p:cNvPr id="8" name="矩形 7"/>
          <p:cNvSpPr/>
          <p:nvPr userDrawn="1"/>
        </p:nvSpPr>
        <p:spPr>
          <a:xfrm>
            <a:off x="467545" y="6323344"/>
            <a:ext cx="881973" cy="369332"/>
          </a:xfrm>
          <a:prstGeom prst="rect">
            <a:avLst/>
          </a:prstGeom>
        </p:spPr>
        <p:txBody>
          <a:bodyPr wrap="none">
            <a:spAutoFit/>
          </a:bodyPr>
          <a:lstStyle/>
          <a:p>
            <a:r>
              <a:rPr lang="zh-CN" altLang="en-US" sz="1800" b="1" dirty="0">
                <a:solidFill>
                  <a:srgbClr val="1F497D"/>
                </a:solidFill>
                <a:latin typeface="仿宋" pitchFamily="49" charset="-122"/>
                <a:ea typeface="仿宋" pitchFamily="49" charset="-122"/>
              </a:rPr>
              <a:t>习题课</a:t>
            </a:r>
            <a:endParaRPr lang="zh-CN" altLang="en-US" sz="1800" b="1" dirty="0">
              <a:solidFill>
                <a:srgbClr val="1F497D"/>
              </a:solidFill>
              <a:latin typeface="仿宋" pitchFamily="49" charset="-122"/>
              <a:ea typeface="仿宋"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4EBA95B-5DAE-4441-8E74-1E9D7E8A25B5}"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D32CFB6D-A033-429C-B1EB-9D2B73F121BA}"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E4EBA95B-5DAE-4441-8E74-1E9D7E8A25B5}"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D32CFB6D-A033-429C-B1EB-9D2B73F121BA}"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E4EBA95B-5DAE-4441-8E74-1E9D7E8A25B5}" type="datetimeFigureOut">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D32CFB6D-A033-429C-B1EB-9D2B73F121BA}"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4EBA95B-5DAE-4441-8E74-1E9D7E8A25B5}" type="datetimeFigureOut">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D32CFB6D-A033-429C-B1EB-9D2B73F121BA}"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4EBA95B-5DAE-4441-8E74-1E9D7E8A25B5}" type="datetimeFigureOut">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D32CFB6D-A033-429C-B1EB-9D2B73F121BA}"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4EBA95B-5DAE-4441-8E74-1E9D7E8A25B5}"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D32CFB6D-A033-429C-B1EB-9D2B73F121BA}"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4EBA95B-5DAE-4441-8E74-1E9D7E8A25B5}"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D32CFB6D-A033-429C-B1EB-9D2B73F121BA}"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4EBA95B-5DAE-4441-8E74-1E9D7E8A25B5}"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D32CFB6D-A033-429C-B1EB-9D2B73F121BA}"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4EBA95B-5DAE-4441-8E74-1E9D7E8A25B5}"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D32CFB6D-A033-429C-B1EB-9D2B73F121BA}"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74638"/>
            <a:ext cx="7211144"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EBA95B-5DAE-4441-8E74-1E9D7E8A25B5}" type="datetimeFigureOut">
              <a:rPr lang="zh-CN" altLang="en-US" smtClean="0">
                <a:solidFill>
                  <a:prstClr val="black">
                    <a:tint val="75000"/>
                  </a:prstClr>
                </a:solidFill>
              </a:rPr>
            </a:fld>
            <a:endParaRPr lang="zh-CN" altLang="en-US" dirty="0">
              <a:solidFill>
                <a:prstClr val="black">
                  <a:tint val="75000"/>
                </a:prstClr>
              </a:solidFill>
            </a:endParaRPr>
          </a:p>
        </p:txBody>
      </p:sp>
      <p:sp>
        <p:nvSpPr>
          <p:cNvPr id="5" name="页脚占位符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solidFill>
                <a:prstClr val="black">
                  <a:tint val="75000"/>
                </a:prstClr>
              </a:solidFill>
            </a:endParaRPr>
          </a:p>
        </p:txBody>
      </p:sp>
      <p:sp>
        <p:nvSpPr>
          <p:cNvPr id="6" name="灯片编号占位符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2CFB6D-A033-429C-B1EB-9D2B73F121BA}" type="slidenum">
              <a:rPr lang="zh-CN" altLang="en-US" smtClean="0">
                <a:solidFill>
                  <a:prstClr val="black">
                    <a:tint val="75000"/>
                  </a:prstClr>
                </a:solidFill>
              </a:rPr>
            </a:fld>
            <a:endParaRPr lang="zh-CN" altLang="en-US">
              <a:solidFill>
                <a:prstClr val="black">
                  <a:tint val="75000"/>
                </a:prstClr>
              </a:solidFill>
            </a:endParaRPr>
          </a:p>
        </p:txBody>
      </p:sp>
      <p:pic>
        <p:nvPicPr>
          <p:cNvPr id="1026" name="Picture 2"/>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7740353" y="154217"/>
            <a:ext cx="970529" cy="9705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userDrawn="1"/>
        </p:nvSpPr>
        <p:spPr>
          <a:xfrm>
            <a:off x="467544" y="1340768"/>
            <a:ext cx="8208912" cy="72008"/>
          </a:xfrm>
          <a:prstGeom prst="rect">
            <a:avLst/>
          </a:prstGeom>
          <a:solidFill>
            <a:srgbClr val="82318E"/>
          </a:solidFill>
          <a:ln w="3175">
            <a:solidFill>
              <a:srgbClr val="8166A2"/>
            </a:solidFill>
          </a:ln>
          <a:effectLst>
            <a:reflection blurRad="6350" stA="50000" endA="300" endPos="90000" dir="5400000" sy="-100000" algn="bl" rotWithShape="0"/>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800">
              <a:solidFill>
                <a:prstClr val="white"/>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000" b="1"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GIF"/><Relationship Id="rId3" Type="http://schemas.openxmlformats.org/officeDocument/2006/relationships/image" Target="../media/image15.GIF"/><Relationship Id="rId2" Type="http://schemas.openxmlformats.org/officeDocument/2006/relationships/image" Target="../media/image14.GIF"/><Relationship Id="rId10" Type="http://schemas.openxmlformats.org/officeDocument/2006/relationships/notesSlide" Target="../notesSlides/notesSlide7.xml"/><Relationship Id="rId1" Type="http://schemas.openxmlformats.org/officeDocument/2006/relationships/image" Target="../media/image13.GIF"/></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6.GIF"/><Relationship Id="rId3" Type="http://schemas.openxmlformats.org/officeDocument/2006/relationships/image" Target="../media/image15.GIF"/><Relationship Id="rId2" Type="http://schemas.openxmlformats.org/officeDocument/2006/relationships/image" Target="../media/image14.GIF"/><Relationship Id="rId1" Type="http://schemas.openxmlformats.org/officeDocument/2006/relationships/image" Target="../media/image13.GIF"/></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4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46.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673374"/>
            <a:ext cx="7772400" cy="1899642"/>
          </a:xfrm>
        </p:spPr>
        <p:txBody>
          <a:bodyPr>
            <a:normAutofit/>
          </a:bodyPr>
          <a:lstStyle/>
          <a:p>
            <a:r>
              <a:rPr lang="en-US" altLang="zh-CN" sz="4800" dirty="0">
                <a:latin typeface="DengXian" charset="-122"/>
                <a:ea typeface="DengXian" charset="-122"/>
                <a:cs typeface="DengXian" charset="-122"/>
              </a:rPr>
              <a:t>《</a:t>
            </a:r>
            <a:r>
              <a:rPr lang="zh-CN" altLang="en-US" sz="4800" dirty="0">
                <a:latin typeface="DengXian" charset="-122"/>
                <a:ea typeface="DengXian" charset="-122"/>
                <a:cs typeface="DengXian" charset="-122"/>
              </a:rPr>
              <a:t>计算机图形学基础</a:t>
            </a:r>
            <a:r>
              <a:rPr lang="en-US" altLang="zh-CN" sz="4800" dirty="0">
                <a:latin typeface="DengXian" charset="-122"/>
                <a:ea typeface="DengXian" charset="-122"/>
                <a:cs typeface="DengXian" charset="-122"/>
              </a:rPr>
              <a:t>》</a:t>
            </a:r>
            <a:br>
              <a:rPr lang="en-US" altLang="zh-CN" sz="1200" dirty="0">
                <a:latin typeface="DengXian" charset="-122"/>
                <a:ea typeface="DengXian" charset="-122"/>
                <a:cs typeface="DengXian" charset="-122"/>
              </a:rPr>
            </a:br>
            <a:br>
              <a:rPr lang="en-US" altLang="zh-CN" sz="1200" dirty="0">
                <a:latin typeface="DengXian" charset="-122"/>
                <a:ea typeface="DengXian" charset="-122"/>
                <a:cs typeface="DengXian" charset="-122"/>
              </a:rPr>
            </a:br>
            <a:r>
              <a:rPr lang="zh-CN" altLang="en-US" dirty="0">
                <a:latin typeface="DengXian" charset="-122"/>
                <a:ea typeface="DengXian" charset="-122"/>
                <a:cs typeface="DengXian" charset="-122"/>
              </a:rPr>
              <a:t>习题课</a:t>
            </a:r>
            <a:r>
              <a:rPr lang="en-US" altLang="zh-CN" dirty="0">
                <a:latin typeface="DengXian" charset="-122"/>
                <a:ea typeface="DengXian" charset="-122"/>
                <a:cs typeface="DengXian" charset="-122"/>
              </a:rPr>
              <a:t>3</a:t>
            </a:r>
            <a:endParaRPr lang="zh-CN" altLang="en-US" dirty="0">
              <a:latin typeface="DengXian" charset="-122"/>
              <a:ea typeface="DengXian" charset="-122"/>
              <a:cs typeface="DengXian" charset="-122"/>
            </a:endParaRPr>
          </a:p>
        </p:txBody>
      </p:sp>
      <p:sp>
        <p:nvSpPr>
          <p:cNvPr id="3" name="副标题 2"/>
          <p:cNvSpPr>
            <a:spLocks noGrp="1"/>
          </p:cNvSpPr>
          <p:nvPr>
            <p:ph type="subTitle" idx="1"/>
          </p:nvPr>
        </p:nvSpPr>
        <p:spPr>
          <a:xfrm>
            <a:off x="1475656" y="4124672"/>
            <a:ext cx="6400800" cy="2472680"/>
          </a:xfrm>
        </p:spPr>
        <p:txBody>
          <a:bodyPr>
            <a:normAutofit/>
          </a:bodyPr>
          <a:lstStyle/>
          <a:p>
            <a:r>
              <a:rPr lang="zh-CN" altLang="en-US" sz="3600" b="1" dirty="0">
                <a:solidFill>
                  <a:schemeClr val="tx1"/>
                </a:solidFill>
                <a:latin typeface="DengXian" charset="-122"/>
                <a:ea typeface="DengXian" charset="-122"/>
                <a:cs typeface="DengXian" charset="-122"/>
              </a:rPr>
              <a:t>助教 冯启源</a:t>
            </a:r>
            <a:endParaRPr lang="en-US" altLang="zh-CN" b="1" dirty="0">
              <a:solidFill>
                <a:schemeClr val="tx1"/>
              </a:solidFill>
              <a:latin typeface="DengXian" charset="-122"/>
              <a:ea typeface="DengXian" charset="-122"/>
              <a:cs typeface="DengXian" charset="-122"/>
            </a:endParaRPr>
          </a:p>
          <a:p>
            <a:endParaRPr lang="en-US" altLang="zh-CN" dirty="0">
              <a:latin typeface="DengXian" charset="-122"/>
              <a:ea typeface="DengXian" charset="-122"/>
              <a:cs typeface="DengXian" charset="-122"/>
            </a:endParaRPr>
          </a:p>
          <a:p>
            <a:r>
              <a:rPr lang="en-US" altLang="zh-CN" dirty="0">
                <a:solidFill>
                  <a:schemeClr val="tx1"/>
                </a:solidFill>
                <a:latin typeface="DengXian" charset="-122"/>
                <a:ea typeface="DengXian" charset="-122"/>
                <a:cs typeface="DengXian" charset="-122"/>
              </a:rPr>
              <a:t>2025</a:t>
            </a:r>
            <a:r>
              <a:rPr lang="zh-CN" altLang="en-US" dirty="0">
                <a:solidFill>
                  <a:schemeClr val="tx1"/>
                </a:solidFill>
                <a:latin typeface="DengXian" charset="-122"/>
                <a:ea typeface="DengXian" charset="-122"/>
                <a:cs typeface="DengXian" charset="-122"/>
              </a:rPr>
              <a:t>年</a:t>
            </a:r>
            <a:r>
              <a:rPr lang="en-US" altLang="zh-CN" dirty="0">
                <a:solidFill>
                  <a:schemeClr val="tx1"/>
                </a:solidFill>
                <a:latin typeface="DengXian" charset="-122"/>
                <a:ea typeface="DengXian" charset="-122"/>
                <a:cs typeface="DengXian" charset="-122"/>
              </a:rPr>
              <a:t>4</a:t>
            </a:r>
            <a:r>
              <a:rPr lang="zh-CN" altLang="en-US" dirty="0">
                <a:solidFill>
                  <a:schemeClr val="tx1"/>
                </a:solidFill>
                <a:latin typeface="DengXian" charset="-122"/>
                <a:ea typeface="DengXian" charset="-122"/>
                <a:cs typeface="DengXian" charset="-122"/>
              </a:rPr>
              <a:t>月</a:t>
            </a:r>
            <a:r>
              <a:rPr lang="en-US" altLang="zh-CN" dirty="0">
                <a:solidFill>
                  <a:schemeClr val="tx1"/>
                </a:solidFill>
                <a:latin typeface="DengXian" charset="-122"/>
                <a:ea typeface="DengXian" charset="-122"/>
                <a:cs typeface="DengXian" charset="-122"/>
              </a:rPr>
              <a:t>12</a:t>
            </a:r>
            <a:r>
              <a:rPr lang="zh-CN" altLang="en-US" dirty="0">
                <a:solidFill>
                  <a:schemeClr val="tx1"/>
                </a:solidFill>
                <a:latin typeface="DengXian" charset="-122"/>
                <a:ea typeface="DengXian" charset="-122"/>
                <a:cs typeface="DengXian" charset="-122"/>
              </a:rPr>
              <a:t>日</a:t>
            </a:r>
            <a:endParaRPr lang="en-US" altLang="zh-CN" dirty="0">
              <a:solidFill>
                <a:schemeClr val="tx1"/>
              </a:solidFill>
              <a:latin typeface="DengXian" charset="-122"/>
              <a:ea typeface="DengXian" charset="-122"/>
              <a:cs typeface="DengXian" charset="-122"/>
            </a:endParaRPr>
          </a:p>
          <a:p>
            <a:endParaRPr lang="zh-CN" altLang="en-US" dirty="0">
              <a:latin typeface="DengXian" charset="-122"/>
              <a:ea typeface="DengXian" charset="-122"/>
              <a:cs typeface="DengXian"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本次习题课内容</a:t>
            </a:r>
            <a:endParaRPr lang="zh-CN" altLang="en-US" dirty="0"/>
          </a:p>
        </p:txBody>
      </p:sp>
      <p:sp>
        <p:nvSpPr>
          <p:cNvPr id="3" name="内容占位符 2"/>
          <p:cNvSpPr>
            <a:spLocks noGrp="1"/>
          </p:cNvSpPr>
          <p:nvPr>
            <p:ph idx="1"/>
          </p:nvPr>
        </p:nvSpPr>
        <p:spPr/>
        <p:txBody>
          <a:bodyPr/>
          <a:lstStyle/>
          <a:p>
            <a:r>
              <a:rPr lang="en-US" altLang="zh-CN" dirty="0"/>
              <a:t>OpenGL</a:t>
            </a:r>
            <a:endParaRPr lang="en-US" altLang="zh-CN" dirty="0"/>
          </a:p>
          <a:p>
            <a:r>
              <a:rPr lang="en-US" altLang="zh-CN" dirty="0"/>
              <a:t>PA2</a:t>
            </a:r>
            <a:r>
              <a:rPr lang="zh-CN" altLang="en-US" dirty="0"/>
              <a:t>：</a:t>
            </a:r>
            <a:r>
              <a:rPr lang="en-US" altLang="zh-CN" dirty="0"/>
              <a:t>Bezier </a:t>
            </a:r>
            <a:r>
              <a:rPr lang="zh-CN" altLang="en-US" dirty="0"/>
              <a:t>曲线</a:t>
            </a:r>
            <a:endParaRPr lang="en-US" altLang="zh-CN" dirty="0"/>
          </a:p>
          <a:p>
            <a:r>
              <a:rPr lang="zh-CN" altLang="en-US" dirty="0"/>
              <a:t>大作业：参数曲线数值求交</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404894"/>
            <a:ext cx="7772400" cy="1899642"/>
          </a:xfrm>
        </p:spPr>
        <p:txBody>
          <a:bodyPr>
            <a:normAutofit/>
          </a:bodyPr>
          <a:lstStyle/>
          <a:p>
            <a:r>
              <a:rPr lang="en-US" altLang="zh-CN" sz="4800" dirty="0">
                <a:latin typeface="DengXian" charset="-122"/>
                <a:ea typeface="DengXian" charset="-122"/>
                <a:cs typeface="DengXian" charset="-122"/>
              </a:rPr>
              <a:t>OpenGL</a:t>
            </a:r>
            <a:endParaRPr lang="zh-CN" altLang="en-US" dirty="0">
              <a:latin typeface="DengXian" charset="-122"/>
              <a:ea typeface="DengXian" charset="-122"/>
              <a:cs typeface="DengXian"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r>
              <a:rPr lang="en-US" dirty="0" err="1"/>
              <a:t>OpenGL是什么</a:t>
            </a:r>
            <a:r>
              <a:rPr lang="en-US" dirty="0"/>
              <a:t>?</a:t>
            </a:r>
            <a:endParaRPr lang="en-US" dirty="0"/>
          </a:p>
        </p:txBody>
      </p:sp>
      <p:sp>
        <p:nvSpPr>
          <p:cNvPr id="27651" name="Rectangle 3"/>
          <p:cNvSpPr>
            <a:spLocks noGrp="1" noChangeArrowheads="1"/>
          </p:cNvSpPr>
          <p:nvPr>
            <p:ph idx="1"/>
          </p:nvPr>
        </p:nvSpPr>
        <p:spPr/>
        <p:txBody>
          <a:bodyPr>
            <a:normAutofit/>
          </a:bodyPr>
          <a:lstStyle/>
          <a:p>
            <a:r>
              <a:rPr lang="en-US" dirty="0" err="1"/>
              <a:t>OpenGL是一个图形学渲染API</a:t>
            </a:r>
            <a:endParaRPr lang="en-US" dirty="0"/>
          </a:p>
          <a:p>
            <a:pPr lvl="1"/>
            <a:r>
              <a:rPr lang="en-US" dirty="0" err="1">
                <a:latin typeface="+mj-lt"/>
              </a:rPr>
              <a:t>使用OpenGL渲染几何</a:t>
            </a:r>
            <a:r>
              <a:rPr lang="en-US" dirty="0">
                <a:latin typeface="+mj-lt"/>
              </a:rPr>
              <a:t>/</a:t>
            </a:r>
            <a:r>
              <a:rPr lang="en-US" dirty="0" err="1">
                <a:latin typeface="+mj-lt"/>
              </a:rPr>
              <a:t>图像元素</a:t>
            </a:r>
            <a:r>
              <a:rPr lang="zh-CN" altLang="en-US" dirty="0">
                <a:latin typeface="+mj-lt"/>
              </a:rPr>
              <a:t>，能够生成高质量照片</a:t>
            </a:r>
            <a:endParaRPr lang="en-US" dirty="0">
              <a:latin typeface="+mj-lt"/>
            </a:endParaRPr>
          </a:p>
          <a:p>
            <a:pPr lvl="1"/>
            <a:r>
              <a:rPr lang="en-US" dirty="0">
                <a:latin typeface="+mj-lt"/>
              </a:rPr>
              <a:t>是许多包含</a:t>
            </a:r>
            <a:r>
              <a:rPr lang="en-US" altLang="zh-CN" dirty="0">
                <a:latin typeface="+mj-lt"/>
              </a:rPr>
              <a:t>3D</a:t>
            </a:r>
            <a:r>
              <a:rPr lang="zh-CN" altLang="en-US" dirty="0">
                <a:latin typeface="+mj-lt"/>
              </a:rPr>
              <a:t>的交互应用程序的基础</a:t>
            </a:r>
            <a:endParaRPr lang="en-US" dirty="0">
              <a:latin typeface="+mj-lt"/>
            </a:endParaRPr>
          </a:p>
          <a:p>
            <a:pPr lvl="1"/>
            <a:r>
              <a:rPr lang="en-US" dirty="0" err="1">
                <a:latin typeface="+mj-lt"/>
              </a:rPr>
              <a:t>相同的代码可以在不同的操作系统共通</a:t>
            </a:r>
            <a:endParaRPr lang="en-US" dirty="0" err="1">
              <a:latin typeface="+mj-lt"/>
            </a:endParaRPr>
          </a:p>
          <a:p>
            <a:pPr lvl="1"/>
            <a:r>
              <a:rPr lang="zh-CN" altLang="en-US" dirty="0">
                <a:latin typeface="+mj-lt"/>
              </a:rPr>
              <a:t>支持</a:t>
            </a:r>
            <a:r>
              <a:rPr lang="en-US" altLang="zh-CN" dirty="0">
                <a:latin typeface="+mj-lt"/>
              </a:rPr>
              <a:t>python</a:t>
            </a:r>
            <a:r>
              <a:rPr lang="zh-CN" altLang="en-US" dirty="0">
                <a:latin typeface="+mj-lt"/>
              </a:rPr>
              <a:t>，</a:t>
            </a:r>
            <a:r>
              <a:rPr lang="en-US" altLang="zh-CN" dirty="0">
                <a:latin typeface="+mj-lt"/>
              </a:rPr>
              <a:t>C/C++</a:t>
            </a:r>
            <a:r>
              <a:rPr lang="zh-CN" altLang="en-US" dirty="0">
                <a:latin typeface="+mj-lt"/>
              </a:rPr>
              <a:t>，</a:t>
            </a:r>
            <a:r>
              <a:rPr lang="en-US" altLang="zh-CN" dirty="0">
                <a:latin typeface="+mj-lt"/>
              </a:rPr>
              <a:t>Java</a:t>
            </a:r>
            <a:r>
              <a:rPr lang="zh-CN" altLang="en-US" dirty="0">
                <a:latin typeface="+mj-lt"/>
              </a:rPr>
              <a:t>等多种</a:t>
            </a:r>
            <a:r>
              <a:rPr lang="zh-CN" altLang="en-US" dirty="0">
                <a:latin typeface="+mj-lt"/>
              </a:rPr>
              <a:t>语言。</a:t>
            </a:r>
            <a:endParaRPr lang="zh-CN" altLang="en-US" dirty="0">
              <a:latin typeface="+mj-lt"/>
            </a:endParaRPr>
          </a:p>
          <a:p>
            <a:pPr lvl="1"/>
            <a:r>
              <a:rPr lang="zh-CN" altLang="en-US" dirty="0">
                <a:latin typeface="+mj-lt"/>
              </a:rPr>
              <a:t>OpenGL广泛应用于计算机</a:t>
            </a:r>
            <a:r>
              <a:rPr lang="zh-CN" altLang="en-US" dirty="0">
                <a:latin typeface="+mj-lt"/>
              </a:rPr>
              <a:t>辅助设计、虚拟现实、科学可视化程序和电子游戏开发。</a:t>
            </a:r>
            <a:endParaRPr lang="zh-CN" altLang="en-US" dirty="0">
              <a:latin typeface="+mj-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en-US" dirty="0" err="1"/>
              <a:t>起源</a:t>
            </a:r>
            <a:endParaRPr lang="en-US" dirty="0"/>
          </a:p>
        </p:txBody>
      </p:sp>
      <p:sp>
        <p:nvSpPr>
          <p:cNvPr id="3" name="Content Placeholder 2"/>
          <p:cNvSpPr>
            <a:spLocks noGrp="1"/>
          </p:cNvSpPr>
          <p:nvPr>
            <p:ph idx="1"/>
          </p:nvPr>
        </p:nvSpPr>
        <p:spPr/>
        <p:txBody>
          <a:bodyPr>
            <a:normAutofit/>
          </a:bodyPr>
          <a:lstStyle/>
          <a:p>
            <a:r>
              <a:rPr lang="en-US" dirty="0"/>
              <a:t>OpenGL 1.0于</a:t>
            </a:r>
            <a:r>
              <a:rPr lang="en-US" altLang="zh-CN" dirty="0"/>
              <a:t>1994</a:t>
            </a:r>
            <a:r>
              <a:rPr lang="zh-CN" altLang="en-US" dirty="0"/>
              <a:t>年</a:t>
            </a:r>
            <a:r>
              <a:rPr lang="en-US" altLang="zh-CN" dirty="0"/>
              <a:t>7</a:t>
            </a:r>
            <a:r>
              <a:rPr lang="zh-CN" altLang="en-US" dirty="0"/>
              <a:t>月份发布</a:t>
            </a:r>
            <a:endParaRPr lang="en-US" dirty="0"/>
          </a:p>
          <a:p>
            <a:r>
              <a:rPr lang="en-US" dirty="0" err="1"/>
              <a:t>其渲染管线大部分都是固定的</a:t>
            </a:r>
            <a:endParaRPr lang="en-US" dirty="0"/>
          </a:p>
          <a:p>
            <a:pPr lvl="1"/>
            <a:endParaRPr lang="en-US" dirty="0"/>
          </a:p>
          <a:p>
            <a:pPr lvl="1"/>
            <a:endParaRPr lang="en-US" dirty="0"/>
          </a:p>
          <a:p>
            <a:pPr lvl="1"/>
            <a:endParaRPr lang="en-US" dirty="0"/>
          </a:p>
          <a:p>
            <a:pPr lvl="1"/>
            <a:endParaRPr lang="en-US" dirty="0"/>
          </a:p>
          <a:p>
            <a:r>
              <a:rPr lang="en-US" dirty="0"/>
              <a:t>这种固定管线模式一直从OpenGL版本1.1 持续到2.0 (</a:t>
            </a:r>
            <a:r>
              <a:rPr lang="en-US" altLang="zh-CN" dirty="0"/>
              <a:t>2004</a:t>
            </a:r>
            <a:r>
              <a:rPr lang="zh-CN" altLang="en-US" dirty="0"/>
              <a:t>年</a:t>
            </a:r>
            <a:r>
              <a:rPr lang="en-US" altLang="zh-CN" dirty="0"/>
              <a:t>9</a:t>
            </a:r>
            <a:r>
              <a:rPr lang="zh-CN" altLang="en-US" dirty="0"/>
              <a:t>月</a:t>
            </a:r>
            <a:r>
              <a:rPr lang="en-US" dirty="0"/>
              <a:t>)</a:t>
            </a:r>
            <a:endParaRPr lang="en-US" dirty="0"/>
          </a:p>
        </p:txBody>
      </p:sp>
      <p:grpSp>
        <p:nvGrpSpPr>
          <p:cNvPr id="9" name="Group 8"/>
          <p:cNvGrpSpPr/>
          <p:nvPr/>
        </p:nvGrpSpPr>
        <p:grpSpPr>
          <a:xfrm>
            <a:off x="1387450" y="3074977"/>
            <a:ext cx="6665662" cy="1255136"/>
            <a:chOff x="1190428" y="2267030"/>
            <a:chExt cx="6665662" cy="1255136"/>
          </a:xfrm>
        </p:grpSpPr>
        <p:sp>
          <p:nvSpPr>
            <p:cNvPr id="6" name="Rounded Rectangle 5"/>
            <p:cNvSpPr/>
            <p:nvPr/>
          </p:nvSpPr>
          <p:spPr>
            <a:xfrm>
              <a:off x="3511017" y="2627880"/>
              <a:ext cx="895402" cy="447144"/>
            </a:xfrm>
            <a:prstGeom prst="roundRect">
              <a:avLst/>
            </a:prstGeom>
            <a:solidFill>
              <a:schemeClr val="accent2">
                <a:lumMod val="75000"/>
              </a:schemeClr>
            </a:solidFill>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900" dirty="0">
                  <a:solidFill>
                    <a:srgbClr val="FFFFFF"/>
                  </a:solidFill>
                </a:rPr>
                <a:t>Primitive</a:t>
              </a:r>
              <a:endParaRPr lang="en-US" sz="900" dirty="0">
                <a:solidFill>
                  <a:srgbClr val="FFFFFF"/>
                </a:solidFill>
              </a:endParaRPr>
            </a:p>
            <a:p>
              <a:pPr algn="ctr"/>
              <a:r>
                <a:rPr lang="en-US" sz="900" dirty="0">
                  <a:solidFill>
                    <a:srgbClr val="FFFFFF"/>
                  </a:solidFill>
                </a:rPr>
                <a:t>Setup and Rasterization</a:t>
              </a:r>
              <a:endParaRPr lang="en-US" sz="900" dirty="0">
                <a:solidFill>
                  <a:srgbClr val="FFFFFF"/>
                </a:solidFill>
              </a:endParaRPr>
            </a:p>
          </p:txBody>
        </p:sp>
        <p:sp>
          <p:nvSpPr>
            <p:cNvPr id="10" name="Rounded Rectangle 9"/>
            <p:cNvSpPr/>
            <p:nvPr/>
          </p:nvSpPr>
          <p:spPr>
            <a:xfrm>
              <a:off x="4671312" y="2627880"/>
              <a:ext cx="895402" cy="44714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900" dirty="0"/>
                <a:t>Fragment Coloring and Texturing</a:t>
              </a:r>
              <a:endParaRPr lang="en-US" sz="900" dirty="0"/>
            </a:p>
          </p:txBody>
        </p:sp>
        <p:sp>
          <p:nvSpPr>
            <p:cNvPr id="11" name="Rounded Rectangle 10"/>
            <p:cNvSpPr/>
            <p:nvPr/>
          </p:nvSpPr>
          <p:spPr>
            <a:xfrm>
              <a:off x="5831606" y="2627880"/>
              <a:ext cx="895402" cy="44714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900" dirty="0"/>
                <a:t>Blending</a:t>
              </a:r>
              <a:endParaRPr lang="en-US" sz="900" dirty="0"/>
            </a:p>
          </p:txBody>
        </p:sp>
        <p:pic>
          <p:nvPicPr>
            <p:cNvPr id="12" name="Picture 8" descr="T:\redtransteapot.png"/>
            <p:cNvPicPr preferRelativeResize="0">
              <a:picLocks noChangeAspect="1" noChangeArrowheads="1"/>
            </p:cNvPicPr>
            <p:nvPr/>
          </p:nvPicPr>
          <p:blipFill>
            <a:blip r:embed="rId1" cstate="print"/>
            <a:stretch>
              <a:fillRect/>
            </a:stretch>
          </p:blipFill>
          <p:spPr bwMode="auto">
            <a:xfrm>
              <a:off x="6991910" y="2422104"/>
              <a:ext cx="864180" cy="864180"/>
            </a:xfrm>
            <a:prstGeom prst="rect">
              <a:avLst/>
            </a:prstGeom>
            <a:noFill/>
            <a:ln>
              <a:solidFill>
                <a:srgbClr val="95BACD"/>
              </a:solidFill>
            </a:ln>
          </p:spPr>
        </p:pic>
        <p:sp>
          <p:nvSpPr>
            <p:cNvPr id="5" name="Rounded Rectangle 4"/>
            <p:cNvSpPr/>
            <p:nvPr/>
          </p:nvSpPr>
          <p:spPr>
            <a:xfrm>
              <a:off x="1190428" y="2267030"/>
              <a:ext cx="895402" cy="44714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900" dirty="0"/>
                <a:t>Vertex</a:t>
              </a:r>
              <a:br>
                <a:rPr lang="en-US" sz="900" dirty="0"/>
              </a:br>
              <a:r>
                <a:rPr lang="en-US" sz="900" dirty="0"/>
                <a:t>Data</a:t>
              </a:r>
              <a:endParaRPr lang="en-US" sz="900" dirty="0"/>
            </a:p>
          </p:txBody>
        </p:sp>
        <p:sp>
          <p:nvSpPr>
            <p:cNvPr id="13" name="Rounded Rectangle 12"/>
            <p:cNvSpPr/>
            <p:nvPr/>
          </p:nvSpPr>
          <p:spPr>
            <a:xfrm>
              <a:off x="1190428" y="2941831"/>
              <a:ext cx="895402" cy="44714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900" dirty="0"/>
                <a:t>Pixel</a:t>
              </a:r>
              <a:br>
                <a:rPr lang="en-US" sz="900" dirty="0"/>
              </a:br>
              <a:r>
                <a:rPr lang="en-US" sz="900" dirty="0"/>
                <a:t>Data</a:t>
              </a:r>
              <a:endParaRPr lang="en-US" sz="900" dirty="0"/>
            </a:p>
          </p:txBody>
        </p:sp>
        <p:sp>
          <p:nvSpPr>
            <p:cNvPr id="4" name="Rounded Rectangle 3"/>
            <p:cNvSpPr/>
            <p:nvPr/>
          </p:nvSpPr>
          <p:spPr>
            <a:xfrm>
              <a:off x="2350723" y="2267030"/>
              <a:ext cx="895402" cy="44714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900" dirty="0"/>
                <a:t>Vertex Transform and Lighting</a:t>
              </a:r>
              <a:endParaRPr lang="en-US" sz="900" dirty="0"/>
            </a:p>
          </p:txBody>
        </p:sp>
        <p:sp>
          <p:nvSpPr>
            <p:cNvPr id="14" name="Rounded Rectangle 13"/>
            <p:cNvSpPr/>
            <p:nvPr/>
          </p:nvSpPr>
          <p:spPr>
            <a:xfrm>
              <a:off x="2479317" y="3075022"/>
              <a:ext cx="895402" cy="44714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900" dirty="0"/>
                <a:t>Texture</a:t>
              </a:r>
              <a:br>
                <a:rPr lang="en-US" sz="900" dirty="0"/>
              </a:br>
              <a:r>
                <a:rPr lang="en-US" sz="900" dirty="0"/>
                <a:t>Store</a:t>
              </a:r>
              <a:endParaRPr lang="en-US" sz="900" dirty="0"/>
            </a:p>
          </p:txBody>
        </p:sp>
        <p:cxnSp>
          <p:nvCxnSpPr>
            <p:cNvPr id="18" name="Straight Arrow Connector 17"/>
            <p:cNvCxnSpPr>
              <a:stCxn id="5" idx="3"/>
              <a:endCxn id="4" idx="1"/>
            </p:cNvCxnSpPr>
            <p:nvPr/>
          </p:nvCxnSpPr>
          <p:spPr>
            <a:xfrm>
              <a:off x="2085830" y="2490602"/>
              <a:ext cx="264893" cy="1057"/>
            </a:xfrm>
            <a:prstGeom prst="straightConnector1">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4" idx="3"/>
              <a:endCxn id="6" idx="1"/>
            </p:cNvCxnSpPr>
            <p:nvPr/>
          </p:nvCxnSpPr>
          <p:spPr>
            <a:xfrm>
              <a:off x="3246125" y="2490602"/>
              <a:ext cx="264893" cy="360850"/>
            </a:xfrm>
            <a:prstGeom prst="bentConnector3">
              <a:avLst>
                <a:gd name="adj1" fmla="val 50000"/>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22" name="Shape 21"/>
            <p:cNvCxnSpPr>
              <a:stCxn id="13" idx="3"/>
              <a:endCxn id="6" idx="1"/>
            </p:cNvCxnSpPr>
            <p:nvPr/>
          </p:nvCxnSpPr>
          <p:spPr>
            <a:xfrm flipV="1">
              <a:off x="2085830" y="2851451"/>
              <a:ext cx="1425187" cy="313952"/>
            </a:xfrm>
            <a:prstGeom prst="bentConnector3">
              <a:avLst>
                <a:gd name="adj1" fmla="val 13908"/>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26" name="Elbow Connector 25"/>
            <p:cNvCxnSpPr>
              <a:stCxn id="13" idx="3"/>
              <a:endCxn id="14" idx="1"/>
            </p:cNvCxnSpPr>
            <p:nvPr/>
          </p:nvCxnSpPr>
          <p:spPr>
            <a:xfrm>
              <a:off x="2085830" y="3165403"/>
              <a:ext cx="393488" cy="133191"/>
            </a:xfrm>
            <a:prstGeom prst="bentConnector3">
              <a:avLst>
                <a:gd name="adj1" fmla="val 50000"/>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28" name="Shape 27"/>
            <p:cNvCxnSpPr>
              <a:stCxn id="14" idx="3"/>
              <a:endCxn id="10" idx="2"/>
            </p:cNvCxnSpPr>
            <p:nvPr/>
          </p:nvCxnSpPr>
          <p:spPr>
            <a:xfrm flipV="1">
              <a:off x="3374719" y="3075022"/>
              <a:ext cx="1744294" cy="223572"/>
            </a:xfrm>
            <a:prstGeom prst="bentConnector2">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6" idx="3"/>
              <a:endCxn id="10" idx="1"/>
            </p:cNvCxnSpPr>
            <p:nvPr/>
          </p:nvCxnSpPr>
          <p:spPr>
            <a:xfrm>
              <a:off x="4406419" y="2851451"/>
              <a:ext cx="264893" cy="1057"/>
            </a:xfrm>
            <a:prstGeom prst="straightConnector1">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0" idx="3"/>
            </p:cNvCxnSpPr>
            <p:nvPr/>
          </p:nvCxnSpPr>
          <p:spPr>
            <a:xfrm>
              <a:off x="5566714" y="2851451"/>
              <a:ext cx="264893" cy="1057"/>
            </a:xfrm>
            <a:prstGeom prst="straightConnector1">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3"/>
              <a:endCxn id="12" idx="1"/>
            </p:cNvCxnSpPr>
            <p:nvPr/>
          </p:nvCxnSpPr>
          <p:spPr>
            <a:xfrm>
              <a:off x="6727008" y="2851452"/>
              <a:ext cx="264902" cy="2742"/>
            </a:xfrm>
            <a:prstGeom prst="straightConnector1">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err="1"/>
              <a:t>可编程渲染管线</a:t>
            </a:r>
            <a:endParaRPr lang="en-US" sz="3200" dirty="0"/>
          </a:p>
        </p:txBody>
      </p:sp>
      <p:sp>
        <p:nvSpPr>
          <p:cNvPr id="3" name="Content Placeholder 2"/>
          <p:cNvSpPr>
            <a:spLocks noGrp="1"/>
          </p:cNvSpPr>
          <p:nvPr>
            <p:ph idx="1"/>
          </p:nvPr>
        </p:nvSpPr>
        <p:spPr/>
        <p:txBody>
          <a:bodyPr>
            <a:normAutofit lnSpcReduction="10000"/>
          </a:bodyPr>
          <a:lstStyle/>
          <a:p>
            <a:r>
              <a:rPr lang="en-US" dirty="0" err="1"/>
              <a:t>从OpenGL</a:t>
            </a:r>
            <a:r>
              <a:rPr lang="en-US" dirty="0"/>
              <a:t> 3.1开始</a:t>
            </a:r>
            <a:r>
              <a:rPr lang="zh-CN" altLang="en-US" dirty="0"/>
              <a:t>，</a:t>
            </a:r>
            <a:r>
              <a:rPr lang="en-US" dirty="0" err="1"/>
              <a:t>固定管线模式被移除</a:t>
            </a:r>
            <a:endParaRPr lang="en-US" dirty="0"/>
          </a:p>
          <a:p>
            <a:pPr lvl="1"/>
            <a:r>
              <a:rPr lang="en-US" dirty="0" err="1"/>
              <a:t>自此版本之后</a:t>
            </a:r>
            <a:r>
              <a:rPr lang="zh-CN" altLang="en-US" dirty="0"/>
              <a:t>，</a:t>
            </a:r>
            <a:r>
              <a:rPr lang="en-US" dirty="0" err="1"/>
              <a:t>OpenGL渲染管线需要使用着色器</a:t>
            </a:r>
            <a:r>
              <a:rPr lang="zh-CN" altLang="en-US" dirty="0"/>
              <a:t>（</a:t>
            </a:r>
            <a:r>
              <a:rPr lang="en-US" altLang="zh-CN" dirty="0"/>
              <a:t>Shaders</a:t>
            </a:r>
            <a:r>
              <a:rPr lang="zh-CN" altLang="en-US" dirty="0"/>
              <a:t>）编写</a:t>
            </a:r>
            <a:endParaRPr lang="en-US" dirty="0"/>
          </a:p>
          <a:p>
            <a:pPr lvl="1"/>
            <a:endParaRPr lang="en-US" dirty="0"/>
          </a:p>
          <a:p>
            <a:pPr lvl="1"/>
            <a:endParaRPr lang="en-US" dirty="0"/>
          </a:p>
          <a:p>
            <a:pPr lvl="1"/>
            <a:endParaRPr lang="en-US" dirty="0"/>
          </a:p>
          <a:p>
            <a:pPr lvl="1"/>
            <a:endParaRPr lang="en-US" dirty="0"/>
          </a:p>
          <a:p>
            <a:pPr lvl="1"/>
            <a:r>
              <a:rPr lang="en-US" dirty="0"/>
              <a:t>Shader: 运行在GPU上的小型程序，专门用于控制图形渲染管线中的各个阶段，或者执行通用并行计算</a:t>
            </a:r>
            <a:r>
              <a:rPr lang="zh-CN" altLang="en-US" dirty="0"/>
              <a:t>。</a:t>
            </a:r>
            <a:endParaRPr lang="zh-CN" altLang="en-US" dirty="0"/>
          </a:p>
        </p:txBody>
      </p:sp>
      <p:grpSp>
        <p:nvGrpSpPr>
          <p:cNvPr id="23" name="Group 22"/>
          <p:cNvGrpSpPr/>
          <p:nvPr/>
        </p:nvGrpSpPr>
        <p:grpSpPr>
          <a:xfrm>
            <a:off x="1239169" y="3235325"/>
            <a:ext cx="6665662" cy="1255136"/>
            <a:chOff x="1190428" y="2267030"/>
            <a:chExt cx="6665662" cy="1255136"/>
          </a:xfrm>
        </p:grpSpPr>
        <p:sp>
          <p:nvSpPr>
            <p:cNvPr id="24" name="Rounded Rectangle 23"/>
            <p:cNvSpPr/>
            <p:nvPr/>
          </p:nvSpPr>
          <p:spPr>
            <a:xfrm>
              <a:off x="3511017" y="2627880"/>
              <a:ext cx="895402" cy="447144"/>
            </a:xfrm>
            <a:prstGeom prst="roundRect">
              <a:avLst/>
            </a:prstGeom>
            <a:solidFill>
              <a:schemeClr val="accent2">
                <a:lumMod val="75000"/>
              </a:schemeClr>
            </a:solidFill>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900" dirty="0">
                  <a:solidFill>
                    <a:srgbClr val="FFFFFF"/>
                  </a:solidFill>
                </a:rPr>
                <a:t>Primitive</a:t>
              </a:r>
              <a:endParaRPr lang="en-US" sz="900" dirty="0">
                <a:solidFill>
                  <a:srgbClr val="FFFFFF"/>
                </a:solidFill>
              </a:endParaRPr>
            </a:p>
            <a:p>
              <a:pPr algn="ctr"/>
              <a:r>
                <a:rPr lang="en-US" sz="900" dirty="0">
                  <a:solidFill>
                    <a:srgbClr val="FFFFFF"/>
                  </a:solidFill>
                </a:rPr>
                <a:t>Setup and Rasterization</a:t>
              </a:r>
              <a:endParaRPr lang="en-US" sz="900" dirty="0">
                <a:solidFill>
                  <a:srgbClr val="FFFFFF"/>
                </a:solidFill>
              </a:endParaRPr>
            </a:p>
          </p:txBody>
        </p:sp>
        <p:sp>
          <p:nvSpPr>
            <p:cNvPr id="25" name="Rounded Rectangle 24"/>
            <p:cNvSpPr/>
            <p:nvPr/>
          </p:nvSpPr>
          <p:spPr>
            <a:xfrm>
              <a:off x="4671312" y="2627880"/>
              <a:ext cx="895402" cy="447144"/>
            </a:xfrm>
            <a:prstGeom prst="roundRect">
              <a:avLst/>
            </a:prstGeom>
            <a:solidFill>
              <a:srgbClr val="7030A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900" dirty="0">
                  <a:solidFill>
                    <a:schemeClr val="bg1"/>
                  </a:solidFill>
                </a:rPr>
                <a:t>Fragment Shader</a:t>
              </a:r>
              <a:endParaRPr lang="en-US" sz="900" dirty="0">
                <a:solidFill>
                  <a:schemeClr val="bg1"/>
                </a:solidFill>
              </a:endParaRPr>
            </a:p>
          </p:txBody>
        </p:sp>
        <p:sp>
          <p:nvSpPr>
            <p:cNvPr id="27" name="Rounded Rectangle 26"/>
            <p:cNvSpPr/>
            <p:nvPr/>
          </p:nvSpPr>
          <p:spPr>
            <a:xfrm>
              <a:off x="5831606" y="2627880"/>
              <a:ext cx="895402" cy="44714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900" dirty="0"/>
                <a:t>Blending</a:t>
              </a:r>
              <a:endParaRPr lang="en-US" sz="900" dirty="0"/>
            </a:p>
          </p:txBody>
        </p:sp>
        <p:pic>
          <p:nvPicPr>
            <p:cNvPr id="28" name="Picture 8" descr="T:\redtransteapot.png"/>
            <p:cNvPicPr preferRelativeResize="0">
              <a:picLocks noChangeAspect="1" noChangeArrowheads="1"/>
            </p:cNvPicPr>
            <p:nvPr/>
          </p:nvPicPr>
          <p:blipFill>
            <a:blip r:embed="rId1" cstate="print"/>
            <a:stretch>
              <a:fillRect/>
            </a:stretch>
          </p:blipFill>
          <p:spPr bwMode="auto">
            <a:xfrm>
              <a:off x="6991910" y="2422104"/>
              <a:ext cx="864180" cy="864180"/>
            </a:xfrm>
            <a:prstGeom prst="rect">
              <a:avLst/>
            </a:prstGeom>
            <a:noFill/>
            <a:ln>
              <a:solidFill>
                <a:srgbClr val="95BACD"/>
              </a:solidFill>
            </a:ln>
          </p:spPr>
        </p:pic>
        <p:sp>
          <p:nvSpPr>
            <p:cNvPr id="29" name="Rounded Rectangle 28"/>
            <p:cNvSpPr/>
            <p:nvPr/>
          </p:nvSpPr>
          <p:spPr>
            <a:xfrm>
              <a:off x="1190428" y="2267030"/>
              <a:ext cx="895402" cy="44714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900" dirty="0"/>
                <a:t>Vertex</a:t>
              </a:r>
              <a:br>
                <a:rPr lang="en-US" sz="900" dirty="0"/>
              </a:br>
              <a:r>
                <a:rPr lang="en-US" sz="900" dirty="0"/>
                <a:t>Data</a:t>
              </a:r>
              <a:endParaRPr lang="en-US" sz="900" dirty="0"/>
            </a:p>
          </p:txBody>
        </p:sp>
        <p:sp>
          <p:nvSpPr>
            <p:cNvPr id="30" name="Rounded Rectangle 29"/>
            <p:cNvSpPr/>
            <p:nvPr/>
          </p:nvSpPr>
          <p:spPr>
            <a:xfrm>
              <a:off x="1190428" y="2941831"/>
              <a:ext cx="895402" cy="44714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900" dirty="0"/>
                <a:t>Pixel</a:t>
              </a:r>
              <a:br>
                <a:rPr lang="en-US" sz="900" dirty="0"/>
              </a:br>
              <a:r>
                <a:rPr lang="en-US" sz="900" dirty="0"/>
                <a:t>Data</a:t>
              </a:r>
              <a:endParaRPr lang="en-US" sz="900" dirty="0"/>
            </a:p>
          </p:txBody>
        </p:sp>
        <p:sp>
          <p:nvSpPr>
            <p:cNvPr id="31" name="Rounded Rectangle 30"/>
            <p:cNvSpPr/>
            <p:nvPr/>
          </p:nvSpPr>
          <p:spPr>
            <a:xfrm>
              <a:off x="2350723" y="2267030"/>
              <a:ext cx="895402" cy="447144"/>
            </a:xfrm>
            <a:prstGeom prst="roundRect">
              <a:avLst/>
            </a:prstGeom>
            <a:solidFill>
              <a:srgbClr val="7030A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900" dirty="0">
                  <a:solidFill>
                    <a:schemeClr val="bg1"/>
                  </a:solidFill>
                </a:rPr>
                <a:t>Vertex Shader</a:t>
              </a:r>
              <a:endParaRPr lang="en-US" sz="900" dirty="0">
                <a:solidFill>
                  <a:schemeClr val="bg1"/>
                </a:solidFill>
              </a:endParaRPr>
            </a:p>
          </p:txBody>
        </p:sp>
        <p:sp>
          <p:nvSpPr>
            <p:cNvPr id="32" name="Rounded Rectangle 31"/>
            <p:cNvSpPr/>
            <p:nvPr/>
          </p:nvSpPr>
          <p:spPr>
            <a:xfrm>
              <a:off x="2479317" y="3075022"/>
              <a:ext cx="895402" cy="44714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900" dirty="0"/>
                <a:t>Texture</a:t>
              </a:r>
              <a:br>
                <a:rPr lang="en-US" sz="900" dirty="0"/>
              </a:br>
              <a:r>
                <a:rPr lang="en-US" sz="900" dirty="0"/>
                <a:t>Store</a:t>
              </a:r>
              <a:endParaRPr lang="en-US" sz="900" dirty="0"/>
            </a:p>
          </p:txBody>
        </p:sp>
        <p:cxnSp>
          <p:nvCxnSpPr>
            <p:cNvPr id="33" name="Straight Arrow Connector 32"/>
            <p:cNvCxnSpPr>
              <a:stCxn id="29" idx="3"/>
              <a:endCxn id="31" idx="1"/>
            </p:cNvCxnSpPr>
            <p:nvPr/>
          </p:nvCxnSpPr>
          <p:spPr>
            <a:xfrm>
              <a:off x="2085830" y="2490602"/>
              <a:ext cx="264893" cy="1057"/>
            </a:xfrm>
            <a:prstGeom prst="straightConnector1">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31" idx="3"/>
              <a:endCxn id="24" idx="1"/>
            </p:cNvCxnSpPr>
            <p:nvPr/>
          </p:nvCxnSpPr>
          <p:spPr>
            <a:xfrm>
              <a:off x="3246125" y="2490602"/>
              <a:ext cx="264893" cy="360850"/>
            </a:xfrm>
            <a:prstGeom prst="bentConnector3">
              <a:avLst>
                <a:gd name="adj1" fmla="val 50000"/>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35" name="Shape 21"/>
            <p:cNvCxnSpPr>
              <a:stCxn id="30" idx="3"/>
              <a:endCxn id="24" idx="1"/>
            </p:cNvCxnSpPr>
            <p:nvPr/>
          </p:nvCxnSpPr>
          <p:spPr>
            <a:xfrm flipV="1">
              <a:off x="2085830" y="2851451"/>
              <a:ext cx="1425187" cy="313952"/>
            </a:xfrm>
            <a:prstGeom prst="bentConnector3">
              <a:avLst>
                <a:gd name="adj1" fmla="val 13908"/>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36" name="Elbow Connector 35"/>
            <p:cNvCxnSpPr>
              <a:stCxn id="30" idx="3"/>
              <a:endCxn id="32" idx="1"/>
            </p:cNvCxnSpPr>
            <p:nvPr/>
          </p:nvCxnSpPr>
          <p:spPr>
            <a:xfrm>
              <a:off x="2085830" y="3165403"/>
              <a:ext cx="393488" cy="133191"/>
            </a:xfrm>
            <a:prstGeom prst="bentConnector3">
              <a:avLst>
                <a:gd name="adj1" fmla="val 50000"/>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37" name="Shape 27"/>
            <p:cNvCxnSpPr>
              <a:stCxn id="32" idx="3"/>
              <a:endCxn id="25" idx="2"/>
            </p:cNvCxnSpPr>
            <p:nvPr/>
          </p:nvCxnSpPr>
          <p:spPr>
            <a:xfrm flipV="1">
              <a:off x="3374719" y="3075022"/>
              <a:ext cx="1744294" cy="223572"/>
            </a:xfrm>
            <a:prstGeom prst="bentConnector2">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4" idx="3"/>
              <a:endCxn id="25" idx="1"/>
            </p:cNvCxnSpPr>
            <p:nvPr/>
          </p:nvCxnSpPr>
          <p:spPr>
            <a:xfrm>
              <a:off x="4406419" y="2851451"/>
              <a:ext cx="264893" cy="1057"/>
            </a:xfrm>
            <a:prstGeom prst="straightConnector1">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5" idx="3"/>
            </p:cNvCxnSpPr>
            <p:nvPr/>
          </p:nvCxnSpPr>
          <p:spPr>
            <a:xfrm>
              <a:off x="5566714" y="2851451"/>
              <a:ext cx="264893" cy="1057"/>
            </a:xfrm>
            <a:prstGeom prst="straightConnector1">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7" idx="3"/>
              <a:endCxn id="28" idx="1"/>
            </p:cNvCxnSpPr>
            <p:nvPr/>
          </p:nvCxnSpPr>
          <p:spPr>
            <a:xfrm>
              <a:off x="6727008" y="2851452"/>
              <a:ext cx="264902" cy="2742"/>
            </a:xfrm>
            <a:prstGeom prst="straightConnector1">
              <a:avLst/>
            </a:prstGeom>
            <a:ln>
              <a:solidFill>
                <a:schemeClr val="tx1"/>
              </a:solidFill>
              <a:prstDash val="solid"/>
              <a:tailEnd type="stealth" w="med"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3200" dirty="0"/>
              <a:t>如何理解 </a:t>
            </a:r>
            <a:r>
              <a:rPr lang="en-US" sz="3200" dirty="0"/>
              <a:t>OpenGL </a:t>
            </a:r>
            <a:endParaRPr lang="en-US" sz="3200" dirty="0"/>
          </a:p>
        </p:txBody>
      </p:sp>
      <p:sp>
        <p:nvSpPr>
          <p:cNvPr id="3" name="Content Placeholder 2"/>
          <p:cNvSpPr>
            <a:spLocks noGrp="1"/>
          </p:cNvSpPr>
          <p:nvPr>
            <p:ph idx="1"/>
          </p:nvPr>
        </p:nvSpPr>
        <p:spPr>
          <a:xfrm>
            <a:off x="457200" y="1588772"/>
            <a:ext cx="8229600" cy="4525963"/>
          </a:xfrm>
        </p:spPr>
        <p:txBody>
          <a:bodyPr/>
          <a:lstStyle/>
          <a:p>
            <a:pPr marL="457200" lvl="1" indent="0">
              <a:buNone/>
            </a:pPr>
            <a:r>
              <a:rPr lang="en-US" altLang="zh-CN" dirty="0"/>
              <a:t>OpenGL </a:t>
            </a:r>
            <a:r>
              <a:rPr lang="zh-CN" altLang="en-US" dirty="0"/>
              <a:t>自身是一个巨大的状态机，状态机中包含了一系列变量，这个状态通常被称为“上下文”（</a:t>
            </a:r>
            <a:r>
              <a:rPr lang="en-US" altLang="zh-CN" dirty="0"/>
              <a:t>Context</a:t>
            </a:r>
            <a:r>
              <a:rPr lang="zh-CN" altLang="en-US" dirty="0"/>
              <a:t>）。当调用了状态设置函数之后，所有之后执行的绘制指令都会依据当前的状态</a:t>
            </a:r>
            <a:endParaRPr lang="en-US" dirty="0"/>
          </a:p>
          <a:p>
            <a:pPr lvl="1"/>
            <a:endParaRPr lang="en-US" dirty="0"/>
          </a:p>
          <a:p>
            <a:pPr lvl="1"/>
            <a:endParaRPr lang="en-US" dirty="0"/>
          </a:p>
          <a:p>
            <a:pPr lvl="1"/>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一个简单的</a:t>
            </a:r>
            <a:r>
              <a:rPr lang="en-US" altLang="zh-CN" dirty="0"/>
              <a:t>OpenGL</a:t>
            </a:r>
            <a:r>
              <a:rPr lang="zh-CN" altLang="en-US" dirty="0"/>
              <a:t>程序</a:t>
            </a:r>
            <a:endParaRPr lang="zh-CN" altLang="en-US" dirty="0"/>
          </a:p>
        </p:txBody>
      </p:sp>
      <p:pic>
        <p:nvPicPr>
          <p:cNvPr id="4" name="图片 3"/>
          <p:cNvPicPr>
            <a:picLocks noChangeAspect="1"/>
          </p:cNvPicPr>
          <p:nvPr/>
        </p:nvPicPr>
        <p:blipFill>
          <a:blip r:embed="rId1"/>
          <a:stretch>
            <a:fillRect/>
          </a:stretch>
        </p:blipFill>
        <p:spPr>
          <a:xfrm>
            <a:off x="695325" y="1762920"/>
            <a:ext cx="7753350" cy="42005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一个简单的</a:t>
            </a:r>
            <a:r>
              <a:rPr lang="en-US" altLang="zh-CN" dirty="0"/>
              <a:t>OpenGL</a:t>
            </a:r>
            <a:r>
              <a:rPr lang="zh-CN" altLang="en-US" dirty="0"/>
              <a:t>程序</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4" name="图片 3"/>
          <p:cNvPicPr>
            <a:picLocks noChangeAspect="1"/>
          </p:cNvPicPr>
          <p:nvPr/>
        </p:nvPicPr>
        <p:blipFill>
          <a:blip r:embed="rId1"/>
          <a:stretch>
            <a:fillRect/>
          </a:stretch>
        </p:blipFill>
        <p:spPr>
          <a:xfrm>
            <a:off x="966428" y="1167752"/>
            <a:ext cx="7211144" cy="56902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一个简单的</a:t>
            </a:r>
            <a:r>
              <a:rPr lang="en-US" altLang="zh-CN" dirty="0"/>
              <a:t>OpenGL</a:t>
            </a:r>
            <a:r>
              <a:rPr lang="zh-CN" altLang="en-US" dirty="0"/>
              <a:t>程序</a:t>
            </a:r>
            <a:endParaRPr lang="zh-CN" altLang="en-US" dirty="0"/>
          </a:p>
        </p:txBody>
      </p:sp>
      <p:pic>
        <p:nvPicPr>
          <p:cNvPr id="10" name="内容占位符 9"/>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559436" y="1600200"/>
            <a:ext cx="6025128" cy="4525963"/>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ChangeArrowheads="1"/>
          </p:cNvSpPr>
          <p:nvPr>
            <p:ph type="title"/>
          </p:nvPr>
        </p:nvSpPr>
        <p:spPr/>
        <p:txBody>
          <a:bodyPr/>
          <a:lstStyle/>
          <a:p>
            <a:r>
              <a:rPr lang="en-US" dirty="0"/>
              <a:t>OpenGL’s Geometric Primitives</a:t>
            </a:r>
            <a:endParaRPr lang="en-US" dirty="0"/>
          </a:p>
        </p:txBody>
      </p:sp>
      <p:sp>
        <p:nvSpPr>
          <p:cNvPr id="54275" name="Rectangle 3"/>
          <p:cNvSpPr>
            <a:spLocks noGrp="1" noChangeArrowheads="1"/>
          </p:cNvSpPr>
          <p:nvPr>
            <p:ph idx="1"/>
          </p:nvPr>
        </p:nvSpPr>
        <p:spPr/>
        <p:txBody>
          <a:bodyPr/>
          <a:lstStyle/>
          <a:p>
            <a:r>
              <a:rPr lang="en-US" dirty="0"/>
              <a:t>All primitives are specified by vertices</a:t>
            </a:r>
            <a:endParaRPr lang="en-US" dirty="0"/>
          </a:p>
        </p:txBody>
      </p:sp>
      <p:grpSp>
        <p:nvGrpSpPr>
          <p:cNvPr id="5" name="Group 13"/>
          <p:cNvGrpSpPr/>
          <p:nvPr/>
        </p:nvGrpSpPr>
        <p:grpSpPr bwMode="auto">
          <a:xfrm>
            <a:off x="3048000" y="4191001"/>
            <a:ext cx="2338388" cy="1475186"/>
            <a:chOff x="124" y="2964"/>
            <a:chExt cx="1473" cy="1239"/>
          </a:xfrm>
        </p:grpSpPr>
        <p:sp>
          <p:nvSpPr>
            <p:cNvPr id="378894" name="Rectangle 14"/>
            <p:cNvSpPr>
              <a:spLocks noChangeArrowheads="1"/>
            </p:cNvSpPr>
            <p:nvPr/>
          </p:nvSpPr>
          <p:spPr bwMode="auto">
            <a:xfrm>
              <a:off x="124" y="3892"/>
              <a:ext cx="1473" cy="311"/>
            </a:xfrm>
            <a:prstGeom prst="rect">
              <a:avLst/>
            </a:prstGeom>
            <a:noFill/>
            <a:ln w="9525">
              <a:noFill/>
              <a:miter lim="800000"/>
            </a:ln>
            <a:effectLst/>
          </p:spPr>
          <p:txBody>
            <a:bodyPr wrap="none" lIns="92075" tIns="46038" rIns="92075" bIns="46038">
              <a:spAutoFit/>
            </a:bodyPr>
            <a:lstStyle/>
            <a:p>
              <a:pPr eaLnBrk="0" hangingPunct="0"/>
              <a:r>
                <a:rPr lang="en-US" b="1" dirty="0">
                  <a:solidFill>
                    <a:srgbClr val="000000"/>
                  </a:solidFill>
                  <a:effectLst>
                    <a:outerShdw blurRad="38100" dist="38100" dir="2700000" algn="tl">
                      <a:srgbClr val="DDDDDD"/>
                    </a:outerShdw>
                  </a:effectLst>
                  <a:latin typeface="Consolas" pitchFamily="49" charset="0"/>
                  <a:cs typeface="Consolas" pitchFamily="49" charset="0"/>
                </a:rPr>
                <a:t>GL_TRIANGLE_STRIP</a:t>
              </a:r>
              <a:endParaRPr lang="en-US" b="1" dirty="0">
                <a:solidFill>
                  <a:srgbClr val="000000"/>
                </a:solidFill>
                <a:effectLst>
                  <a:outerShdw blurRad="38100" dist="38100" dir="2700000" algn="tl">
                    <a:srgbClr val="DDDDDD"/>
                  </a:outerShdw>
                </a:effectLst>
                <a:latin typeface="Consolas" pitchFamily="49" charset="0"/>
                <a:cs typeface="Consolas" pitchFamily="49" charset="0"/>
              </a:endParaRPr>
            </a:p>
          </p:txBody>
        </p:sp>
        <p:grpSp>
          <p:nvGrpSpPr>
            <p:cNvPr id="6" name="Group 15"/>
            <p:cNvGrpSpPr/>
            <p:nvPr/>
          </p:nvGrpSpPr>
          <p:grpSpPr bwMode="auto">
            <a:xfrm>
              <a:off x="662" y="2964"/>
              <a:ext cx="673" cy="853"/>
              <a:chOff x="858" y="2910"/>
              <a:chExt cx="673" cy="913"/>
            </a:xfrm>
          </p:grpSpPr>
          <p:sp>
            <p:nvSpPr>
              <p:cNvPr id="54314" name="Freeform 16"/>
              <p:cNvSpPr/>
              <p:nvPr/>
            </p:nvSpPr>
            <p:spPr bwMode="auto">
              <a:xfrm>
                <a:off x="858" y="2910"/>
                <a:ext cx="673" cy="337"/>
              </a:xfrm>
              <a:custGeom>
                <a:avLst/>
                <a:gdLst>
                  <a:gd name="T0" fmla="*/ 0 w 673"/>
                  <a:gd name="T1" fmla="*/ 48 h 337"/>
                  <a:gd name="T2" fmla="*/ 672 w 673"/>
                  <a:gd name="T3" fmla="*/ 0 h 337"/>
                  <a:gd name="T4" fmla="*/ 144 w 673"/>
                  <a:gd name="T5" fmla="*/ 336 h 337"/>
                  <a:gd name="T6" fmla="*/ 0 w 673"/>
                  <a:gd name="T7" fmla="*/ 48 h 337"/>
                  <a:gd name="T8" fmla="*/ 0 60000 65536"/>
                  <a:gd name="T9" fmla="*/ 0 60000 65536"/>
                  <a:gd name="T10" fmla="*/ 0 60000 65536"/>
                  <a:gd name="T11" fmla="*/ 0 60000 65536"/>
                  <a:gd name="T12" fmla="*/ 0 w 673"/>
                  <a:gd name="T13" fmla="*/ 0 h 337"/>
                  <a:gd name="T14" fmla="*/ 673 w 673"/>
                  <a:gd name="T15" fmla="*/ 337 h 337"/>
                </a:gdLst>
                <a:ahLst/>
                <a:cxnLst>
                  <a:cxn ang="T8">
                    <a:pos x="T0" y="T1"/>
                  </a:cxn>
                  <a:cxn ang="T9">
                    <a:pos x="T2" y="T3"/>
                  </a:cxn>
                  <a:cxn ang="T10">
                    <a:pos x="T4" y="T5"/>
                  </a:cxn>
                  <a:cxn ang="T11">
                    <a:pos x="T6" y="T7"/>
                  </a:cxn>
                </a:cxnLst>
                <a:rect l="T12" t="T13" r="T14" b="T15"/>
                <a:pathLst>
                  <a:path w="673" h="337">
                    <a:moveTo>
                      <a:pt x="0" y="48"/>
                    </a:moveTo>
                    <a:lnTo>
                      <a:pt x="672" y="0"/>
                    </a:lnTo>
                    <a:lnTo>
                      <a:pt x="144" y="336"/>
                    </a:lnTo>
                    <a:lnTo>
                      <a:pt x="0" y="48"/>
                    </a:lnTo>
                  </a:path>
                </a:pathLst>
              </a:custGeom>
              <a:gradFill rotWithShape="0">
                <a:gsLst>
                  <a:gs pos="0">
                    <a:srgbClr val="5F5F5F"/>
                  </a:gs>
                  <a:gs pos="100000">
                    <a:schemeClr val="bg1"/>
                  </a:gs>
                </a:gsLst>
                <a:lin ang="18900000" scaled="1"/>
              </a:gradFill>
              <a:ln w="12700" cap="rnd">
                <a:solidFill>
                  <a:srgbClr val="FFFFFF"/>
                </a:solidFill>
                <a:round/>
              </a:ln>
            </p:spPr>
            <p:txBody>
              <a:bodyPr/>
              <a:lstStyle/>
              <a:p>
                <a:endParaRPr lang="en-US"/>
              </a:p>
            </p:txBody>
          </p:sp>
          <p:sp>
            <p:nvSpPr>
              <p:cNvPr id="54315" name="Freeform 17"/>
              <p:cNvSpPr/>
              <p:nvPr/>
            </p:nvSpPr>
            <p:spPr bwMode="auto">
              <a:xfrm>
                <a:off x="1002" y="2910"/>
                <a:ext cx="529" cy="337"/>
              </a:xfrm>
              <a:custGeom>
                <a:avLst/>
                <a:gdLst>
                  <a:gd name="T0" fmla="*/ 0 w 529"/>
                  <a:gd name="T1" fmla="*/ 336 h 337"/>
                  <a:gd name="T2" fmla="*/ 528 w 529"/>
                  <a:gd name="T3" fmla="*/ 0 h 337"/>
                  <a:gd name="T4" fmla="*/ 384 w 529"/>
                  <a:gd name="T5" fmla="*/ 288 h 337"/>
                  <a:gd name="T6" fmla="*/ 0 w 529"/>
                  <a:gd name="T7" fmla="*/ 336 h 337"/>
                  <a:gd name="T8" fmla="*/ 0 60000 65536"/>
                  <a:gd name="T9" fmla="*/ 0 60000 65536"/>
                  <a:gd name="T10" fmla="*/ 0 60000 65536"/>
                  <a:gd name="T11" fmla="*/ 0 60000 65536"/>
                  <a:gd name="T12" fmla="*/ 0 w 529"/>
                  <a:gd name="T13" fmla="*/ 0 h 337"/>
                  <a:gd name="T14" fmla="*/ 529 w 529"/>
                  <a:gd name="T15" fmla="*/ 337 h 337"/>
                </a:gdLst>
                <a:ahLst/>
                <a:cxnLst>
                  <a:cxn ang="T8">
                    <a:pos x="T0" y="T1"/>
                  </a:cxn>
                  <a:cxn ang="T9">
                    <a:pos x="T2" y="T3"/>
                  </a:cxn>
                  <a:cxn ang="T10">
                    <a:pos x="T4" y="T5"/>
                  </a:cxn>
                  <a:cxn ang="T11">
                    <a:pos x="T6" y="T7"/>
                  </a:cxn>
                </a:cxnLst>
                <a:rect l="T12" t="T13" r="T14" b="T15"/>
                <a:pathLst>
                  <a:path w="529" h="337">
                    <a:moveTo>
                      <a:pt x="0" y="336"/>
                    </a:moveTo>
                    <a:lnTo>
                      <a:pt x="528" y="0"/>
                    </a:lnTo>
                    <a:lnTo>
                      <a:pt x="384" y="288"/>
                    </a:lnTo>
                    <a:lnTo>
                      <a:pt x="0" y="336"/>
                    </a:lnTo>
                  </a:path>
                </a:pathLst>
              </a:custGeom>
              <a:gradFill rotWithShape="0">
                <a:gsLst>
                  <a:gs pos="0">
                    <a:srgbClr val="5F5F5F"/>
                  </a:gs>
                  <a:gs pos="100000">
                    <a:schemeClr val="bg1"/>
                  </a:gs>
                </a:gsLst>
                <a:lin ang="18900000" scaled="1"/>
              </a:gradFill>
              <a:ln w="12700" cap="rnd">
                <a:solidFill>
                  <a:srgbClr val="FFFFFF"/>
                </a:solidFill>
                <a:round/>
              </a:ln>
            </p:spPr>
            <p:txBody>
              <a:bodyPr/>
              <a:lstStyle/>
              <a:p>
                <a:endParaRPr lang="en-US"/>
              </a:p>
            </p:txBody>
          </p:sp>
          <p:sp>
            <p:nvSpPr>
              <p:cNvPr id="54316" name="Freeform 18"/>
              <p:cNvSpPr/>
              <p:nvPr/>
            </p:nvSpPr>
            <p:spPr bwMode="auto">
              <a:xfrm>
                <a:off x="954" y="3198"/>
                <a:ext cx="433" cy="289"/>
              </a:xfrm>
              <a:custGeom>
                <a:avLst/>
                <a:gdLst>
                  <a:gd name="T0" fmla="*/ 432 w 433"/>
                  <a:gd name="T1" fmla="*/ 0 h 289"/>
                  <a:gd name="T2" fmla="*/ 48 w 433"/>
                  <a:gd name="T3" fmla="*/ 48 h 289"/>
                  <a:gd name="T4" fmla="*/ 0 w 433"/>
                  <a:gd name="T5" fmla="*/ 288 h 289"/>
                  <a:gd name="T6" fmla="*/ 432 w 433"/>
                  <a:gd name="T7" fmla="*/ 0 h 289"/>
                  <a:gd name="T8" fmla="*/ 0 60000 65536"/>
                  <a:gd name="T9" fmla="*/ 0 60000 65536"/>
                  <a:gd name="T10" fmla="*/ 0 60000 65536"/>
                  <a:gd name="T11" fmla="*/ 0 60000 65536"/>
                  <a:gd name="T12" fmla="*/ 0 w 433"/>
                  <a:gd name="T13" fmla="*/ 0 h 289"/>
                  <a:gd name="T14" fmla="*/ 433 w 433"/>
                  <a:gd name="T15" fmla="*/ 289 h 289"/>
                </a:gdLst>
                <a:ahLst/>
                <a:cxnLst>
                  <a:cxn ang="T8">
                    <a:pos x="T0" y="T1"/>
                  </a:cxn>
                  <a:cxn ang="T9">
                    <a:pos x="T2" y="T3"/>
                  </a:cxn>
                  <a:cxn ang="T10">
                    <a:pos x="T4" y="T5"/>
                  </a:cxn>
                  <a:cxn ang="T11">
                    <a:pos x="T6" y="T7"/>
                  </a:cxn>
                </a:cxnLst>
                <a:rect l="T12" t="T13" r="T14" b="T15"/>
                <a:pathLst>
                  <a:path w="433" h="289">
                    <a:moveTo>
                      <a:pt x="432" y="0"/>
                    </a:moveTo>
                    <a:lnTo>
                      <a:pt x="48" y="48"/>
                    </a:lnTo>
                    <a:lnTo>
                      <a:pt x="0" y="288"/>
                    </a:lnTo>
                    <a:lnTo>
                      <a:pt x="432" y="0"/>
                    </a:lnTo>
                  </a:path>
                </a:pathLst>
              </a:custGeom>
              <a:gradFill rotWithShape="0">
                <a:gsLst>
                  <a:gs pos="0">
                    <a:srgbClr val="5F5F5F"/>
                  </a:gs>
                  <a:gs pos="100000">
                    <a:srgbClr val="AFAFAF"/>
                  </a:gs>
                </a:gsLst>
                <a:lin ang="2700000" scaled="1"/>
              </a:gradFill>
              <a:ln w="12700" cap="rnd">
                <a:solidFill>
                  <a:srgbClr val="FFFFFF"/>
                </a:solidFill>
                <a:round/>
              </a:ln>
            </p:spPr>
            <p:txBody>
              <a:bodyPr/>
              <a:lstStyle/>
              <a:p>
                <a:endParaRPr lang="en-US"/>
              </a:p>
            </p:txBody>
          </p:sp>
          <p:sp>
            <p:nvSpPr>
              <p:cNvPr id="378899" name="Freeform 19"/>
              <p:cNvSpPr/>
              <p:nvPr/>
            </p:nvSpPr>
            <p:spPr bwMode="auto">
              <a:xfrm>
                <a:off x="954" y="3198"/>
                <a:ext cx="433" cy="337"/>
              </a:xfrm>
              <a:custGeom>
                <a:avLst/>
                <a:gdLst/>
                <a:ahLst/>
                <a:cxnLst>
                  <a:cxn ang="0">
                    <a:pos x="432" y="0"/>
                  </a:cxn>
                  <a:cxn ang="0">
                    <a:pos x="384" y="336"/>
                  </a:cxn>
                  <a:cxn ang="0">
                    <a:pos x="0" y="288"/>
                  </a:cxn>
                  <a:cxn ang="0">
                    <a:pos x="432" y="0"/>
                  </a:cxn>
                </a:cxnLst>
                <a:rect l="0" t="0" r="r" b="b"/>
                <a:pathLst>
                  <a:path w="433" h="337">
                    <a:moveTo>
                      <a:pt x="432" y="0"/>
                    </a:moveTo>
                    <a:lnTo>
                      <a:pt x="384" y="336"/>
                    </a:lnTo>
                    <a:lnTo>
                      <a:pt x="0" y="288"/>
                    </a:lnTo>
                    <a:lnTo>
                      <a:pt x="432" y="0"/>
                    </a:lnTo>
                  </a:path>
                </a:pathLst>
              </a:custGeom>
              <a:gradFill rotWithShape="0">
                <a:gsLst>
                  <a:gs pos="0">
                    <a:schemeClr val="tx1"/>
                  </a:gs>
                  <a:gs pos="100000">
                    <a:schemeClr val="tx1">
                      <a:gamma/>
                      <a:tint val="30196"/>
                      <a:invGamma/>
                    </a:schemeClr>
                  </a:gs>
                </a:gsLst>
                <a:lin ang="2700000" scaled="1"/>
              </a:gradFill>
              <a:ln w="12700" cap="rnd" cmpd="sng">
                <a:solidFill>
                  <a:srgbClr val="FFFFFF"/>
                </a:solidFill>
                <a:prstDash val="solid"/>
                <a:round/>
              </a:ln>
              <a:effectLst/>
            </p:spPr>
            <p:txBody>
              <a:bodyPr/>
              <a:lstStyle/>
              <a:p>
                <a:endParaRPr lang="en-US"/>
              </a:p>
            </p:txBody>
          </p:sp>
          <p:sp>
            <p:nvSpPr>
              <p:cNvPr id="54318" name="Freeform 20"/>
              <p:cNvSpPr/>
              <p:nvPr/>
            </p:nvSpPr>
            <p:spPr bwMode="auto">
              <a:xfrm>
                <a:off x="954" y="3486"/>
                <a:ext cx="385" cy="337"/>
              </a:xfrm>
              <a:custGeom>
                <a:avLst/>
                <a:gdLst>
                  <a:gd name="T0" fmla="*/ 0 w 385"/>
                  <a:gd name="T1" fmla="*/ 0 h 337"/>
                  <a:gd name="T2" fmla="*/ 192 w 385"/>
                  <a:gd name="T3" fmla="*/ 336 h 337"/>
                  <a:gd name="T4" fmla="*/ 384 w 385"/>
                  <a:gd name="T5" fmla="*/ 48 h 337"/>
                  <a:gd name="T6" fmla="*/ 0 w 385"/>
                  <a:gd name="T7" fmla="*/ 0 h 337"/>
                  <a:gd name="T8" fmla="*/ 0 60000 65536"/>
                  <a:gd name="T9" fmla="*/ 0 60000 65536"/>
                  <a:gd name="T10" fmla="*/ 0 60000 65536"/>
                  <a:gd name="T11" fmla="*/ 0 60000 65536"/>
                  <a:gd name="T12" fmla="*/ 0 w 385"/>
                  <a:gd name="T13" fmla="*/ 0 h 337"/>
                  <a:gd name="T14" fmla="*/ 385 w 385"/>
                  <a:gd name="T15" fmla="*/ 337 h 337"/>
                </a:gdLst>
                <a:ahLst/>
                <a:cxnLst>
                  <a:cxn ang="T8">
                    <a:pos x="T0" y="T1"/>
                  </a:cxn>
                  <a:cxn ang="T9">
                    <a:pos x="T2" y="T3"/>
                  </a:cxn>
                  <a:cxn ang="T10">
                    <a:pos x="T4" y="T5"/>
                  </a:cxn>
                  <a:cxn ang="T11">
                    <a:pos x="T6" y="T7"/>
                  </a:cxn>
                </a:cxnLst>
                <a:rect l="T12" t="T13" r="T14" b="T15"/>
                <a:pathLst>
                  <a:path w="385" h="337">
                    <a:moveTo>
                      <a:pt x="0" y="0"/>
                    </a:moveTo>
                    <a:lnTo>
                      <a:pt x="192" y="336"/>
                    </a:lnTo>
                    <a:lnTo>
                      <a:pt x="384" y="48"/>
                    </a:lnTo>
                    <a:lnTo>
                      <a:pt x="0" y="0"/>
                    </a:lnTo>
                  </a:path>
                </a:pathLst>
              </a:custGeom>
              <a:gradFill rotWithShape="0">
                <a:gsLst>
                  <a:gs pos="0">
                    <a:schemeClr val="tx1"/>
                  </a:gs>
                  <a:gs pos="100000">
                    <a:schemeClr val="bg1"/>
                  </a:gs>
                </a:gsLst>
                <a:lin ang="18900000" scaled="1"/>
              </a:gradFill>
              <a:ln w="12700" cap="rnd">
                <a:solidFill>
                  <a:srgbClr val="FFFFFF"/>
                </a:solidFill>
                <a:round/>
              </a:ln>
            </p:spPr>
            <p:txBody>
              <a:bodyPr/>
              <a:lstStyle/>
              <a:p>
                <a:endParaRPr lang="en-US"/>
              </a:p>
            </p:txBody>
          </p:sp>
          <p:sp>
            <p:nvSpPr>
              <p:cNvPr id="54319" name="Freeform 21"/>
              <p:cNvSpPr/>
              <p:nvPr/>
            </p:nvSpPr>
            <p:spPr bwMode="auto">
              <a:xfrm>
                <a:off x="1146" y="3534"/>
                <a:ext cx="337" cy="289"/>
              </a:xfrm>
              <a:custGeom>
                <a:avLst/>
                <a:gdLst>
                  <a:gd name="T0" fmla="*/ 192 w 337"/>
                  <a:gd name="T1" fmla="*/ 0 h 289"/>
                  <a:gd name="T2" fmla="*/ 336 w 337"/>
                  <a:gd name="T3" fmla="*/ 192 h 289"/>
                  <a:gd name="T4" fmla="*/ 0 w 337"/>
                  <a:gd name="T5" fmla="*/ 288 h 289"/>
                  <a:gd name="T6" fmla="*/ 192 w 337"/>
                  <a:gd name="T7" fmla="*/ 0 h 289"/>
                  <a:gd name="T8" fmla="*/ 0 60000 65536"/>
                  <a:gd name="T9" fmla="*/ 0 60000 65536"/>
                  <a:gd name="T10" fmla="*/ 0 60000 65536"/>
                  <a:gd name="T11" fmla="*/ 0 60000 65536"/>
                  <a:gd name="T12" fmla="*/ 0 w 337"/>
                  <a:gd name="T13" fmla="*/ 0 h 289"/>
                  <a:gd name="T14" fmla="*/ 337 w 337"/>
                  <a:gd name="T15" fmla="*/ 289 h 289"/>
                </a:gdLst>
                <a:ahLst/>
                <a:cxnLst>
                  <a:cxn ang="T8">
                    <a:pos x="T0" y="T1"/>
                  </a:cxn>
                  <a:cxn ang="T9">
                    <a:pos x="T2" y="T3"/>
                  </a:cxn>
                  <a:cxn ang="T10">
                    <a:pos x="T4" y="T5"/>
                  </a:cxn>
                  <a:cxn ang="T11">
                    <a:pos x="T6" y="T7"/>
                  </a:cxn>
                </a:cxnLst>
                <a:rect l="T12" t="T13" r="T14" b="T15"/>
                <a:pathLst>
                  <a:path w="337" h="289">
                    <a:moveTo>
                      <a:pt x="192" y="0"/>
                    </a:moveTo>
                    <a:lnTo>
                      <a:pt x="336" y="192"/>
                    </a:lnTo>
                    <a:lnTo>
                      <a:pt x="0" y="288"/>
                    </a:lnTo>
                    <a:lnTo>
                      <a:pt x="192" y="0"/>
                    </a:lnTo>
                  </a:path>
                </a:pathLst>
              </a:custGeom>
              <a:gradFill rotWithShape="0">
                <a:gsLst>
                  <a:gs pos="0">
                    <a:srgbClr val="5F5F5F"/>
                  </a:gs>
                  <a:gs pos="100000">
                    <a:srgbClr val="AFAFAF"/>
                  </a:gs>
                </a:gsLst>
                <a:lin ang="18900000" scaled="1"/>
              </a:gradFill>
              <a:ln w="12700" cap="rnd">
                <a:solidFill>
                  <a:srgbClr val="FFFFFF"/>
                </a:solidFill>
                <a:round/>
              </a:ln>
            </p:spPr>
            <p:txBody>
              <a:bodyPr/>
              <a:lstStyle/>
              <a:p>
                <a:endParaRPr lang="en-US"/>
              </a:p>
            </p:txBody>
          </p:sp>
        </p:grpSp>
      </p:grpSp>
      <p:grpSp>
        <p:nvGrpSpPr>
          <p:cNvPr id="7" name="Group 22"/>
          <p:cNvGrpSpPr/>
          <p:nvPr/>
        </p:nvGrpSpPr>
        <p:grpSpPr bwMode="auto">
          <a:xfrm>
            <a:off x="6191252" y="4476750"/>
            <a:ext cx="2085976" cy="915590"/>
            <a:chOff x="2078" y="3401"/>
            <a:chExt cx="1314" cy="769"/>
          </a:xfrm>
        </p:grpSpPr>
        <p:grpSp>
          <p:nvGrpSpPr>
            <p:cNvPr id="8" name="Group 23"/>
            <p:cNvGrpSpPr/>
            <p:nvPr/>
          </p:nvGrpSpPr>
          <p:grpSpPr bwMode="auto">
            <a:xfrm>
              <a:off x="2472" y="3401"/>
              <a:ext cx="769" cy="360"/>
              <a:chOff x="2679" y="3379"/>
              <a:chExt cx="769" cy="385"/>
            </a:xfrm>
          </p:grpSpPr>
          <p:sp>
            <p:nvSpPr>
              <p:cNvPr id="378904" name="Freeform 24"/>
              <p:cNvSpPr/>
              <p:nvPr/>
            </p:nvSpPr>
            <p:spPr bwMode="auto">
              <a:xfrm>
                <a:off x="2679" y="3379"/>
                <a:ext cx="433" cy="289"/>
              </a:xfrm>
              <a:custGeom>
                <a:avLst/>
                <a:gdLst/>
                <a:ahLst/>
                <a:cxnLst>
                  <a:cxn ang="0">
                    <a:pos x="432" y="0"/>
                  </a:cxn>
                  <a:cxn ang="0">
                    <a:pos x="48" y="48"/>
                  </a:cxn>
                  <a:cxn ang="0">
                    <a:pos x="0" y="288"/>
                  </a:cxn>
                  <a:cxn ang="0">
                    <a:pos x="432" y="0"/>
                  </a:cxn>
                </a:cxnLst>
                <a:rect l="0" t="0" r="r" b="b"/>
                <a:pathLst>
                  <a:path w="433" h="289">
                    <a:moveTo>
                      <a:pt x="432" y="0"/>
                    </a:moveTo>
                    <a:lnTo>
                      <a:pt x="48" y="48"/>
                    </a:lnTo>
                    <a:lnTo>
                      <a:pt x="0" y="288"/>
                    </a:lnTo>
                    <a:lnTo>
                      <a:pt x="432" y="0"/>
                    </a:lnTo>
                  </a:path>
                </a:pathLst>
              </a:custGeom>
              <a:gradFill rotWithShape="0">
                <a:gsLst>
                  <a:gs pos="0">
                    <a:schemeClr val="accent1"/>
                  </a:gs>
                  <a:gs pos="100000">
                    <a:schemeClr val="accent1">
                      <a:gamma/>
                      <a:shade val="69804"/>
                      <a:invGamma/>
                    </a:schemeClr>
                  </a:gs>
                </a:gsLst>
                <a:lin ang="18900000" scaled="1"/>
              </a:gradFill>
              <a:ln w="12700" cap="rnd" cmpd="sng">
                <a:solidFill>
                  <a:srgbClr val="FFFFFF"/>
                </a:solidFill>
                <a:prstDash val="solid"/>
                <a:round/>
              </a:ln>
              <a:effectLst/>
            </p:spPr>
            <p:txBody>
              <a:bodyPr/>
              <a:lstStyle/>
              <a:p>
                <a:endParaRPr lang="en-US"/>
              </a:p>
            </p:txBody>
          </p:sp>
          <p:sp>
            <p:nvSpPr>
              <p:cNvPr id="378905" name="Freeform 25"/>
              <p:cNvSpPr/>
              <p:nvPr/>
            </p:nvSpPr>
            <p:spPr bwMode="auto">
              <a:xfrm>
                <a:off x="2679" y="3379"/>
                <a:ext cx="529" cy="289"/>
              </a:xfrm>
              <a:custGeom>
                <a:avLst/>
                <a:gdLst/>
                <a:ahLst/>
                <a:cxnLst>
                  <a:cxn ang="0">
                    <a:pos x="0" y="288"/>
                  </a:cxn>
                  <a:cxn ang="0">
                    <a:pos x="528" y="144"/>
                  </a:cxn>
                  <a:cxn ang="0">
                    <a:pos x="432" y="0"/>
                  </a:cxn>
                  <a:cxn ang="0">
                    <a:pos x="0" y="288"/>
                  </a:cxn>
                </a:cxnLst>
                <a:rect l="0" t="0" r="r" b="b"/>
                <a:pathLst>
                  <a:path w="529" h="289">
                    <a:moveTo>
                      <a:pt x="0" y="288"/>
                    </a:moveTo>
                    <a:lnTo>
                      <a:pt x="528" y="144"/>
                    </a:lnTo>
                    <a:lnTo>
                      <a:pt x="432" y="0"/>
                    </a:lnTo>
                    <a:lnTo>
                      <a:pt x="0" y="288"/>
                    </a:lnTo>
                  </a:path>
                </a:pathLst>
              </a:custGeom>
              <a:gradFill rotWithShape="0">
                <a:gsLst>
                  <a:gs pos="0">
                    <a:schemeClr val="accent1"/>
                  </a:gs>
                  <a:gs pos="100000">
                    <a:schemeClr val="accent1">
                      <a:gamma/>
                      <a:shade val="69804"/>
                      <a:invGamma/>
                    </a:schemeClr>
                  </a:gs>
                </a:gsLst>
                <a:lin ang="18900000" scaled="1"/>
              </a:gradFill>
              <a:ln w="12700" cap="rnd" cmpd="sng">
                <a:solidFill>
                  <a:srgbClr val="FFFFFF"/>
                </a:solidFill>
                <a:prstDash val="solid"/>
                <a:round/>
              </a:ln>
              <a:effectLst/>
            </p:spPr>
            <p:txBody>
              <a:bodyPr/>
              <a:lstStyle/>
              <a:p>
                <a:endParaRPr lang="en-US"/>
              </a:p>
            </p:txBody>
          </p:sp>
          <p:sp>
            <p:nvSpPr>
              <p:cNvPr id="378906" name="Freeform 26"/>
              <p:cNvSpPr/>
              <p:nvPr/>
            </p:nvSpPr>
            <p:spPr bwMode="auto">
              <a:xfrm>
                <a:off x="2679" y="3523"/>
                <a:ext cx="769" cy="142"/>
              </a:xfrm>
              <a:custGeom>
                <a:avLst/>
                <a:gdLst/>
                <a:ahLst/>
                <a:cxnLst>
                  <a:cxn ang="0">
                    <a:pos x="0" y="144"/>
                  </a:cxn>
                  <a:cxn ang="0">
                    <a:pos x="528" y="0"/>
                  </a:cxn>
                  <a:cxn ang="0">
                    <a:pos x="768" y="48"/>
                  </a:cxn>
                  <a:cxn ang="0">
                    <a:pos x="0" y="144"/>
                  </a:cxn>
                </a:cxnLst>
                <a:rect l="0" t="0" r="r" b="b"/>
                <a:pathLst>
                  <a:path w="769" h="145">
                    <a:moveTo>
                      <a:pt x="0" y="144"/>
                    </a:moveTo>
                    <a:lnTo>
                      <a:pt x="528" y="0"/>
                    </a:lnTo>
                    <a:lnTo>
                      <a:pt x="768" y="48"/>
                    </a:lnTo>
                    <a:lnTo>
                      <a:pt x="0" y="144"/>
                    </a:lnTo>
                  </a:path>
                </a:pathLst>
              </a:custGeom>
              <a:gradFill rotWithShape="0">
                <a:gsLst>
                  <a:gs pos="0">
                    <a:schemeClr val="accent1"/>
                  </a:gs>
                  <a:gs pos="100000">
                    <a:schemeClr val="accent1">
                      <a:gamma/>
                      <a:shade val="69804"/>
                      <a:invGamma/>
                    </a:schemeClr>
                  </a:gs>
                </a:gsLst>
                <a:lin ang="18900000" scaled="1"/>
              </a:gradFill>
              <a:ln w="12700" cap="rnd" cmpd="sng">
                <a:solidFill>
                  <a:srgbClr val="FFFFFF"/>
                </a:solidFill>
                <a:prstDash val="solid"/>
                <a:round/>
              </a:ln>
              <a:effectLst/>
            </p:spPr>
            <p:txBody>
              <a:bodyPr/>
              <a:lstStyle/>
              <a:p>
                <a:endParaRPr lang="en-US"/>
              </a:p>
            </p:txBody>
          </p:sp>
          <p:sp>
            <p:nvSpPr>
              <p:cNvPr id="378907" name="Freeform 27"/>
              <p:cNvSpPr/>
              <p:nvPr/>
            </p:nvSpPr>
            <p:spPr bwMode="auto">
              <a:xfrm>
                <a:off x="2679" y="3572"/>
                <a:ext cx="769" cy="195"/>
              </a:xfrm>
              <a:custGeom>
                <a:avLst/>
                <a:gdLst/>
                <a:ahLst/>
                <a:cxnLst>
                  <a:cxn ang="0">
                    <a:pos x="0" y="96"/>
                  </a:cxn>
                  <a:cxn ang="0">
                    <a:pos x="768" y="0"/>
                  </a:cxn>
                  <a:cxn ang="0">
                    <a:pos x="576" y="192"/>
                  </a:cxn>
                  <a:cxn ang="0">
                    <a:pos x="0" y="96"/>
                  </a:cxn>
                </a:cxnLst>
                <a:rect l="0" t="0" r="r" b="b"/>
                <a:pathLst>
                  <a:path w="769" h="193">
                    <a:moveTo>
                      <a:pt x="0" y="96"/>
                    </a:moveTo>
                    <a:lnTo>
                      <a:pt x="768" y="0"/>
                    </a:lnTo>
                    <a:lnTo>
                      <a:pt x="576" y="192"/>
                    </a:lnTo>
                    <a:lnTo>
                      <a:pt x="0" y="96"/>
                    </a:lnTo>
                  </a:path>
                </a:pathLst>
              </a:custGeom>
              <a:gradFill rotWithShape="0">
                <a:gsLst>
                  <a:gs pos="0">
                    <a:schemeClr val="accent1"/>
                  </a:gs>
                  <a:gs pos="100000">
                    <a:schemeClr val="accent1">
                      <a:gamma/>
                      <a:shade val="69804"/>
                      <a:invGamma/>
                    </a:schemeClr>
                  </a:gs>
                </a:gsLst>
                <a:lin ang="18900000" scaled="1"/>
              </a:gradFill>
              <a:ln w="12700" cap="rnd" cmpd="sng">
                <a:solidFill>
                  <a:srgbClr val="FFFFFF"/>
                </a:solidFill>
                <a:prstDash val="solid"/>
                <a:round/>
              </a:ln>
              <a:effectLst/>
            </p:spPr>
            <p:txBody>
              <a:bodyPr/>
              <a:lstStyle/>
              <a:p>
                <a:endParaRPr lang="en-US"/>
              </a:p>
            </p:txBody>
          </p:sp>
        </p:grpSp>
        <p:sp>
          <p:nvSpPr>
            <p:cNvPr id="378908" name="Rectangle 28"/>
            <p:cNvSpPr>
              <a:spLocks noChangeArrowheads="1"/>
            </p:cNvSpPr>
            <p:nvPr/>
          </p:nvSpPr>
          <p:spPr bwMode="auto">
            <a:xfrm>
              <a:off x="2078" y="3859"/>
              <a:ext cx="1314" cy="311"/>
            </a:xfrm>
            <a:prstGeom prst="rect">
              <a:avLst/>
            </a:prstGeom>
            <a:noFill/>
            <a:ln w="9525">
              <a:noFill/>
              <a:miter lim="800000"/>
            </a:ln>
            <a:effectLst/>
          </p:spPr>
          <p:txBody>
            <a:bodyPr wrap="none" lIns="92075" tIns="46038" rIns="92075" bIns="46038">
              <a:spAutoFit/>
            </a:bodyPr>
            <a:lstStyle/>
            <a:p>
              <a:pPr eaLnBrk="0" hangingPunct="0"/>
              <a:r>
                <a:rPr lang="en-US" b="1" dirty="0">
                  <a:solidFill>
                    <a:srgbClr val="000000"/>
                  </a:solidFill>
                  <a:effectLst>
                    <a:outerShdw blurRad="38100" dist="38100" dir="2700000" algn="tl">
                      <a:srgbClr val="DDDDDD"/>
                    </a:outerShdw>
                  </a:effectLst>
                  <a:latin typeface="Consolas" pitchFamily="49" charset="0"/>
                  <a:cs typeface="Consolas" pitchFamily="49" charset="0"/>
                </a:rPr>
                <a:t>GL_TRIANGLE_FAN</a:t>
              </a:r>
              <a:endParaRPr lang="en-US" b="1" dirty="0">
                <a:solidFill>
                  <a:srgbClr val="000000"/>
                </a:solidFill>
                <a:effectLst>
                  <a:outerShdw blurRad="38100" dist="38100" dir="2700000" algn="tl">
                    <a:srgbClr val="DDDDDD"/>
                  </a:outerShdw>
                </a:effectLst>
                <a:latin typeface="Consolas" pitchFamily="49" charset="0"/>
                <a:cs typeface="Consolas" pitchFamily="49" charset="0"/>
              </a:endParaRPr>
            </a:p>
          </p:txBody>
        </p:sp>
      </p:grpSp>
      <p:grpSp>
        <p:nvGrpSpPr>
          <p:cNvPr id="11" name="Group 36"/>
          <p:cNvGrpSpPr/>
          <p:nvPr/>
        </p:nvGrpSpPr>
        <p:grpSpPr bwMode="auto">
          <a:xfrm>
            <a:off x="2095502" y="2950369"/>
            <a:ext cx="1198563" cy="798908"/>
            <a:chOff x="1256" y="1684"/>
            <a:chExt cx="755" cy="671"/>
          </a:xfrm>
        </p:grpSpPr>
        <p:grpSp>
          <p:nvGrpSpPr>
            <p:cNvPr id="12" name="Group 37"/>
            <p:cNvGrpSpPr/>
            <p:nvPr/>
          </p:nvGrpSpPr>
          <p:grpSpPr bwMode="auto">
            <a:xfrm>
              <a:off x="1434" y="1684"/>
              <a:ext cx="562" cy="307"/>
              <a:chOff x="1434" y="1514"/>
              <a:chExt cx="562" cy="329"/>
            </a:xfrm>
          </p:grpSpPr>
          <p:sp>
            <p:nvSpPr>
              <p:cNvPr id="54298" name="Line 38"/>
              <p:cNvSpPr>
                <a:spLocks noChangeShapeType="1"/>
              </p:cNvSpPr>
              <p:nvPr/>
            </p:nvSpPr>
            <p:spPr bwMode="auto">
              <a:xfrm flipV="1">
                <a:off x="1434" y="1514"/>
                <a:ext cx="328" cy="329"/>
              </a:xfrm>
              <a:prstGeom prst="line">
                <a:avLst/>
              </a:prstGeom>
              <a:noFill/>
              <a:ln w="12700">
                <a:solidFill>
                  <a:srgbClr val="FFFFFF"/>
                </a:solidFill>
                <a:round/>
                <a:headEnd type="none" w="sm" len="sm"/>
                <a:tailEnd type="none" w="sm" len="sm"/>
              </a:ln>
            </p:spPr>
            <p:txBody>
              <a:bodyPr wrap="none" anchor="ctr"/>
              <a:lstStyle/>
              <a:p>
                <a:endParaRPr lang="en-US"/>
              </a:p>
            </p:txBody>
          </p:sp>
          <p:sp>
            <p:nvSpPr>
              <p:cNvPr id="54299" name="Line 39"/>
              <p:cNvSpPr>
                <a:spLocks noChangeShapeType="1"/>
              </p:cNvSpPr>
              <p:nvPr/>
            </p:nvSpPr>
            <p:spPr bwMode="auto">
              <a:xfrm>
                <a:off x="1796" y="1514"/>
                <a:ext cx="200" cy="222"/>
              </a:xfrm>
              <a:prstGeom prst="line">
                <a:avLst/>
              </a:prstGeom>
              <a:noFill/>
              <a:ln w="12700">
                <a:solidFill>
                  <a:srgbClr val="000000"/>
                </a:solidFill>
                <a:round/>
                <a:headEnd type="none" w="sm" len="sm"/>
                <a:tailEnd type="none" w="sm" len="sm"/>
              </a:ln>
            </p:spPr>
            <p:txBody>
              <a:bodyPr wrap="none" anchor="ctr"/>
              <a:lstStyle/>
              <a:p>
                <a:endParaRPr lang="en-US"/>
              </a:p>
            </p:txBody>
          </p:sp>
        </p:grpSp>
        <p:sp>
          <p:nvSpPr>
            <p:cNvPr id="378920" name="Rectangle 40"/>
            <p:cNvSpPr>
              <a:spLocks noChangeArrowheads="1"/>
            </p:cNvSpPr>
            <p:nvPr/>
          </p:nvSpPr>
          <p:spPr bwMode="auto">
            <a:xfrm>
              <a:off x="1256" y="2044"/>
              <a:ext cx="755" cy="311"/>
            </a:xfrm>
            <a:prstGeom prst="rect">
              <a:avLst/>
            </a:prstGeom>
            <a:noFill/>
            <a:ln w="9525">
              <a:noFill/>
              <a:miter lim="800000"/>
            </a:ln>
            <a:effectLst/>
          </p:spPr>
          <p:txBody>
            <a:bodyPr wrap="none" lIns="92075" tIns="46038" rIns="92075" bIns="46038">
              <a:spAutoFit/>
            </a:bodyPr>
            <a:lstStyle/>
            <a:p>
              <a:pPr eaLnBrk="0" hangingPunct="0"/>
              <a:r>
                <a:rPr lang="en-US" b="1" dirty="0">
                  <a:solidFill>
                    <a:srgbClr val="000000"/>
                  </a:solidFill>
                  <a:effectLst>
                    <a:outerShdw blurRad="38100" dist="38100" dir="2700000" algn="tl">
                      <a:srgbClr val="DDDDDD"/>
                    </a:outerShdw>
                  </a:effectLst>
                  <a:latin typeface="Consolas" pitchFamily="49" charset="0"/>
                  <a:cs typeface="Consolas" pitchFamily="49" charset="0"/>
                </a:rPr>
                <a:t>GL_LINES</a:t>
              </a:r>
              <a:endParaRPr lang="en-US" b="1" dirty="0">
                <a:solidFill>
                  <a:srgbClr val="000000"/>
                </a:solidFill>
                <a:effectLst>
                  <a:outerShdw blurRad="38100" dist="38100" dir="2700000" algn="tl">
                    <a:srgbClr val="DDDDDD"/>
                  </a:outerShdw>
                </a:effectLst>
                <a:latin typeface="Consolas" pitchFamily="49" charset="0"/>
                <a:cs typeface="Consolas" pitchFamily="49" charset="0"/>
              </a:endParaRPr>
            </a:p>
          </p:txBody>
        </p:sp>
      </p:grpSp>
      <p:grpSp>
        <p:nvGrpSpPr>
          <p:cNvPr id="13" name="Group 41"/>
          <p:cNvGrpSpPr/>
          <p:nvPr/>
        </p:nvGrpSpPr>
        <p:grpSpPr bwMode="auto">
          <a:xfrm>
            <a:off x="6834188" y="2571750"/>
            <a:ext cx="1704976" cy="1234679"/>
            <a:chOff x="3262" y="1629"/>
            <a:chExt cx="1074" cy="1037"/>
          </a:xfrm>
          <a:noFill/>
        </p:grpSpPr>
        <p:sp>
          <p:nvSpPr>
            <p:cNvPr id="54294" name="Freeform 42"/>
            <p:cNvSpPr/>
            <p:nvPr/>
          </p:nvSpPr>
          <p:spPr bwMode="auto">
            <a:xfrm>
              <a:off x="3564" y="1629"/>
              <a:ext cx="665" cy="668"/>
            </a:xfrm>
            <a:custGeom>
              <a:avLst/>
              <a:gdLst>
                <a:gd name="T0" fmla="*/ 336 w 665"/>
                <a:gd name="T1" fmla="*/ 268 h 715"/>
                <a:gd name="T2" fmla="*/ 243 w 665"/>
                <a:gd name="T3" fmla="*/ 44 h 715"/>
                <a:gd name="T4" fmla="*/ 586 w 665"/>
                <a:gd name="T5" fmla="*/ 0 h 715"/>
                <a:gd name="T6" fmla="*/ 0 w 665"/>
                <a:gd name="T7" fmla="*/ 231 h 715"/>
                <a:gd name="T8" fmla="*/ 429 w 665"/>
                <a:gd name="T9" fmla="*/ 623 h 715"/>
                <a:gd name="T10" fmla="*/ 664 w 665"/>
                <a:gd name="T11" fmla="*/ 243 h 715"/>
                <a:gd name="T12" fmla="*/ 336 w 665"/>
                <a:gd name="T13" fmla="*/ 268 h 715"/>
                <a:gd name="T14" fmla="*/ 0 60000 65536"/>
                <a:gd name="T15" fmla="*/ 0 60000 65536"/>
                <a:gd name="T16" fmla="*/ 0 60000 65536"/>
                <a:gd name="T17" fmla="*/ 0 60000 65536"/>
                <a:gd name="T18" fmla="*/ 0 60000 65536"/>
                <a:gd name="T19" fmla="*/ 0 60000 65536"/>
                <a:gd name="T20" fmla="*/ 0 60000 65536"/>
                <a:gd name="T21" fmla="*/ 0 w 665"/>
                <a:gd name="T22" fmla="*/ 0 h 715"/>
                <a:gd name="T23" fmla="*/ 665 w 665"/>
                <a:gd name="T24" fmla="*/ 715 h 7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5" h="715">
                  <a:moveTo>
                    <a:pt x="336" y="307"/>
                  </a:moveTo>
                  <a:lnTo>
                    <a:pt x="243" y="50"/>
                  </a:lnTo>
                  <a:lnTo>
                    <a:pt x="586" y="0"/>
                  </a:lnTo>
                  <a:lnTo>
                    <a:pt x="0" y="264"/>
                  </a:lnTo>
                  <a:lnTo>
                    <a:pt x="429" y="714"/>
                  </a:lnTo>
                  <a:lnTo>
                    <a:pt x="664" y="278"/>
                  </a:lnTo>
                  <a:lnTo>
                    <a:pt x="336" y="307"/>
                  </a:lnTo>
                </a:path>
              </a:pathLst>
            </a:custGeom>
            <a:grpFill/>
            <a:ln w="12700" cap="rnd">
              <a:solidFill>
                <a:srgbClr val="000000"/>
              </a:solidFill>
              <a:round/>
            </a:ln>
          </p:spPr>
          <p:txBody>
            <a:bodyPr/>
            <a:lstStyle/>
            <a:p>
              <a:endParaRPr lang="en-US"/>
            </a:p>
          </p:txBody>
        </p:sp>
        <p:sp>
          <p:nvSpPr>
            <p:cNvPr id="378923" name="Rectangle 43"/>
            <p:cNvSpPr>
              <a:spLocks noChangeArrowheads="1"/>
            </p:cNvSpPr>
            <p:nvPr/>
          </p:nvSpPr>
          <p:spPr bwMode="auto">
            <a:xfrm>
              <a:off x="3262" y="2355"/>
              <a:ext cx="1074" cy="311"/>
            </a:xfrm>
            <a:prstGeom prst="rect">
              <a:avLst/>
            </a:prstGeom>
            <a:grpFill/>
            <a:ln w="9525">
              <a:noFill/>
              <a:miter lim="800000"/>
            </a:ln>
            <a:effectLst/>
          </p:spPr>
          <p:txBody>
            <a:bodyPr wrap="none" lIns="92075" tIns="46038" rIns="92075" bIns="46038">
              <a:spAutoFit/>
            </a:bodyPr>
            <a:lstStyle/>
            <a:p>
              <a:pPr eaLnBrk="0" hangingPunct="0"/>
              <a:r>
                <a:rPr lang="en-US" b="1" dirty="0">
                  <a:solidFill>
                    <a:srgbClr val="000000"/>
                  </a:solidFill>
                  <a:effectLst>
                    <a:outerShdw blurRad="38100" dist="38100" dir="2700000" algn="tl">
                      <a:srgbClr val="DDDDDD"/>
                    </a:outerShdw>
                  </a:effectLst>
                  <a:latin typeface="Consolas" pitchFamily="49" charset="0"/>
                  <a:cs typeface="Consolas" pitchFamily="49" charset="0"/>
                </a:rPr>
                <a:t>GL_LINE_LOOP</a:t>
              </a:r>
              <a:endParaRPr lang="en-US" b="1" dirty="0">
                <a:solidFill>
                  <a:srgbClr val="000000"/>
                </a:solidFill>
                <a:effectLst>
                  <a:outerShdw blurRad="38100" dist="38100" dir="2700000" algn="tl">
                    <a:srgbClr val="DDDDDD"/>
                  </a:outerShdw>
                </a:effectLst>
                <a:latin typeface="Consolas" pitchFamily="49" charset="0"/>
                <a:cs typeface="Consolas" pitchFamily="49" charset="0"/>
              </a:endParaRPr>
            </a:p>
          </p:txBody>
        </p:sp>
      </p:grpSp>
      <p:grpSp>
        <p:nvGrpSpPr>
          <p:cNvPr id="14" name="Group 44"/>
          <p:cNvGrpSpPr/>
          <p:nvPr/>
        </p:nvGrpSpPr>
        <p:grpSpPr bwMode="auto">
          <a:xfrm>
            <a:off x="4095751" y="2571749"/>
            <a:ext cx="1831976" cy="1227532"/>
            <a:chOff x="1985" y="1595"/>
            <a:chExt cx="1154" cy="1031"/>
          </a:xfrm>
        </p:grpSpPr>
        <p:sp>
          <p:nvSpPr>
            <p:cNvPr id="54292" name="Freeform 45"/>
            <p:cNvSpPr/>
            <p:nvPr/>
          </p:nvSpPr>
          <p:spPr bwMode="auto">
            <a:xfrm>
              <a:off x="2214" y="1595"/>
              <a:ext cx="908" cy="622"/>
            </a:xfrm>
            <a:custGeom>
              <a:avLst/>
              <a:gdLst>
                <a:gd name="T0" fmla="*/ 393 w 908"/>
                <a:gd name="T1" fmla="*/ 412 h 665"/>
                <a:gd name="T2" fmla="*/ 115 w 908"/>
                <a:gd name="T3" fmla="*/ 69 h 665"/>
                <a:gd name="T4" fmla="*/ 0 w 908"/>
                <a:gd name="T5" fmla="*/ 331 h 665"/>
                <a:gd name="T6" fmla="*/ 907 w 908"/>
                <a:gd name="T7" fmla="*/ 200 h 665"/>
                <a:gd name="T8" fmla="*/ 407 w 908"/>
                <a:gd name="T9" fmla="*/ 0 h 665"/>
                <a:gd name="T10" fmla="*/ 715 w 908"/>
                <a:gd name="T11" fmla="*/ 487 h 665"/>
                <a:gd name="T12" fmla="*/ 315 w 908"/>
                <a:gd name="T13" fmla="*/ 581 h 665"/>
                <a:gd name="T14" fmla="*/ 0 60000 65536"/>
                <a:gd name="T15" fmla="*/ 0 60000 65536"/>
                <a:gd name="T16" fmla="*/ 0 60000 65536"/>
                <a:gd name="T17" fmla="*/ 0 60000 65536"/>
                <a:gd name="T18" fmla="*/ 0 60000 65536"/>
                <a:gd name="T19" fmla="*/ 0 60000 65536"/>
                <a:gd name="T20" fmla="*/ 0 60000 65536"/>
                <a:gd name="T21" fmla="*/ 0 w 908"/>
                <a:gd name="T22" fmla="*/ 0 h 665"/>
                <a:gd name="T23" fmla="*/ 908 w 908"/>
                <a:gd name="T24" fmla="*/ 665 h 6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8" h="665">
                  <a:moveTo>
                    <a:pt x="393" y="471"/>
                  </a:moveTo>
                  <a:lnTo>
                    <a:pt x="115" y="79"/>
                  </a:lnTo>
                  <a:lnTo>
                    <a:pt x="0" y="379"/>
                  </a:lnTo>
                  <a:lnTo>
                    <a:pt x="907" y="229"/>
                  </a:lnTo>
                  <a:lnTo>
                    <a:pt x="407" y="0"/>
                  </a:lnTo>
                  <a:lnTo>
                    <a:pt x="715" y="557"/>
                  </a:lnTo>
                  <a:lnTo>
                    <a:pt x="315" y="664"/>
                  </a:lnTo>
                </a:path>
              </a:pathLst>
            </a:custGeom>
            <a:noFill/>
            <a:ln w="12700" cap="rnd">
              <a:solidFill>
                <a:srgbClr val="000000"/>
              </a:solidFill>
              <a:round/>
              <a:headEnd type="none" w="sm" len="sm"/>
              <a:tailEnd type="none" w="sm" len="sm"/>
            </a:ln>
          </p:spPr>
          <p:txBody>
            <a:bodyPr/>
            <a:lstStyle/>
            <a:p>
              <a:endParaRPr lang="en-US"/>
            </a:p>
          </p:txBody>
        </p:sp>
        <p:sp>
          <p:nvSpPr>
            <p:cNvPr id="378926" name="Rectangle 46"/>
            <p:cNvSpPr>
              <a:spLocks noChangeArrowheads="1"/>
            </p:cNvSpPr>
            <p:nvPr/>
          </p:nvSpPr>
          <p:spPr bwMode="auto">
            <a:xfrm>
              <a:off x="1985" y="2315"/>
              <a:ext cx="1154" cy="311"/>
            </a:xfrm>
            <a:prstGeom prst="rect">
              <a:avLst/>
            </a:prstGeom>
            <a:noFill/>
            <a:ln w="9525">
              <a:noFill/>
              <a:miter lim="800000"/>
            </a:ln>
            <a:effectLst/>
          </p:spPr>
          <p:txBody>
            <a:bodyPr wrap="none" lIns="92075" tIns="46038" rIns="92075" bIns="46038">
              <a:spAutoFit/>
            </a:bodyPr>
            <a:lstStyle/>
            <a:p>
              <a:pPr eaLnBrk="0" hangingPunct="0"/>
              <a:r>
                <a:rPr lang="en-US" b="1" dirty="0">
                  <a:solidFill>
                    <a:srgbClr val="000000"/>
                  </a:solidFill>
                  <a:effectLst>
                    <a:outerShdw blurRad="38100" dist="38100" dir="2700000" algn="tl">
                      <a:srgbClr val="DDDDDD"/>
                    </a:outerShdw>
                  </a:effectLst>
                  <a:latin typeface="Consolas" pitchFamily="49" charset="0"/>
                  <a:cs typeface="Consolas" pitchFamily="49" charset="0"/>
                </a:rPr>
                <a:t>GL_LINE_STRIP</a:t>
              </a:r>
              <a:endParaRPr lang="en-US" b="1" dirty="0">
                <a:solidFill>
                  <a:srgbClr val="000000"/>
                </a:solidFill>
                <a:effectLst>
                  <a:outerShdw blurRad="38100" dist="38100" dir="2700000" algn="tl">
                    <a:srgbClr val="DDDDDD"/>
                  </a:outerShdw>
                </a:effectLst>
                <a:latin typeface="Consolas" pitchFamily="49" charset="0"/>
                <a:cs typeface="Consolas" pitchFamily="49" charset="0"/>
              </a:endParaRPr>
            </a:p>
          </p:txBody>
        </p:sp>
      </p:grpSp>
      <p:grpSp>
        <p:nvGrpSpPr>
          <p:cNvPr id="15" name="Group 47"/>
          <p:cNvGrpSpPr/>
          <p:nvPr/>
        </p:nvGrpSpPr>
        <p:grpSpPr bwMode="auto">
          <a:xfrm>
            <a:off x="285750" y="4381499"/>
            <a:ext cx="1704975" cy="948929"/>
            <a:chOff x="1527" y="2690"/>
            <a:chExt cx="1074" cy="797"/>
          </a:xfrm>
        </p:grpSpPr>
        <p:sp>
          <p:nvSpPr>
            <p:cNvPr id="54289" name="Freeform 48"/>
            <p:cNvSpPr/>
            <p:nvPr/>
          </p:nvSpPr>
          <p:spPr bwMode="auto">
            <a:xfrm>
              <a:off x="1797" y="2690"/>
              <a:ext cx="244" cy="175"/>
            </a:xfrm>
            <a:custGeom>
              <a:avLst/>
              <a:gdLst>
                <a:gd name="T0" fmla="*/ 158 w 244"/>
                <a:gd name="T1" fmla="*/ 0 h 187"/>
                <a:gd name="T2" fmla="*/ 0 w 244"/>
                <a:gd name="T3" fmla="*/ 150 h 187"/>
                <a:gd name="T4" fmla="*/ 243 w 244"/>
                <a:gd name="T5" fmla="*/ 163 h 187"/>
                <a:gd name="T6" fmla="*/ 158 w 244"/>
                <a:gd name="T7" fmla="*/ 0 h 187"/>
                <a:gd name="T8" fmla="*/ 0 60000 65536"/>
                <a:gd name="T9" fmla="*/ 0 60000 65536"/>
                <a:gd name="T10" fmla="*/ 0 60000 65536"/>
                <a:gd name="T11" fmla="*/ 0 60000 65536"/>
                <a:gd name="T12" fmla="*/ 0 w 244"/>
                <a:gd name="T13" fmla="*/ 0 h 187"/>
                <a:gd name="T14" fmla="*/ 244 w 244"/>
                <a:gd name="T15" fmla="*/ 187 h 187"/>
              </a:gdLst>
              <a:ahLst/>
              <a:cxnLst>
                <a:cxn ang="T8">
                  <a:pos x="T0" y="T1"/>
                </a:cxn>
                <a:cxn ang="T9">
                  <a:pos x="T2" y="T3"/>
                </a:cxn>
                <a:cxn ang="T10">
                  <a:pos x="T4" y="T5"/>
                </a:cxn>
                <a:cxn ang="T11">
                  <a:pos x="T6" y="T7"/>
                </a:cxn>
              </a:cxnLst>
              <a:rect l="T12" t="T13" r="T14" b="T15"/>
              <a:pathLst>
                <a:path w="244" h="187">
                  <a:moveTo>
                    <a:pt x="158" y="0"/>
                  </a:moveTo>
                  <a:lnTo>
                    <a:pt x="0" y="171"/>
                  </a:lnTo>
                  <a:lnTo>
                    <a:pt x="243" y="186"/>
                  </a:lnTo>
                  <a:lnTo>
                    <a:pt x="158" y="0"/>
                  </a:lnTo>
                </a:path>
              </a:pathLst>
            </a:custGeom>
            <a:solidFill>
              <a:srgbClr val="FFFF00"/>
            </a:solidFill>
            <a:ln w="9525" cap="rnd">
              <a:noFill/>
              <a:round/>
            </a:ln>
          </p:spPr>
          <p:txBody>
            <a:bodyPr/>
            <a:lstStyle/>
            <a:p>
              <a:endParaRPr lang="en-US"/>
            </a:p>
          </p:txBody>
        </p:sp>
        <p:sp>
          <p:nvSpPr>
            <p:cNvPr id="54290" name="Freeform 49"/>
            <p:cNvSpPr/>
            <p:nvPr/>
          </p:nvSpPr>
          <p:spPr bwMode="auto">
            <a:xfrm>
              <a:off x="2076" y="2830"/>
              <a:ext cx="451" cy="269"/>
            </a:xfrm>
            <a:custGeom>
              <a:avLst/>
              <a:gdLst>
                <a:gd name="T0" fmla="*/ 129 w 451"/>
                <a:gd name="T1" fmla="*/ 0 h 287"/>
                <a:gd name="T2" fmla="*/ 0 w 451"/>
                <a:gd name="T3" fmla="*/ 157 h 287"/>
                <a:gd name="T4" fmla="*/ 450 w 451"/>
                <a:gd name="T5" fmla="*/ 251 h 287"/>
                <a:gd name="T6" fmla="*/ 129 w 451"/>
                <a:gd name="T7" fmla="*/ 0 h 287"/>
                <a:gd name="T8" fmla="*/ 0 60000 65536"/>
                <a:gd name="T9" fmla="*/ 0 60000 65536"/>
                <a:gd name="T10" fmla="*/ 0 60000 65536"/>
                <a:gd name="T11" fmla="*/ 0 60000 65536"/>
                <a:gd name="T12" fmla="*/ 0 w 451"/>
                <a:gd name="T13" fmla="*/ 0 h 287"/>
                <a:gd name="T14" fmla="*/ 451 w 451"/>
                <a:gd name="T15" fmla="*/ 287 h 287"/>
              </a:gdLst>
              <a:ahLst/>
              <a:cxnLst>
                <a:cxn ang="T8">
                  <a:pos x="T0" y="T1"/>
                </a:cxn>
                <a:cxn ang="T9">
                  <a:pos x="T2" y="T3"/>
                </a:cxn>
                <a:cxn ang="T10">
                  <a:pos x="T4" y="T5"/>
                </a:cxn>
                <a:cxn ang="T11">
                  <a:pos x="T6" y="T7"/>
                </a:cxn>
              </a:cxnLst>
              <a:rect l="T12" t="T13" r="T14" b="T15"/>
              <a:pathLst>
                <a:path w="451" h="287">
                  <a:moveTo>
                    <a:pt x="129" y="0"/>
                  </a:moveTo>
                  <a:lnTo>
                    <a:pt x="0" y="179"/>
                  </a:lnTo>
                  <a:lnTo>
                    <a:pt x="450" y="286"/>
                  </a:lnTo>
                  <a:lnTo>
                    <a:pt x="129" y="0"/>
                  </a:lnTo>
                </a:path>
              </a:pathLst>
            </a:custGeom>
            <a:solidFill>
              <a:srgbClr val="66FF66"/>
            </a:solidFill>
            <a:ln w="9525" cap="rnd">
              <a:noFill/>
              <a:round/>
            </a:ln>
          </p:spPr>
          <p:txBody>
            <a:bodyPr/>
            <a:lstStyle/>
            <a:p>
              <a:endParaRPr lang="en-US"/>
            </a:p>
          </p:txBody>
        </p:sp>
        <p:sp>
          <p:nvSpPr>
            <p:cNvPr id="378930" name="Rectangle 50"/>
            <p:cNvSpPr>
              <a:spLocks noChangeArrowheads="1"/>
            </p:cNvSpPr>
            <p:nvPr/>
          </p:nvSpPr>
          <p:spPr bwMode="auto">
            <a:xfrm>
              <a:off x="1527" y="3176"/>
              <a:ext cx="1074" cy="311"/>
            </a:xfrm>
            <a:prstGeom prst="rect">
              <a:avLst/>
            </a:prstGeom>
            <a:noFill/>
            <a:ln w="9525">
              <a:noFill/>
              <a:miter lim="800000"/>
            </a:ln>
            <a:effectLst/>
          </p:spPr>
          <p:txBody>
            <a:bodyPr wrap="none" lIns="92075" tIns="46038" rIns="92075" bIns="46038">
              <a:spAutoFit/>
            </a:bodyPr>
            <a:lstStyle/>
            <a:p>
              <a:pPr eaLnBrk="0" hangingPunct="0"/>
              <a:r>
                <a:rPr lang="en-US" b="1" dirty="0">
                  <a:solidFill>
                    <a:srgbClr val="000000"/>
                  </a:solidFill>
                  <a:effectLst>
                    <a:outerShdw blurRad="38100" dist="38100" dir="2700000" algn="tl">
                      <a:srgbClr val="DDDDDD"/>
                    </a:outerShdw>
                  </a:effectLst>
                  <a:latin typeface="Consolas" pitchFamily="49" charset="0"/>
                  <a:cs typeface="Consolas" pitchFamily="49" charset="0"/>
                </a:rPr>
                <a:t>GL_TRIANGLES</a:t>
              </a:r>
              <a:endParaRPr lang="en-US" b="1" dirty="0">
                <a:solidFill>
                  <a:srgbClr val="000000"/>
                </a:solidFill>
                <a:effectLst>
                  <a:outerShdw blurRad="38100" dist="38100" dir="2700000" algn="tl">
                    <a:srgbClr val="DDDDDD"/>
                  </a:outerShdw>
                </a:effectLst>
                <a:latin typeface="Consolas" pitchFamily="49" charset="0"/>
                <a:cs typeface="Consolas" pitchFamily="49" charset="0"/>
              </a:endParaRPr>
            </a:p>
          </p:txBody>
        </p:sp>
      </p:grpSp>
      <p:sp>
        <p:nvSpPr>
          <p:cNvPr id="55" name="Rectangle 40"/>
          <p:cNvSpPr>
            <a:spLocks noChangeArrowheads="1"/>
          </p:cNvSpPr>
          <p:nvPr/>
        </p:nvSpPr>
        <p:spPr bwMode="auto">
          <a:xfrm>
            <a:off x="285750" y="3429001"/>
            <a:ext cx="1372172" cy="393219"/>
          </a:xfrm>
          <a:prstGeom prst="rect">
            <a:avLst/>
          </a:prstGeom>
          <a:noFill/>
          <a:ln w="9525">
            <a:noFill/>
            <a:miter lim="800000"/>
          </a:ln>
          <a:effectLst/>
        </p:spPr>
        <p:txBody>
          <a:bodyPr wrap="none" lIns="115094" tIns="57548" rIns="115094" bIns="57548">
            <a:spAutoFit/>
          </a:bodyPr>
          <a:lstStyle/>
          <a:p>
            <a:pPr eaLnBrk="0" hangingPunct="0"/>
            <a:r>
              <a:rPr lang="en-US" b="1" dirty="0">
                <a:solidFill>
                  <a:srgbClr val="000000"/>
                </a:solidFill>
                <a:effectLst>
                  <a:outerShdw blurRad="38100" dist="38100" dir="2700000" algn="tl">
                    <a:srgbClr val="DDDDDD"/>
                  </a:outerShdw>
                </a:effectLst>
                <a:latin typeface="Consolas" pitchFamily="49" charset="0"/>
                <a:cs typeface="Consolas" pitchFamily="49" charset="0"/>
              </a:rPr>
              <a:t>GL_POINTS</a:t>
            </a:r>
            <a:endParaRPr lang="en-US" b="1" dirty="0">
              <a:solidFill>
                <a:srgbClr val="000000"/>
              </a:solidFill>
              <a:effectLst>
                <a:outerShdw blurRad="38100" dist="38100" dir="2700000" algn="tl">
                  <a:srgbClr val="DDDDDD"/>
                </a:outerShdw>
              </a:effectLst>
              <a:latin typeface="Consolas" pitchFamily="49" charset="0"/>
              <a:cs typeface="Consolas" pitchFamily="49" charset="0"/>
            </a:endParaRPr>
          </a:p>
        </p:txBody>
      </p:sp>
      <p:sp>
        <p:nvSpPr>
          <p:cNvPr id="56" name="Line 39"/>
          <p:cNvSpPr>
            <a:spLocks noChangeShapeType="1"/>
          </p:cNvSpPr>
          <p:nvPr/>
        </p:nvSpPr>
        <p:spPr bwMode="auto">
          <a:xfrm flipV="1">
            <a:off x="2476500" y="2857500"/>
            <a:ext cx="381000" cy="285750"/>
          </a:xfrm>
          <a:prstGeom prst="line">
            <a:avLst/>
          </a:prstGeom>
          <a:noFill/>
          <a:ln w="12700">
            <a:solidFill>
              <a:srgbClr val="000000"/>
            </a:solidFill>
            <a:round/>
            <a:headEnd type="none" w="sm" len="sm"/>
            <a:tailEnd type="none" w="sm" len="sm"/>
          </a:ln>
        </p:spPr>
        <p:txBody>
          <a:bodyPr wrap="none" lIns="114300" tIns="57150" rIns="114300" bIns="57150" anchor="ctr"/>
          <a:lstStyle/>
          <a:p>
            <a:endParaRPr lang="en-US"/>
          </a:p>
        </p:txBody>
      </p:sp>
      <p:sp>
        <p:nvSpPr>
          <p:cNvPr id="57" name="Oval 56"/>
          <p:cNvSpPr/>
          <p:nvPr/>
        </p:nvSpPr>
        <p:spPr>
          <a:xfrm>
            <a:off x="762000" y="2762250"/>
            <a:ext cx="95250" cy="95250"/>
          </a:xfrm>
          <a:prstGeom prst="ellipse">
            <a:avLst/>
          </a:prstGeom>
          <a:solidFill>
            <a:srgbClr val="000000"/>
          </a:solidFill>
        </p:spPr>
        <p:style>
          <a:lnRef idx="1">
            <a:schemeClr val="accent1"/>
          </a:lnRef>
          <a:fillRef idx="3">
            <a:schemeClr val="accent1"/>
          </a:fillRef>
          <a:effectRef idx="2">
            <a:schemeClr val="accent1"/>
          </a:effectRef>
          <a:fontRef idx="minor">
            <a:schemeClr val="lt1"/>
          </a:fontRef>
        </p:style>
        <p:txBody>
          <a:bodyPr lIns="114300" tIns="57150" rIns="114300" bIns="57150" rtlCol="0" anchor="ctr"/>
          <a:lstStyle/>
          <a:p>
            <a:pPr algn="ctr"/>
            <a:endParaRPr lang="en-US"/>
          </a:p>
        </p:txBody>
      </p:sp>
      <p:sp>
        <p:nvSpPr>
          <p:cNvPr id="58" name="Oval 57"/>
          <p:cNvSpPr/>
          <p:nvPr/>
        </p:nvSpPr>
        <p:spPr>
          <a:xfrm>
            <a:off x="952500" y="2952750"/>
            <a:ext cx="95250" cy="95250"/>
          </a:xfrm>
          <a:prstGeom prst="ellipse">
            <a:avLst/>
          </a:prstGeom>
          <a:solidFill>
            <a:srgbClr val="000000"/>
          </a:solidFill>
        </p:spPr>
        <p:style>
          <a:lnRef idx="1">
            <a:schemeClr val="accent1"/>
          </a:lnRef>
          <a:fillRef idx="3">
            <a:schemeClr val="accent1"/>
          </a:fillRef>
          <a:effectRef idx="2">
            <a:schemeClr val="accent1"/>
          </a:effectRef>
          <a:fontRef idx="minor">
            <a:schemeClr val="lt1"/>
          </a:fontRef>
        </p:style>
        <p:txBody>
          <a:bodyPr lIns="114300" tIns="57150" rIns="114300" bIns="57150" rtlCol="0" anchor="ctr"/>
          <a:lstStyle/>
          <a:p>
            <a:pPr algn="ctr"/>
            <a:endParaRPr lang="en-US"/>
          </a:p>
        </p:txBody>
      </p:sp>
      <p:sp>
        <p:nvSpPr>
          <p:cNvPr id="59" name="Oval 58"/>
          <p:cNvSpPr/>
          <p:nvPr/>
        </p:nvSpPr>
        <p:spPr>
          <a:xfrm>
            <a:off x="1333500" y="3048000"/>
            <a:ext cx="95250" cy="95250"/>
          </a:xfrm>
          <a:prstGeom prst="ellipse">
            <a:avLst/>
          </a:prstGeom>
          <a:solidFill>
            <a:srgbClr val="000000"/>
          </a:solidFill>
        </p:spPr>
        <p:style>
          <a:lnRef idx="1">
            <a:schemeClr val="accent1"/>
          </a:lnRef>
          <a:fillRef idx="3">
            <a:schemeClr val="accent1"/>
          </a:fillRef>
          <a:effectRef idx="2">
            <a:schemeClr val="accent1"/>
          </a:effectRef>
          <a:fontRef idx="minor">
            <a:schemeClr val="lt1"/>
          </a:fontRef>
        </p:style>
        <p:txBody>
          <a:bodyPr lIns="114300" tIns="57150" rIns="114300" bIns="57150" rtlCol="0" anchor="ctr"/>
          <a:lstStyle/>
          <a:p>
            <a:pPr algn="ctr"/>
            <a:endParaRPr lang="en-US"/>
          </a:p>
        </p:txBody>
      </p:sp>
      <p:sp>
        <p:nvSpPr>
          <p:cNvPr id="60" name="Oval 59"/>
          <p:cNvSpPr/>
          <p:nvPr/>
        </p:nvSpPr>
        <p:spPr>
          <a:xfrm>
            <a:off x="1524000" y="2762250"/>
            <a:ext cx="95250" cy="95250"/>
          </a:xfrm>
          <a:prstGeom prst="ellipse">
            <a:avLst/>
          </a:prstGeom>
          <a:solidFill>
            <a:srgbClr val="000000"/>
          </a:solidFill>
        </p:spPr>
        <p:style>
          <a:lnRef idx="1">
            <a:schemeClr val="accent1"/>
          </a:lnRef>
          <a:fillRef idx="3">
            <a:schemeClr val="accent1"/>
          </a:fillRef>
          <a:effectRef idx="2">
            <a:schemeClr val="accent1"/>
          </a:effectRef>
          <a:fontRef idx="minor">
            <a:schemeClr val="lt1"/>
          </a:fontRef>
        </p:style>
        <p:txBody>
          <a:bodyPr lIns="114300" tIns="57150" rIns="114300" bIns="57150"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PA2</a:t>
            </a:r>
            <a:r>
              <a:rPr lang="zh-CN" altLang="en-US" dirty="0"/>
              <a:t>代码框架 </a:t>
            </a:r>
            <a:r>
              <a:rPr lang="en-US" altLang="zh-CN" dirty="0"/>
              <a:t>(main)</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4" name="图片 3"/>
          <p:cNvPicPr>
            <a:picLocks noChangeAspect="1"/>
          </p:cNvPicPr>
          <p:nvPr/>
        </p:nvPicPr>
        <p:blipFill>
          <a:blip r:embed="rId1"/>
          <a:stretch>
            <a:fillRect/>
          </a:stretch>
        </p:blipFill>
        <p:spPr>
          <a:xfrm>
            <a:off x="1716493" y="1165650"/>
            <a:ext cx="5711013" cy="5692350"/>
          </a:xfrm>
          <a:prstGeom prst="rect">
            <a:avLst/>
          </a:prstGeom>
        </p:spPr>
      </p:pic>
      <p:sp>
        <p:nvSpPr>
          <p:cNvPr id="5" name="椭圆 4"/>
          <p:cNvSpPr/>
          <p:nvPr/>
        </p:nvSpPr>
        <p:spPr>
          <a:xfrm>
            <a:off x="1304737" y="4048143"/>
            <a:ext cx="4760177" cy="7847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PA2</a:t>
            </a:r>
            <a:r>
              <a:rPr lang="zh-CN" altLang="en-US" dirty="0"/>
              <a:t>代码框架 </a:t>
            </a:r>
            <a:r>
              <a:rPr lang="en-US" altLang="zh-CN" dirty="0"/>
              <a:t>(main)</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4" name="图片 3"/>
          <p:cNvPicPr>
            <a:picLocks noChangeAspect="1"/>
          </p:cNvPicPr>
          <p:nvPr/>
        </p:nvPicPr>
        <p:blipFill>
          <a:blip r:embed="rId1"/>
          <a:stretch>
            <a:fillRect/>
          </a:stretch>
        </p:blipFill>
        <p:spPr>
          <a:xfrm>
            <a:off x="847725" y="1417638"/>
            <a:ext cx="7448550" cy="52006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PA2</a:t>
            </a:r>
            <a:r>
              <a:rPr lang="zh-CN" altLang="en-US" dirty="0"/>
              <a:t>代码框架 </a:t>
            </a:r>
            <a:r>
              <a:rPr lang="en-US" altLang="zh-CN" dirty="0"/>
              <a:t>(main)</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4" name="图片 3"/>
          <p:cNvPicPr>
            <a:picLocks noChangeAspect="1"/>
          </p:cNvPicPr>
          <p:nvPr/>
        </p:nvPicPr>
        <p:blipFill>
          <a:blip r:embed="rId1"/>
          <a:stretch>
            <a:fillRect/>
          </a:stretch>
        </p:blipFill>
        <p:spPr>
          <a:xfrm>
            <a:off x="1716493" y="1165650"/>
            <a:ext cx="5711013" cy="5692350"/>
          </a:xfrm>
          <a:prstGeom prst="rect">
            <a:avLst/>
          </a:prstGeom>
        </p:spPr>
      </p:pic>
      <p:sp>
        <p:nvSpPr>
          <p:cNvPr id="5" name="椭圆 4"/>
          <p:cNvSpPr/>
          <p:nvPr/>
        </p:nvSpPr>
        <p:spPr>
          <a:xfrm>
            <a:off x="1475653" y="5257798"/>
            <a:ext cx="4760177" cy="7847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PA2</a:t>
            </a:r>
            <a:r>
              <a:rPr lang="zh-CN" altLang="en-US" dirty="0"/>
              <a:t>代码框架 </a:t>
            </a:r>
            <a:r>
              <a:rPr lang="en-US" altLang="zh-CN" dirty="0"/>
              <a:t>(main)</a:t>
            </a:r>
            <a:endParaRPr lang="zh-CN" altLang="en-US" dirty="0"/>
          </a:p>
        </p:txBody>
      </p:sp>
      <p:sp>
        <p:nvSpPr>
          <p:cNvPr id="3" name="内容占位符 2"/>
          <p:cNvSpPr>
            <a:spLocks noGrp="1"/>
          </p:cNvSpPr>
          <p:nvPr>
            <p:ph idx="1"/>
          </p:nvPr>
        </p:nvSpPr>
        <p:spPr/>
        <p:txBody>
          <a:bodyPr/>
          <a:lstStyle/>
          <a:p>
            <a:endParaRPr lang="zh-CN" altLang="en-US"/>
          </a:p>
        </p:txBody>
      </p:sp>
      <p:pic>
        <p:nvPicPr>
          <p:cNvPr id="6" name="Picture 5"/>
          <p:cNvPicPr>
            <a:picLocks noChangeAspect="1"/>
          </p:cNvPicPr>
          <p:nvPr/>
        </p:nvPicPr>
        <p:blipFill>
          <a:blip r:embed="rId1"/>
          <a:stretch>
            <a:fillRect/>
          </a:stretch>
        </p:blipFill>
        <p:spPr>
          <a:xfrm>
            <a:off x="1918355" y="1602987"/>
            <a:ext cx="5375603" cy="452317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PA2</a:t>
            </a:r>
            <a:r>
              <a:rPr lang="zh-CN" altLang="en-US" dirty="0"/>
              <a:t>代码框架 </a:t>
            </a:r>
            <a:r>
              <a:rPr lang="en-US" altLang="zh-CN" dirty="0"/>
              <a:t>(light)</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261937" y="1600202"/>
            <a:ext cx="8620125" cy="48577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PA2</a:t>
            </a:r>
            <a:r>
              <a:rPr lang="zh-CN" altLang="en-US" dirty="0"/>
              <a:t>代码框架 </a:t>
            </a:r>
            <a:r>
              <a:rPr lang="en-US" altLang="zh-CN" dirty="0"/>
              <a:t>(material)</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0" y="1417638"/>
            <a:ext cx="9144000" cy="515179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PA2</a:t>
            </a:r>
            <a:r>
              <a:rPr lang="zh-CN" altLang="en-US" dirty="0"/>
              <a:t>代码框架 </a:t>
            </a:r>
            <a:r>
              <a:rPr lang="en-US" altLang="zh-CN" dirty="0"/>
              <a:t>(Sphere)</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214312" y="1276350"/>
            <a:ext cx="8715375" cy="55816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PA2</a:t>
            </a:r>
            <a:r>
              <a:rPr lang="zh-CN" altLang="en-US" dirty="0"/>
              <a:t>代码框架 </a:t>
            </a:r>
            <a:r>
              <a:rPr lang="en-US" altLang="zh-CN" dirty="0"/>
              <a:t>(plane)</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1382731" y="1142279"/>
            <a:ext cx="6378538" cy="571572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404894"/>
            <a:ext cx="7772400" cy="1899642"/>
          </a:xfrm>
        </p:spPr>
        <p:txBody>
          <a:bodyPr>
            <a:normAutofit/>
          </a:bodyPr>
          <a:lstStyle/>
          <a:p>
            <a:r>
              <a:rPr lang="en-US" altLang="zh-CN" sz="4800" dirty="0">
                <a:latin typeface="DengXian" charset="-122"/>
                <a:ea typeface="DengXian" charset="-122"/>
                <a:cs typeface="DengXian" charset="-122"/>
              </a:rPr>
              <a:t>PA2</a:t>
            </a:r>
            <a:r>
              <a:rPr lang="zh-CN" altLang="en-US" sz="4800" dirty="0">
                <a:latin typeface="DengXian" charset="-122"/>
                <a:ea typeface="DengXian" charset="-122"/>
                <a:cs typeface="DengXian" charset="-122"/>
              </a:rPr>
              <a:t>：</a:t>
            </a:r>
            <a:r>
              <a:rPr lang="en-US" altLang="zh-CN" sz="4800" dirty="0">
                <a:latin typeface="DengXian" charset="-122"/>
                <a:ea typeface="DengXian" charset="-122"/>
                <a:cs typeface="DengXian" charset="-122"/>
              </a:rPr>
              <a:t>Bezier </a:t>
            </a:r>
            <a:r>
              <a:rPr lang="zh-CN" altLang="en-US" sz="4800" dirty="0">
                <a:latin typeface="DengXian" charset="-122"/>
                <a:ea typeface="DengXian" charset="-122"/>
                <a:cs typeface="DengXian" charset="-122"/>
              </a:rPr>
              <a:t>曲线</a:t>
            </a:r>
            <a:endParaRPr lang="zh-CN" altLang="en-US" dirty="0">
              <a:latin typeface="DengXian" charset="-122"/>
              <a:ea typeface="DengXian" charset="-122"/>
              <a:cs typeface="DengXian"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Bézier</a:t>
            </a:r>
            <a:r>
              <a:rPr lang="zh-CN" altLang="en-US" dirty="0"/>
              <a:t>曲线</a:t>
            </a:r>
            <a:r>
              <a:rPr lang="en-US" altLang="zh-CN" dirty="0"/>
              <a:t>/</a:t>
            </a:r>
            <a:r>
              <a:rPr lang="zh-CN" altLang="en-US" dirty="0"/>
              <a:t>曲面</a:t>
            </a:r>
            <a:endParaRPr lang="zh-CN" altLang="en-US" dirty="0"/>
          </a:p>
        </p:txBody>
      </p:sp>
      <p:pic>
        <p:nvPicPr>
          <p:cNvPr id="3076" name="Picture 4" descr="線性貝茲曲線演示動畫，t in [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36843" y="1641944"/>
            <a:ext cx="2286000" cy="9525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二次貝茲曲線演示動畫，t in [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6843" y="2840610"/>
            <a:ext cx="2286000" cy="95250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三次貝茲曲線演示動畫，t in [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843" y="4039277"/>
            <a:ext cx="2286000" cy="95250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四次貝茲曲線演示動畫，t in [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6843" y="5237944"/>
            <a:ext cx="2286000" cy="952500"/>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709157" y="1930180"/>
            <a:ext cx="1394292" cy="369332"/>
          </a:xfrm>
          <a:prstGeom prst="rect">
            <a:avLst/>
          </a:prstGeom>
          <a:noFill/>
        </p:spPr>
        <p:txBody>
          <a:bodyPr wrap="none" rtlCol="0">
            <a:spAutoFit/>
          </a:bodyPr>
          <a:lstStyle/>
          <a:p>
            <a:r>
              <a:rPr lang="en-US" altLang="zh-CN" dirty="0"/>
              <a:t>Linear Bézier</a:t>
            </a:r>
            <a:endParaRPr lang="zh-CN" altLang="en-US" dirty="0"/>
          </a:p>
        </p:txBody>
      </p:sp>
      <p:sp>
        <p:nvSpPr>
          <p:cNvPr id="10" name="文本框 9"/>
          <p:cNvSpPr txBox="1"/>
          <p:nvPr/>
        </p:nvSpPr>
        <p:spPr>
          <a:xfrm>
            <a:off x="709157" y="3128091"/>
            <a:ext cx="1736886" cy="369332"/>
          </a:xfrm>
          <a:prstGeom prst="rect">
            <a:avLst/>
          </a:prstGeom>
          <a:noFill/>
        </p:spPr>
        <p:txBody>
          <a:bodyPr wrap="none" rtlCol="0">
            <a:spAutoFit/>
          </a:bodyPr>
          <a:lstStyle/>
          <a:p>
            <a:r>
              <a:rPr lang="en-US" altLang="zh-CN" dirty="0"/>
              <a:t>Quadratic Bézier</a:t>
            </a:r>
            <a:endParaRPr lang="zh-CN" altLang="en-US" dirty="0"/>
          </a:p>
        </p:txBody>
      </p:sp>
      <p:sp>
        <p:nvSpPr>
          <p:cNvPr id="11" name="文本框 10"/>
          <p:cNvSpPr txBox="1"/>
          <p:nvPr/>
        </p:nvSpPr>
        <p:spPr>
          <a:xfrm>
            <a:off x="709157" y="4330861"/>
            <a:ext cx="1333378" cy="369332"/>
          </a:xfrm>
          <a:prstGeom prst="rect">
            <a:avLst/>
          </a:prstGeom>
          <a:noFill/>
        </p:spPr>
        <p:txBody>
          <a:bodyPr wrap="none" rtlCol="0">
            <a:spAutoFit/>
          </a:bodyPr>
          <a:lstStyle/>
          <a:p>
            <a:r>
              <a:rPr lang="en-US" altLang="zh-CN" dirty="0"/>
              <a:t>Cubic Bézier</a:t>
            </a:r>
            <a:endParaRPr lang="zh-CN" altLang="en-US" dirty="0"/>
          </a:p>
        </p:txBody>
      </p:sp>
      <p:sp>
        <p:nvSpPr>
          <p:cNvPr id="12" name="文本框 11"/>
          <p:cNvSpPr txBox="1"/>
          <p:nvPr/>
        </p:nvSpPr>
        <p:spPr>
          <a:xfrm>
            <a:off x="709157" y="5529528"/>
            <a:ext cx="1511311" cy="369332"/>
          </a:xfrm>
          <a:prstGeom prst="rect">
            <a:avLst/>
          </a:prstGeom>
          <a:noFill/>
        </p:spPr>
        <p:txBody>
          <a:bodyPr wrap="none" rtlCol="0">
            <a:spAutoFit/>
          </a:bodyPr>
          <a:lstStyle/>
          <a:p>
            <a:r>
              <a:rPr lang="en-US" altLang="zh-CN" dirty="0"/>
              <a:t>Quartic Bézier</a:t>
            </a:r>
            <a:endParaRPr lang="zh-CN" altLang="en-US" dirty="0"/>
          </a:p>
        </p:txBody>
      </p:sp>
      <p:pic>
        <p:nvPicPr>
          <p:cNvPr id="5" name="图片 4"/>
          <p:cNvPicPr>
            <a:picLocks noChangeAspect="1"/>
          </p:cNvPicPr>
          <p:nvPr/>
        </p:nvPicPr>
        <p:blipFill>
          <a:blip r:embed="rId5"/>
          <a:stretch>
            <a:fillRect/>
          </a:stretch>
        </p:blipFill>
        <p:spPr>
          <a:xfrm>
            <a:off x="4492844" y="2017898"/>
            <a:ext cx="4125639" cy="281614"/>
          </a:xfrm>
          <a:prstGeom prst="rect">
            <a:avLst/>
          </a:prstGeom>
        </p:spPr>
      </p:pic>
      <p:pic>
        <p:nvPicPr>
          <p:cNvPr id="6" name="图片 5"/>
          <p:cNvPicPr>
            <a:picLocks noChangeAspect="1"/>
          </p:cNvPicPr>
          <p:nvPr/>
        </p:nvPicPr>
        <p:blipFill>
          <a:blip r:embed="rId6"/>
          <a:stretch>
            <a:fillRect/>
          </a:stretch>
        </p:blipFill>
        <p:spPr>
          <a:xfrm>
            <a:off x="4312525" y="2959485"/>
            <a:ext cx="4486275" cy="274670"/>
          </a:xfrm>
          <a:prstGeom prst="rect">
            <a:avLst/>
          </a:prstGeom>
        </p:spPr>
      </p:pic>
      <p:pic>
        <p:nvPicPr>
          <p:cNvPr id="7" name="图片 6"/>
          <p:cNvPicPr>
            <a:picLocks noChangeAspect="1"/>
          </p:cNvPicPr>
          <p:nvPr/>
        </p:nvPicPr>
        <p:blipFill>
          <a:blip r:embed="rId7"/>
          <a:stretch>
            <a:fillRect/>
          </a:stretch>
        </p:blipFill>
        <p:spPr>
          <a:xfrm>
            <a:off x="4717435" y="3254417"/>
            <a:ext cx="3417997" cy="302599"/>
          </a:xfrm>
          <a:prstGeom prst="rect">
            <a:avLst/>
          </a:prstGeom>
        </p:spPr>
      </p:pic>
      <p:pic>
        <p:nvPicPr>
          <p:cNvPr id="8" name="图片 7"/>
          <p:cNvPicPr>
            <a:picLocks noChangeAspect="1"/>
          </p:cNvPicPr>
          <p:nvPr/>
        </p:nvPicPr>
        <p:blipFill>
          <a:blip r:embed="rId8"/>
          <a:stretch>
            <a:fillRect/>
          </a:stretch>
        </p:blipFill>
        <p:spPr>
          <a:xfrm>
            <a:off x="4312525" y="4330861"/>
            <a:ext cx="4557220" cy="291811"/>
          </a:xfrm>
          <a:prstGeom prst="rect">
            <a:avLst/>
          </a:prstGeom>
        </p:spPr>
      </p:pic>
      <p:sp>
        <p:nvSpPr>
          <p:cNvPr id="9" name="文本框 8"/>
          <p:cNvSpPr txBox="1"/>
          <p:nvPr/>
        </p:nvSpPr>
        <p:spPr>
          <a:xfrm>
            <a:off x="6591135" y="5529528"/>
            <a:ext cx="746234" cy="369332"/>
          </a:xfrm>
          <a:prstGeom prst="rect">
            <a:avLst/>
          </a:prstGeom>
          <a:noFill/>
        </p:spPr>
        <p:txBody>
          <a:bodyPr wrap="square" rtlCol="0">
            <a:spAutoFit/>
          </a:bodyPr>
          <a:lstStyle/>
          <a:p>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fade">
                                      <p:cBhvr>
                                        <p:cTn id="7" dur="500"/>
                                        <p:tgtEl>
                                          <p:spTgt spid="30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078"/>
                                        </p:tgtEl>
                                        <p:attrNameLst>
                                          <p:attrName>style.visibility</p:attrName>
                                        </p:attrNameLst>
                                      </p:cBhvr>
                                      <p:to>
                                        <p:strVal val="visible"/>
                                      </p:to>
                                    </p:set>
                                    <p:animEffect transition="in" filter="fade">
                                      <p:cBhvr>
                                        <p:cTn id="18" dur="500"/>
                                        <p:tgtEl>
                                          <p:spTgt spid="307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par>
                                <p:cTn id="25" presetID="10"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80"/>
                                        </p:tgtEl>
                                        <p:attrNameLst>
                                          <p:attrName>style.visibility</p:attrName>
                                        </p:attrNameLst>
                                      </p:cBhvr>
                                      <p:to>
                                        <p:strVal val="visible"/>
                                      </p:to>
                                    </p:set>
                                    <p:animEffect transition="in" filter="fade">
                                      <p:cBhvr>
                                        <p:cTn id="32" dur="500"/>
                                        <p:tgtEl>
                                          <p:spTgt spid="308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082"/>
                                        </p:tgtEl>
                                        <p:attrNameLst>
                                          <p:attrName>style.visibility</p:attrName>
                                        </p:attrNameLst>
                                      </p:cBhvr>
                                      <p:to>
                                        <p:strVal val="visible"/>
                                      </p:to>
                                    </p:set>
                                    <p:animEffect transition="in" filter="fade">
                                      <p:cBhvr>
                                        <p:cTn id="43" dur="500"/>
                                        <p:tgtEl>
                                          <p:spTgt spid="308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1" grpId="0"/>
      <p:bldP spid="12"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Bézier</a:t>
            </a:r>
            <a:r>
              <a:rPr lang="zh-CN" altLang="en-US" dirty="0"/>
              <a:t>曲线</a:t>
            </a:r>
            <a:r>
              <a:rPr lang="en-US" altLang="zh-CN" dirty="0"/>
              <a:t>/</a:t>
            </a:r>
            <a:r>
              <a:rPr lang="zh-CN" altLang="en-US" dirty="0"/>
              <a:t>曲面</a:t>
            </a:r>
            <a:endParaRPr lang="zh-CN" altLang="en-US" dirty="0"/>
          </a:p>
        </p:txBody>
      </p:sp>
      <p:pic>
        <p:nvPicPr>
          <p:cNvPr id="3076" name="Picture 4" descr="線性貝茲曲線演示動畫，t in [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36843" y="1641944"/>
            <a:ext cx="2286000" cy="9525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二次貝茲曲線演示動畫，t in [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6843" y="2840610"/>
            <a:ext cx="2286000" cy="95250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三次貝茲曲線演示動畫，t in [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843" y="4039277"/>
            <a:ext cx="2286000" cy="95250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四次貝茲曲線演示動畫，t in [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6843" y="5237944"/>
            <a:ext cx="2286000" cy="952500"/>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709157" y="1930180"/>
            <a:ext cx="1394292" cy="369332"/>
          </a:xfrm>
          <a:prstGeom prst="rect">
            <a:avLst/>
          </a:prstGeom>
          <a:noFill/>
        </p:spPr>
        <p:txBody>
          <a:bodyPr wrap="none" rtlCol="0">
            <a:spAutoFit/>
          </a:bodyPr>
          <a:lstStyle/>
          <a:p>
            <a:r>
              <a:rPr lang="en-US" altLang="zh-CN" dirty="0"/>
              <a:t>Linear Bézier</a:t>
            </a:r>
            <a:endParaRPr lang="zh-CN" altLang="en-US" dirty="0"/>
          </a:p>
        </p:txBody>
      </p:sp>
      <p:sp>
        <p:nvSpPr>
          <p:cNvPr id="10" name="文本框 9"/>
          <p:cNvSpPr txBox="1"/>
          <p:nvPr/>
        </p:nvSpPr>
        <p:spPr>
          <a:xfrm>
            <a:off x="709157" y="3128091"/>
            <a:ext cx="1736886" cy="369332"/>
          </a:xfrm>
          <a:prstGeom prst="rect">
            <a:avLst/>
          </a:prstGeom>
          <a:noFill/>
        </p:spPr>
        <p:txBody>
          <a:bodyPr wrap="none" rtlCol="0">
            <a:spAutoFit/>
          </a:bodyPr>
          <a:lstStyle/>
          <a:p>
            <a:r>
              <a:rPr lang="en-US" altLang="zh-CN" dirty="0"/>
              <a:t>Quadratic Bézier</a:t>
            </a:r>
            <a:endParaRPr lang="zh-CN" altLang="en-US" dirty="0"/>
          </a:p>
        </p:txBody>
      </p:sp>
      <p:sp>
        <p:nvSpPr>
          <p:cNvPr id="11" name="文本框 10"/>
          <p:cNvSpPr txBox="1"/>
          <p:nvPr/>
        </p:nvSpPr>
        <p:spPr>
          <a:xfrm>
            <a:off x="709157" y="4330861"/>
            <a:ext cx="1333378" cy="369332"/>
          </a:xfrm>
          <a:prstGeom prst="rect">
            <a:avLst/>
          </a:prstGeom>
          <a:noFill/>
        </p:spPr>
        <p:txBody>
          <a:bodyPr wrap="none" rtlCol="0">
            <a:spAutoFit/>
          </a:bodyPr>
          <a:lstStyle/>
          <a:p>
            <a:r>
              <a:rPr lang="en-US" altLang="zh-CN" dirty="0"/>
              <a:t>Cubic Bézier</a:t>
            </a:r>
            <a:endParaRPr lang="zh-CN" altLang="en-US" dirty="0"/>
          </a:p>
        </p:txBody>
      </p:sp>
      <p:sp>
        <p:nvSpPr>
          <p:cNvPr id="12" name="文本框 11"/>
          <p:cNvSpPr txBox="1"/>
          <p:nvPr/>
        </p:nvSpPr>
        <p:spPr>
          <a:xfrm>
            <a:off x="709157" y="5529528"/>
            <a:ext cx="1511311" cy="369332"/>
          </a:xfrm>
          <a:prstGeom prst="rect">
            <a:avLst/>
          </a:prstGeom>
          <a:noFill/>
        </p:spPr>
        <p:txBody>
          <a:bodyPr wrap="none" rtlCol="0">
            <a:spAutoFit/>
          </a:bodyPr>
          <a:lstStyle/>
          <a:p>
            <a:r>
              <a:rPr lang="en-US" altLang="zh-CN" dirty="0"/>
              <a:t>Quartic Bézier</a:t>
            </a:r>
            <a:endParaRPr lang="zh-CN" altLang="en-US" dirty="0"/>
          </a:p>
        </p:txBody>
      </p:sp>
      <p:pic>
        <p:nvPicPr>
          <p:cNvPr id="3084" name="Picture 12" descr="https://upload.wikimedia.org/wikipedia/commons/thumb/b/bf/B%C3%A9zier_surface_example.svg/410px-B%C3%A9zier_surface_example.sv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2346" y="3125646"/>
            <a:ext cx="3078799" cy="2478058"/>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p:cNvSpPr txBox="1"/>
          <p:nvPr/>
        </p:nvSpPr>
        <p:spPr>
          <a:xfrm>
            <a:off x="6166089" y="2602774"/>
            <a:ext cx="1556195" cy="369332"/>
          </a:xfrm>
          <a:prstGeom prst="rect">
            <a:avLst/>
          </a:prstGeom>
          <a:noFill/>
        </p:spPr>
        <p:txBody>
          <a:bodyPr wrap="none" rtlCol="0">
            <a:spAutoFit/>
          </a:bodyPr>
          <a:lstStyle/>
          <a:p>
            <a:r>
              <a:rPr lang="en-US" altLang="zh-CN" dirty="0"/>
              <a:t>Bi-cubic Bézier</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Bézier</a:t>
            </a:r>
            <a:r>
              <a:rPr lang="zh-CN" altLang="en-US" dirty="0"/>
              <a:t>曲线造型的表示</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57201" y="1693008"/>
                <a:ext cx="8229600" cy="4525963"/>
              </a:xfrm>
            </p:spPr>
            <p:txBody>
              <a:bodyPr>
                <a:normAutofit/>
              </a:bodyPr>
              <a:lstStyle/>
              <a:p>
                <a:r>
                  <a:rPr lang="zh-CN" altLang="en-US" sz="2400" dirty="0"/>
                  <a:t>参数曲线方程</a:t>
                </a:r>
                <a:endParaRPr lang="en-US" altLang="zh-CN" sz="2400" dirty="0"/>
              </a:p>
              <a:p>
                <a:pPr marL="0" indent="0">
                  <a:buNone/>
                </a:pPr>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ea typeface="Cambria Math" panose="02040503050406030204" pitchFamily="18" charset="0"/>
                        </a:rPr>
                        <m:t>𝑷</m:t>
                      </m:r>
                      <m:d>
                        <m:dPr>
                          <m:ctrlPr>
                            <a:rPr lang="en-US" altLang="zh-CN" sz="2000" b="1" i="1">
                              <a:latin typeface="Cambria Math" panose="02040503050406030204" pitchFamily="18" charset="0"/>
                              <a:ea typeface="Cambria Math" panose="02040503050406030204" pitchFamily="18" charset="0"/>
                            </a:rPr>
                          </m:ctrlPr>
                        </m:dPr>
                        <m:e>
                          <m:r>
                            <a:rPr lang="en-US" altLang="zh-CN" sz="2000" b="0" i="1">
                              <a:latin typeface="Cambria Math" panose="02040503050406030204" pitchFamily="18" charset="0"/>
                              <a:ea typeface="Cambria Math" panose="02040503050406030204" pitchFamily="18" charset="0"/>
                            </a:rPr>
                            <m:t>𝑡</m:t>
                          </m:r>
                        </m:e>
                      </m:d>
                      <m:r>
                        <a:rPr lang="en-US" altLang="zh-CN" sz="2000" b="0" i="1" smtClean="0">
                          <a:latin typeface="Cambria Math" panose="02040503050406030204" pitchFamily="18" charset="0"/>
                          <a:ea typeface="Cambria Math" panose="02040503050406030204" pitchFamily="18" charset="0"/>
                        </a:rPr>
                        <m:t>=</m:t>
                      </m:r>
                      <m:nary>
                        <m:naryPr>
                          <m:chr m:val="∑"/>
                          <m:ctrlPr>
                            <a:rPr lang="en-US" altLang="zh-CN" sz="2000" b="0" i="1" smtClean="0">
                              <a:latin typeface="Cambria Math" panose="02040503050406030204" pitchFamily="18" charset="0"/>
                              <a:ea typeface="Cambria Math" panose="02040503050406030204" pitchFamily="18" charset="0"/>
                            </a:rPr>
                          </m:ctrlPr>
                        </m:naryPr>
                        <m:sub>
                          <m:r>
                            <a:rPr lang="en-US" altLang="zh-CN" sz="2000" b="0" i="1" smtClean="0">
                              <a:latin typeface="Cambria Math" panose="02040503050406030204" pitchFamily="18" charset="0"/>
                              <a:ea typeface="Cambria Math" panose="02040503050406030204" pitchFamily="18" charset="0"/>
                            </a:rPr>
                            <m:t>𝑖</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sub>
                        <m:sup>
                          <m:r>
                            <a:rPr lang="en-US" altLang="zh-CN" sz="2000" b="0" i="1" smtClean="0">
                              <a:latin typeface="Cambria Math" panose="02040503050406030204" pitchFamily="18" charset="0"/>
                              <a:ea typeface="Cambria Math" panose="02040503050406030204" pitchFamily="18" charset="0"/>
                            </a:rPr>
                            <m:t>𝑛</m:t>
                          </m:r>
                        </m:sup>
                        <m:e>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𝑃</m:t>
                              </m:r>
                            </m:e>
                            <m:sub>
                              <m:r>
                                <a:rPr lang="en-US" altLang="zh-CN" sz="2000" b="0" i="1" smtClean="0">
                                  <a:latin typeface="Cambria Math" panose="02040503050406030204" pitchFamily="18" charset="0"/>
                                  <a:ea typeface="Cambria Math" panose="02040503050406030204" pitchFamily="18" charset="0"/>
                                </a:rPr>
                                <m:t>𝑖</m:t>
                              </m:r>
                            </m:sub>
                          </m:sSub>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𝑩</m:t>
                              </m:r>
                            </m:e>
                            <m:sub>
                              <m:r>
                                <a:rPr lang="en-US" altLang="zh-CN" sz="2000" b="1" i="1" smtClean="0">
                                  <a:latin typeface="Cambria Math" panose="02040503050406030204" pitchFamily="18" charset="0"/>
                                  <a:ea typeface="Cambria Math" panose="02040503050406030204" pitchFamily="18" charset="0"/>
                                </a:rPr>
                                <m:t>𝒊</m:t>
                              </m:r>
                              <m:r>
                                <a:rPr lang="en-US" altLang="zh-CN" sz="2000" b="1"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𝒏</m:t>
                              </m:r>
                            </m:sub>
                          </m:sSub>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𝑡</m:t>
                          </m:r>
                          <m:r>
                            <a:rPr lang="en-US" altLang="zh-CN" sz="2000" b="0" i="1" smtClean="0">
                              <a:latin typeface="Cambria Math" panose="02040503050406030204" pitchFamily="18" charset="0"/>
                              <a:ea typeface="Cambria Math" panose="02040503050406030204" pitchFamily="18" charset="0"/>
                            </a:rPr>
                            <m:t>)</m:t>
                          </m:r>
                        </m:e>
                      </m:nary>
                    </m:oMath>
                  </m:oMathPara>
                </a14:m>
                <a:endParaRPr lang="en-US" altLang="zh-CN" sz="2000" b="0" i="1" dirty="0">
                  <a:latin typeface="Cambria Math" panose="02040503050406030204" pitchFamily="18" charset="0"/>
                  <a:ea typeface="Cambria Math" panose="02040503050406030204" pitchFamily="18" charset="0"/>
                </a:endParaRPr>
              </a:p>
              <a:p>
                <a:pPr marL="0" indent="0">
                  <a:buNone/>
                </a:pPr>
                <a:endParaRPr lang="en-US" altLang="zh-CN" sz="2000" b="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sz="2000" b="1" i="1" dirty="0">
                              <a:latin typeface="Cambria Math" panose="02040503050406030204" pitchFamily="18" charset="0"/>
                            </a:rPr>
                          </m:ctrlPr>
                        </m:sSubPr>
                        <m:e>
                          <m:r>
                            <a:rPr lang="en-US" altLang="zh-CN" sz="2000" b="1" i="1" dirty="0">
                              <a:latin typeface="Cambria Math" panose="02040503050406030204" pitchFamily="18" charset="0"/>
                            </a:rPr>
                            <m:t>𝑩</m:t>
                          </m:r>
                        </m:e>
                        <m:sub>
                          <m:r>
                            <a:rPr lang="en-US" altLang="zh-CN" sz="2000" b="1" i="1" dirty="0">
                              <a:latin typeface="Cambria Math" panose="02040503050406030204" pitchFamily="18" charset="0"/>
                            </a:rPr>
                            <m:t>𝒊</m:t>
                          </m:r>
                          <m:r>
                            <a:rPr lang="en-US" altLang="zh-CN" sz="2000" b="1" i="1" dirty="0">
                              <a:latin typeface="Cambria Math" panose="02040503050406030204" pitchFamily="18" charset="0"/>
                            </a:rPr>
                            <m:t>,</m:t>
                          </m:r>
                          <m:r>
                            <a:rPr lang="en-US" altLang="zh-CN" sz="2000" b="1" i="1" dirty="0">
                              <a:latin typeface="Cambria Math" panose="02040503050406030204" pitchFamily="18" charset="0"/>
                            </a:rPr>
                            <m:t>𝒏</m:t>
                          </m:r>
                        </m:sub>
                      </m:sSub>
                      <m:d>
                        <m:dPr>
                          <m:ctrlPr>
                            <a:rPr lang="en-US" altLang="zh-CN" sz="2000" b="1" i="1" dirty="0">
                              <a:latin typeface="Cambria Math" panose="02040503050406030204" pitchFamily="18" charset="0"/>
                            </a:rPr>
                          </m:ctrlPr>
                        </m:dPr>
                        <m:e>
                          <m:r>
                            <a:rPr lang="en-US" altLang="zh-CN" sz="2000" b="0" i="1" dirty="0">
                              <a:latin typeface="Cambria Math" panose="02040503050406030204" pitchFamily="18" charset="0"/>
                            </a:rPr>
                            <m:t>𝑡</m:t>
                          </m:r>
                        </m:e>
                      </m:d>
                      <m:r>
                        <a:rPr lang="en-US" altLang="zh-CN" sz="2000" i="1" dirty="0">
                          <a:latin typeface="Cambria Math" panose="02040503050406030204" pitchFamily="18" charset="0"/>
                        </a:rPr>
                        <m:t>=</m:t>
                      </m:r>
                      <m:sSubSup>
                        <m:sSubSupPr>
                          <m:ctrlPr>
                            <a:rPr lang="en-US" altLang="zh-CN" sz="2000" i="1" dirty="0">
                              <a:latin typeface="Cambria Math" panose="02040503050406030204" pitchFamily="18" charset="0"/>
                              <a:ea typeface="Cambria Math" panose="02040503050406030204" pitchFamily="18" charset="0"/>
                            </a:rPr>
                          </m:ctrlPr>
                        </m:sSubSupPr>
                        <m:e>
                          <m:r>
                            <a:rPr lang="en-US" altLang="zh-CN" sz="2000" i="1" dirty="0">
                              <a:latin typeface="Cambria Math" panose="02040503050406030204" pitchFamily="18" charset="0"/>
                              <a:ea typeface="Cambria Math" panose="02040503050406030204" pitchFamily="18" charset="0"/>
                            </a:rPr>
                            <m:t>𝐶</m:t>
                          </m:r>
                        </m:e>
                        <m:sub>
                          <m:r>
                            <a:rPr lang="en-US" altLang="zh-CN" sz="2000" i="1" dirty="0">
                              <a:latin typeface="Cambria Math" panose="02040503050406030204" pitchFamily="18" charset="0"/>
                              <a:ea typeface="Cambria Math" panose="02040503050406030204" pitchFamily="18" charset="0"/>
                            </a:rPr>
                            <m:t>𝑛</m:t>
                          </m:r>
                        </m:sub>
                        <m:sup>
                          <m:r>
                            <a:rPr lang="en-US" altLang="zh-CN" sz="2000" i="1" dirty="0">
                              <a:latin typeface="Cambria Math" panose="02040503050406030204" pitchFamily="18" charset="0"/>
                              <a:ea typeface="Cambria Math" panose="02040503050406030204" pitchFamily="18" charset="0"/>
                            </a:rPr>
                            <m:t>𝑖</m:t>
                          </m:r>
                        </m:sup>
                      </m:sSubSup>
                      <m:sSup>
                        <m:sSupPr>
                          <m:ctrlPr>
                            <a:rPr lang="en-US" altLang="zh-CN" sz="2000" i="1" dirty="0">
                              <a:latin typeface="Cambria Math" panose="02040503050406030204" pitchFamily="18" charset="0"/>
                              <a:ea typeface="Cambria Math" panose="02040503050406030204" pitchFamily="18" charset="0"/>
                            </a:rPr>
                          </m:ctrlPr>
                        </m:sSupPr>
                        <m:e>
                          <m:r>
                            <a:rPr lang="en-US" altLang="zh-CN" sz="2000" i="1" dirty="0">
                              <a:latin typeface="Cambria Math" panose="02040503050406030204" pitchFamily="18" charset="0"/>
                              <a:ea typeface="Cambria Math" panose="02040503050406030204" pitchFamily="18" charset="0"/>
                            </a:rPr>
                            <m:t>𝑡</m:t>
                          </m:r>
                        </m:e>
                        <m:sup>
                          <m:r>
                            <a:rPr lang="en-US" altLang="zh-CN" sz="2000" i="1" dirty="0">
                              <a:latin typeface="Cambria Math" panose="02040503050406030204" pitchFamily="18" charset="0"/>
                              <a:ea typeface="Cambria Math" panose="02040503050406030204" pitchFamily="18" charset="0"/>
                            </a:rPr>
                            <m:t>𝑖</m:t>
                          </m:r>
                        </m:sup>
                      </m:sSup>
                      <m:sSup>
                        <m:sSupPr>
                          <m:ctrlPr>
                            <a:rPr lang="en-US" altLang="zh-CN" sz="2000" i="1" dirty="0">
                              <a:latin typeface="Cambria Math" panose="02040503050406030204" pitchFamily="18" charset="0"/>
                              <a:ea typeface="Cambria Math" panose="02040503050406030204" pitchFamily="18" charset="0"/>
                            </a:rPr>
                          </m:ctrlPr>
                        </m:sSupPr>
                        <m:e>
                          <m:d>
                            <m:dPr>
                              <m:ctrlPr>
                                <a:rPr lang="en-US" altLang="zh-CN" sz="2000" i="1" dirty="0">
                                  <a:latin typeface="Cambria Math" panose="02040503050406030204" pitchFamily="18" charset="0"/>
                                  <a:ea typeface="Cambria Math" panose="02040503050406030204" pitchFamily="18" charset="0"/>
                                </a:rPr>
                              </m:ctrlPr>
                            </m:dPr>
                            <m:e>
                              <m:r>
                                <a:rPr lang="en-US" altLang="zh-CN" sz="2000" i="1" dirty="0">
                                  <a:latin typeface="Cambria Math" panose="02040503050406030204" pitchFamily="18" charset="0"/>
                                  <a:ea typeface="Cambria Math" panose="02040503050406030204" pitchFamily="18" charset="0"/>
                                </a:rPr>
                                <m:t>1</m:t>
                              </m:r>
                              <m:r>
                                <a:rPr lang="en-US" altLang="zh-CN" sz="2000" i="1" dirty="0">
                                  <a:latin typeface="Cambria Math" panose="02040503050406030204" pitchFamily="18" charset="0"/>
                                  <a:ea typeface="Cambria Math" panose="02040503050406030204" pitchFamily="18" charset="0"/>
                                </a:rPr>
                                <m:t>−</m:t>
                              </m:r>
                              <m:r>
                                <a:rPr lang="en-US" altLang="zh-CN" sz="2000" i="1" dirty="0">
                                  <a:latin typeface="Cambria Math" panose="02040503050406030204" pitchFamily="18" charset="0"/>
                                  <a:ea typeface="Cambria Math" panose="02040503050406030204" pitchFamily="18" charset="0"/>
                                </a:rPr>
                                <m:t>𝑡</m:t>
                              </m:r>
                            </m:e>
                          </m:d>
                        </m:e>
                        <m:sup>
                          <m:r>
                            <a:rPr lang="en-US" altLang="zh-CN" sz="2000" b="0" i="1" dirty="0" smtClean="0">
                              <a:latin typeface="Cambria Math" panose="02040503050406030204" pitchFamily="18" charset="0"/>
                              <a:ea typeface="Cambria Math" panose="02040503050406030204" pitchFamily="18" charset="0"/>
                            </a:rPr>
                            <m:t>𝑛</m:t>
                          </m:r>
                          <m:r>
                            <a:rPr lang="en-US" altLang="zh-CN" sz="2000" i="1" dirty="0">
                              <a:latin typeface="Cambria Math" panose="02040503050406030204" pitchFamily="18" charset="0"/>
                              <a:ea typeface="Cambria Math" panose="02040503050406030204" pitchFamily="18" charset="0"/>
                            </a:rPr>
                            <m:t>−</m:t>
                          </m:r>
                          <m:r>
                            <a:rPr lang="en-US" altLang="zh-CN" sz="2000" i="1" dirty="0">
                              <a:latin typeface="Cambria Math" panose="02040503050406030204" pitchFamily="18" charset="0"/>
                              <a:ea typeface="Cambria Math" panose="02040503050406030204" pitchFamily="18" charset="0"/>
                            </a:rPr>
                            <m:t>𝑖</m:t>
                          </m:r>
                        </m:sup>
                      </m:sSup>
                    </m:oMath>
                  </m:oMathPara>
                </a14:m>
                <a:endParaRPr lang="en-US" altLang="zh-CN" sz="2000" i="1" dirty="0"/>
              </a:p>
              <a:p>
                <a:pPr marL="0" indent="0">
                  <a:buNone/>
                </a:pPr>
                <a:endParaRPr lang="en-US" altLang="zh-CN" sz="2000" i="1" dirty="0"/>
              </a:p>
              <a:p>
                <a:pPr marL="0" indent="0">
                  <a:buNone/>
                </a:pPr>
                <a:r>
                  <a:rPr lang="zh-CN" altLang="en-US" sz="2000" dirty="0"/>
                  <a:t>其中</a:t>
                </a:r>
                <a14:m>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𝐶</m:t>
                        </m:r>
                      </m:e>
                      <m:sub>
                        <m:r>
                          <a:rPr lang="en-US" altLang="zh-CN" sz="2000" b="0" i="1" smtClean="0">
                            <a:latin typeface="Cambria Math" panose="02040503050406030204" pitchFamily="18" charset="0"/>
                          </a:rPr>
                          <m:t>𝑛</m:t>
                        </m:r>
                      </m:sub>
                      <m:sup>
                        <m:r>
                          <a:rPr lang="en-US" altLang="zh-CN" sz="2000" b="0" i="1" smtClean="0">
                            <a:latin typeface="Cambria Math" panose="02040503050406030204" pitchFamily="18" charset="0"/>
                          </a:rPr>
                          <m:t>𝑖</m:t>
                        </m:r>
                      </m:sup>
                    </m:sSubSup>
                  </m:oMath>
                </a14:m>
                <a:r>
                  <a:rPr lang="zh-CN" altLang="en-US" sz="2000" dirty="0"/>
                  <a:t>是大家高中熟知的排列组合常数，代表了</a:t>
                </a:r>
                <a14:m>
                  <m:oMath xmlns:m="http://schemas.openxmlformats.org/officeDocument/2006/math">
                    <m:r>
                      <a:rPr lang="en-US" altLang="zh-CN" sz="2000" b="0" i="1" smtClean="0">
                        <a:latin typeface="Cambria Math" panose="02040503050406030204" pitchFamily="18" charset="0"/>
                      </a:rPr>
                      <m:t>𝑛</m:t>
                    </m:r>
                  </m:oMath>
                </a14:m>
                <a:r>
                  <a:rPr lang="zh-CN" altLang="en-US" sz="2000" dirty="0"/>
                  <a:t>次多项式的第</a:t>
                </a:r>
                <a14:m>
                  <m:oMath xmlns:m="http://schemas.openxmlformats.org/officeDocument/2006/math">
                    <m:r>
                      <a:rPr lang="en-US" altLang="zh-CN" sz="2000" b="0" i="1" smtClean="0">
                        <a:latin typeface="Cambria Math" panose="02040503050406030204" pitchFamily="18" charset="0"/>
                      </a:rPr>
                      <m:t>𝑖</m:t>
                    </m:r>
                  </m:oMath>
                </a14:m>
                <a:r>
                  <a:rPr lang="zh-CN" altLang="en-US" sz="2000" dirty="0"/>
                  <a:t>个系数</a:t>
                </a:r>
                <a:endParaRPr lang="en-US" altLang="zh-CN" sz="2000" dirty="0"/>
              </a:p>
              <a:p>
                <a:pPr marL="0" indent="0">
                  <a:buNone/>
                </a:pPr>
                <a:endParaRPr lang="en-US" altLang="zh-CN" sz="2000" dirty="0"/>
              </a:p>
              <a:p>
                <a:pPr marL="0" indent="0">
                  <a:buNone/>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𝐶</m:t>
                          </m:r>
                        </m:e>
                        <m:sub>
                          <m:r>
                            <a:rPr lang="en-US" altLang="zh-CN" sz="2000" b="0" i="1" smtClean="0">
                              <a:latin typeface="Cambria Math" panose="02040503050406030204" pitchFamily="18" charset="0"/>
                            </a:rPr>
                            <m:t>𝑛</m:t>
                          </m:r>
                        </m:sub>
                        <m:sup>
                          <m:r>
                            <a:rPr lang="en-US" altLang="zh-CN" sz="2000" b="0" i="1" smtClean="0">
                              <a:latin typeface="Cambria Math" panose="02040503050406030204" pitchFamily="18" charset="0"/>
                            </a:rPr>
                            <m:t>𝑖</m:t>
                          </m:r>
                        </m:sup>
                      </m:sSubSup>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num>
                        <m:den>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e>
                          </m:d>
                          <m:r>
                            <a:rPr lang="en-US" altLang="zh-CN" sz="2000" b="0" i="1" smtClean="0">
                              <a:latin typeface="Cambria Math" panose="02040503050406030204" pitchFamily="18" charset="0"/>
                            </a:rPr>
                            <m:t>!</m:t>
                          </m:r>
                        </m:den>
                      </m:f>
                    </m:oMath>
                  </m:oMathPara>
                </a14:m>
                <a:endParaRPr lang="en-US" altLang="zh-CN" sz="2000" dirty="0"/>
              </a:p>
              <a:p>
                <a:pPr marL="0" indent="0">
                  <a:buNone/>
                </a:pPr>
                <a:endParaRPr lang="en-US" altLang="zh-CN" sz="200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457201" y="1693008"/>
                <a:ext cx="8229600" cy="4525963"/>
              </a:xfrm>
              <a:blipFill rotWithShape="1">
                <a:blip r:embed="rId1"/>
                <a:stretch>
                  <a:fillRect t="-2" b="9"/>
                </a:stretch>
              </a:blipFill>
            </p:spPr>
            <p:txBody>
              <a:bodyPr/>
              <a:lstStyle/>
              <a:p>
                <a:r>
                  <a:rPr lang="zh-CN" altLang="en-US">
                    <a:noFill/>
                  </a:rPr>
                  <a:t> </a:t>
                </a:r>
              </a:p>
            </p:txBody>
          </p:sp>
        </mc:Fallback>
      </mc:AlternateContent>
      <p:pic>
        <p:nvPicPr>
          <p:cNvPr id="4098" name="Picture 2" descr="https://upload.wikimedia.org/wikipedia/commons/thumb/5/59/Bernstein_Polynomials.svg/385px-Bernstein_Polynomials.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2854" y="1860332"/>
            <a:ext cx="2038994" cy="20072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Bézier</a:t>
            </a:r>
            <a:r>
              <a:rPr lang="zh-CN" altLang="en-US" dirty="0"/>
              <a:t>曲线求导</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57201" y="1693008"/>
                <a:ext cx="8229600" cy="4525963"/>
              </a:xfrm>
            </p:spPr>
            <p:txBody>
              <a:bodyPr>
                <a:normAutofit/>
              </a:bodyPr>
              <a:lstStyle/>
              <a:p>
                <a:r>
                  <a:rPr lang="zh-CN" altLang="en-US" sz="2400" dirty="0"/>
                  <a:t>参数曲线方程</a:t>
                </a:r>
                <a:endParaRPr lang="en-US" altLang="zh-CN" sz="2400" dirty="0"/>
              </a:p>
              <a:p>
                <a:pPr marL="0" indent="0">
                  <a:buNone/>
                </a:pPr>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ea typeface="Cambria Math" panose="02040503050406030204" pitchFamily="18" charset="0"/>
                        </a:rPr>
                        <m:t>𝑷</m:t>
                      </m:r>
                      <m:d>
                        <m:dPr>
                          <m:ctrlPr>
                            <a:rPr lang="en-US" altLang="zh-CN" sz="2000" b="1" i="1">
                              <a:latin typeface="Cambria Math" panose="02040503050406030204" pitchFamily="18" charset="0"/>
                              <a:ea typeface="Cambria Math" panose="02040503050406030204" pitchFamily="18" charset="0"/>
                            </a:rPr>
                          </m:ctrlPr>
                        </m:dPr>
                        <m:e>
                          <m:r>
                            <a:rPr lang="en-US" altLang="zh-CN" sz="2000" b="0" i="1">
                              <a:latin typeface="Cambria Math" panose="02040503050406030204" pitchFamily="18" charset="0"/>
                              <a:ea typeface="Cambria Math" panose="02040503050406030204" pitchFamily="18" charset="0"/>
                            </a:rPr>
                            <m:t>𝑡</m:t>
                          </m:r>
                        </m:e>
                      </m:d>
                      <m:r>
                        <a:rPr lang="en-US" altLang="zh-CN" sz="2000" b="0" i="1" smtClean="0">
                          <a:latin typeface="Cambria Math" panose="02040503050406030204" pitchFamily="18" charset="0"/>
                          <a:ea typeface="Cambria Math" panose="02040503050406030204" pitchFamily="18" charset="0"/>
                        </a:rPr>
                        <m:t>=</m:t>
                      </m:r>
                      <m:nary>
                        <m:naryPr>
                          <m:chr m:val="∑"/>
                          <m:ctrlPr>
                            <a:rPr lang="en-US" altLang="zh-CN" sz="2000" b="0" i="1" smtClean="0">
                              <a:latin typeface="Cambria Math" panose="02040503050406030204" pitchFamily="18" charset="0"/>
                              <a:ea typeface="Cambria Math" panose="02040503050406030204" pitchFamily="18" charset="0"/>
                            </a:rPr>
                          </m:ctrlPr>
                        </m:naryPr>
                        <m:sub>
                          <m:r>
                            <a:rPr lang="en-US" altLang="zh-CN" sz="2000" b="0" i="1" smtClean="0">
                              <a:latin typeface="Cambria Math" panose="02040503050406030204" pitchFamily="18" charset="0"/>
                              <a:ea typeface="Cambria Math" panose="02040503050406030204" pitchFamily="18" charset="0"/>
                            </a:rPr>
                            <m:t>𝑖</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sub>
                        <m:sup>
                          <m:r>
                            <a:rPr lang="en-US" altLang="zh-CN" sz="2000" b="0" i="1" smtClean="0">
                              <a:latin typeface="Cambria Math" panose="02040503050406030204" pitchFamily="18" charset="0"/>
                              <a:ea typeface="Cambria Math" panose="02040503050406030204" pitchFamily="18" charset="0"/>
                            </a:rPr>
                            <m:t>𝑛</m:t>
                          </m:r>
                        </m:sup>
                        <m:e>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𝑃</m:t>
                              </m:r>
                            </m:e>
                            <m:sub>
                              <m:r>
                                <a:rPr lang="en-US" altLang="zh-CN" sz="2000" b="0" i="1" smtClean="0">
                                  <a:latin typeface="Cambria Math" panose="02040503050406030204" pitchFamily="18" charset="0"/>
                                  <a:ea typeface="Cambria Math" panose="02040503050406030204" pitchFamily="18" charset="0"/>
                                </a:rPr>
                                <m:t>𝑖</m:t>
                              </m:r>
                            </m:sub>
                          </m:sSub>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𝑩</m:t>
                              </m:r>
                            </m:e>
                            <m:sub>
                              <m:r>
                                <a:rPr lang="en-US" altLang="zh-CN" sz="2000" b="1" i="1" smtClean="0">
                                  <a:latin typeface="Cambria Math" panose="02040503050406030204" pitchFamily="18" charset="0"/>
                                  <a:ea typeface="Cambria Math" panose="02040503050406030204" pitchFamily="18" charset="0"/>
                                </a:rPr>
                                <m:t>𝒊</m:t>
                              </m:r>
                              <m:r>
                                <a:rPr lang="en-US" altLang="zh-CN" sz="2000" b="1"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𝒏</m:t>
                              </m:r>
                            </m:sub>
                          </m:sSub>
                          <m:r>
                            <a:rPr lang="en-US" altLang="zh-CN" sz="2000" b="1"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𝑡</m:t>
                          </m:r>
                          <m:r>
                            <a:rPr lang="en-US" altLang="zh-CN" sz="2000" b="0" i="1" smtClean="0">
                              <a:latin typeface="Cambria Math" panose="02040503050406030204" pitchFamily="18" charset="0"/>
                              <a:ea typeface="Cambria Math" panose="02040503050406030204" pitchFamily="18" charset="0"/>
                            </a:rPr>
                            <m:t>)</m:t>
                          </m:r>
                        </m:e>
                      </m:nary>
                    </m:oMath>
                  </m:oMathPara>
                </a14:m>
                <a:endParaRPr lang="en-US" altLang="zh-CN" sz="2000" b="0" i="1" dirty="0">
                  <a:latin typeface="Cambria Math" panose="02040503050406030204" pitchFamily="18" charset="0"/>
                  <a:ea typeface="Cambria Math" panose="02040503050406030204" pitchFamily="18" charset="0"/>
                </a:endParaRPr>
              </a:p>
              <a:p>
                <a:pPr marL="0" indent="0">
                  <a:buNone/>
                </a:pPr>
                <a:endParaRPr lang="en-US" altLang="zh-CN" sz="2000" b="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ea typeface="Cambria Math" panose="02040503050406030204" pitchFamily="18" charset="0"/>
                        </a:rPr>
                        <m:t>𝑷</m:t>
                      </m:r>
                      <m:r>
                        <a:rPr lang="en-US" altLang="zh-CN" sz="2000" b="1" i="1" smtClean="0">
                          <a:latin typeface="Cambria Math" panose="02040503050406030204" pitchFamily="18" charset="0"/>
                          <a:ea typeface="Cambria Math" panose="02040503050406030204" pitchFamily="18" charset="0"/>
                        </a:rPr>
                        <m:t>′</m:t>
                      </m:r>
                      <m:d>
                        <m:dPr>
                          <m:ctrlPr>
                            <a:rPr lang="en-US" altLang="zh-CN" sz="2000" b="1"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𝑡</m:t>
                          </m:r>
                        </m:e>
                      </m:d>
                      <m:r>
                        <a:rPr lang="en-US" altLang="zh-CN" sz="2000" i="1">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𝑛</m:t>
                      </m:r>
                      <m:nary>
                        <m:naryPr>
                          <m:chr m:val="∑"/>
                          <m:ctrlPr>
                            <a:rPr lang="en-US" altLang="zh-CN" sz="2000" i="1">
                              <a:latin typeface="Cambria Math" panose="02040503050406030204" pitchFamily="18" charset="0"/>
                              <a:ea typeface="Cambria Math" panose="02040503050406030204" pitchFamily="18" charset="0"/>
                            </a:rPr>
                          </m:ctrlPr>
                        </m:naryPr>
                        <m:sub>
                          <m:r>
                            <a:rPr lang="en-US" altLang="zh-CN" sz="2000" i="1">
                              <a:latin typeface="Cambria Math" panose="02040503050406030204" pitchFamily="18" charset="0"/>
                              <a:ea typeface="Cambria Math" panose="02040503050406030204" pitchFamily="18" charset="0"/>
                            </a:rPr>
                            <m:t>𝑖</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0</m:t>
                          </m:r>
                        </m:sub>
                        <m:sup>
                          <m:r>
                            <a:rPr lang="en-US" altLang="zh-CN" sz="2000" i="1">
                              <a:latin typeface="Cambria Math" panose="02040503050406030204" pitchFamily="18" charset="0"/>
                              <a:ea typeface="Cambria Math" panose="02040503050406030204" pitchFamily="18" charset="0"/>
                            </a:rPr>
                            <m:t>𝑛</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1</m:t>
                          </m:r>
                        </m:sup>
                        <m:e>
                          <m:sSub>
                            <m:sSubPr>
                              <m:ctrlPr>
                                <a:rPr lang="en-US" altLang="zh-CN" sz="2000" b="1" i="1">
                                  <a:latin typeface="Cambria Math" panose="02040503050406030204" pitchFamily="18" charset="0"/>
                                  <a:ea typeface="Cambria Math" panose="02040503050406030204" pitchFamily="18" charset="0"/>
                                </a:rPr>
                              </m:ctrlPr>
                            </m:sSubPr>
                            <m:e>
                              <m:r>
                                <a:rPr lang="en-US" altLang="zh-CN" sz="2000" b="1" i="1">
                                  <a:latin typeface="Cambria Math" panose="02040503050406030204" pitchFamily="18" charset="0"/>
                                  <a:ea typeface="Cambria Math" panose="02040503050406030204" pitchFamily="18" charset="0"/>
                                </a:rPr>
                                <m:t>𝑩</m:t>
                              </m:r>
                            </m:e>
                            <m:sub>
                              <m:r>
                                <a:rPr lang="en-US" altLang="zh-CN" sz="2000" b="1" i="1">
                                  <a:latin typeface="Cambria Math" panose="02040503050406030204" pitchFamily="18" charset="0"/>
                                  <a:ea typeface="Cambria Math" panose="02040503050406030204" pitchFamily="18" charset="0"/>
                                </a:rPr>
                                <m:t>𝒊</m:t>
                              </m:r>
                              <m:r>
                                <a:rPr lang="en-US" altLang="zh-CN" sz="2000" b="1" i="1">
                                  <a:latin typeface="Cambria Math" panose="02040503050406030204" pitchFamily="18" charset="0"/>
                                  <a:ea typeface="Cambria Math" panose="02040503050406030204" pitchFamily="18" charset="0"/>
                                </a:rPr>
                                <m:t>,</m:t>
                              </m:r>
                              <m:r>
                                <a:rPr lang="en-US" altLang="zh-CN" sz="2000" b="1" i="1">
                                  <a:latin typeface="Cambria Math" panose="02040503050406030204" pitchFamily="18" charset="0"/>
                                  <a:ea typeface="Cambria Math" panose="02040503050406030204" pitchFamily="18" charset="0"/>
                                </a:rPr>
                                <m:t>𝒏</m:t>
                              </m:r>
                              <m:r>
                                <a:rPr lang="en-US" altLang="zh-CN" sz="2000" b="1"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𝟏</m:t>
                              </m:r>
                            </m:sub>
                          </m:sSub>
                          <m:d>
                            <m:dPr>
                              <m:ctrlPr>
                                <a:rPr lang="en-US" altLang="zh-CN" sz="2000" b="1"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𝑡</m:t>
                              </m:r>
                            </m:e>
                          </m:d>
                          <m:d>
                            <m:dPr>
                              <m:ctrlPr>
                                <a:rPr lang="en-US" altLang="zh-CN" sz="2000" b="0" i="1" smtClean="0">
                                  <a:latin typeface="Cambria Math" panose="02040503050406030204" pitchFamily="18" charset="0"/>
                                  <a:ea typeface="Cambria Math" panose="02040503050406030204" pitchFamily="18" charset="0"/>
                                </a:rPr>
                              </m:ctrlPr>
                            </m:d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𝑃</m:t>
                                  </m:r>
                                </m:e>
                                <m:sub>
                                  <m:r>
                                    <a:rPr lang="en-US" altLang="zh-CN" sz="2000" i="1">
                                      <a:latin typeface="Cambria Math" panose="02040503050406030204" pitchFamily="18" charset="0"/>
                                      <a:ea typeface="Cambria Math" panose="02040503050406030204" pitchFamily="18" charset="0"/>
                                    </a:rPr>
                                    <m:t>𝑖</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1</m:t>
                                  </m:r>
                                </m:sub>
                              </m:sSub>
                              <m:r>
                                <a:rPr lang="en-US" altLang="zh-CN" sz="2000" b="0" i="1" smtClean="0">
                                  <a:latin typeface="Cambria Math" panose="02040503050406030204" pitchFamily="18" charset="0"/>
                                  <a:ea typeface="Cambria Math" panose="02040503050406030204" pitchFamily="18" charset="0"/>
                                </a:rPr>
                                <m:t>−</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𝑃</m:t>
                                  </m:r>
                                </m:e>
                                <m:sub>
                                  <m:r>
                                    <a:rPr lang="en-US" altLang="zh-CN" sz="2000" b="0" i="1" smtClean="0">
                                      <a:latin typeface="Cambria Math" panose="02040503050406030204" pitchFamily="18" charset="0"/>
                                      <a:ea typeface="Cambria Math" panose="02040503050406030204" pitchFamily="18" charset="0"/>
                                    </a:rPr>
                                    <m:t>𝑖</m:t>
                                  </m:r>
                                </m:sub>
                              </m:sSub>
                            </m:e>
                          </m:d>
                        </m:e>
                      </m:nary>
                    </m:oMath>
                  </m:oMathPara>
                </a14:m>
                <a:endParaRPr lang="en-US" altLang="zh-CN" sz="2000" dirty="0"/>
              </a:p>
              <a:p>
                <a:pPr marL="0" indent="0">
                  <a:buNone/>
                </a:pPr>
                <a:endParaRPr lang="en-US" altLang="zh-CN" sz="2000" dirty="0"/>
              </a:p>
              <a:p>
                <a:r>
                  <a:rPr lang="zh-CN" altLang="en-US" sz="2400" dirty="0"/>
                  <a:t>大家可以自行尝试推导，或参考维基百科</a:t>
                </a:r>
                <a:endParaRPr lang="en-US" altLang="zh-CN" sz="2400" dirty="0"/>
              </a:p>
              <a:p>
                <a:pPr marL="0" indent="0">
                  <a:buNone/>
                </a:pPr>
                <a:endParaRPr lang="en-US" altLang="zh-CN" sz="200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457201" y="1693008"/>
                <a:ext cx="8229600" cy="4525963"/>
              </a:xfrm>
              <a:blipFill rotWithShape="1">
                <a:blip r:embed="rId1"/>
                <a:stretch>
                  <a:fillRect t="-2" b="9"/>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6887510" y="5502049"/>
            <a:ext cx="338554"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zh-CN" dirty="0">
                <a:ln w="0"/>
                <a:solidFill>
                  <a:srgbClr val="FF0000"/>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X</a:t>
            </a:r>
            <a:endParaRPr lang="zh-CN" altLang="en-US" dirty="0">
              <a:ln w="0"/>
              <a:solidFill>
                <a:srgbClr val="FF0000"/>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 name="文本框 17"/>
          <p:cNvSpPr txBox="1"/>
          <p:nvPr/>
        </p:nvSpPr>
        <p:spPr>
          <a:xfrm>
            <a:off x="7774752" y="5558224"/>
            <a:ext cx="338554"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zh-CN" dirty="0">
                <a:ln w="0"/>
                <a:solidFill>
                  <a:srgbClr val="00B050"/>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Y</a:t>
            </a:r>
            <a:endParaRPr lang="zh-CN" altLang="en-US" dirty="0">
              <a:ln w="0"/>
              <a:solidFill>
                <a:srgbClr val="00B050"/>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2" name="文本框 11"/>
          <p:cNvSpPr txBox="1"/>
          <p:nvPr/>
        </p:nvSpPr>
        <p:spPr>
          <a:xfrm>
            <a:off x="6506260" y="4581309"/>
            <a:ext cx="325730"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zh-CN" dirty="0">
                <a:ln w="0"/>
                <a:solidFill>
                  <a:schemeClr val="accent1"/>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Z</a:t>
            </a:r>
            <a:endParaRPr lang="zh-CN" altLang="en-US" dirty="0">
              <a:ln w="0"/>
              <a:solidFill>
                <a:schemeClr val="accent1"/>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 name="标题 1"/>
          <p:cNvSpPr>
            <a:spLocks noGrp="1"/>
          </p:cNvSpPr>
          <p:nvPr>
            <p:ph type="title"/>
          </p:nvPr>
        </p:nvSpPr>
        <p:spPr/>
        <p:txBody>
          <a:bodyPr/>
          <a:lstStyle/>
          <a:p>
            <a:r>
              <a:rPr lang="en-US" altLang="zh-CN" dirty="0"/>
              <a:t>Bézier</a:t>
            </a:r>
            <a:r>
              <a:rPr lang="zh-CN" altLang="en-US" dirty="0"/>
              <a:t>曲线造型的表示</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57201" y="1600202"/>
                <a:ext cx="8229600" cy="4525963"/>
              </a:xfrm>
            </p:spPr>
            <p:txBody>
              <a:bodyPr>
                <a:normAutofit/>
              </a:bodyPr>
              <a:lstStyle/>
              <a:p>
                <a:r>
                  <a:rPr lang="zh-CN" altLang="en-US" sz="2400" dirty="0"/>
                  <a:t>参数曲面方程（绕</a:t>
                </a:r>
                <a:r>
                  <a:rPr lang="en-US" altLang="zh-CN" sz="2400" dirty="0"/>
                  <a:t>Z</a:t>
                </a:r>
                <a:r>
                  <a:rPr lang="zh-CN" altLang="en-US" sz="2400" dirty="0"/>
                  <a:t>轴旋转）</a:t>
                </a:r>
                <a:endParaRPr lang="en-US" altLang="zh-CN" sz="2400" dirty="0"/>
              </a:p>
              <a:p>
                <a:pPr marL="0" indent="0">
                  <a:buNone/>
                </a:pPr>
                <a14:m>
                  <m:oMath xmlns:m="http://schemas.openxmlformats.org/officeDocument/2006/math">
                    <m:r>
                      <a:rPr lang="en-US" altLang="zh-CN" sz="2000" b="1" i="1" smtClean="0">
                        <a:latin typeface="Cambria Math" panose="02040503050406030204" pitchFamily="18" charset="0"/>
                        <a:ea typeface="Cambria Math" panose="02040503050406030204" pitchFamily="18" charset="0"/>
                      </a:rPr>
                      <m:t>𝑺</m:t>
                    </m:r>
                    <m:d>
                      <m:dPr>
                        <m:ctrlPr>
                          <a:rPr lang="en-US" altLang="zh-CN" sz="2000" b="1" i="1">
                            <a:latin typeface="Cambria Math" panose="02040503050406030204" pitchFamily="18" charset="0"/>
                            <a:ea typeface="Cambria Math" panose="02040503050406030204" pitchFamily="18" charset="0"/>
                          </a:rPr>
                        </m:ctrlPr>
                      </m:dPr>
                      <m:e>
                        <m:r>
                          <a:rPr lang="en-US" altLang="zh-CN" sz="2000" b="1" i="1" smtClean="0">
                            <a:latin typeface="Cambria Math" panose="02040503050406030204" pitchFamily="18" charset="0"/>
                            <a:ea typeface="Cambria Math" panose="02040503050406030204" pitchFamily="18" charset="0"/>
                          </a:rPr>
                          <m:t>𝒕</m:t>
                        </m:r>
                        <m:r>
                          <a:rPr lang="en-US" altLang="zh-CN" sz="2000" b="1" i="1">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𝜽</m:t>
                        </m:r>
                      </m:e>
                    </m:d>
                    <m:r>
                      <a:rPr lang="en-US" altLang="zh-CN" sz="2000" i="1">
                        <a:latin typeface="Cambria Math" panose="02040503050406030204" pitchFamily="18" charset="0"/>
                        <a:ea typeface="Cambria Math" panose="02040503050406030204" pitchFamily="18" charset="0"/>
                      </a:rPr>
                      <m:t>=</m:t>
                    </m:r>
                    <m:r>
                      <a:rPr lang="el-GR" altLang="zh-CN" sz="2000" i="1">
                        <a:latin typeface="Cambria Math" panose="02040503050406030204" pitchFamily="18" charset="0"/>
                        <a:ea typeface="Cambria Math" panose="02040503050406030204" pitchFamily="18" charset="0"/>
                      </a:rPr>
                      <m:t>𝛷</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𝑃</m:t>
                    </m:r>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𝑡</m:t>
                        </m:r>
                      </m:e>
                    </m:d>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𝜃</m:t>
                    </m:r>
                    <m:r>
                      <a:rPr lang="en-US" altLang="zh-CN" sz="2000" b="0" i="1" smtClean="0">
                        <a:latin typeface="Cambria Math" panose="02040503050406030204" pitchFamily="18" charset="0"/>
                        <a:ea typeface="Cambria Math" panose="02040503050406030204" pitchFamily="18" charset="0"/>
                      </a:rPr>
                      <m:t>)=</m:t>
                    </m:r>
                    <m:d>
                      <m:dPr>
                        <m:begChr m:val="["/>
                        <m:endChr m:val="]"/>
                        <m:ctrlPr>
                          <a:rPr lang="en-US" altLang="zh-CN" sz="2000" i="1" smtClean="0">
                            <a:latin typeface="Cambria Math" panose="02040503050406030204" pitchFamily="18" charset="0"/>
                          </a:rPr>
                        </m:ctrlPr>
                      </m:dPr>
                      <m:e>
                        <m:m>
                          <m:mPr>
                            <m:mcs>
                              <m:mc>
                                <m:mcPr>
                                  <m:count m:val="2"/>
                                  <m:mcJc m:val="center"/>
                                </m:mcPr>
                              </m:mc>
                            </m:mcs>
                            <m:ctrlPr>
                              <a:rPr lang="en-US" altLang="zh-CN" sz="2000" i="1" smtClean="0">
                                <a:latin typeface="Cambria Math" panose="02040503050406030204" pitchFamily="18" charset="0"/>
                              </a:rPr>
                            </m:ctrlPr>
                          </m:mPr>
                          <m:mr>
                            <m:e>
                              <m:func>
                                <m:funcPr>
                                  <m:ctrlPr>
                                    <a:rPr lang="en-US" altLang="zh-CN" sz="2000" i="1" smtClean="0">
                                      <a:latin typeface="Cambria Math" panose="02040503050406030204" pitchFamily="18" charset="0"/>
                                    </a:rPr>
                                  </m:ctrlPr>
                                </m:funcPr>
                                <m:fName>
                                  <m:r>
                                    <m:rPr>
                                      <m:sty m:val="p"/>
                                      <m:brk m:alnAt="7"/>
                                    </m:rPr>
                                    <a:rPr lang="en-US" altLang="zh-CN" sz="2000" b="0" i="0" smtClean="0">
                                      <a:latin typeface="Cambria Math" panose="02040503050406030204" pitchFamily="18" charset="0"/>
                                    </a:rPr>
                                    <m:t>c</m:t>
                                  </m:r>
                                  <m:r>
                                    <m:rPr>
                                      <m:sty m:val="p"/>
                                    </m:rPr>
                                    <a:rPr lang="en-US" altLang="zh-CN" sz="2000" b="0" i="0" smtClean="0">
                                      <a:latin typeface="Cambria Math" panose="02040503050406030204" pitchFamily="18" charset="0"/>
                                    </a:rPr>
                                    <m:t>os</m:t>
                                  </m:r>
                                </m:fName>
                                <m:e>
                                  <m:r>
                                    <m:rPr>
                                      <m:brk m:alnAt="7"/>
                                    </m:rPr>
                                    <a:rPr lang="en-US" altLang="zh-CN" sz="2000" b="0" i="1" smtClean="0">
                                      <a:latin typeface="Cambria Math" panose="02040503050406030204" pitchFamily="18" charset="0"/>
                                    </a:rPr>
                                    <m:t>𝜃</m:t>
                                  </m:r>
                                </m:e>
                              </m:func>
                            </m:e>
                            <m:e>
                              <m:r>
                                <a:rPr lang="en-US" altLang="zh-CN" sz="2000" b="0" i="1" smtClean="0">
                                  <a:latin typeface="Cambria Math" panose="02040503050406030204" pitchFamily="18" charset="0"/>
                                </a:rPr>
                                <m:t>0</m:t>
                              </m:r>
                            </m:e>
                          </m:mr>
                          <m:mr>
                            <m:e>
                              <m:func>
                                <m:funcPr>
                                  <m:ctrlPr>
                                    <a:rPr lang="en-US" altLang="zh-CN" sz="2000" i="1" smtClean="0">
                                      <a:latin typeface="Cambria Math" panose="02040503050406030204" pitchFamily="18" charset="0"/>
                                    </a:rPr>
                                  </m:ctrlPr>
                                </m:funcPr>
                                <m:fName>
                                  <m:r>
                                    <m:rPr>
                                      <m:sty m:val="p"/>
                                    </m:rPr>
                                    <a:rPr lang="en-US" altLang="zh-CN" sz="2000" b="0" i="0" smtClean="0">
                                      <a:latin typeface="Cambria Math" panose="02040503050406030204" pitchFamily="18" charset="0"/>
                                    </a:rPr>
                                    <m:t>sin</m:t>
                                  </m:r>
                                </m:fName>
                                <m:e>
                                  <m:r>
                                    <a:rPr lang="el-GR" altLang="zh-CN" sz="2000" b="0" i="1" smtClean="0">
                                      <a:latin typeface="Cambria Math" panose="02040503050406030204" pitchFamily="18" charset="0"/>
                                    </a:rPr>
                                    <m:t>𝜃</m:t>
                                  </m:r>
                                </m:e>
                              </m:func>
                            </m:e>
                            <m:e>
                              <m:r>
                                <a:rPr lang="en-US" altLang="zh-CN" sz="2000" b="0" i="1" smtClean="0">
                                  <a:latin typeface="Cambria Math" panose="02040503050406030204" pitchFamily="18" charset="0"/>
                                </a:rPr>
                                <m:t>0</m:t>
                              </m:r>
                            </m:e>
                          </m:mr>
                          <m:mr>
                            <m:e>
                              <m:r>
                                <a:rPr lang="en-US" altLang="zh-CN" sz="2000" b="0" i="1" smtClean="0">
                                  <a:latin typeface="Cambria Math" panose="02040503050406030204" pitchFamily="18" charset="0"/>
                                </a:rPr>
                                <m:t>0</m:t>
                              </m:r>
                            </m:e>
                            <m:e>
                              <m:r>
                                <a:rPr lang="en-US" altLang="zh-CN" sz="2000" b="0" i="1" smtClean="0">
                                  <a:latin typeface="Cambria Math" panose="02040503050406030204" pitchFamily="18" charset="0"/>
                                </a:rPr>
                                <m:t>1</m:t>
                              </m:r>
                            </m:e>
                          </m:mr>
                        </m:m>
                      </m:e>
                    </m:d>
                    <m:r>
                      <a:rPr lang="en-US" altLang="zh-CN" sz="2000" b="0" i="1" smtClean="0">
                        <a:latin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𝑃</m:t>
                    </m:r>
                    <m:r>
                      <a:rPr lang="en-US" altLang="zh-CN" sz="2000" b="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𝑡</m:t>
                    </m:r>
                    <m:r>
                      <a:rPr lang="en-US" altLang="zh-CN" sz="2000" b="0" i="1" dirty="0" smtClean="0">
                        <a:latin typeface="Cambria Math" panose="02040503050406030204" pitchFamily="18" charset="0"/>
                        <a:ea typeface="Cambria Math" panose="02040503050406030204" pitchFamily="18" charset="0"/>
                      </a:rPr>
                      <m:t>)</m:t>
                    </m:r>
                  </m:oMath>
                </a14:m>
                <a:r>
                  <a:rPr lang="en-US" altLang="zh-CN" sz="2000" b="1" dirty="0"/>
                  <a:t>	</a:t>
                </a:r>
                <a:endParaRPr lang="en-US" altLang="zh-CN" sz="2000" i="1" dirty="0"/>
              </a:p>
              <a:p>
                <a:endParaRPr lang="en-US" altLang="zh-CN" sz="2400" dirty="0"/>
              </a:p>
              <a:p>
                <a:r>
                  <a:rPr lang="zh-CN" altLang="en-US" sz="2400" dirty="0"/>
                  <a:t>一阶雅各比：</a:t>
                </a:r>
                <a:endParaRPr lang="en-US" altLang="zh-CN" sz="2400" dirty="0"/>
              </a:p>
              <a:p>
                <a:pPr marL="0" indent="0">
                  <a:buNone/>
                </a:pPr>
                <a14:m>
                  <m:oMath xmlns:m="http://schemas.openxmlformats.org/officeDocument/2006/math">
                    <m:r>
                      <a:rPr lang="en-US" altLang="zh-CN" sz="2000" i="1" smtClean="0">
                        <a:latin typeface="Cambria Math" panose="02040503050406030204" pitchFamily="18" charset="0"/>
                      </a:rPr>
                      <m:t> </m:t>
                    </m:r>
                    <m:r>
                      <a:rPr lang="en-US" altLang="zh-CN" sz="2000" b="0" i="1" smtClean="0">
                        <a:latin typeface="Cambria Math" panose="02040503050406030204" pitchFamily="18" charset="0"/>
                      </a:rPr>
                      <m:t>   </m:t>
                    </m:r>
                    <m:f>
                      <m:fPr>
                        <m:ctrlPr>
                          <a:rPr lang="en-US" altLang="zh-CN" sz="2000" b="1" i="1" smtClean="0">
                            <a:latin typeface="Cambria Math" panose="02040503050406030204" pitchFamily="18" charset="0"/>
                          </a:rPr>
                        </m:ctrlPr>
                      </m:fPr>
                      <m:num>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𝑺</m:t>
                        </m:r>
                      </m:num>
                      <m:den>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𝒕</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i="1">
                            <a:latin typeface="Cambria Math" panose="02040503050406030204" pitchFamily="18" charset="0"/>
                          </a:rPr>
                          <m:t>𝜕𝛷</m:t>
                        </m:r>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𝑃</m:t>
                            </m:r>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𝑡</m:t>
                                </m:r>
                              </m:e>
                            </m:d>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𝜃</m:t>
                            </m:r>
                          </m:e>
                        </m:d>
                      </m:num>
                      <m:den>
                        <m:r>
                          <a:rPr lang="en-US" altLang="zh-CN" sz="2000" i="1">
                            <a:latin typeface="Cambria Math" panose="02040503050406030204" pitchFamily="18" charset="0"/>
                          </a:rPr>
                          <m:t>𝜕</m:t>
                        </m:r>
                        <m:r>
                          <a:rPr lang="en-US" altLang="zh-CN" sz="2000" b="0" i="1" smtClean="0">
                            <a:latin typeface="Cambria Math" panose="02040503050406030204" pitchFamily="18" charset="0"/>
                          </a:rPr>
                          <m:t>𝑃</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m:t>
                        </m:r>
                      </m:den>
                    </m:f>
                    <m:r>
                      <a:rPr lang="en-US" altLang="zh-CN" sz="2000" b="0" i="1" smtClean="0">
                        <a:latin typeface="Cambria Math" panose="02040503050406030204" pitchFamily="18" charset="0"/>
                        <a:ea typeface="Cambria Math" panose="02040503050406030204" pitchFamily="18" charset="0"/>
                      </a:rPr>
                      <m:t>⋅</m:t>
                    </m:r>
                    <m:f>
                      <m:fPr>
                        <m:ctrlPr>
                          <a:rPr lang="en-US" altLang="zh-CN" sz="2000" b="0" i="1" smtClean="0">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𝑃</m:t>
                        </m:r>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𝑡</m:t>
                            </m:r>
                          </m:e>
                        </m:d>
                      </m:num>
                      <m:den>
                        <m:r>
                          <a:rPr lang="en-US" altLang="zh-CN" sz="2000" i="1">
                            <a:latin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𝑡</m:t>
                        </m:r>
                      </m:den>
                    </m:f>
                  </m:oMath>
                </a14:m>
                <a:r>
                  <a:rPr lang="en-US" altLang="zh-CN" sz="2000" dirty="0"/>
                  <a:t> </a:t>
                </a:r>
                <a:endParaRPr lang="en-US" altLang="zh-CN" sz="2000" dirty="0"/>
              </a:p>
              <a:p>
                <a:pPr marL="0" indent="0">
                  <a:buNone/>
                </a:pPr>
                <a14:m>
                  <m:oMath xmlns:m="http://schemas.openxmlformats.org/officeDocument/2006/math">
                    <m:r>
                      <a:rPr lang="en-US" altLang="zh-CN" sz="2000" b="0" i="1" smtClean="0">
                        <a:latin typeface="Cambria Math" panose="02040503050406030204" pitchFamily="18" charset="0"/>
                      </a:rPr>
                      <m:t>    </m:t>
                    </m:r>
                    <m:f>
                      <m:fPr>
                        <m:ctrlPr>
                          <a:rPr lang="en-US" altLang="zh-CN" sz="2000" b="1" i="1">
                            <a:latin typeface="Cambria Math" panose="02040503050406030204" pitchFamily="18" charset="0"/>
                          </a:rPr>
                        </m:ctrlPr>
                      </m:fPr>
                      <m:num>
                        <m:r>
                          <a:rPr lang="en-US" altLang="zh-CN" sz="2000" b="1" i="1">
                            <a:latin typeface="Cambria Math" panose="02040503050406030204" pitchFamily="18" charset="0"/>
                          </a:rPr>
                          <m:t>𝝏</m:t>
                        </m:r>
                        <m:r>
                          <a:rPr lang="en-US" altLang="zh-CN" sz="2000" b="1" i="1">
                            <a:latin typeface="Cambria Math" panose="02040503050406030204" pitchFamily="18" charset="0"/>
                          </a:rPr>
                          <m:t>𝑺</m:t>
                        </m:r>
                      </m:num>
                      <m:den>
                        <m:r>
                          <a:rPr lang="en-US" altLang="zh-CN" sz="2000" b="1" i="1">
                            <a:latin typeface="Cambria Math" panose="02040503050406030204" pitchFamily="18" charset="0"/>
                          </a:rPr>
                          <m:t>𝝏</m:t>
                        </m:r>
                        <m:r>
                          <a:rPr lang="en-US" altLang="zh-CN" sz="2000" b="1" i="1" smtClean="0">
                            <a:latin typeface="Cambria Math" panose="02040503050406030204" pitchFamily="18" charset="0"/>
                          </a:rPr>
                          <m:t>𝜽</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𝜕𝛷</m:t>
                        </m:r>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𝑃</m:t>
                            </m:r>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𝑡</m:t>
                                </m:r>
                              </m:e>
                            </m:d>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𝜃</m:t>
                            </m:r>
                          </m:e>
                        </m:d>
                      </m:num>
                      <m:den>
                        <m:r>
                          <a:rPr lang="en-US" altLang="zh-CN" sz="2000" i="1">
                            <a:latin typeface="Cambria Math" panose="02040503050406030204" pitchFamily="18" charset="0"/>
                          </a:rPr>
                          <m:t>𝜕</m:t>
                        </m:r>
                        <m:r>
                          <a:rPr lang="en-US" altLang="zh-CN" sz="2000" b="0" i="1" smtClean="0">
                            <a:latin typeface="Cambria Math" panose="02040503050406030204" pitchFamily="18" charset="0"/>
                          </a:rPr>
                          <m:t>𝜃</m:t>
                        </m:r>
                      </m:den>
                    </m:f>
                  </m:oMath>
                </a14:m>
                <a:r>
                  <a:rPr lang="en-US" altLang="zh-CN" sz="2000" dirty="0"/>
                  <a:t> </a:t>
                </a:r>
                <a:endParaRPr lang="en-US" altLang="zh-CN" sz="2000" dirty="0"/>
              </a:p>
              <a:p>
                <a:pPr marL="0" indent="0">
                  <a:buNone/>
                </a:pPr>
                <a:endParaRPr lang="en-US" altLang="zh-CN" sz="200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457201" y="1600202"/>
                <a:ext cx="8229600" cy="4525963"/>
              </a:xfrm>
              <a:blipFill rotWithShape="1">
                <a:blip r:embed="rId1"/>
                <a:stretch>
                  <a:fillRect b="7"/>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4491861" y="3799344"/>
            <a:ext cx="1919390" cy="1632978"/>
          </a:xfrm>
          <a:prstGeom prst="rect">
            <a:avLst/>
          </a:prstGeom>
        </p:spPr>
      </p:pic>
      <p:cxnSp>
        <p:nvCxnSpPr>
          <p:cNvPr id="6" name="直接箭头连接符 5"/>
          <p:cNvCxnSpPr/>
          <p:nvPr/>
        </p:nvCxnSpPr>
        <p:spPr>
          <a:xfrm flipH="1">
            <a:off x="5950014" y="5514691"/>
            <a:ext cx="563527"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0" name="直接箭头连接符 9"/>
          <p:cNvCxnSpPr/>
          <p:nvPr/>
        </p:nvCxnSpPr>
        <p:spPr>
          <a:xfrm flipV="1">
            <a:off x="6513541" y="4765975"/>
            <a:ext cx="0" cy="748716"/>
          </a:xfrm>
          <a:prstGeom prst="straightConnector1">
            <a:avLst/>
          </a:prstGeom>
          <a:ln>
            <a:tailEnd type="triangle"/>
          </a:ln>
        </p:spPr>
        <p:style>
          <a:lnRef idx="2">
            <a:schemeClr val="accent1"/>
          </a:lnRef>
          <a:fillRef idx="1">
            <a:schemeClr val="lt1"/>
          </a:fillRef>
          <a:effectRef idx="0">
            <a:schemeClr val="accent1"/>
          </a:effectRef>
          <a:fontRef idx="minor">
            <a:schemeClr val="dk1"/>
          </a:fontRef>
        </p:style>
      </p:cxnSp>
      <p:sp>
        <p:nvSpPr>
          <p:cNvPr id="11" name="文本框 10"/>
          <p:cNvSpPr txBox="1"/>
          <p:nvPr/>
        </p:nvSpPr>
        <p:spPr>
          <a:xfrm>
            <a:off x="5657183" y="5432322"/>
            <a:ext cx="328936" cy="400110"/>
          </a:xfrm>
          <a:prstGeom prst="rect">
            <a:avLst/>
          </a:prstGeom>
          <a:noFill/>
        </p:spPr>
        <p:txBody>
          <a:bodyPr wrap="none" rtlCol="0">
            <a:spAutoFit/>
            <a:scene3d>
              <a:camera prst="orthographicFront"/>
              <a:lightRig rig="soft" dir="t">
                <a:rot lat="0" lon="0" rev="15600000"/>
              </a:lightRig>
            </a:scene3d>
            <a:sp3d prstMaterial="softEdge"/>
          </a:bodyPr>
          <a:lstStyle/>
          <a:p>
            <a:r>
              <a:rPr lang="en-US" altLang="zh-CN" sz="2000" dirty="0">
                <a:solidFill>
                  <a:schemeClr val="accent4"/>
                </a:solidFill>
                <a:ea typeface="Arial Unicode MS" panose="020B0604020202020204" pitchFamily="34" charset="-122"/>
                <a:cs typeface="Arial Unicode MS" panose="020B0604020202020204" pitchFamily="34" charset="-122"/>
              </a:rPr>
              <a:t>R</a:t>
            </a:r>
            <a:endParaRPr lang="zh-CN" altLang="en-US" sz="2000" dirty="0">
              <a:solidFill>
                <a:schemeClr val="accent4"/>
              </a:solidFill>
              <a:ea typeface="Arial Unicode MS" panose="020B0604020202020204" pitchFamily="34" charset="-122"/>
              <a:cs typeface="Arial Unicode MS" panose="020B0604020202020204" pitchFamily="34" charset="-122"/>
            </a:endParaRPr>
          </a:p>
        </p:txBody>
      </p:sp>
      <p:pic>
        <p:nvPicPr>
          <p:cNvPr id="13" name="图片 12"/>
          <p:cNvPicPr>
            <a:picLocks noChangeAspect="1"/>
          </p:cNvPicPr>
          <p:nvPr/>
        </p:nvPicPr>
        <p:blipFill>
          <a:blip r:embed="rId3"/>
          <a:stretch>
            <a:fillRect/>
          </a:stretch>
        </p:blipFill>
        <p:spPr>
          <a:xfrm>
            <a:off x="6867451" y="3799345"/>
            <a:ext cx="1819350" cy="1632978"/>
          </a:xfrm>
          <a:prstGeom prst="rect">
            <a:avLst/>
          </a:prstGeom>
        </p:spPr>
      </p:pic>
      <p:cxnSp>
        <p:nvCxnSpPr>
          <p:cNvPr id="15" name="直接箭头连接符 14"/>
          <p:cNvCxnSpPr/>
          <p:nvPr/>
        </p:nvCxnSpPr>
        <p:spPr>
          <a:xfrm flipH="1">
            <a:off x="6867451" y="5316650"/>
            <a:ext cx="649586" cy="19804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7" name="直接箭头连接符 16"/>
          <p:cNvCxnSpPr/>
          <p:nvPr/>
        </p:nvCxnSpPr>
        <p:spPr>
          <a:xfrm>
            <a:off x="7518025" y="5319801"/>
            <a:ext cx="278778" cy="37745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mc:AlternateContent xmlns:mc="http://schemas.openxmlformats.org/markup-compatibility/2006">
        <mc:Choice xmlns:a14="http://schemas.microsoft.com/office/drawing/2010/main" Requires="a14">
          <p:sp>
            <p:nvSpPr>
              <p:cNvPr id="21" name="矩形 20"/>
              <p:cNvSpPr/>
              <p:nvPr/>
            </p:nvSpPr>
            <p:spPr>
              <a:xfrm>
                <a:off x="4761519" y="3219616"/>
                <a:ext cx="3815212" cy="40498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rPr>
                        <m:t>𝜱</m:t>
                      </m:r>
                      <m:d>
                        <m:dPr>
                          <m:ctrlPr>
                            <a:rPr lang="en-US" altLang="zh-CN" b="1" i="1">
                              <a:latin typeface="Cambria Math" panose="02040503050406030204" pitchFamily="18" charset="0"/>
                            </a:rPr>
                          </m:ctrlPr>
                        </m:dPr>
                        <m:e>
                          <m:d>
                            <m:dPr>
                              <m:ctrlPr>
                                <a:rPr lang="en-US" altLang="zh-CN" b="1" i="1">
                                  <a:latin typeface="Cambria Math" panose="02040503050406030204" pitchFamily="18" charset="0"/>
                                </a:rPr>
                              </m:ctrlPr>
                            </m:dPr>
                            <m:e>
                              <m:r>
                                <a:rPr lang="en-US" altLang="zh-CN" b="1" i="1">
                                  <a:solidFill>
                                    <a:srgbClr val="7030A0"/>
                                  </a:solidFill>
                                  <a:latin typeface="Cambria Math" panose="02040503050406030204" pitchFamily="18" charset="0"/>
                                </a:rPr>
                                <m:t>𝒓</m:t>
                              </m:r>
                              <m:r>
                                <a:rPr lang="en-US" altLang="zh-CN" b="1" i="1">
                                  <a:latin typeface="Cambria Math" panose="02040503050406030204" pitchFamily="18" charset="0"/>
                                </a:rPr>
                                <m:t>,</m:t>
                              </m:r>
                              <m:r>
                                <a:rPr lang="en-US" altLang="zh-CN" b="1" i="1">
                                  <a:solidFill>
                                    <a:srgbClr val="0070C0"/>
                                  </a:solidFill>
                                  <a:latin typeface="Cambria Math" panose="02040503050406030204" pitchFamily="18" charset="0"/>
                                </a:rPr>
                                <m:t>𝒛</m:t>
                              </m:r>
                            </m:e>
                          </m:d>
                          <m:r>
                            <a:rPr lang="en-US" altLang="zh-CN" b="1" i="1">
                              <a:latin typeface="Cambria Math" panose="02040503050406030204" pitchFamily="18" charset="0"/>
                            </a:rPr>
                            <m:t>, </m:t>
                          </m:r>
                          <m:r>
                            <a:rPr lang="en-US" altLang="zh-CN" b="1" i="1">
                              <a:latin typeface="Cambria Math" panose="02040503050406030204" pitchFamily="18" charset="0"/>
                            </a:rPr>
                            <m:t>𝜽</m:t>
                          </m:r>
                        </m:e>
                      </m:d>
                      <m:r>
                        <a:rPr lang="en-US" altLang="zh-CN" i="1">
                          <a:latin typeface="Cambria Math" panose="02040503050406030204" pitchFamily="18" charset="0"/>
                        </a:rPr>
                        <m:t>=</m:t>
                      </m:r>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r>
                                      <m:rPr>
                                        <m:brk m:alnAt="7"/>
                                      </m:rPr>
                                      <a:rPr lang="en-US" altLang="zh-CN" i="1">
                                        <a:solidFill>
                                          <a:srgbClr val="FF0000"/>
                                        </a:solidFill>
                                        <a:latin typeface="Cambria Math" panose="02040503050406030204" pitchFamily="18" charset="0"/>
                                      </a:rPr>
                                      <m:t>𝑟</m:t>
                                    </m:r>
                                    <m:func>
                                      <m:funcPr>
                                        <m:ctrlPr>
                                          <a:rPr lang="en-US" altLang="zh-CN" i="1">
                                            <a:solidFill>
                                              <a:srgbClr val="FF0000"/>
                                            </a:solidFill>
                                            <a:latin typeface="Cambria Math" panose="02040503050406030204" pitchFamily="18" charset="0"/>
                                          </a:rPr>
                                        </m:ctrlPr>
                                      </m:funcPr>
                                      <m:fName>
                                        <m:r>
                                          <m:rPr>
                                            <m:sty m:val="p"/>
                                          </m:rPr>
                                          <a:rPr lang="en-US" altLang="zh-CN">
                                            <a:solidFill>
                                              <a:srgbClr val="FF0000"/>
                                            </a:solidFill>
                                            <a:latin typeface="Cambria Math" panose="02040503050406030204" pitchFamily="18" charset="0"/>
                                          </a:rPr>
                                          <m:t>cos</m:t>
                                        </m:r>
                                      </m:fName>
                                      <m:e>
                                        <m:r>
                                          <m:rPr>
                                            <m:brk m:alnAt="7"/>
                                          </m:rPr>
                                          <a:rPr lang="el-GR" altLang="zh-CN" i="1">
                                            <a:solidFill>
                                              <a:srgbClr val="FF0000"/>
                                            </a:solidFill>
                                            <a:latin typeface="Cambria Math" panose="02040503050406030204" pitchFamily="18" charset="0"/>
                                          </a:rPr>
                                          <m:t>𝜃</m:t>
                                        </m:r>
                                      </m:e>
                                    </m:func>
                                  </m:e>
                                  <m:e>
                                    <m:r>
                                      <a:rPr lang="en-US" altLang="zh-CN" i="1">
                                        <a:solidFill>
                                          <a:srgbClr val="00B050"/>
                                        </a:solidFill>
                                        <a:latin typeface="Cambria Math" panose="02040503050406030204" pitchFamily="18" charset="0"/>
                                      </a:rPr>
                                      <m:t>𝑟</m:t>
                                    </m:r>
                                    <m:func>
                                      <m:funcPr>
                                        <m:ctrlPr>
                                          <a:rPr lang="en-US" altLang="zh-CN" i="1">
                                            <a:solidFill>
                                              <a:srgbClr val="00B050"/>
                                            </a:solidFill>
                                            <a:latin typeface="Cambria Math" panose="02040503050406030204" pitchFamily="18" charset="0"/>
                                          </a:rPr>
                                        </m:ctrlPr>
                                      </m:funcPr>
                                      <m:fName>
                                        <m:r>
                                          <m:rPr>
                                            <m:sty m:val="p"/>
                                          </m:rPr>
                                          <a:rPr lang="en-US" altLang="zh-CN">
                                            <a:solidFill>
                                              <a:srgbClr val="00B050"/>
                                            </a:solidFill>
                                            <a:latin typeface="Cambria Math" panose="02040503050406030204" pitchFamily="18" charset="0"/>
                                          </a:rPr>
                                          <m:t>sin</m:t>
                                        </m:r>
                                      </m:fName>
                                      <m:e>
                                        <m:r>
                                          <a:rPr lang="el-GR" altLang="zh-CN" i="1">
                                            <a:solidFill>
                                              <a:srgbClr val="00B050"/>
                                            </a:solidFill>
                                            <a:latin typeface="Cambria Math" panose="02040503050406030204" pitchFamily="18" charset="0"/>
                                          </a:rPr>
                                          <m:t>𝜃</m:t>
                                        </m:r>
                                      </m:e>
                                    </m:func>
                                  </m:e>
                                  <m:e>
                                    <m:r>
                                      <a:rPr lang="en-US" altLang="zh-CN" i="1">
                                        <a:solidFill>
                                          <a:srgbClr val="0070C0"/>
                                        </a:solidFill>
                                        <a:latin typeface="Cambria Math" panose="02040503050406030204" pitchFamily="18" charset="0"/>
                                      </a:rPr>
                                      <m:t>𝑧</m:t>
                                    </m:r>
                                  </m:e>
                                </m:mr>
                              </m:m>
                            </m:e>
                          </m:d>
                        </m:e>
                        <m:sup>
                          <m:r>
                            <m:rPr>
                              <m:sty m:val="p"/>
                            </m:rPr>
                            <a:rPr lang="en-US" altLang="zh-CN">
                              <a:latin typeface="Cambria Math" panose="02040503050406030204" pitchFamily="18" charset="0"/>
                            </a:rPr>
                            <m:t>T</m:t>
                          </m:r>
                        </m:sup>
                      </m:sSup>
                    </m:oMath>
                  </m:oMathPara>
                </a14:m>
                <a:endParaRPr lang="zh-CN" altLang="en-US" dirty="0"/>
              </a:p>
            </p:txBody>
          </p:sp>
        </mc:Choice>
        <mc:Fallback>
          <p:sp>
            <p:nvSpPr>
              <p:cNvPr id="21" name="矩形 20"/>
              <p:cNvSpPr>
                <a:spLocks noRot="1" noChangeAspect="1" noMove="1" noResize="1" noEditPoints="1" noAdjustHandles="1" noChangeArrowheads="1" noChangeShapeType="1" noTextEdit="1"/>
              </p:cNvSpPr>
              <p:nvPr/>
            </p:nvSpPr>
            <p:spPr>
              <a:xfrm>
                <a:off x="4761519" y="3219616"/>
                <a:ext cx="3815212" cy="404983"/>
              </a:xfrm>
              <a:prstGeom prst="rect">
                <a:avLst/>
              </a:prstGeom>
              <a:blipFill rotWithShape="1">
                <a:blip r:embed="rId4"/>
                <a:stretch>
                  <a:fillRect l="-8" t="-41" r="11" b="5"/>
                </a:stretch>
              </a:blipFill>
            </p:spPr>
            <p:txBody>
              <a:bodyPr/>
              <a:lstStyle/>
              <a:p>
                <a:r>
                  <a:rPr lang="zh-CN" altLang="en-US">
                    <a:noFill/>
                  </a:rPr>
                  <a:t> </a:t>
                </a:r>
              </a:p>
            </p:txBody>
          </p:sp>
        </mc:Fallback>
      </mc:AlternateContent>
      <p:cxnSp>
        <p:nvCxnSpPr>
          <p:cNvPr id="23" name="直接箭头连接符 22"/>
          <p:cNvCxnSpPr/>
          <p:nvPr/>
        </p:nvCxnSpPr>
        <p:spPr>
          <a:xfrm flipH="1">
            <a:off x="7074004" y="4344873"/>
            <a:ext cx="63795" cy="430702"/>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25" name="直接箭头连接符 24"/>
          <p:cNvCxnSpPr/>
          <p:nvPr/>
        </p:nvCxnSpPr>
        <p:spPr>
          <a:xfrm>
            <a:off x="7123632" y="4348319"/>
            <a:ext cx="239957" cy="2373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文本框 27"/>
          <p:cNvSpPr txBox="1"/>
          <p:nvPr/>
        </p:nvSpPr>
        <p:spPr>
          <a:xfrm>
            <a:off x="7123632" y="4072828"/>
            <a:ext cx="806631" cy="36933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ln w="0"/>
                <a:solidFill>
                  <a:schemeClr val="accent1"/>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𝝏𝑺</a:t>
            </a:r>
            <a:r>
              <a:rPr lang="en-US" altLang="zh-CN" dirty="0">
                <a:ln w="0"/>
                <a:solidFill>
                  <a:schemeClr val="accent1"/>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dirty="0">
                <a:ln w="0"/>
                <a:solidFill>
                  <a:schemeClr val="accent1"/>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𝝏𝜽</a:t>
            </a:r>
            <a:endParaRPr lang="zh-CN" altLang="en-US" dirty="0">
              <a:ln w="0"/>
              <a:solidFill>
                <a:schemeClr val="accent1"/>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1" name="矩形 30"/>
          <p:cNvSpPr/>
          <p:nvPr/>
        </p:nvSpPr>
        <p:spPr>
          <a:xfrm>
            <a:off x="7050336" y="4611207"/>
            <a:ext cx="784189" cy="369332"/>
          </a:xfrm>
          <a:prstGeom prst="rect">
            <a:avLst/>
          </a:prstGeom>
        </p:spPr>
        <p:txBody>
          <a:bodyPr wrap="none">
            <a:spAutoFit/>
          </a:bodyPr>
          <a:lstStyle/>
          <a:p>
            <a:r>
              <a:rPr lang="zh-CN" altLang="en-US" dirty="0">
                <a:solidFill>
                  <a:srgbClr val="FFC000"/>
                </a:solidFill>
              </a:rPr>
              <a:t>𝝏𝑺</a:t>
            </a:r>
            <a:r>
              <a:rPr lang="en-US" altLang="zh-CN" dirty="0">
                <a:solidFill>
                  <a:srgbClr val="FFC000"/>
                </a:solidFill>
              </a:rPr>
              <a:t>/</a:t>
            </a:r>
            <a:r>
              <a:rPr lang="zh-CN" altLang="en-US" dirty="0">
                <a:solidFill>
                  <a:srgbClr val="FFC000"/>
                </a:solidFill>
              </a:rPr>
              <a:t>𝝏𝒕</a:t>
            </a:r>
            <a:endParaRPr lang="zh-CN" altLang="en-US" dirty="0">
              <a:solidFill>
                <a:srgbClr val="FFC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样条曲线</a:t>
            </a:r>
            <a:r>
              <a:rPr lang="en-US" altLang="zh-CN" dirty="0"/>
              <a:t>/</a:t>
            </a:r>
            <a:r>
              <a:rPr lang="zh-CN" altLang="en-US" dirty="0"/>
              <a:t>曲面造型举例</a:t>
            </a:r>
            <a:endParaRPr lang="zh-CN" altLang="en-US" dirty="0"/>
          </a:p>
        </p:txBody>
      </p:sp>
      <p:pic>
        <p:nvPicPr>
          <p:cNvPr id="1026" name="Picture 2" descr="bezier surface 的图像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14431" y="3301950"/>
            <a:ext cx="1693495" cy="9989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vis.berkeley.edu/~joshea/images/bez2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7926" y="1661212"/>
            <a:ext cx="2209800" cy="214023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vis.berkeley.edu/~joshea/images/bez3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7926" y="3884045"/>
            <a:ext cx="2209800" cy="2148417"/>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p:cNvPicPr>
            <a:picLocks noChangeAspect="1"/>
          </p:cNvPicPr>
          <p:nvPr/>
        </p:nvPicPr>
        <p:blipFill>
          <a:blip r:embed="rId4"/>
          <a:stretch>
            <a:fillRect/>
          </a:stretch>
        </p:blipFill>
        <p:spPr>
          <a:xfrm>
            <a:off x="2336382" y="2107738"/>
            <a:ext cx="2065497" cy="1693707"/>
          </a:xfrm>
          <a:prstGeom prst="rect">
            <a:avLst/>
          </a:prstGeom>
        </p:spPr>
      </p:pic>
      <p:pic>
        <p:nvPicPr>
          <p:cNvPr id="7" name="图片 6"/>
          <p:cNvPicPr>
            <a:picLocks noChangeAspect="1"/>
          </p:cNvPicPr>
          <p:nvPr/>
        </p:nvPicPr>
        <p:blipFill>
          <a:blip r:embed="rId5"/>
          <a:stretch>
            <a:fillRect/>
          </a:stretch>
        </p:blipFill>
        <p:spPr>
          <a:xfrm>
            <a:off x="2336382" y="4392039"/>
            <a:ext cx="2065497" cy="1640424"/>
          </a:xfrm>
          <a:prstGeom prst="rect">
            <a:avLst/>
          </a:prstGeom>
        </p:spPr>
      </p:pic>
      <p:pic>
        <p:nvPicPr>
          <p:cNvPr id="8" name="图片 7"/>
          <p:cNvPicPr>
            <a:picLocks noChangeAspect="1"/>
          </p:cNvPicPr>
          <p:nvPr/>
        </p:nvPicPr>
        <p:blipFill>
          <a:blip r:embed="rId6"/>
          <a:stretch>
            <a:fillRect/>
          </a:stretch>
        </p:blipFill>
        <p:spPr>
          <a:xfrm>
            <a:off x="457201" y="3301950"/>
            <a:ext cx="1086004" cy="1570666"/>
          </a:xfrm>
          <a:prstGeom prst="rect">
            <a:avLst/>
          </a:prstGeom>
        </p:spPr>
      </p:pic>
      <p:sp>
        <p:nvSpPr>
          <p:cNvPr id="9" name="下弧形箭头 8"/>
          <p:cNvSpPr/>
          <p:nvPr/>
        </p:nvSpPr>
        <p:spPr>
          <a:xfrm rot="16200000">
            <a:off x="851966" y="2724704"/>
            <a:ext cx="296473" cy="360269"/>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样条曲线</a:t>
            </a:r>
            <a:r>
              <a:rPr lang="en-US" altLang="zh-CN" dirty="0"/>
              <a:t>/</a:t>
            </a:r>
            <a:r>
              <a:rPr lang="zh-CN" altLang="en-US" dirty="0"/>
              <a:t>曲面造型举例</a:t>
            </a:r>
            <a:endParaRPr lang="zh-CN" altLang="en-US" dirty="0"/>
          </a:p>
        </p:txBody>
      </p:sp>
      <p:pic>
        <p:nvPicPr>
          <p:cNvPr id="4" name="Picture 4" descr="http://vis.berkeley.edu/~joshea/images/bez2b.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644381" y="1535788"/>
            <a:ext cx="1853308" cy="17949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http://vis.berkeley.edu/~joshea/images/bez3b.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25189" y="1537107"/>
            <a:ext cx="1853308" cy="18018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bezier surface 的图像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0356" y="1979228"/>
            <a:ext cx="1693495" cy="9989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vis.berkeley.edu/~joshea/images/bez2b.png"/>
          <p:cNvPicPr>
            <a:picLocks noChangeAspect="1" noChangeArrowheads="1"/>
          </p:cNvPicPr>
          <p:nvPr/>
        </p:nvPicPr>
        <p:blipFill rotWithShape="1">
          <a:blip r:embed="rId1">
            <a:extLst>
              <a:ext uri="{28A0092B-C50C-407E-A947-70E740481C1C}">
                <a14:useLocalDpi xmlns:a14="http://schemas.microsoft.com/office/drawing/2010/main" val="0"/>
              </a:ext>
            </a:extLst>
          </a:blip>
          <a:srcRect t="16689" r="27103" b="21406"/>
          <a:stretch>
            <a:fillRect/>
          </a:stretch>
        </p:blipFill>
        <p:spPr bwMode="auto">
          <a:xfrm>
            <a:off x="212505" y="3397428"/>
            <a:ext cx="4022186" cy="330817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http://vis.berkeley.edu/~joshea/images/bez3b.png"/>
          <p:cNvPicPr>
            <a:picLocks noChangeAspect="1" noChangeArrowheads="1"/>
          </p:cNvPicPr>
          <p:nvPr/>
        </p:nvPicPr>
        <p:blipFill rotWithShape="1">
          <a:blip r:embed="rId2">
            <a:extLst>
              <a:ext uri="{28A0092B-C50C-407E-A947-70E740481C1C}">
                <a14:useLocalDpi xmlns:a14="http://schemas.microsoft.com/office/drawing/2010/main" val="0"/>
              </a:ext>
            </a:extLst>
          </a:blip>
          <a:srcRect t="16853" r="26898" b="21898"/>
          <a:stretch>
            <a:fillRect/>
          </a:stretch>
        </p:blipFill>
        <p:spPr bwMode="auto">
          <a:xfrm>
            <a:off x="4749281" y="3397427"/>
            <a:ext cx="4033475" cy="32855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t>PA2</a:t>
            </a:r>
            <a:r>
              <a:rPr kumimoji="1" lang="zh-CN" altLang="en-US" dirty="0"/>
              <a:t>：</a:t>
            </a:r>
            <a:r>
              <a:rPr kumimoji="1" lang="en-US" altLang="zh-CN" dirty="0"/>
              <a:t>B-spline </a:t>
            </a:r>
            <a:r>
              <a:rPr kumimoji="1" lang="zh-CN" altLang="en-US" dirty="0"/>
              <a:t>的 </a:t>
            </a:r>
            <a:r>
              <a:rPr kumimoji="1" lang="en-US" altLang="zh-CN" dirty="0"/>
              <a:t>De Boor Cox</a:t>
            </a:r>
            <a:r>
              <a:rPr kumimoji="1" lang="zh-CN" altLang="en-US" dirty="0"/>
              <a:t>实现</a:t>
            </a:r>
            <a:endParaRPr kumimoji="1" lang="zh-CN" altLang="en-US" dirty="0"/>
          </a:p>
        </p:txBody>
      </p:sp>
      <p:pic>
        <p:nvPicPr>
          <p:cNvPr id="5" name="Picture 4" descr="A math equations and formulas&#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5333" y="3429000"/>
            <a:ext cx="8533333" cy="1990476"/>
          </a:xfrm>
          <a:prstGeom prst="rect">
            <a:avLst/>
          </a:prstGeom>
        </p:spPr>
      </p:pic>
      <mc:AlternateContent xmlns:mc="http://schemas.openxmlformats.org/markup-compatibility/2006">
        <mc:Choice xmlns:a14="http://schemas.microsoft.com/office/drawing/2010/main" Requires="a14">
          <p:sp>
            <p:nvSpPr>
              <p:cNvPr id="7" name="TextBox 6"/>
              <p:cNvSpPr txBox="1"/>
              <p:nvPr/>
            </p:nvSpPr>
            <p:spPr>
              <a:xfrm>
                <a:off x="542657" y="1884546"/>
                <a:ext cx="8071503" cy="1216551"/>
              </a:xfrm>
              <a:prstGeom prst="rect">
                <a:avLst/>
              </a:prstGeom>
              <a:noFill/>
            </p:spPr>
            <p:txBody>
              <a:bodyPr wrap="square">
                <a:spAutoFit/>
              </a:bodyPr>
              <a:lstStyle/>
              <a:p>
                <a:r>
                  <a:rPr lang="zh-CN" altLang="en-US" sz="2400" dirty="0">
                    <a:latin typeface="+mj-ea"/>
                    <a:ea typeface="+mj-ea"/>
                  </a:rPr>
                  <a:t>一个控制点个数为 </a:t>
                </a:r>
                <a:r>
                  <a:rPr lang="en-US" altLang="zh-CN" sz="2400" dirty="0">
                    <a:latin typeface="+mj-ea"/>
                    <a:ea typeface="+mj-ea"/>
                  </a:rPr>
                  <a:t>n + 1,</a:t>
                </a:r>
                <a:r>
                  <a:rPr lang="zh-CN" altLang="en-US" sz="2400" dirty="0">
                    <a:latin typeface="+mj-ea"/>
                    <a:ea typeface="+mj-ea"/>
                  </a:rPr>
                  <a:t>次数为 </a:t>
                </a:r>
                <a:r>
                  <a:rPr lang="en-US" altLang="zh-CN" sz="2400" dirty="0">
                    <a:latin typeface="+mj-ea"/>
                    <a:ea typeface="+mj-ea"/>
                  </a:rPr>
                  <a:t>k </a:t>
                </a:r>
                <a:r>
                  <a:rPr lang="zh-CN" altLang="en-US" sz="2400" dirty="0">
                    <a:latin typeface="+mj-ea"/>
                    <a:ea typeface="+mj-ea"/>
                  </a:rPr>
                  <a:t>的 </a:t>
                </a:r>
                <a:r>
                  <a:rPr lang="en-US" altLang="zh-CN" sz="2400" dirty="0">
                    <a:latin typeface="+mj-ea"/>
                    <a:ea typeface="+mj-ea"/>
                  </a:rPr>
                  <a:t>B </a:t>
                </a:r>
                <a:r>
                  <a:rPr lang="zh-CN" altLang="en-US" sz="2400" dirty="0">
                    <a:latin typeface="+mj-ea"/>
                    <a:ea typeface="+mj-ea"/>
                  </a:rPr>
                  <a:t>样条 </a:t>
                </a:r>
                <a14:m>
                  <m:oMath xmlns:m="http://schemas.openxmlformats.org/officeDocument/2006/math">
                    <m:sSub>
                      <m:sSubPr>
                        <m:ctrlPr>
                          <a:rPr lang="en-US" altLang="zh-CN" sz="2400" i="1" smtClean="0">
                            <a:latin typeface="Cambria Math" panose="02040503050406030204" pitchFamily="18" charset="0"/>
                            <a:ea typeface="+mj-ea"/>
                          </a:rPr>
                        </m:ctrlPr>
                      </m:sSubPr>
                      <m:e>
                        <m:r>
                          <a:rPr lang="en-US" altLang="zh-CN" sz="2400" b="0" i="1" smtClean="0">
                            <a:latin typeface="Cambria Math" panose="02040503050406030204" pitchFamily="18" charset="0"/>
                            <a:ea typeface="+mj-ea"/>
                          </a:rPr>
                          <m:t>𝐵</m:t>
                        </m:r>
                      </m:e>
                      <m:sub>
                        <m:r>
                          <a:rPr lang="en-US" altLang="zh-CN" sz="2400" b="0" i="1" smtClean="0">
                            <a:latin typeface="Cambria Math" panose="02040503050406030204" pitchFamily="18" charset="0"/>
                            <a:ea typeface="+mj-ea"/>
                          </a:rPr>
                          <m:t>𝑖</m:t>
                        </m:r>
                        <m:r>
                          <a:rPr lang="en-US" altLang="zh-CN" sz="2400" b="0" i="1" smtClean="0">
                            <a:latin typeface="Cambria Math" panose="02040503050406030204" pitchFamily="18" charset="0"/>
                            <a:ea typeface="+mj-ea"/>
                          </a:rPr>
                          <m:t>,</m:t>
                        </m:r>
                        <m:r>
                          <a:rPr lang="en-US" altLang="zh-CN" sz="2400" b="0" i="1" smtClean="0">
                            <a:latin typeface="Cambria Math" panose="02040503050406030204" pitchFamily="18" charset="0"/>
                            <a:ea typeface="+mj-ea"/>
                          </a:rPr>
                          <m:t>𝑘</m:t>
                        </m:r>
                      </m:sub>
                    </m:sSub>
                    <m:r>
                      <a:rPr lang="en-US" altLang="zh-CN" sz="2400" b="0" i="0" smtClean="0">
                        <a:latin typeface="Cambria Math" panose="02040503050406030204" pitchFamily="18" charset="0"/>
                        <a:ea typeface="+mj-ea"/>
                      </a:rPr>
                      <m:t>(</m:t>
                    </m:r>
                    <m:r>
                      <m:rPr>
                        <m:sty m:val="p"/>
                      </m:rPr>
                      <a:rPr lang="en-US" altLang="zh-CN" sz="2400" b="0" i="0" smtClean="0">
                        <a:latin typeface="Cambria Math" panose="02040503050406030204" pitchFamily="18" charset="0"/>
                        <a:ea typeface="+mj-ea"/>
                      </a:rPr>
                      <m:t>x</m:t>
                    </m:r>
                    <m:r>
                      <a:rPr lang="en-US" altLang="zh-CN" sz="2400" b="0" i="0" smtClean="0">
                        <a:latin typeface="Cambria Math" panose="02040503050406030204" pitchFamily="18" charset="0"/>
                        <a:ea typeface="+mj-ea"/>
                      </a:rPr>
                      <m:t>)</m:t>
                    </m:r>
                  </m:oMath>
                </a14:m>
                <a:r>
                  <a:rPr lang="zh-CN" altLang="en-US" sz="2400" dirty="0">
                    <a:latin typeface="+mj-ea"/>
                    <a:ea typeface="+mj-ea"/>
                  </a:rPr>
                  <a:t> 的节点</a:t>
                </a:r>
                <a:r>
                  <a:rPr lang="en-US" altLang="zh-CN" sz="2400" dirty="0">
                    <a:latin typeface="+mj-ea"/>
                    <a:ea typeface="+mj-ea"/>
                  </a:rPr>
                  <a:t>(Knots)</a:t>
                </a:r>
                <a:r>
                  <a:rPr lang="zh-CN" altLang="en-US" sz="2400" dirty="0">
                    <a:latin typeface="+mj-ea"/>
                    <a:ea typeface="+mj-ea"/>
                  </a:rPr>
                  <a:t>个数为 </a:t>
                </a:r>
                <a:r>
                  <a:rPr lang="en-US" altLang="zh-CN" sz="2400" dirty="0">
                    <a:latin typeface="+mj-ea"/>
                    <a:ea typeface="+mj-ea"/>
                  </a:rPr>
                  <a:t>n + k + 2</a:t>
                </a:r>
                <a:r>
                  <a:rPr lang="zh-CN" altLang="en-US" sz="2400" dirty="0">
                    <a:latin typeface="+mj-ea"/>
                    <a:ea typeface="+mj-ea"/>
                  </a:rPr>
                  <a:t>。它的定义自然给出了一个递推算法。</a:t>
                </a:r>
                <a:endParaRPr lang="en-US" sz="2400" dirty="0">
                  <a:latin typeface="+mj-ea"/>
                  <a:ea typeface="+mj-ea"/>
                </a:endParaRPr>
              </a:p>
            </p:txBody>
          </p:sp>
        </mc:Choice>
        <mc:Fallback>
          <p:sp>
            <p:nvSpPr>
              <p:cNvPr id="7" name="TextBox 6"/>
              <p:cNvSpPr txBox="1">
                <a:spLocks noRot="1" noChangeAspect="1" noMove="1" noResize="1" noEditPoints="1" noAdjustHandles="1" noChangeArrowheads="1" noChangeShapeType="1" noTextEdit="1"/>
              </p:cNvSpPr>
              <p:nvPr/>
            </p:nvSpPr>
            <p:spPr>
              <a:xfrm>
                <a:off x="542657" y="1884546"/>
                <a:ext cx="8071503" cy="1216551"/>
              </a:xfrm>
              <a:prstGeom prst="rect">
                <a:avLst/>
              </a:prstGeom>
              <a:blipFill rotWithShape="1">
                <a:blip r:embed="rId2"/>
                <a:stretch>
                  <a:fillRect l="-5" t="-41" r="-1765" b="32"/>
                </a:stretch>
              </a:blipFill>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t>PA2</a:t>
            </a:r>
            <a:r>
              <a:rPr kumimoji="1" lang="zh-CN" altLang="en-US" dirty="0"/>
              <a:t>：</a:t>
            </a:r>
            <a:r>
              <a:rPr kumimoji="1" lang="en-US" altLang="zh-CN" dirty="0"/>
              <a:t>B-spline </a:t>
            </a:r>
            <a:r>
              <a:rPr kumimoji="1" lang="zh-CN" altLang="en-US" dirty="0"/>
              <a:t>的 </a:t>
            </a:r>
            <a:r>
              <a:rPr kumimoji="1" lang="en-US" altLang="zh-CN" dirty="0"/>
              <a:t>De Boor Cox</a:t>
            </a:r>
            <a:r>
              <a:rPr kumimoji="1" lang="zh-CN" altLang="en-US" dirty="0"/>
              <a:t>实现</a:t>
            </a:r>
            <a:endParaRPr kumimoji="1" lang="zh-CN" altLang="en-US" dirty="0"/>
          </a:p>
        </p:txBody>
      </p:sp>
      <p:pic>
        <p:nvPicPr>
          <p:cNvPr id="4" name="图片 3"/>
          <p:cNvPicPr>
            <a:picLocks noChangeAspect="1"/>
          </p:cNvPicPr>
          <p:nvPr/>
        </p:nvPicPr>
        <p:blipFill>
          <a:blip r:embed="rId1"/>
          <a:stretch>
            <a:fillRect/>
          </a:stretch>
        </p:blipFill>
        <p:spPr>
          <a:xfrm>
            <a:off x="457200" y="1871740"/>
            <a:ext cx="8035801" cy="398288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PA2</a:t>
            </a:r>
            <a:r>
              <a:rPr kumimoji="1" lang="zh-CN" altLang="en-US" dirty="0"/>
              <a:t>：注意事项</a:t>
            </a:r>
            <a:endParaRPr kumimoji="1" lang="zh-CN" altLang="en-US" dirty="0"/>
          </a:p>
        </p:txBody>
      </p:sp>
      <p:sp>
        <p:nvSpPr>
          <p:cNvPr id="3" name="Content Placeholder 2"/>
          <p:cNvSpPr>
            <a:spLocks noGrp="1"/>
          </p:cNvSpPr>
          <p:nvPr>
            <p:ph idx="1"/>
          </p:nvPr>
        </p:nvSpPr>
        <p:spPr/>
        <p:txBody>
          <a:bodyPr/>
          <a:lstStyle/>
          <a:p>
            <a:r>
              <a:rPr lang="zh-CN" altLang="en-US" dirty="0"/>
              <a:t>有效区间为 </a:t>
            </a:r>
            <a:r>
              <a:rPr lang="en-US" altLang="zh-CN" dirty="0"/>
              <a:t>[</a:t>
            </a:r>
            <a:r>
              <a:rPr lang="zh-CN" altLang="en-US" dirty="0"/>
              <a:t>𝑡</a:t>
            </a:r>
            <a:r>
              <a:rPr lang="en-US" altLang="zh-CN" dirty="0"/>
              <a:t>_</a:t>
            </a:r>
            <a:r>
              <a:rPr lang="zh-CN" altLang="en-US" dirty="0"/>
              <a:t>𝑘</a:t>
            </a:r>
            <a:r>
              <a:rPr lang="en-US" altLang="zh-CN" dirty="0"/>
              <a:t>, </a:t>
            </a:r>
            <a:r>
              <a:rPr lang="zh-CN" altLang="en-US" dirty="0"/>
              <a:t>𝑡</a:t>
            </a:r>
            <a:r>
              <a:rPr lang="en-US" altLang="zh-CN" dirty="0"/>
              <a:t>_(</a:t>
            </a:r>
            <a:r>
              <a:rPr lang="zh-CN" altLang="en-US" dirty="0"/>
              <a:t>𝑛</a:t>
            </a:r>
            <a:r>
              <a:rPr lang="en-US" altLang="zh-CN" dirty="0"/>
              <a:t>+1) ] </a:t>
            </a:r>
            <a:r>
              <a:rPr lang="zh-CN" altLang="en-US" dirty="0"/>
              <a:t>（节点从 𝑡</a:t>
            </a:r>
            <a:r>
              <a:rPr lang="en-US" altLang="zh-CN" dirty="0"/>
              <a:t>_0 </a:t>
            </a:r>
            <a:r>
              <a:rPr lang="zh-CN" altLang="en-US" dirty="0"/>
              <a:t>开始）</a:t>
            </a:r>
            <a:endParaRPr lang="en-US" altLang="zh-CN" dirty="0"/>
          </a:p>
          <a:p>
            <a:r>
              <a:rPr lang="zh-CN" altLang="en-US" dirty="0"/>
              <a:t>出于效率考虑，使用动态规划实现会快一点。</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PA2</a:t>
            </a:r>
            <a:endParaRPr lang="zh-CN" altLang="en-US" dirty="0"/>
          </a:p>
        </p:txBody>
      </p:sp>
      <p:sp>
        <p:nvSpPr>
          <p:cNvPr id="3" name="内容占位符 2"/>
          <p:cNvSpPr>
            <a:spLocks noGrp="1"/>
          </p:cNvSpPr>
          <p:nvPr>
            <p:ph idx="1"/>
          </p:nvPr>
        </p:nvSpPr>
        <p:spPr/>
        <p:txBody>
          <a:bodyPr/>
          <a:lstStyle/>
          <a:p>
            <a:r>
              <a:rPr lang="zh-CN" altLang="en-US" dirty="0"/>
              <a:t>需要实现</a:t>
            </a:r>
            <a:r>
              <a:rPr lang="en-US" altLang="zh-CN" dirty="0"/>
              <a:t>curve.hpp</a:t>
            </a:r>
            <a:r>
              <a:rPr lang="zh-CN" altLang="en-US" dirty="0"/>
              <a:t>里的两个</a:t>
            </a:r>
            <a:r>
              <a:rPr lang="en-US" altLang="zh-CN" dirty="0"/>
              <a:t>discretize</a:t>
            </a:r>
            <a:r>
              <a:rPr lang="zh-CN" altLang="en-US" dirty="0"/>
              <a:t>函数，注意 </a:t>
            </a:r>
            <a:r>
              <a:rPr lang="en-US" altLang="zh-CN" dirty="0"/>
              <a:t>Bezier </a:t>
            </a:r>
            <a:r>
              <a:rPr lang="zh-CN" altLang="en-US" dirty="0"/>
              <a:t>类要求实现的是三次分段 </a:t>
            </a:r>
            <a:r>
              <a:rPr lang="en-US" altLang="zh-CN" dirty="0"/>
              <a:t>Bezier </a:t>
            </a:r>
            <a:r>
              <a:rPr lang="zh-CN" altLang="en-US" dirty="0"/>
              <a:t>函数。</a:t>
            </a:r>
            <a:endParaRPr lang="en-US" altLang="zh-CN" dirty="0"/>
          </a:p>
          <a:p>
            <a:r>
              <a:rPr lang="zh-CN" altLang="en-US" dirty="0"/>
              <a:t>即在有效参数区间内采样若干个</a:t>
            </a:r>
            <a:r>
              <a:rPr lang="en-US" altLang="zh-CN" dirty="0"/>
              <a:t>t</a:t>
            </a:r>
            <a:r>
              <a:rPr lang="zh-CN" altLang="en-US" dirty="0"/>
              <a:t>值并计算对应的曲线坐标</a:t>
            </a:r>
            <a:r>
              <a:rPr lang="en-US" altLang="zh-CN" dirty="0"/>
              <a:t>P(t)</a:t>
            </a:r>
            <a:r>
              <a:rPr lang="zh-CN" altLang="en-US" dirty="0"/>
              <a:t>以及该点的切向量</a:t>
            </a:r>
            <a:r>
              <a:rPr lang="en-US" altLang="zh-CN" dirty="0"/>
              <a:t>P’(t)</a:t>
            </a:r>
            <a:endParaRPr lang="en-US" altLang="zh-CN" dirty="0"/>
          </a:p>
          <a:p>
            <a:r>
              <a:rPr lang="en-US" altLang="zh-CN" dirty="0"/>
              <a:t>PA2</a:t>
            </a:r>
            <a:r>
              <a:rPr lang="zh-CN" altLang="en-US" dirty="0"/>
              <a:t>采用</a:t>
            </a:r>
            <a:r>
              <a:rPr lang="en-US" altLang="zh-CN" dirty="0"/>
              <a:t>OpenGL</a:t>
            </a:r>
            <a:r>
              <a:rPr lang="zh-CN" altLang="en-US" dirty="0"/>
              <a:t>绘制，曲面根据离散化的采样点被划分为三角网格</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PA2</a:t>
            </a:r>
            <a:r>
              <a:rPr lang="zh-CN" altLang="en-US" dirty="0"/>
              <a:t>扩展</a:t>
            </a:r>
            <a:endParaRPr lang="zh-CN" altLang="en-US" dirty="0"/>
          </a:p>
        </p:txBody>
      </p:sp>
      <p:sp>
        <p:nvSpPr>
          <p:cNvPr id="3" name="内容占位符 2"/>
          <p:cNvSpPr>
            <a:spLocks noGrp="1"/>
          </p:cNvSpPr>
          <p:nvPr>
            <p:ph idx="1"/>
          </p:nvPr>
        </p:nvSpPr>
        <p:spPr/>
        <p:txBody>
          <a:bodyPr/>
          <a:lstStyle/>
          <a:p>
            <a:r>
              <a:rPr lang="zh-CN" altLang="en-US" dirty="0"/>
              <a:t>在</a:t>
            </a:r>
            <a:r>
              <a:rPr lang="en-US" altLang="zh-CN" dirty="0"/>
              <a:t>revsurface.hpp</a:t>
            </a:r>
            <a:r>
              <a:rPr lang="zh-CN" altLang="en-US" dirty="0"/>
              <a:t>中的实现</a:t>
            </a:r>
            <a:r>
              <a:rPr lang="en-US" altLang="zh-CN" dirty="0"/>
              <a:t>intersect</a:t>
            </a:r>
            <a:r>
              <a:rPr lang="zh-CN" altLang="en-US" dirty="0"/>
              <a:t>方法，在光线投射模式下进行数值求交</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404894"/>
            <a:ext cx="7772400" cy="1899642"/>
          </a:xfrm>
        </p:spPr>
        <p:txBody>
          <a:bodyPr>
            <a:normAutofit/>
          </a:bodyPr>
          <a:lstStyle/>
          <a:p>
            <a:r>
              <a:rPr lang="zh-CN" altLang="en-US" sz="4000"/>
              <a:t>大作业：参数曲线数值求交</a:t>
            </a:r>
            <a:endParaRPr lang="zh-CN" alt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线面求交（基本）</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sz="2400" dirty="0"/>
                  <a:t>光线：参数直线，最终交点必须满足 </a:t>
                </a:r>
                <a14:m>
                  <m:oMath xmlns:m="http://schemas.openxmlformats.org/officeDocument/2006/math">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&gt;</m:t>
                    </m:r>
                    <m:r>
                      <a:rPr lang="en-US" altLang="zh-CN" sz="2400" b="0" i="1" smtClean="0">
                        <a:latin typeface="Cambria Math" panose="02040503050406030204" pitchFamily="18" charset="0"/>
                      </a:rPr>
                      <m:t>0</m:t>
                    </m:r>
                  </m:oMath>
                </a14:m>
                <a:endParaRPr lang="en-US" altLang="zh-CN" sz="2400" dirty="0"/>
              </a:p>
              <a:p>
                <a14:m>
                  <m:oMath xmlns:m="http://schemas.openxmlformats.org/officeDocument/2006/math">
                    <m:r>
                      <a:rPr lang="en-US" altLang="zh-CN" sz="2400" b="0" i="1" smtClean="0">
                        <a:latin typeface="Cambria Math" panose="02040503050406030204" pitchFamily="18" charset="0"/>
                      </a:rPr>
                      <m:t>𝐿</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𝑃</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𝑤</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oMath>
                </a14:m>
                <a:r>
                  <a:rPr lang="en-US" altLang="zh-CN" sz="2400" dirty="0"/>
                  <a:t> </a:t>
                </a:r>
                <a:endParaRPr lang="en-US" altLang="zh-CN" sz="2400" dirty="0"/>
              </a:p>
              <a:p>
                <a:endParaRPr lang="en-US" altLang="zh-CN" sz="2400" dirty="0"/>
              </a:p>
              <a:p>
                <a:r>
                  <a:rPr lang="zh-CN" altLang="en-US" sz="2400" dirty="0"/>
                  <a:t>若</a:t>
                </a:r>
                <a14:m>
                  <m:oMath xmlns:m="http://schemas.openxmlformats.org/officeDocument/2006/math">
                    <m:r>
                      <a:rPr lang="en-US" altLang="zh-CN" sz="2400" i="1">
                        <a:latin typeface="Cambria Math" panose="02040503050406030204" pitchFamily="18" charset="0"/>
                      </a:rPr>
                      <m:t>𝐿</m:t>
                    </m:r>
                  </m:oMath>
                </a14:m>
                <a:r>
                  <a:rPr lang="zh-CN" altLang="en-US" sz="2400" dirty="0"/>
                  <a:t>是最初产生的光线，</a:t>
                </a:r>
                <a:r>
                  <a:rPr lang="en-US" altLang="zh-CN" sz="2400" dirty="0"/>
                  <a:t> </a:t>
                </a:r>
                <a14:m>
                  <m:oMath xmlns:m="http://schemas.openxmlformats.org/officeDocument/2006/math">
                    <m:r>
                      <a:rPr lang="en-US" altLang="zh-CN" sz="2400" i="1">
                        <a:latin typeface="Cambria Math" panose="02040503050406030204" pitchFamily="18" charset="0"/>
                      </a:rPr>
                      <m:t>𝑃</m:t>
                    </m:r>
                  </m:oMath>
                </a14:m>
                <a:r>
                  <a:rPr lang="zh-CN" altLang="en-US" sz="2400" dirty="0"/>
                  <a:t>为视点，</a:t>
                </a:r>
                <a:r>
                  <a:rPr lang="en-US" altLang="zh-CN" sz="2400" dirty="0"/>
                  <a:t> </a:t>
                </a:r>
                <a14:m>
                  <m:oMath xmlns:m="http://schemas.openxmlformats.org/officeDocument/2006/math">
                    <m:r>
                      <a:rPr lang="en-US" altLang="zh-CN" sz="2400" i="1">
                        <a:latin typeface="Cambria Math" panose="02040503050406030204" pitchFamily="18" charset="0"/>
                      </a:rPr>
                      <m:t>𝑤</m:t>
                    </m:r>
                    <m:r>
                      <a:rPr lang="en-US" altLang="zh-CN" sz="2400" i="1">
                        <a:latin typeface="Cambria Math" panose="02040503050406030204" pitchFamily="18" charset="0"/>
                      </a:rPr>
                      <m:t> </m:t>
                    </m:r>
                    <m:r>
                      <a:rPr lang="zh-CN" altLang="en-US" sz="2400" i="1">
                        <a:latin typeface="Cambria Math" panose="02040503050406030204" pitchFamily="18" charset="0"/>
                      </a:rPr>
                      <m:t>为</m:t>
                    </m:r>
                  </m:oMath>
                </a14:m>
                <a:r>
                  <a:rPr lang="zh-CN" altLang="en-US" sz="2400" dirty="0"/>
                  <a:t>视点发出的光线方向；</a:t>
                </a:r>
                <a:endParaRPr lang="en-US" altLang="zh-CN" sz="2400" dirty="0"/>
              </a:p>
              <a:p>
                <a:r>
                  <a:rPr lang="zh-CN" altLang="en-US" sz="2400" dirty="0"/>
                  <a:t>否则，</a:t>
                </a:r>
                <a14:m>
                  <m:oMath xmlns:m="http://schemas.openxmlformats.org/officeDocument/2006/math">
                    <m:r>
                      <a:rPr lang="en-US" altLang="zh-CN" sz="2400" i="1">
                        <a:latin typeface="Cambria Math" panose="02040503050406030204" pitchFamily="18" charset="0"/>
                      </a:rPr>
                      <m:t>𝑃</m:t>
                    </m:r>
                  </m:oMath>
                </a14:m>
                <a:r>
                  <a:rPr lang="zh-CN" altLang="en-US" sz="2400" dirty="0"/>
                  <a:t>为交点，</a:t>
                </a:r>
                <a:r>
                  <a:rPr lang="en-US" altLang="zh-CN" sz="2400" dirty="0"/>
                  <a:t> </a:t>
                </a:r>
                <a14:m>
                  <m:oMath xmlns:m="http://schemas.openxmlformats.org/officeDocument/2006/math">
                    <m:r>
                      <a:rPr lang="en-US" altLang="zh-CN" sz="2400" i="1">
                        <a:latin typeface="Cambria Math" panose="02040503050406030204" pitchFamily="18" charset="0"/>
                      </a:rPr>
                      <m:t>𝑤</m:t>
                    </m:r>
                  </m:oMath>
                </a14:m>
                <a:r>
                  <a:rPr lang="zh-CN" altLang="en-US" sz="2400" dirty="0"/>
                  <a:t>根据反射，折射公式求得。</a:t>
                </a:r>
                <a:endParaRPr lang="en-US" altLang="zh-CN" sz="2400" dirty="0"/>
              </a:p>
              <a:p>
                <a:endParaRPr lang="en-US" altLang="zh-CN" sz="2400" b="1" dirty="0"/>
              </a:p>
              <a:p>
                <a:r>
                  <a:rPr lang="zh-CN" altLang="en-US" sz="2400" dirty="0"/>
                  <a:t>求交关键要求两个东西：</a:t>
                </a:r>
                <a:endParaRPr lang="en-US" altLang="zh-CN" sz="2400" dirty="0"/>
              </a:p>
              <a:p>
                <a:pPr lvl="1"/>
                <a:r>
                  <a:rPr lang="zh-CN" altLang="en-US" sz="2000" dirty="0"/>
                  <a:t>交点</a:t>
                </a:r>
                <a:endParaRPr lang="en-US" altLang="zh-CN" sz="2000" dirty="0"/>
              </a:p>
              <a:p>
                <a:pPr lvl="1"/>
                <a:r>
                  <a:rPr lang="zh-CN" altLang="en-US" sz="2000" dirty="0"/>
                  <a:t>交点处面的法向</a:t>
                </a:r>
                <a:endParaRPr lang="en-US" altLang="zh-CN" sz="1800" dirty="0"/>
              </a:p>
              <a:p>
                <a:endParaRPr lang="en-US" altLang="zh-CN" sz="2400"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597"/>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线面求交（参数曲面）</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sz="2400" dirty="0"/>
                  <a:t>求交判断的加速：根据</a:t>
                </a:r>
                <a:r>
                  <a:rPr lang="en-US" altLang="zh-CN" sz="2400" dirty="0" err="1"/>
                  <a:t>Bézier</a:t>
                </a:r>
                <a:r>
                  <a:rPr lang="zh-CN" altLang="en-US" sz="2400" dirty="0"/>
                  <a:t>曲面凸包性，可以先判断与其构造点组成的凸包是否有交。</a:t>
                </a:r>
                <a:endParaRPr lang="en-US" altLang="zh-CN" sz="1800" dirty="0"/>
              </a:p>
              <a:p>
                <a:endParaRPr lang="en-US" altLang="zh-CN" sz="2400" dirty="0"/>
              </a:p>
              <a:p>
                <a:r>
                  <a:rPr lang="zh-CN" altLang="en-US" sz="2400" dirty="0"/>
                  <a:t>低次曲面的求交，可以选择直接解方程：</a:t>
                </a:r>
                <a:endParaRPr lang="en-US" altLang="zh-CN" sz="2400" dirty="0"/>
              </a:p>
              <a:p>
                <a:pPr marL="0" indent="0">
                  <a:buNone/>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𝐹</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r>
                        <a:rPr lang="en-US" altLang="zh-CN" sz="2400" i="1">
                          <a:latin typeface="Cambria Math" panose="02040503050406030204" pitchFamily="18" charset="0"/>
                        </a:rPr>
                        <m:t>=</m:t>
                      </m:r>
                      <m:r>
                        <a:rPr lang="en-US" altLang="zh-CN" sz="2400" i="1">
                          <a:latin typeface="Cambria Math" panose="02040503050406030204" pitchFamily="18" charset="0"/>
                        </a:rPr>
                        <m:t>𝐹</m:t>
                      </m:r>
                      <m:r>
                        <a:rPr lang="en-US" altLang="zh-CN" sz="2400" i="1">
                          <a:latin typeface="Cambria Math" panose="02040503050406030204" pitchFamily="18" charset="0"/>
                        </a:rPr>
                        <m:t>(</m:t>
                      </m:r>
                      <m:r>
                        <a:rPr lang="en-US" altLang="zh-CN" sz="2400" i="1">
                          <a:latin typeface="Cambria Math" panose="02040503050406030204" pitchFamily="18" charset="0"/>
                        </a:rPr>
                        <m:t>𝑡</m:t>
                      </m:r>
                      <m:r>
                        <a:rPr lang="en-US" altLang="zh-CN" sz="2400" i="1">
                          <a:latin typeface="Cambria Math" panose="02040503050406030204" pitchFamily="18" charset="0"/>
                        </a:rPr>
                        <m:t>,</m:t>
                      </m:r>
                      <m:r>
                        <a:rPr lang="en-US" altLang="zh-CN" sz="2400" i="1">
                          <a:latin typeface="Cambria Math" panose="02040503050406030204" pitchFamily="18" charset="0"/>
                        </a:rPr>
                        <m:t>𝑢</m:t>
                      </m:r>
                      <m:r>
                        <a:rPr lang="en-US" altLang="zh-CN" sz="2400" i="1">
                          <a:latin typeface="Cambria Math" panose="02040503050406030204" pitchFamily="18" charset="0"/>
                        </a:rPr>
                        <m:t>,</m:t>
                      </m:r>
                      <m:r>
                        <a:rPr lang="en-US" altLang="zh-CN" sz="2400" i="1">
                          <a:latin typeface="Cambria Math" panose="02040503050406030204" pitchFamily="18" charset="0"/>
                        </a:rPr>
                        <m:t>𝑣</m:t>
                      </m:r>
                      <m:r>
                        <a:rPr lang="en-US" altLang="zh-CN" sz="2400" i="1">
                          <a:latin typeface="Cambria Math" panose="02040503050406030204" pitchFamily="18" charset="0"/>
                        </a:rPr>
                        <m:t>)≜</m:t>
                      </m:r>
                      <m:r>
                        <a:rPr lang="en-US" altLang="zh-CN" sz="2400" i="1">
                          <a:latin typeface="Cambria Math" panose="02040503050406030204" pitchFamily="18" charset="0"/>
                        </a:rPr>
                        <m:t>𝐿</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𝑢</m:t>
                          </m:r>
                          <m:r>
                            <a:rPr lang="en-US" altLang="zh-CN" sz="2400" i="1">
                              <a:latin typeface="Cambria Math" panose="02040503050406030204" pitchFamily="18" charset="0"/>
                            </a:rPr>
                            <m:t>,</m:t>
                          </m:r>
                          <m:r>
                            <a:rPr lang="en-US" altLang="zh-CN" sz="2400" i="1">
                              <a:latin typeface="Cambria Math" panose="02040503050406030204" pitchFamily="18" charset="0"/>
                            </a:rPr>
                            <m:t>𝑣</m:t>
                          </m:r>
                        </m:e>
                      </m:d>
                      <m:r>
                        <a:rPr lang="en-US" altLang="zh-CN" sz="2400" i="1">
                          <a:latin typeface="Cambria Math" panose="02040503050406030204" pitchFamily="18" charset="0"/>
                        </a:rPr>
                        <m:t>=</m:t>
                      </m:r>
                      <m:r>
                        <a:rPr lang="en-US" altLang="zh-CN" sz="2400" i="1">
                          <a:latin typeface="Cambria Math" panose="02040503050406030204" pitchFamily="18" charset="0"/>
                        </a:rPr>
                        <m:t>0</m:t>
                      </m:r>
                    </m:oMath>
                  </m:oMathPara>
                </a14:m>
                <a:endParaRPr lang="en-US" altLang="zh-CN" sz="2400" dirty="0"/>
              </a:p>
              <a:p>
                <a14:m>
                  <m:oMath xmlns:m="http://schemas.openxmlformats.org/officeDocument/2006/math">
                    <m:r>
                      <a:rPr lang="en-US" altLang="zh-CN" sz="2400" i="1">
                        <a:latin typeface="Cambria Math" panose="02040503050406030204" pitchFamily="18" charset="0"/>
                      </a:rPr>
                      <m:t>𝐹</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d>
                      <m:dPr>
                        <m:begChr m:val="["/>
                        <m:endChr m:val="]"/>
                        <m:ctrlPr>
                          <a:rPr lang="en-US" altLang="zh-CN" sz="2400" i="1">
                            <a:latin typeface="Cambria Math" panose="02040503050406030204" pitchFamily="18" charset="0"/>
                          </a:rPr>
                        </m:ctrlPr>
                      </m:dPr>
                      <m:e>
                        <m:m>
                          <m:mPr>
                            <m:mcs>
                              <m:mc>
                                <m:mcPr>
                                  <m:count m:val="1"/>
                                  <m:mcJc m:val="center"/>
                                </m:mcPr>
                              </m:mc>
                            </m:mcs>
                            <m:ctrlPr>
                              <a:rPr lang="en-US" altLang="zh-CN" sz="2400" i="1">
                                <a:latin typeface="Cambria Math" panose="02040503050406030204" pitchFamily="18" charset="0"/>
                              </a:rPr>
                            </m:ctrlPr>
                          </m:mPr>
                          <m:mr>
                            <m:e>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𝐹</m:t>
                                  </m:r>
                                </m:e>
                                <m:sub>
                                  <m:r>
                                    <a:rPr lang="en-US" altLang="zh-CN" sz="2400" i="1">
                                      <a:latin typeface="Cambria Math" panose="02040503050406030204" pitchFamily="18" charset="0"/>
                                    </a:rPr>
                                    <m:t>1</m:t>
                                  </m:r>
                                </m:sub>
                              </m:sSub>
                              <m:r>
                                <m:rPr>
                                  <m:brk m:alnAt="7"/>
                                </m:rP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e>
                          </m:mr>
                          <m:m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𝐹</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e>
                          </m:mr>
                          <m:m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𝐹</m:t>
                                  </m:r>
                                </m:e>
                                <m:sub>
                                  <m:r>
                                    <a:rPr lang="en-US" altLang="zh-CN" sz="2400" i="1">
                                      <a:latin typeface="Cambria Math" panose="02040503050406030204" pitchFamily="18" charset="0"/>
                                    </a:rPr>
                                    <m:t>3</m:t>
                                  </m:r>
                                </m:sub>
                              </m:sSub>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e>
                          </m:mr>
                        </m:m>
                      </m:e>
                    </m:d>
                    <m:r>
                      <a:rPr lang="en-US" altLang="zh-CN" sz="2400" i="1">
                        <a:latin typeface="Cambria Math" panose="02040503050406030204" pitchFamily="18" charset="0"/>
                      </a:rPr>
                      <m:t>=</m:t>
                    </m:r>
                    <m:r>
                      <a:rPr lang="en-US" altLang="zh-CN" sz="2400" i="1">
                        <a:latin typeface="Cambria Math" panose="02040503050406030204" pitchFamily="18" charset="0"/>
                      </a:rPr>
                      <m:t>0</m:t>
                    </m:r>
                  </m:oMath>
                </a14:m>
                <a:endParaRPr lang="en-US" altLang="zh-CN" sz="2400" dirty="0"/>
              </a:p>
              <a:p>
                <a:endParaRPr lang="en-US" altLang="zh-CN" sz="2400" dirty="0"/>
              </a:p>
              <a:p>
                <a:r>
                  <a:rPr lang="zh-CN" altLang="en-US" sz="2400" dirty="0"/>
                  <a:t>涉及到三元非线性方程组的求解问题</a:t>
                </a:r>
                <a:endParaRPr lang="en-US" altLang="zh-CN" sz="2400" dirty="0"/>
              </a:p>
              <a:p>
                <a:endParaRPr lang="en-US" altLang="zh-CN" sz="2400"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4146"/>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线面求交（参数曲面）</a:t>
            </a:r>
            <a:endParaRPr kumimoji="1"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lnSpcReduction="10000"/>
              </a:bodyPr>
              <a:lstStyle/>
              <a:p>
                <a:pPr marL="0" indent="0">
                  <a:buNone/>
                </a:pPr>
                <a:endParaRPr lang="en-US" altLang="zh-CN" sz="2400" dirty="0">
                  <a:solidFill>
                    <a:prstClr val="black"/>
                  </a:solidFill>
                </a:endParaRPr>
              </a:p>
              <a:p>
                <a:r>
                  <a:rPr lang="zh-CN" altLang="en-US" sz="2400" dirty="0"/>
                  <a:t>根据上式写成迭代方程，进行牛顿迭代：</a:t>
                </a:r>
                <a:endParaRPr lang="en-US" altLang="zh-CN" sz="1800" dirty="0"/>
              </a:p>
              <a:p>
                <a:pPr marL="0" indent="0">
                  <a:buNone/>
                </a:pPr>
                <a14:m>
                  <m:oMathPara xmlns:m="http://schemas.openxmlformats.org/officeDocument/2006/math">
                    <m:oMathParaPr>
                      <m:jc m:val="center"/>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r>
                            <a:rPr lang="en-US" altLang="zh-CN" sz="2400" i="1">
                              <a:latin typeface="Cambria Math" panose="02040503050406030204" pitchFamily="18" charset="0"/>
                            </a:rPr>
                            <m:t>+</m:t>
                          </m:r>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d>
                            <m:dPr>
                              <m:begChr m:val="["/>
                              <m:endChr m:val="]"/>
                              <m:ctrlPr>
                                <a:rPr lang="en-US" altLang="zh-CN" sz="2400" i="1">
                                  <a:latin typeface="Cambria Math" panose="02040503050406030204" pitchFamily="18" charset="0"/>
                                </a:rPr>
                              </m:ctrlPr>
                            </m:dPr>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𝐹</m:t>
                                  </m:r>
                                </m:e>
                                <m:sup>
                                  <m:r>
                                    <a:rPr lang="en-US" altLang="zh-CN" sz="2400" i="1">
                                      <a:latin typeface="Cambria Math" panose="02040503050406030204" pitchFamily="18" charset="0"/>
                                    </a:rPr>
                                    <m:t>′</m:t>
                                  </m:r>
                                </m:sup>
                              </m:sSup>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e>
                              </m:d>
                            </m:e>
                          </m:d>
                        </m:e>
                        <m:sup>
                          <m:r>
                            <a:rPr lang="en-US" altLang="zh-CN" sz="2400" i="1">
                              <a:latin typeface="Cambria Math" panose="02040503050406030204" pitchFamily="18" charset="0"/>
                            </a:rPr>
                            <m:t>−</m:t>
                          </m:r>
                          <m:r>
                            <a:rPr lang="en-US" altLang="zh-CN" sz="2400" i="1">
                              <a:latin typeface="Cambria Math" panose="02040503050406030204" pitchFamily="18" charset="0"/>
                            </a:rPr>
                            <m:t>1</m:t>
                          </m:r>
                        </m:sup>
                      </m:sSup>
                      <m:r>
                        <a:rPr lang="en-US" altLang="zh-CN" sz="2400" i="1">
                          <a:latin typeface="Cambria Math" panose="02040503050406030204" pitchFamily="18" charset="0"/>
                        </a:rPr>
                        <m:t>⋅</m:t>
                      </m:r>
                      <m:r>
                        <a:rPr lang="en-US" altLang="zh-CN" sz="2400" i="1">
                          <a:latin typeface="Cambria Math" panose="02040503050406030204" pitchFamily="18" charset="0"/>
                        </a:rPr>
                        <m:t>𝐹</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oMath>
                  </m:oMathPara>
                </a14:m>
                <a:endParaRPr lang="en-US" altLang="zh-CN" sz="2400" dirty="0"/>
              </a:p>
              <a:p>
                <a:pPr lvl="0"/>
                <a:endParaRPr lang="en-US" altLang="zh-CN" sz="2400" dirty="0">
                  <a:solidFill>
                    <a:prstClr val="black"/>
                  </a:solidFill>
                </a:endParaRPr>
              </a:p>
              <a:p>
                <a:pPr lvl="0"/>
                <a:r>
                  <a:rPr lang="zh-CN" altLang="en-US" sz="2400" dirty="0">
                    <a:solidFill>
                      <a:prstClr val="black"/>
                    </a:solidFill>
                  </a:rPr>
                  <a:t>写出自己选用曲线的</a:t>
                </a:r>
                <a:r>
                  <a:rPr lang="en-US" altLang="zh-CN" sz="2400" dirty="0">
                    <a:solidFill>
                      <a:prstClr val="black"/>
                    </a:solidFill>
                  </a:rPr>
                  <a:t>Jacobian</a:t>
                </a:r>
                <a:r>
                  <a:rPr lang="zh-CN" altLang="en-US" sz="2400" dirty="0">
                    <a:solidFill>
                      <a:prstClr val="black"/>
                    </a:solidFill>
                  </a:rPr>
                  <a:t>（建议不要用数值</a:t>
                </a:r>
                <a:r>
                  <a:rPr lang="en-US" altLang="zh-CN" sz="2400" dirty="0">
                    <a:solidFill>
                      <a:prstClr val="black"/>
                    </a:solidFill>
                  </a:rPr>
                  <a:t>Jacobian</a:t>
                </a:r>
                <a:r>
                  <a:rPr lang="zh-CN" altLang="en-US" sz="2400" dirty="0">
                    <a:solidFill>
                      <a:prstClr val="black"/>
                    </a:solidFill>
                  </a:rPr>
                  <a:t>）：</a:t>
                </a:r>
                <a:endParaRPr lang="en-US" altLang="zh-CN" sz="2400" dirty="0">
                  <a:solidFill>
                    <a:prstClr val="black"/>
                  </a:solidFill>
                </a:endParaRPr>
              </a:p>
              <a:p>
                <a:pPr marL="0" lvl="0" indent="0">
                  <a:buNone/>
                </a:pPr>
                <a14:m>
                  <m:oMathPara xmlns:m="http://schemas.openxmlformats.org/officeDocument/2006/math">
                    <m:oMathParaPr>
                      <m:jc m:val="centerGroup"/>
                    </m:oMathParaPr>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𝐹</m:t>
                          </m:r>
                        </m:e>
                        <m:sup>
                          <m:r>
                            <a:rPr lang="en-US" altLang="zh-CN" sz="1800" i="1">
                              <a:latin typeface="Cambria Math" panose="02040503050406030204" pitchFamily="18" charset="0"/>
                            </a:rPr>
                            <m:t>′</m:t>
                          </m:r>
                        </m:sup>
                      </m:sSup>
                      <m:d>
                        <m:dPr>
                          <m:ctrlPr>
                            <a:rPr lang="en-US" altLang="zh-CN" sz="1800" i="1">
                              <a:latin typeface="Cambria Math" panose="02040503050406030204" pitchFamily="18" charset="0"/>
                            </a:rPr>
                          </m:ctrlPr>
                        </m:dPr>
                        <m:e>
                          <m:r>
                            <a:rPr lang="en-US" altLang="zh-CN" sz="1800" i="1">
                              <a:latin typeface="Cambria Math" panose="02040503050406030204" pitchFamily="18" charset="0"/>
                            </a:rPr>
                            <m:t>𝑥</m:t>
                          </m:r>
                        </m:e>
                      </m:d>
                      <m:r>
                        <a:rPr lang="en-US" altLang="zh-CN" sz="1800" i="1">
                          <a:latin typeface="Cambria Math" panose="02040503050406030204" pitchFamily="18" charset="0"/>
                        </a:rPr>
                        <m:t>=</m:t>
                      </m:r>
                      <m:d>
                        <m:dPr>
                          <m:begChr m:val="["/>
                          <m:endChr m:val="]"/>
                          <m:ctrlPr>
                            <a:rPr lang="en-US" altLang="zh-CN" sz="1800" i="1">
                              <a:latin typeface="Cambria Math" panose="02040503050406030204" pitchFamily="18" charset="0"/>
                            </a:rPr>
                          </m:ctrlPr>
                        </m:dPr>
                        <m:e>
                          <m:m>
                            <m:mPr>
                              <m:mcs>
                                <m:mc>
                                  <m:mcPr>
                                    <m:count m:val="3"/>
                                    <m:mcJc m:val="center"/>
                                  </m:mcPr>
                                </m:mc>
                              </m:mcs>
                              <m:ctrlPr>
                                <a:rPr lang="en-US" altLang="zh-CN" sz="1800" i="1">
                                  <a:latin typeface="Cambria Math" panose="02040503050406030204" pitchFamily="18" charset="0"/>
                                </a:rPr>
                              </m:ctrlPr>
                            </m:mPr>
                            <m:mr>
                              <m:e>
                                <m:f>
                                  <m:fPr>
                                    <m:ctrlPr>
                                      <a:rPr lang="en-US" altLang="zh-CN" sz="1800" i="1">
                                        <a:latin typeface="Cambria Math" panose="02040503050406030204" pitchFamily="18" charset="0"/>
                                      </a:rPr>
                                    </m:ctrlPr>
                                  </m:fPr>
                                  <m:num>
                                    <m:r>
                                      <m:rPr>
                                        <m:brk m:alnAt="7"/>
                                      </m:rP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m:rPr>
                                            <m:brk m:alnAt="7"/>
                                          </m:rPr>
                                          <a:rPr lang="en-US" altLang="zh-CN" sz="1800" i="1">
                                            <a:latin typeface="Cambria Math" panose="02040503050406030204" pitchFamily="18" charset="0"/>
                                          </a:rPr>
                                          <m:t>𝐹</m:t>
                                        </m:r>
                                      </m:e>
                                      <m:sub>
                                        <m:r>
                                          <m:rPr>
                                            <m:brk m:alnAt="7"/>
                                          </m:rPr>
                                          <a:rPr lang="en-US" altLang="zh-CN" sz="1800" i="1">
                                            <a:latin typeface="Cambria Math" panose="02040503050406030204" pitchFamily="18" charset="0"/>
                                          </a:rPr>
                                          <m:t>1</m:t>
                                        </m:r>
                                      </m:sub>
                                    </m:sSub>
                                  </m:num>
                                  <m:den>
                                    <m:r>
                                      <m:rPr>
                                        <m:brk m:alnAt="7"/>
                                      </m:rPr>
                                      <a:rPr lang="en-US" altLang="zh-CN" sz="1800" i="1">
                                        <a:latin typeface="Cambria Math" panose="02040503050406030204" pitchFamily="18" charset="0"/>
                                      </a:rPr>
                                      <m:t>𝜕</m:t>
                                    </m:r>
                                    <m:r>
                                      <a:rPr lang="en-US" altLang="zh-CN" sz="1800" i="1">
                                        <a:latin typeface="Cambria Math" panose="02040503050406030204" pitchFamily="18" charset="0"/>
                                      </a:rPr>
                                      <m:t>𝑡</m:t>
                                    </m:r>
                                  </m:den>
                                </m:f>
                              </m:e>
                              <m:e>
                                <m:f>
                                  <m:fPr>
                                    <m:ctrlPr>
                                      <a:rPr lang="en-US" altLang="zh-CN" sz="1800" i="1">
                                        <a:latin typeface="Cambria Math" panose="02040503050406030204" pitchFamily="18" charset="0"/>
                                      </a:rPr>
                                    </m:ctrlPr>
                                  </m:fPr>
                                  <m:num>
                                    <m:r>
                                      <m:rPr>
                                        <m:brk m:alnAt="7"/>
                                      </m:rP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m:rPr>
                                            <m:brk m:alnAt="7"/>
                                          </m:rPr>
                                          <a:rPr lang="en-US" altLang="zh-CN" sz="1800" i="1">
                                            <a:latin typeface="Cambria Math" panose="02040503050406030204" pitchFamily="18" charset="0"/>
                                          </a:rPr>
                                          <m:t>𝐹</m:t>
                                        </m:r>
                                      </m:e>
                                      <m:sub>
                                        <m:r>
                                          <m:rPr>
                                            <m:brk m:alnAt="7"/>
                                          </m:rPr>
                                          <a:rPr lang="en-US" altLang="zh-CN" sz="1800" i="1">
                                            <a:latin typeface="Cambria Math" panose="02040503050406030204" pitchFamily="18" charset="0"/>
                                          </a:rPr>
                                          <m:t>1</m:t>
                                        </m:r>
                                      </m:sub>
                                    </m:sSub>
                                  </m:num>
                                  <m:den>
                                    <m:r>
                                      <m:rPr>
                                        <m:brk m:alnAt="7"/>
                                      </m:rPr>
                                      <a:rPr lang="en-US" altLang="zh-CN" sz="1800" i="1">
                                        <a:latin typeface="Cambria Math" panose="02040503050406030204" pitchFamily="18" charset="0"/>
                                      </a:rPr>
                                      <m:t>𝜕</m:t>
                                    </m:r>
                                    <m:r>
                                      <a:rPr lang="en-US" altLang="zh-CN" sz="1800" i="1">
                                        <a:latin typeface="Cambria Math" panose="02040503050406030204" pitchFamily="18" charset="0"/>
                                      </a:rPr>
                                      <m:t>𝑢</m:t>
                                    </m:r>
                                  </m:den>
                                </m:f>
                              </m:e>
                              <m:e>
                                <m:f>
                                  <m:fPr>
                                    <m:ctrlPr>
                                      <a:rPr lang="en-US" altLang="zh-CN" sz="1800" i="1">
                                        <a:latin typeface="Cambria Math" panose="02040503050406030204" pitchFamily="18" charset="0"/>
                                      </a:rPr>
                                    </m:ctrlPr>
                                  </m:fPr>
                                  <m:num>
                                    <m:r>
                                      <m:rPr>
                                        <m:brk m:alnAt="7"/>
                                      </m:rP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m:rPr>
                                            <m:brk m:alnAt="7"/>
                                          </m:rPr>
                                          <a:rPr lang="en-US" altLang="zh-CN" sz="1800" i="1">
                                            <a:latin typeface="Cambria Math" panose="02040503050406030204" pitchFamily="18" charset="0"/>
                                          </a:rPr>
                                          <m:t>𝐹</m:t>
                                        </m:r>
                                      </m:e>
                                      <m:sub>
                                        <m:r>
                                          <m:rPr>
                                            <m:brk m:alnAt="7"/>
                                          </m:rPr>
                                          <a:rPr lang="en-US" altLang="zh-CN" sz="1800" i="1">
                                            <a:latin typeface="Cambria Math" panose="02040503050406030204" pitchFamily="18" charset="0"/>
                                          </a:rPr>
                                          <m:t>1</m:t>
                                        </m:r>
                                      </m:sub>
                                    </m:sSub>
                                  </m:num>
                                  <m:den>
                                    <m:r>
                                      <m:rPr>
                                        <m:brk m:alnAt="7"/>
                                      </m:rPr>
                                      <a:rPr lang="en-US" altLang="zh-CN" sz="1800" i="1">
                                        <a:latin typeface="Cambria Math" panose="02040503050406030204" pitchFamily="18" charset="0"/>
                                      </a:rPr>
                                      <m:t>𝜕</m:t>
                                    </m:r>
                                    <m:r>
                                      <a:rPr lang="en-US" altLang="zh-CN" sz="1800" i="1">
                                        <a:latin typeface="Cambria Math" panose="02040503050406030204" pitchFamily="18" charset="0"/>
                                      </a:rPr>
                                      <m:t>𝑣</m:t>
                                    </m:r>
                                  </m:den>
                                </m:f>
                              </m:e>
                            </m:mr>
                            <m:mr>
                              <m:e>
                                <m:f>
                                  <m:fPr>
                                    <m:ctrlPr>
                                      <a:rPr lang="en-US" altLang="zh-CN" sz="1800" i="1">
                                        <a:latin typeface="Cambria Math" panose="02040503050406030204" pitchFamily="18" charset="0"/>
                                      </a:rPr>
                                    </m:ctrlPr>
                                  </m:fPr>
                                  <m:num>
                                    <m:r>
                                      <m:rPr>
                                        <m:brk m:alnAt="7"/>
                                      </m:rP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m:rPr>
                                            <m:brk m:alnAt="7"/>
                                          </m:rPr>
                                          <a:rPr lang="en-US" altLang="zh-CN" sz="1800" i="1">
                                            <a:latin typeface="Cambria Math" panose="02040503050406030204" pitchFamily="18" charset="0"/>
                                          </a:rPr>
                                          <m:t>𝐹</m:t>
                                        </m:r>
                                      </m:e>
                                      <m:sub>
                                        <m:r>
                                          <a:rPr lang="en-US" altLang="zh-CN" sz="1800" i="1">
                                            <a:latin typeface="Cambria Math" panose="02040503050406030204" pitchFamily="18" charset="0"/>
                                          </a:rPr>
                                          <m:t>2</m:t>
                                        </m:r>
                                      </m:sub>
                                    </m:sSub>
                                  </m:num>
                                  <m:den>
                                    <m:r>
                                      <m:rPr>
                                        <m:brk m:alnAt="7"/>
                                      </m:rPr>
                                      <a:rPr lang="en-US" altLang="zh-CN" sz="1800" i="1">
                                        <a:latin typeface="Cambria Math" panose="02040503050406030204" pitchFamily="18" charset="0"/>
                                      </a:rPr>
                                      <m:t>𝜕</m:t>
                                    </m:r>
                                    <m:r>
                                      <a:rPr lang="en-US" altLang="zh-CN" sz="1800" i="1">
                                        <a:latin typeface="Cambria Math" panose="02040503050406030204" pitchFamily="18" charset="0"/>
                                      </a:rPr>
                                      <m:t>𝑡</m:t>
                                    </m:r>
                                  </m:den>
                                </m:f>
                              </m:e>
                              <m:e>
                                <m:f>
                                  <m:fPr>
                                    <m:ctrlPr>
                                      <a:rPr lang="en-US" altLang="zh-CN" sz="1800" i="1">
                                        <a:latin typeface="Cambria Math" panose="02040503050406030204" pitchFamily="18" charset="0"/>
                                      </a:rPr>
                                    </m:ctrlPr>
                                  </m:fPr>
                                  <m:num>
                                    <m:r>
                                      <m:rPr>
                                        <m:brk m:alnAt="7"/>
                                      </m:rP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m:rPr>
                                            <m:brk m:alnAt="7"/>
                                          </m:rPr>
                                          <a:rPr lang="en-US" altLang="zh-CN" sz="1800" i="1">
                                            <a:latin typeface="Cambria Math" panose="02040503050406030204" pitchFamily="18" charset="0"/>
                                          </a:rPr>
                                          <m:t>𝐹</m:t>
                                        </m:r>
                                      </m:e>
                                      <m:sub>
                                        <m:r>
                                          <a:rPr lang="en-US" altLang="zh-CN" sz="1800" i="1">
                                            <a:latin typeface="Cambria Math" panose="02040503050406030204" pitchFamily="18" charset="0"/>
                                          </a:rPr>
                                          <m:t>2</m:t>
                                        </m:r>
                                      </m:sub>
                                    </m:sSub>
                                  </m:num>
                                  <m:den>
                                    <m:r>
                                      <m:rPr>
                                        <m:brk m:alnAt="7"/>
                                      </m:rPr>
                                      <a:rPr lang="en-US" altLang="zh-CN" sz="1800" i="1">
                                        <a:latin typeface="Cambria Math" panose="02040503050406030204" pitchFamily="18" charset="0"/>
                                      </a:rPr>
                                      <m:t>𝜕</m:t>
                                    </m:r>
                                    <m:r>
                                      <a:rPr lang="en-US" altLang="zh-CN" sz="1800" i="1">
                                        <a:latin typeface="Cambria Math" panose="02040503050406030204" pitchFamily="18" charset="0"/>
                                      </a:rPr>
                                      <m:t>𝑢</m:t>
                                    </m:r>
                                  </m:den>
                                </m:f>
                              </m:e>
                              <m:e>
                                <m:f>
                                  <m:fPr>
                                    <m:ctrlPr>
                                      <a:rPr lang="en-US" altLang="zh-CN" sz="1800" i="1">
                                        <a:latin typeface="Cambria Math" panose="02040503050406030204" pitchFamily="18" charset="0"/>
                                      </a:rPr>
                                    </m:ctrlPr>
                                  </m:fPr>
                                  <m:num>
                                    <m:r>
                                      <m:rPr>
                                        <m:brk m:alnAt="7"/>
                                      </m:rP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m:rPr>
                                            <m:brk m:alnAt="7"/>
                                          </m:rPr>
                                          <a:rPr lang="en-US" altLang="zh-CN" sz="1800" i="1">
                                            <a:latin typeface="Cambria Math" panose="02040503050406030204" pitchFamily="18" charset="0"/>
                                          </a:rPr>
                                          <m:t>𝐹</m:t>
                                        </m:r>
                                      </m:e>
                                      <m:sub>
                                        <m:r>
                                          <a:rPr lang="en-US" altLang="zh-CN" sz="1800" i="1">
                                            <a:latin typeface="Cambria Math" panose="02040503050406030204" pitchFamily="18" charset="0"/>
                                          </a:rPr>
                                          <m:t>2</m:t>
                                        </m:r>
                                      </m:sub>
                                    </m:sSub>
                                  </m:num>
                                  <m:den>
                                    <m:r>
                                      <m:rPr>
                                        <m:brk m:alnAt="7"/>
                                      </m:rPr>
                                      <a:rPr lang="en-US" altLang="zh-CN" sz="1800" i="1">
                                        <a:latin typeface="Cambria Math" panose="02040503050406030204" pitchFamily="18" charset="0"/>
                                      </a:rPr>
                                      <m:t>𝜕</m:t>
                                    </m:r>
                                    <m:r>
                                      <a:rPr lang="en-US" altLang="zh-CN" sz="1800" i="1">
                                        <a:latin typeface="Cambria Math" panose="02040503050406030204" pitchFamily="18" charset="0"/>
                                      </a:rPr>
                                      <m:t>𝑣</m:t>
                                    </m:r>
                                  </m:den>
                                </m:f>
                              </m:e>
                            </m:mr>
                            <m:mr>
                              <m:e>
                                <m:f>
                                  <m:fPr>
                                    <m:ctrlPr>
                                      <a:rPr lang="en-US" altLang="zh-CN" sz="1800" i="1">
                                        <a:latin typeface="Cambria Math" panose="02040503050406030204" pitchFamily="18" charset="0"/>
                                      </a:rPr>
                                    </m:ctrlPr>
                                  </m:fPr>
                                  <m:num>
                                    <m:r>
                                      <m:rPr>
                                        <m:brk m:alnAt="7"/>
                                      </m:rP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m:rPr>
                                            <m:brk m:alnAt="7"/>
                                          </m:rPr>
                                          <a:rPr lang="en-US" altLang="zh-CN" sz="1800" i="1">
                                            <a:latin typeface="Cambria Math" panose="02040503050406030204" pitchFamily="18" charset="0"/>
                                          </a:rPr>
                                          <m:t>𝐹</m:t>
                                        </m:r>
                                      </m:e>
                                      <m:sub>
                                        <m:r>
                                          <a:rPr lang="en-US" altLang="zh-CN" sz="1800" i="1">
                                            <a:latin typeface="Cambria Math" panose="02040503050406030204" pitchFamily="18" charset="0"/>
                                          </a:rPr>
                                          <m:t>3</m:t>
                                        </m:r>
                                      </m:sub>
                                    </m:sSub>
                                  </m:num>
                                  <m:den>
                                    <m:r>
                                      <m:rPr>
                                        <m:brk m:alnAt="7"/>
                                      </m:rPr>
                                      <a:rPr lang="en-US" altLang="zh-CN" sz="1800" i="1">
                                        <a:latin typeface="Cambria Math" panose="02040503050406030204" pitchFamily="18" charset="0"/>
                                      </a:rPr>
                                      <m:t>𝜕</m:t>
                                    </m:r>
                                    <m:r>
                                      <a:rPr lang="en-US" altLang="zh-CN" sz="1800" i="1">
                                        <a:latin typeface="Cambria Math" panose="02040503050406030204" pitchFamily="18" charset="0"/>
                                      </a:rPr>
                                      <m:t>𝑡</m:t>
                                    </m:r>
                                  </m:den>
                                </m:f>
                              </m:e>
                              <m:e>
                                <m:f>
                                  <m:fPr>
                                    <m:ctrlPr>
                                      <a:rPr lang="en-US" altLang="zh-CN" sz="1800" i="1">
                                        <a:latin typeface="Cambria Math" panose="02040503050406030204" pitchFamily="18" charset="0"/>
                                      </a:rPr>
                                    </m:ctrlPr>
                                  </m:fPr>
                                  <m:num>
                                    <m:r>
                                      <m:rPr>
                                        <m:brk m:alnAt="7"/>
                                      </m:rP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m:rPr>
                                            <m:brk m:alnAt="7"/>
                                          </m:rPr>
                                          <a:rPr lang="en-US" altLang="zh-CN" sz="1800" i="1">
                                            <a:latin typeface="Cambria Math" panose="02040503050406030204" pitchFamily="18" charset="0"/>
                                          </a:rPr>
                                          <m:t>𝐹</m:t>
                                        </m:r>
                                      </m:e>
                                      <m:sub>
                                        <m:r>
                                          <a:rPr lang="en-US" altLang="zh-CN" sz="1800" i="1">
                                            <a:latin typeface="Cambria Math" panose="02040503050406030204" pitchFamily="18" charset="0"/>
                                          </a:rPr>
                                          <m:t>3</m:t>
                                        </m:r>
                                      </m:sub>
                                    </m:sSub>
                                  </m:num>
                                  <m:den>
                                    <m:r>
                                      <m:rPr>
                                        <m:brk m:alnAt="7"/>
                                      </m:rPr>
                                      <a:rPr lang="en-US" altLang="zh-CN" sz="1800" i="1">
                                        <a:latin typeface="Cambria Math" panose="02040503050406030204" pitchFamily="18" charset="0"/>
                                      </a:rPr>
                                      <m:t>𝜕</m:t>
                                    </m:r>
                                    <m:r>
                                      <a:rPr lang="en-US" altLang="zh-CN" sz="1800" i="1">
                                        <a:latin typeface="Cambria Math" panose="02040503050406030204" pitchFamily="18" charset="0"/>
                                      </a:rPr>
                                      <m:t>𝑢</m:t>
                                    </m:r>
                                  </m:den>
                                </m:f>
                              </m:e>
                              <m:e>
                                <m:f>
                                  <m:fPr>
                                    <m:ctrlPr>
                                      <a:rPr lang="en-US" altLang="zh-CN" sz="1800" i="1">
                                        <a:latin typeface="Cambria Math" panose="02040503050406030204" pitchFamily="18" charset="0"/>
                                      </a:rPr>
                                    </m:ctrlPr>
                                  </m:fPr>
                                  <m:num>
                                    <m:r>
                                      <m:rPr>
                                        <m:brk m:alnAt="7"/>
                                      </m:rP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m:rPr>
                                            <m:brk m:alnAt="7"/>
                                          </m:rPr>
                                          <a:rPr lang="en-US" altLang="zh-CN" sz="1800" i="1">
                                            <a:latin typeface="Cambria Math" panose="02040503050406030204" pitchFamily="18" charset="0"/>
                                          </a:rPr>
                                          <m:t>𝐹</m:t>
                                        </m:r>
                                      </m:e>
                                      <m:sub>
                                        <m:r>
                                          <a:rPr lang="en-US" altLang="zh-CN" sz="1800" i="1">
                                            <a:latin typeface="Cambria Math" panose="02040503050406030204" pitchFamily="18" charset="0"/>
                                          </a:rPr>
                                          <m:t>3</m:t>
                                        </m:r>
                                      </m:sub>
                                    </m:sSub>
                                  </m:num>
                                  <m:den>
                                    <m:r>
                                      <m:rPr>
                                        <m:brk m:alnAt="7"/>
                                      </m:rPr>
                                      <a:rPr lang="en-US" altLang="zh-CN" sz="1800" i="1">
                                        <a:latin typeface="Cambria Math" panose="02040503050406030204" pitchFamily="18" charset="0"/>
                                      </a:rPr>
                                      <m:t>𝜕</m:t>
                                    </m:r>
                                    <m:r>
                                      <a:rPr lang="en-US" altLang="zh-CN" sz="1800" i="1">
                                        <a:latin typeface="Cambria Math" panose="02040503050406030204" pitchFamily="18" charset="0"/>
                                      </a:rPr>
                                      <m:t>𝑣</m:t>
                                    </m:r>
                                  </m:den>
                                </m:f>
                              </m:e>
                            </m:mr>
                          </m:m>
                        </m:e>
                      </m:d>
                    </m:oMath>
                  </m:oMathPara>
                </a14:m>
                <a:endParaRPr lang="en-US" altLang="zh-CN" sz="1800" dirty="0">
                  <a:solidFill>
                    <a:prstClr val="black"/>
                  </a:solidFill>
                </a:endParaRPr>
              </a:p>
              <a:p>
                <a:pPr lvl="0"/>
                <a:endParaRPr lang="en-US" altLang="zh-CN" sz="1800" dirty="0">
                  <a:solidFill>
                    <a:prstClr val="black"/>
                  </a:solidFill>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线面求交（参数曲面）</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57200" y="1600202"/>
                <a:ext cx="8229600" cy="5045147"/>
              </a:xfrm>
            </p:spPr>
            <p:txBody>
              <a:bodyPr>
                <a:normAutofit/>
              </a:bodyPr>
              <a:lstStyle/>
              <a:p>
                <a:r>
                  <a:rPr lang="zh-CN" altLang="en-US" sz="2400" dirty="0"/>
                  <a:t>迭代的初值：光线和参数曲面四叉树叶子节点的包围盒求交。</a:t>
                </a:r>
                <a:endParaRPr lang="en-US" altLang="zh-CN" sz="2400" dirty="0"/>
              </a:p>
              <a:p>
                <a:r>
                  <a:rPr lang="zh-CN" altLang="en-US" sz="2400" dirty="0"/>
                  <a:t>迭代终止：步长过小或者超过最大次数。</a:t>
                </a:r>
                <a:endParaRPr lang="en-US" altLang="zh-CN" sz="2400" dirty="0"/>
              </a:p>
              <a:p>
                <a:pPr lvl="1"/>
                <a:r>
                  <a:rPr lang="zh-CN" altLang="en-US" sz="2000" dirty="0"/>
                  <a:t>发现</a:t>
                </a:r>
                <a:r>
                  <a:rPr lang="en-US" altLang="zh-CN" sz="2000" dirty="0"/>
                  <a:t>t, u, v</a:t>
                </a:r>
                <a:r>
                  <a:rPr lang="zh-CN" altLang="en-US" sz="2000" dirty="0"/>
                  <a:t>越界，不收敛，作差不为</a:t>
                </a:r>
                <a:r>
                  <a:rPr lang="en-US" altLang="zh-CN" sz="2000" dirty="0"/>
                  <a:t>0</a:t>
                </a:r>
                <a:r>
                  <a:rPr lang="zh-CN" altLang="en-US" sz="2000" dirty="0"/>
                  <a:t>的情况，表示：求了半天，其实没交点。</a:t>
                </a:r>
                <a:endParaRPr lang="en-US" altLang="zh-CN" sz="2000" dirty="0"/>
              </a:p>
              <a:p>
                <a:pPr marL="457200" lvl="1" indent="0">
                  <a:buNone/>
                </a:pPr>
                <a:endParaRPr lang="en-US" altLang="zh-CN" sz="2000" dirty="0"/>
              </a:p>
              <a:p>
                <a14:m>
                  <m:oMath xmlns:m="http://schemas.openxmlformats.org/officeDocument/2006/math">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𝑢</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oMath>
                </a14:m>
                <a:r>
                  <a:rPr lang="zh-CN" altLang="en-US" sz="2400" dirty="0"/>
                  <a:t>处的法向：</a:t>
                </a:r>
                <a14:m>
                  <m:oMath xmlns:m="http://schemas.openxmlformats.org/officeDocument/2006/math">
                    <m:r>
                      <a:rPr lang="en-US" altLang="zh-CN" sz="2000" i="1">
                        <a:latin typeface="Cambria Math" panose="02040503050406030204" pitchFamily="18" charset="0"/>
                      </a:rPr>
                      <m:t>𝑛</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d>
                          <m:dPr>
                            <m:begChr m:val=""/>
                            <m:endChr m:val="|"/>
                            <m:ctrlPr>
                              <a:rPr lang="en-US" altLang="zh-CN" sz="2000" i="1" smtClean="0">
                                <a:latin typeface="Cambria Math" panose="02040503050406030204" pitchFamily="18" charset="0"/>
                              </a:rPr>
                            </m:ctrlPr>
                          </m:dPr>
                          <m:e>
                            <m:d>
                              <m:dPr>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m:t>
                                    </m:r>
                                    <m:r>
                                      <a:rPr lang="en-US" altLang="zh-CN" sz="2000" i="1">
                                        <a:latin typeface="Cambria Math" panose="02040503050406030204" pitchFamily="18" charset="0"/>
                                      </a:rPr>
                                      <m:t>𝑃</m:t>
                                    </m:r>
                                  </m:num>
                                  <m:den>
                                    <m:r>
                                      <a:rPr lang="en-US" altLang="zh-CN" sz="2000" i="1">
                                        <a:latin typeface="Cambria Math" panose="02040503050406030204" pitchFamily="18" charset="0"/>
                                      </a:rPr>
                                      <m:t>𝜕</m:t>
                                    </m:r>
                                    <m:r>
                                      <a:rPr lang="en-US" altLang="zh-CN" sz="2000" i="1">
                                        <a:latin typeface="Cambria Math" panose="02040503050406030204" pitchFamily="18" charset="0"/>
                                      </a:rPr>
                                      <m:t>𝑢</m:t>
                                    </m:r>
                                  </m:den>
                                </m:f>
                                <m:r>
                                  <a:rPr lang="en-US" altLang="zh-CN" sz="2000" i="1">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m:t>
                                    </m:r>
                                    <m:r>
                                      <a:rPr lang="en-US" altLang="zh-CN" sz="2000" i="1">
                                        <a:latin typeface="Cambria Math" panose="02040503050406030204" pitchFamily="18" charset="0"/>
                                      </a:rPr>
                                      <m:t>𝑃</m:t>
                                    </m:r>
                                  </m:num>
                                  <m:den>
                                    <m:r>
                                      <a:rPr lang="en-US" altLang="zh-CN" sz="2000" i="1">
                                        <a:latin typeface="Cambria Math" panose="02040503050406030204" pitchFamily="18" charset="0"/>
                                      </a:rPr>
                                      <m:t>𝜕</m:t>
                                    </m:r>
                                    <m:r>
                                      <a:rPr lang="en-US" altLang="zh-CN" sz="2000" i="1">
                                        <a:latin typeface="Cambria Math" panose="02040503050406030204" pitchFamily="18" charset="0"/>
                                      </a:rPr>
                                      <m:t>𝑣</m:t>
                                    </m:r>
                                  </m:den>
                                </m:f>
                              </m:e>
                            </m:d>
                          </m:e>
                        </m:d>
                      </m:e>
                      <m: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𝑡</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𝑢</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𝑣</m:t>
                            </m:r>
                          </m:e>
                          <m:sub>
                            <m:r>
                              <a:rPr lang="en-US" altLang="zh-CN" sz="2000" i="1">
                                <a:latin typeface="Cambria Math" panose="02040503050406030204" pitchFamily="18" charset="0"/>
                              </a:rPr>
                              <m:t>𝑖</m:t>
                            </m:r>
                          </m:sub>
                        </m:sSub>
                        <m:r>
                          <a:rPr lang="en-US" altLang="zh-CN" sz="2000" b="0" i="1" smtClean="0">
                            <a:latin typeface="Cambria Math" panose="02040503050406030204" pitchFamily="18" charset="0"/>
                          </a:rPr>
                          <m:t>)</m:t>
                        </m:r>
                      </m:sub>
                    </m:sSub>
                  </m:oMath>
                </a14:m>
                <a:r>
                  <a:rPr lang="en-US" altLang="zh-CN" sz="2000" dirty="0"/>
                  <a:t>  </a:t>
                </a:r>
                <a:endParaRPr lang="en-US" altLang="zh-CN" sz="200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457200" y="1600202"/>
                <a:ext cx="8229600" cy="5045147"/>
              </a:xfrm>
              <a:blipFill rotWithShape="1">
                <a:blip r:embed="rId1"/>
                <a:stretch>
                  <a:fillRect b="1"/>
                </a:stretch>
              </a:blipFill>
            </p:spPr>
            <p:txBody>
              <a:bodyPr/>
              <a:lstStyle/>
              <a:p>
                <a:r>
                  <a:rPr lang="zh-CN" altLang="en-US">
                    <a:noFill/>
                  </a:rPr>
                  <a:t> </a:t>
                </a:r>
              </a:p>
            </p:txBody>
          </p:sp>
        </mc:Fallback>
      </mc:AlternateContent>
      <p:sp>
        <p:nvSpPr>
          <p:cNvPr id="4" name="文本框 3"/>
          <p:cNvSpPr txBox="1"/>
          <p:nvPr/>
        </p:nvSpPr>
        <p:spPr>
          <a:xfrm>
            <a:off x="7060502" y="5260311"/>
            <a:ext cx="338554"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zh-CN" dirty="0">
                <a:ln w="0"/>
                <a:solidFill>
                  <a:srgbClr val="FF0000"/>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X</a:t>
            </a:r>
            <a:endParaRPr lang="zh-CN" altLang="en-US" dirty="0">
              <a:ln w="0"/>
              <a:solidFill>
                <a:srgbClr val="FF0000"/>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 name="文本框 4"/>
          <p:cNvSpPr txBox="1"/>
          <p:nvPr/>
        </p:nvSpPr>
        <p:spPr>
          <a:xfrm>
            <a:off x="7947744" y="5316486"/>
            <a:ext cx="338554"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zh-CN" dirty="0">
                <a:ln w="0"/>
                <a:solidFill>
                  <a:srgbClr val="00B050"/>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Y</a:t>
            </a:r>
            <a:endParaRPr lang="zh-CN" altLang="en-US" dirty="0">
              <a:ln w="0"/>
              <a:solidFill>
                <a:srgbClr val="00B050"/>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pic>
        <p:nvPicPr>
          <p:cNvPr id="11" name="图片 10"/>
          <p:cNvPicPr>
            <a:picLocks noChangeAspect="1"/>
          </p:cNvPicPr>
          <p:nvPr/>
        </p:nvPicPr>
        <p:blipFill>
          <a:blip r:embed="rId2"/>
          <a:stretch>
            <a:fillRect/>
          </a:stretch>
        </p:blipFill>
        <p:spPr>
          <a:xfrm>
            <a:off x="7040443" y="3557607"/>
            <a:ext cx="1819350" cy="1632978"/>
          </a:xfrm>
          <a:prstGeom prst="rect">
            <a:avLst/>
          </a:prstGeom>
        </p:spPr>
      </p:pic>
      <p:cxnSp>
        <p:nvCxnSpPr>
          <p:cNvPr id="12" name="直接箭头连接符 11"/>
          <p:cNvCxnSpPr/>
          <p:nvPr/>
        </p:nvCxnSpPr>
        <p:spPr>
          <a:xfrm flipH="1">
            <a:off x="7040443" y="5074912"/>
            <a:ext cx="649586" cy="19804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3" name="直接箭头连接符 12"/>
          <p:cNvCxnSpPr/>
          <p:nvPr/>
        </p:nvCxnSpPr>
        <p:spPr>
          <a:xfrm>
            <a:off x="7691017" y="5078063"/>
            <a:ext cx="278778" cy="37745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5" name="直接箭头连接符 14"/>
          <p:cNvCxnSpPr/>
          <p:nvPr/>
        </p:nvCxnSpPr>
        <p:spPr>
          <a:xfrm flipH="1">
            <a:off x="7246996" y="4103135"/>
            <a:ext cx="63795" cy="430702"/>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6" name="直接箭头连接符 15"/>
          <p:cNvCxnSpPr/>
          <p:nvPr/>
        </p:nvCxnSpPr>
        <p:spPr>
          <a:xfrm>
            <a:off x="7296624" y="4106581"/>
            <a:ext cx="239957" cy="2373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文本框 16"/>
          <p:cNvSpPr txBox="1"/>
          <p:nvPr/>
        </p:nvSpPr>
        <p:spPr>
          <a:xfrm>
            <a:off x="7296624" y="3831090"/>
            <a:ext cx="806631" cy="36933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ln w="0"/>
                <a:solidFill>
                  <a:schemeClr val="accent1"/>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𝝏𝑺</a:t>
            </a:r>
            <a:r>
              <a:rPr lang="en-US" altLang="zh-CN" dirty="0">
                <a:ln w="0"/>
                <a:solidFill>
                  <a:schemeClr val="accent1"/>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dirty="0">
                <a:ln w="0"/>
                <a:solidFill>
                  <a:schemeClr val="accent1"/>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𝝏𝜽</a:t>
            </a:r>
            <a:endParaRPr lang="zh-CN" altLang="en-US" dirty="0">
              <a:ln w="0"/>
              <a:solidFill>
                <a:schemeClr val="accent1"/>
              </a:solidFill>
              <a:effectLst>
                <a:outerShdw blurRad="38100" dist="25400" dir="5400000" algn="ctr" rotWithShape="0">
                  <a:srgbClr val="6E747A">
                    <a:alpha val="43000"/>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 name="矩形 17"/>
          <p:cNvSpPr/>
          <p:nvPr/>
        </p:nvSpPr>
        <p:spPr>
          <a:xfrm>
            <a:off x="7223328" y="4369469"/>
            <a:ext cx="784189" cy="369332"/>
          </a:xfrm>
          <a:prstGeom prst="rect">
            <a:avLst/>
          </a:prstGeom>
        </p:spPr>
        <p:txBody>
          <a:bodyPr wrap="none">
            <a:spAutoFit/>
          </a:bodyPr>
          <a:lstStyle/>
          <a:p>
            <a:r>
              <a:rPr lang="zh-CN" altLang="en-US" dirty="0">
                <a:solidFill>
                  <a:srgbClr val="FFC000"/>
                </a:solidFill>
              </a:rPr>
              <a:t>𝝏𝑺</a:t>
            </a:r>
            <a:r>
              <a:rPr lang="en-US" altLang="zh-CN" dirty="0">
                <a:solidFill>
                  <a:srgbClr val="FFC000"/>
                </a:solidFill>
              </a:rPr>
              <a:t>/</a:t>
            </a:r>
            <a:r>
              <a:rPr lang="zh-CN" altLang="en-US" dirty="0">
                <a:solidFill>
                  <a:srgbClr val="FFC000"/>
                </a:solidFill>
              </a:rPr>
              <a:t>𝝏𝒕</a:t>
            </a:r>
            <a:endParaRPr lang="zh-CN" altLang="en-US" dirty="0">
              <a:solidFill>
                <a:srgbClr val="FFC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针对旋转面的特殊处理</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sz="2400" dirty="0"/>
                  <a:t>曲面</a:t>
                </a:r>
                <a14:m>
                  <m:oMath xmlns:m="http://schemas.openxmlformats.org/officeDocument/2006/math">
                    <m:r>
                      <a:rPr lang="en-US" altLang="zh-CN" sz="2400" b="1" i="1" smtClean="0">
                        <a:latin typeface="Cambria Math" panose="02040503050406030204" pitchFamily="18" charset="0"/>
                        <a:ea typeface="Cambria Math" panose="02040503050406030204" pitchFamily="18" charset="0"/>
                      </a:rPr>
                      <m:t>𝑺</m:t>
                    </m:r>
                    <m:d>
                      <m:dPr>
                        <m:ctrlPr>
                          <a:rPr lang="en-US" altLang="zh-CN" sz="2400" b="1" i="1">
                            <a:latin typeface="Cambria Math" panose="02040503050406030204" pitchFamily="18" charset="0"/>
                            <a:ea typeface="Cambria Math" panose="02040503050406030204" pitchFamily="18" charset="0"/>
                          </a:rPr>
                        </m:ctrlPr>
                      </m:dPr>
                      <m:e>
                        <m:r>
                          <a:rPr lang="en-US" altLang="zh-CN" sz="2400" b="1" i="1" smtClean="0">
                            <a:latin typeface="Cambria Math" panose="02040503050406030204" pitchFamily="18" charset="0"/>
                            <a:ea typeface="Cambria Math" panose="02040503050406030204" pitchFamily="18" charset="0"/>
                          </a:rPr>
                          <m:t>𝒕</m:t>
                        </m:r>
                        <m:r>
                          <a:rPr lang="en-US" altLang="zh-CN" sz="2400" b="1" i="1">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𝜽</m:t>
                        </m:r>
                      </m:e>
                    </m:d>
                    <m:r>
                      <a:rPr lang="en-US" altLang="zh-CN" sz="2400" i="1">
                        <a:latin typeface="Cambria Math" panose="02040503050406030204" pitchFamily="18" charset="0"/>
                        <a:ea typeface="Cambria Math" panose="02040503050406030204" pitchFamily="18" charset="0"/>
                      </a:rPr>
                      <m:t>=</m:t>
                    </m:r>
                    <m:r>
                      <a:rPr lang="el-GR" altLang="zh-CN" sz="2400" i="1">
                        <a:latin typeface="Cambria Math" panose="02040503050406030204" pitchFamily="18" charset="0"/>
                        <a:ea typeface="Cambria Math" panose="02040503050406030204" pitchFamily="18" charset="0"/>
                      </a:rPr>
                      <m:t>𝛷</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𝑃</m:t>
                    </m:r>
                    <m:d>
                      <m:dPr>
                        <m:ctrlPr>
                          <a:rPr lang="en-US" altLang="zh-CN" sz="2400" b="0" i="1" smtClean="0">
                            <a:latin typeface="Cambria Math" panose="02040503050406030204" pitchFamily="18" charset="0"/>
                            <a:ea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𝑡</m:t>
                        </m:r>
                      </m:e>
                    </m:d>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𝜃</m:t>
                    </m:r>
                    <m:r>
                      <a:rPr lang="en-US" altLang="zh-CN" sz="2400" b="0" i="1" smtClean="0">
                        <a:latin typeface="Cambria Math" panose="02040503050406030204" pitchFamily="18" charset="0"/>
                        <a:ea typeface="Cambria Math" panose="02040503050406030204" pitchFamily="18" charset="0"/>
                      </a:rPr>
                      <m:t>)=</m:t>
                    </m:r>
                    <m:d>
                      <m:dPr>
                        <m:begChr m:val="["/>
                        <m:endChr m:val="]"/>
                        <m:ctrlPr>
                          <a:rPr lang="en-US" altLang="zh-CN" sz="2400" i="1" smtClean="0">
                            <a:latin typeface="Cambria Math" panose="02040503050406030204" pitchFamily="18" charset="0"/>
                          </a:rPr>
                        </m:ctrlPr>
                      </m:dPr>
                      <m:e>
                        <m:m>
                          <m:mPr>
                            <m:mcs>
                              <m:mc>
                                <m:mcPr>
                                  <m:count m:val="2"/>
                                  <m:mcJc m:val="center"/>
                                </m:mcPr>
                              </m:mc>
                            </m:mcs>
                            <m:ctrlPr>
                              <a:rPr lang="en-US" altLang="zh-CN" sz="2400" i="1" smtClean="0">
                                <a:latin typeface="Cambria Math" panose="02040503050406030204" pitchFamily="18" charset="0"/>
                              </a:rPr>
                            </m:ctrlPr>
                          </m:mPr>
                          <m:mr>
                            <m:e>
                              <m:func>
                                <m:funcPr>
                                  <m:ctrlPr>
                                    <a:rPr lang="en-US" altLang="zh-CN" sz="2400" i="1" smtClean="0">
                                      <a:latin typeface="Cambria Math" panose="02040503050406030204" pitchFamily="18" charset="0"/>
                                    </a:rPr>
                                  </m:ctrlPr>
                                </m:funcPr>
                                <m:fName>
                                  <m:r>
                                    <m:rPr>
                                      <m:sty m:val="p"/>
                                      <m:brk m:alnAt="7"/>
                                    </m:rPr>
                                    <a:rPr lang="en-US" altLang="zh-CN" sz="2400" b="0" i="0" smtClean="0">
                                      <a:latin typeface="Cambria Math" panose="02040503050406030204" pitchFamily="18" charset="0"/>
                                    </a:rPr>
                                    <m:t>c</m:t>
                                  </m:r>
                                  <m:r>
                                    <m:rPr>
                                      <m:sty m:val="p"/>
                                    </m:rPr>
                                    <a:rPr lang="en-US" altLang="zh-CN" sz="2400" b="0" i="0" smtClean="0">
                                      <a:latin typeface="Cambria Math" panose="02040503050406030204" pitchFamily="18" charset="0"/>
                                    </a:rPr>
                                    <m:t>os</m:t>
                                  </m:r>
                                </m:fName>
                                <m:e>
                                  <m:r>
                                    <m:rPr>
                                      <m:brk m:alnAt="7"/>
                                    </m:rPr>
                                    <a:rPr lang="en-US" altLang="zh-CN" sz="2400" b="0" i="1" smtClean="0">
                                      <a:latin typeface="Cambria Math" panose="02040503050406030204" pitchFamily="18" charset="0"/>
                                    </a:rPr>
                                    <m:t>𝜃</m:t>
                                  </m:r>
                                </m:e>
                              </m:func>
                            </m:e>
                            <m:e>
                              <m:r>
                                <a:rPr lang="en-US" altLang="zh-CN" sz="2400" b="0" i="1" smtClean="0">
                                  <a:latin typeface="Cambria Math" panose="02040503050406030204" pitchFamily="18" charset="0"/>
                                </a:rPr>
                                <m:t>0</m:t>
                              </m:r>
                            </m:e>
                          </m:mr>
                          <m:mr>
                            <m:e>
                              <m:func>
                                <m:funcPr>
                                  <m:ctrlPr>
                                    <a:rPr lang="en-US" altLang="zh-CN" sz="240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r>
                                    <a:rPr lang="el-GR" altLang="zh-CN" sz="2400" b="0" i="1" smtClean="0">
                                      <a:latin typeface="Cambria Math" panose="02040503050406030204" pitchFamily="18" charset="0"/>
                                    </a:rPr>
                                    <m:t>𝜃</m:t>
                                  </m:r>
                                </m:e>
                              </m:func>
                            </m:e>
                            <m:e>
                              <m:r>
                                <a:rPr lang="en-US" altLang="zh-CN" sz="2400" b="0" i="1" smtClean="0">
                                  <a:latin typeface="Cambria Math" panose="02040503050406030204" pitchFamily="18" charset="0"/>
                                </a:rPr>
                                <m:t>0</m:t>
                              </m:r>
                            </m:e>
                          </m:mr>
                          <m:mr>
                            <m:e>
                              <m:r>
                                <a:rPr lang="en-US" altLang="zh-CN" sz="2400" b="0" i="1" smtClean="0">
                                  <a:latin typeface="Cambria Math" panose="02040503050406030204" pitchFamily="18" charset="0"/>
                                </a:rPr>
                                <m:t>0</m:t>
                              </m:r>
                            </m:e>
                            <m:e>
                              <m:r>
                                <a:rPr lang="en-US" altLang="zh-CN" sz="2400" b="0" i="1" smtClean="0">
                                  <a:latin typeface="Cambria Math" panose="02040503050406030204" pitchFamily="18" charset="0"/>
                                </a:rPr>
                                <m:t>1</m:t>
                              </m:r>
                            </m:e>
                          </m:mr>
                        </m:m>
                      </m:e>
                    </m:d>
                    <m:r>
                      <a:rPr lang="en-US" altLang="zh-CN" sz="2400" b="0" i="1" smtClean="0">
                        <a:latin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𝑃</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𝑡</m:t>
                    </m:r>
                    <m:r>
                      <a:rPr lang="en-US" altLang="zh-CN" sz="2400" b="0" i="1" dirty="0" smtClean="0">
                        <a:latin typeface="Cambria Math" panose="02040503050406030204" pitchFamily="18" charset="0"/>
                        <a:ea typeface="Cambria Math" panose="02040503050406030204" pitchFamily="18" charset="0"/>
                      </a:rPr>
                      <m:t>)</m:t>
                    </m:r>
                  </m:oMath>
                </a14:m>
                <a:endParaRPr lang="en-US" altLang="zh-CN" dirty="0"/>
              </a:p>
              <a:p>
                <a:r>
                  <a:rPr lang="zh-CN" altLang="en-US" sz="2400" dirty="0"/>
                  <a:t>样条曲线的二维坐标</a:t>
                </a:r>
                <a14:m>
                  <m:oMath xmlns:m="http://schemas.openxmlformats.org/officeDocument/2006/math">
                    <m:r>
                      <a:rPr lang="en-US" altLang="zh-CN" sz="2400" b="0" i="1" dirty="0" smtClean="0">
                        <a:latin typeface="Cambria Math" panose="02040503050406030204" pitchFamily="18" charset="0"/>
                        <a:ea typeface="Cambria Math" panose="02040503050406030204" pitchFamily="18" charset="0"/>
                      </a:rPr>
                      <m:t>𝑃</m:t>
                    </m:r>
                    <m:d>
                      <m:dPr>
                        <m:ctrlPr>
                          <a:rPr lang="en-US" altLang="zh-CN" sz="2400" b="0" i="1" dirty="0" smtClean="0">
                            <a:latin typeface="Cambria Math" panose="02040503050406030204" pitchFamily="18" charset="0"/>
                            <a:ea typeface="Cambria Math" panose="02040503050406030204" pitchFamily="18" charset="0"/>
                          </a:rPr>
                        </m:ctrlPr>
                      </m:dPr>
                      <m:e>
                        <m:r>
                          <a:rPr lang="en-US" altLang="zh-CN" sz="2400" b="0" i="1" dirty="0" smtClean="0">
                            <a:latin typeface="Cambria Math" panose="02040503050406030204" pitchFamily="18" charset="0"/>
                            <a:ea typeface="Cambria Math" panose="02040503050406030204" pitchFamily="18" charset="0"/>
                          </a:rPr>
                          <m:t>𝑡</m:t>
                        </m:r>
                      </m:e>
                    </m:d>
                    <m:r>
                      <a:rPr lang="en-US" altLang="zh-CN" sz="2400" b="0" i="1" dirty="0" smtClean="0">
                        <a:latin typeface="Cambria Math" panose="02040503050406030204" pitchFamily="18" charset="0"/>
                        <a:ea typeface="Cambria Math" panose="02040503050406030204" pitchFamily="18" charset="0"/>
                      </a:rPr>
                      <m:t>=</m:t>
                    </m:r>
                    <m:d>
                      <m:dPr>
                        <m:ctrlPr>
                          <a:rPr lang="en-US" altLang="zh-CN" sz="2400" b="0" i="1" dirty="0" smtClean="0">
                            <a:latin typeface="Cambria Math" panose="02040503050406030204" pitchFamily="18" charset="0"/>
                            <a:ea typeface="Cambria Math" panose="02040503050406030204" pitchFamily="18" charset="0"/>
                          </a:rPr>
                        </m:ctrlPr>
                      </m:dPr>
                      <m:e>
                        <m:r>
                          <a:rPr lang="en-US" altLang="zh-CN" sz="2400" b="0" i="1" dirty="0" smtClean="0">
                            <a:latin typeface="Cambria Math" panose="02040503050406030204" pitchFamily="18" charset="0"/>
                            <a:ea typeface="Cambria Math" panose="02040503050406030204" pitchFamily="18" charset="0"/>
                          </a:rPr>
                          <m:t>𝑥</m:t>
                        </m:r>
                        <m:d>
                          <m:dPr>
                            <m:ctrlPr>
                              <a:rPr lang="en-US" altLang="zh-CN" sz="2400" b="0" i="1" dirty="0" smtClean="0">
                                <a:latin typeface="Cambria Math" panose="02040503050406030204" pitchFamily="18" charset="0"/>
                                <a:ea typeface="Cambria Math" panose="02040503050406030204" pitchFamily="18" charset="0"/>
                              </a:rPr>
                            </m:ctrlPr>
                          </m:dPr>
                          <m:e>
                            <m:r>
                              <a:rPr lang="en-US" altLang="zh-CN" sz="2400" b="0" i="1" dirty="0" smtClean="0">
                                <a:latin typeface="Cambria Math" panose="02040503050406030204" pitchFamily="18" charset="0"/>
                                <a:ea typeface="Cambria Math" panose="02040503050406030204" pitchFamily="18" charset="0"/>
                              </a:rPr>
                              <m:t>𝑡</m:t>
                            </m:r>
                          </m:e>
                        </m:d>
                        <m:r>
                          <a:rPr lang="en-US" altLang="zh-CN" sz="2400" b="0" i="1" dirty="0" smtClean="0">
                            <a:latin typeface="Cambria Math" panose="02040503050406030204" pitchFamily="18" charset="0"/>
                            <a:ea typeface="Cambria Math" panose="02040503050406030204" pitchFamily="18" charset="0"/>
                          </a:rPr>
                          <m:t>, </m:t>
                        </m:r>
                        <m:r>
                          <a:rPr lang="en-US" altLang="zh-CN" sz="2400" b="0" i="1" dirty="0" smtClean="0">
                            <a:latin typeface="Cambria Math" panose="02040503050406030204" pitchFamily="18" charset="0"/>
                            <a:ea typeface="Cambria Math" panose="02040503050406030204" pitchFamily="18" charset="0"/>
                          </a:rPr>
                          <m:t>𝑦</m:t>
                        </m:r>
                        <m:d>
                          <m:dPr>
                            <m:ctrlPr>
                              <a:rPr lang="en-US" altLang="zh-CN" sz="2400" b="0" i="1" dirty="0" smtClean="0">
                                <a:latin typeface="Cambria Math" panose="02040503050406030204" pitchFamily="18" charset="0"/>
                                <a:ea typeface="Cambria Math" panose="02040503050406030204" pitchFamily="18" charset="0"/>
                              </a:rPr>
                            </m:ctrlPr>
                          </m:dPr>
                          <m:e>
                            <m:r>
                              <a:rPr lang="en-US" altLang="zh-CN" sz="2400" b="0" i="1" dirty="0" smtClean="0">
                                <a:latin typeface="Cambria Math" panose="02040503050406030204" pitchFamily="18" charset="0"/>
                                <a:ea typeface="Cambria Math" panose="02040503050406030204" pitchFamily="18" charset="0"/>
                              </a:rPr>
                              <m:t>𝑡</m:t>
                            </m:r>
                          </m:e>
                        </m:d>
                      </m:e>
                    </m:d>
                  </m:oMath>
                </a14:m>
                <a:endParaRPr lang="en-US" altLang="zh-CN" dirty="0"/>
              </a:p>
              <a:p>
                <a:r>
                  <a:rPr lang="zh-CN" altLang="en-US" sz="2400" dirty="0"/>
                  <a:t>旋转面的三维坐标</a:t>
                </a:r>
                <a14:m>
                  <m:oMath xmlns:m="http://schemas.openxmlformats.org/officeDocument/2006/math">
                    <m:r>
                      <a:rPr lang="en-US" altLang="zh-CN" sz="2400" b="1" i="1" smtClean="0">
                        <a:latin typeface="Cambria Math" panose="02040503050406030204" pitchFamily="18" charset="0"/>
                        <a:ea typeface="Cambria Math" panose="02040503050406030204" pitchFamily="18" charset="0"/>
                      </a:rPr>
                      <m:t>𝑺</m:t>
                    </m:r>
                    <m:d>
                      <m:dPr>
                        <m:ctrlPr>
                          <a:rPr lang="en-US" altLang="zh-CN" sz="2400" b="1" i="1">
                            <a:latin typeface="Cambria Math" panose="02040503050406030204" pitchFamily="18" charset="0"/>
                            <a:ea typeface="Cambria Math" panose="02040503050406030204" pitchFamily="18" charset="0"/>
                          </a:rPr>
                        </m:ctrlPr>
                      </m:dPr>
                      <m:e>
                        <m:r>
                          <a:rPr lang="en-US" altLang="zh-CN" sz="2400" b="1" i="1" smtClean="0">
                            <a:latin typeface="Cambria Math" panose="02040503050406030204" pitchFamily="18" charset="0"/>
                            <a:ea typeface="Cambria Math" panose="02040503050406030204" pitchFamily="18" charset="0"/>
                          </a:rPr>
                          <m:t>𝒕</m:t>
                        </m:r>
                        <m:r>
                          <a:rPr lang="en-US" altLang="zh-CN" sz="2400" b="1" i="1">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𝜽</m:t>
                        </m:r>
                      </m:e>
                    </m:d>
                    <m:r>
                      <a:rPr lang="en-US" altLang="zh-CN" sz="2400" b="0" i="1" smtClean="0">
                        <a:latin typeface="Cambria Math" panose="02040503050406030204" pitchFamily="18" charset="0"/>
                        <a:ea typeface="Cambria Math" panose="02040503050406030204" pitchFamily="18" charset="0"/>
                      </a:rPr>
                      <m:t>=</m:t>
                    </m:r>
                    <m:d>
                      <m:dPr>
                        <m:ctrlPr>
                          <a:rPr lang="en-US" altLang="zh-CN" sz="2400" b="0" i="1" smtClean="0">
                            <a:latin typeface="Cambria Math" panose="02040503050406030204" pitchFamily="18" charset="0"/>
                            <a:ea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𝑥</m:t>
                        </m:r>
                        <m:d>
                          <m:dPr>
                            <m:ctrlPr>
                              <a:rPr lang="en-US" altLang="zh-CN" sz="2400" b="0" i="1" smtClean="0">
                                <a:latin typeface="Cambria Math" panose="02040503050406030204" pitchFamily="18" charset="0"/>
                                <a:ea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𝑡</m:t>
                            </m:r>
                          </m:e>
                        </m:d>
                        <m:func>
                          <m:funcPr>
                            <m:ctrlPr>
                              <a:rPr lang="en-US" altLang="zh-CN" sz="2400" b="0" i="1" smtClean="0">
                                <a:latin typeface="Cambria Math" panose="02040503050406030204" pitchFamily="18" charset="0"/>
                                <a:ea typeface="Cambria Math" panose="02040503050406030204" pitchFamily="18" charset="0"/>
                              </a:rPr>
                            </m:ctrlPr>
                          </m:funcPr>
                          <m:fName>
                            <m:r>
                              <m:rPr>
                                <m:sty m:val="p"/>
                              </m:rPr>
                              <a:rPr lang="en-US" altLang="zh-CN" sz="2400" b="0" i="0" smtClean="0">
                                <a:latin typeface="Cambria Math" panose="02040503050406030204" pitchFamily="18" charset="0"/>
                                <a:ea typeface="Cambria Math" panose="02040503050406030204" pitchFamily="18" charset="0"/>
                              </a:rPr>
                              <m:t>cos</m:t>
                            </m:r>
                          </m:fName>
                          <m:e>
                            <m:r>
                              <a:rPr lang="en-US" altLang="zh-CN" sz="2400" b="0" i="1" smtClean="0">
                                <a:latin typeface="Cambria Math" panose="02040503050406030204" pitchFamily="18" charset="0"/>
                                <a:ea typeface="Cambria Math" panose="02040503050406030204" pitchFamily="18" charset="0"/>
                              </a:rPr>
                              <m:t>𝜃</m:t>
                            </m:r>
                          </m:e>
                        </m:func>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𝑥</m:t>
                        </m:r>
                        <m:d>
                          <m:dPr>
                            <m:ctrlPr>
                              <a:rPr lang="en-US" altLang="zh-CN" sz="2400" b="0" i="1" smtClean="0">
                                <a:latin typeface="Cambria Math" panose="02040503050406030204" pitchFamily="18" charset="0"/>
                                <a:ea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𝑡</m:t>
                            </m:r>
                          </m:e>
                        </m:d>
                        <m:func>
                          <m:funcPr>
                            <m:ctrlPr>
                              <a:rPr lang="en-US" altLang="zh-CN" sz="2400" b="0" i="1" smtClean="0">
                                <a:latin typeface="Cambria Math" panose="02040503050406030204" pitchFamily="18" charset="0"/>
                                <a:ea typeface="Cambria Math" panose="02040503050406030204" pitchFamily="18" charset="0"/>
                              </a:rPr>
                            </m:ctrlPr>
                          </m:funcPr>
                          <m:fName>
                            <m:r>
                              <m:rPr>
                                <m:sty m:val="p"/>
                              </m:rPr>
                              <a:rPr lang="en-US" altLang="zh-CN" sz="2400" b="0" i="0" smtClean="0">
                                <a:latin typeface="Cambria Math" panose="02040503050406030204" pitchFamily="18" charset="0"/>
                                <a:ea typeface="Cambria Math" panose="02040503050406030204" pitchFamily="18" charset="0"/>
                              </a:rPr>
                              <m:t>sin</m:t>
                            </m:r>
                          </m:fName>
                          <m:e>
                            <m:r>
                              <a:rPr lang="en-US" altLang="zh-CN" sz="2400" b="0" i="1" smtClean="0">
                                <a:latin typeface="Cambria Math" panose="02040503050406030204" pitchFamily="18" charset="0"/>
                                <a:ea typeface="Cambria Math" panose="02040503050406030204" pitchFamily="18" charset="0"/>
                              </a:rPr>
                              <m:t>𝜃</m:t>
                            </m:r>
                          </m:e>
                        </m:func>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𝑦</m:t>
                        </m:r>
                        <m:d>
                          <m:dPr>
                            <m:ctrlPr>
                              <a:rPr lang="en-US" altLang="zh-CN" sz="2400" b="0" i="1" smtClean="0">
                                <a:latin typeface="Cambria Math" panose="02040503050406030204" pitchFamily="18" charset="0"/>
                                <a:ea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𝑡</m:t>
                            </m:r>
                          </m:e>
                        </m:d>
                      </m:e>
                    </m:d>
                  </m:oMath>
                </a14:m>
                <a:endParaRPr lang="en-US" altLang="zh-CN" sz="2400" dirty="0"/>
              </a:p>
              <a:p>
                <a:r>
                  <a:rPr lang="zh-CN" altLang="en-US" sz="2400" dirty="0"/>
                  <a:t>点</a:t>
                </a:r>
                <a14:m>
                  <m:oMath xmlns:m="http://schemas.openxmlformats.org/officeDocument/2006/math">
                    <m:r>
                      <a:rPr lang="en-US" altLang="zh-CN" sz="2400" b="1" i="1" smtClean="0">
                        <a:latin typeface="Cambria Math" panose="02040503050406030204" pitchFamily="18" charset="0"/>
                        <a:ea typeface="Cambria Math" panose="02040503050406030204" pitchFamily="18" charset="0"/>
                      </a:rPr>
                      <m:t>𝑺</m:t>
                    </m:r>
                  </m:oMath>
                </a14:m>
                <a:r>
                  <a:rPr lang="zh-CN" altLang="en-US" sz="2400" dirty="0"/>
                  <a:t>在以</a:t>
                </a:r>
                <a14:m>
                  <m:oMath xmlns:m="http://schemas.openxmlformats.org/officeDocument/2006/math">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𝑥</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𝑦</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𝑧</m:t>
                        </m:r>
                      </m:sub>
                    </m:sSub>
                    <m:r>
                      <a:rPr lang="en-US" altLang="zh-CN" sz="2400" b="0" i="1" smtClean="0">
                        <a:latin typeface="Cambria Math" panose="02040503050406030204" pitchFamily="18" charset="0"/>
                      </a:rPr>
                      <m:t>)</m:t>
                    </m:r>
                  </m:oMath>
                </a14:m>
                <a:r>
                  <a:rPr lang="zh-CN" altLang="en-US" sz="2400" dirty="0"/>
                  <a:t>为起点，</a:t>
                </a:r>
                <a14:m>
                  <m:oMath xmlns:m="http://schemas.openxmlformats.org/officeDocument/2006/math">
                    <m:r>
                      <a:rPr lang="en-US" altLang="zh-CN" sz="2400" b="0" i="0"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𝑑</m:t>
                        </m:r>
                      </m:e>
                      <m:sub>
                        <m:r>
                          <a:rPr lang="en-US" altLang="zh-CN" sz="2400" b="0" i="1" smtClean="0">
                            <a:latin typeface="Cambria Math" panose="02040503050406030204" pitchFamily="18" charset="0"/>
                          </a:rPr>
                          <m:t>𝑥</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𝑑</m:t>
                        </m:r>
                      </m:e>
                      <m:sub>
                        <m:r>
                          <a:rPr lang="en-US" altLang="zh-CN" sz="2400" b="0" i="1" smtClean="0">
                            <a:latin typeface="Cambria Math" panose="02040503050406030204" pitchFamily="18" charset="0"/>
                          </a:rPr>
                          <m:t>𝑦</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𝑑</m:t>
                        </m:r>
                      </m:e>
                      <m:sub>
                        <m:r>
                          <a:rPr lang="en-US" altLang="zh-CN" sz="2400" b="0" i="1" smtClean="0">
                            <a:latin typeface="Cambria Math" panose="02040503050406030204" pitchFamily="18" charset="0"/>
                          </a:rPr>
                          <m:t>𝑧</m:t>
                        </m:r>
                      </m:sub>
                    </m:sSub>
                    <m:r>
                      <a:rPr lang="en-US" altLang="zh-CN" sz="2400" b="0" i="1" smtClean="0">
                        <a:latin typeface="Cambria Math" panose="02040503050406030204" pitchFamily="18" charset="0"/>
                      </a:rPr>
                      <m:t>)</m:t>
                    </m:r>
                  </m:oMath>
                </a14:m>
                <a:r>
                  <a:rPr lang="zh-CN" altLang="en-US" sz="2400" dirty="0"/>
                  <a:t>为方向的射线上</a:t>
                </a:r>
                <a:endParaRPr lang="en-US" altLang="zh-CN" sz="2400" dirty="0"/>
              </a:p>
              <a:p>
                <a:r>
                  <a:rPr lang="zh-CN" altLang="en-US" sz="2400" dirty="0"/>
                  <a:t>故射线参数</a:t>
                </a:r>
                <a:endParaRPr lang="en-US" altLang="zh-CN" sz="2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𝑟</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ea typeface="Cambria Math" panose="02040503050406030204" pitchFamily="18" charset="0"/>
                            </a:rPr>
                            <m:t>𝑥</m:t>
                          </m:r>
                          <m:d>
                            <m:dPr>
                              <m:ctrlPr>
                                <a:rPr lang="en-US" altLang="zh-CN" sz="2400" i="1">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ea typeface="Cambria Math" panose="02040503050406030204" pitchFamily="18" charset="0"/>
                                </a:rPr>
                                <m:t>𝑡</m:t>
                              </m:r>
                            </m:e>
                          </m:d>
                          <m:func>
                            <m:funcPr>
                              <m:ctrlPr>
                                <a:rPr lang="en-US" altLang="zh-CN" sz="2400" i="1">
                                  <a:latin typeface="Cambria Math" panose="02040503050406030204" pitchFamily="18" charset="0"/>
                                  <a:ea typeface="Cambria Math" panose="02040503050406030204" pitchFamily="18" charset="0"/>
                                </a:rPr>
                              </m:ctrlPr>
                            </m:funcPr>
                            <m:fName>
                              <m:r>
                                <m:rPr>
                                  <m:sty m:val="p"/>
                                </m:rPr>
                                <a:rPr lang="en-US" altLang="zh-CN" sz="2400">
                                  <a:latin typeface="Cambria Math" panose="02040503050406030204" pitchFamily="18" charset="0"/>
                                  <a:ea typeface="Cambria Math" panose="02040503050406030204" pitchFamily="18" charset="0"/>
                                </a:rPr>
                                <m:t>cos</m:t>
                              </m:r>
                            </m:fName>
                            <m:e>
                              <m:r>
                                <a:rPr lang="en-US" altLang="zh-CN" sz="2400" i="1">
                                  <a:latin typeface="Cambria Math" panose="02040503050406030204" pitchFamily="18" charset="0"/>
                                  <a:ea typeface="Cambria Math" panose="02040503050406030204" pitchFamily="18" charset="0"/>
                                </a:rPr>
                                <m:t>𝜃</m:t>
                              </m:r>
                            </m:e>
                          </m:func>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𝑜</m:t>
                              </m:r>
                            </m:e>
                            <m:sub>
                              <m:r>
                                <a:rPr lang="en-US" altLang="zh-CN" sz="2400" b="0" i="1" smtClean="0">
                                  <a:latin typeface="Cambria Math" panose="02040503050406030204" pitchFamily="18" charset="0"/>
                                  <a:ea typeface="Cambria Math" panose="02040503050406030204" pitchFamily="18" charset="0"/>
                                </a:rPr>
                                <m:t>𝑥</m:t>
                              </m:r>
                            </m:sub>
                          </m:sSub>
                        </m:num>
                        <m:den>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𝑑</m:t>
                              </m:r>
                            </m:e>
                            <m:sub>
                              <m:r>
                                <a:rPr lang="en-US" altLang="zh-CN" sz="2400" b="0" i="1" smtClean="0">
                                  <a:latin typeface="Cambria Math" panose="02040503050406030204" pitchFamily="18" charset="0"/>
                                  <a:ea typeface="Cambria Math" panose="02040503050406030204" pitchFamily="18" charset="0"/>
                                </a:rPr>
                                <m:t>𝑥</m:t>
                              </m:r>
                            </m:sub>
                          </m:sSub>
                        </m:den>
                      </m:f>
                      <m:r>
                        <a:rPr lang="en-US" altLang="zh-CN" sz="2400" b="0" i="1" smtClean="0">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ea typeface="Cambria Math" panose="02040503050406030204" pitchFamily="18" charset="0"/>
                            </a:rPr>
                            <m:t>𝑥</m:t>
                          </m:r>
                          <m:d>
                            <m:dPr>
                              <m:ctrlPr>
                                <a:rPr lang="en-US" altLang="zh-CN" sz="2400" i="1">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ea typeface="Cambria Math" panose="02040503050406030204" pitchFamily="18" charset="0"/>
                                </a:rPr>
                                <m:t>𝑡</m:t>
                              </m:r>
                            </m:e>
                          </m:d>
                          <m:func>
                            <m:funcPr>
                              <m:ctrlPr>
                                <a:rPr lang="en-US" altLang="zh-CN" sz="2400" i="1">
                                  <a:latin typeface="Cambria Math" panose="02040503050406030204" pitchFamily="18" charset="0"/>
                                  <a:ea typeface="Cambria Math" panose="02040503050406030204" pitchFamily="18" charset="0"/>
                                </a:rPr>
                              </m:ctrlPr>
                            </m:funcPr>
                            <m:fName>
                              <m:r>
                                <m:rPr>
                                  <m:sty m:val="p"/>
                                </m:rPr>
                                <a:rPr lang="en-US" altLang="zh-CN" sz="2400" b="0" i="0" smtClean="0">
                                  <a:latin typeface="Cambria Math" panose="02040503050406030204" pitchFamily="18" charset="0"/>
                                  <a:ea typeface="Cambria Math" panose="02040503050406030204" pitchFamily="18" charset="0"/>
                                </a:rPr>
                                <m:t>sin</m:t>
                              </m:r>
                            </m:fName>
                            <m:e>
                              <m:r>
                                <a:rPr lang="en-US" altLang="zh-CN" sz="2400" i="1">
                                  <a:latin typeface="Cambria Math" panose="02040503050406030204" pitchFamily="18" charset="0"/>
                                  <a:ea typeface="Cambria Math" panose="02040503050406030204" pitchFamily="18" charset="0"/>
                                </a:rPr>
                                <m:t>𝜃</m:t>
                              </m:r>
                            </m:e>
                          </m:func>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𝑜</m:t>
                              </m:r>
                            </m:e>
                            <m:sub>
                              <m:r>
                                <a:rPr lang="en-US" altLang="zh-CN" sz="2400" b="0" i="1" smtClean="0">
                                  <a:latin typeface="Cambria Math" panose="02040503050406030204" pitchFamily="18" charset="0"/>
                                  <a:ea typeface="Cambria Math" panose="02040503050406030204" pitchFamily="18" charset="0"/>
                                </a:rPr>
                                <m:t>𝑦</m:t>
                              </m:r>
                            </m:sub>
                          </m:sSub>
                        </m:num>
                        <m:den>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𝑑</m:t>
                              </m:r>
                            </m:e>
                            <m:sub>
                              <m:r>
                                <a:rPr lang="en-US" altLang="zh-CN" sz="2400" b="0" i="1" smtClean="0">
                                  <a:latin typeface="Cambria Math" panose="02040503050406030204" pitchFamily="18" charset="0"/>
                                  <a:ea typeface="Cambria Math" panose="02040503050406030204" pitchFamily="18" charset="0"/>
                                </a:rPr>
                                <m:t>𝑦</m:t>
                              </m:r>
                            </m:sub>
                          </m:sSub>
                        </m:den>
                      </m:f>
                      <m:r>
                        <a:rPr lang="en-US" altLang="zh-CN" sz="2400" b="0" i="1" smtClean="0">
                          <a:latin typeface="Cambria Math" panose="02040503050406030204" pitchFamily="18" charset="0"/>
                          <a:ea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𝑦</m:t>
                          </m:r>
                          <m:d>
                            <m:dPr>
                              <m:ctrlPr>
                                <a:rPr lang="en-US" altLang="zh-CN" sz="2400" b="0" i="1" smtClean="0">
                                  <a:latin typeface="Cambria Math" panose="02040503050406030204" pitchFamily="18" charset="0"/>
                                  <a:ea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𝑡</m:t>
                              </m:r>
                            </m:e>
                          </m:d>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𝑜</m:t>
                              </m:r>
                            </m:e>
                            <m:sub>
                              <m:r>
                                <a:rPr lang="en-US" altLang="zh-CN" sz="2400" b="0" i="1" smtClean="0">
                                  <a:latin typeface="Cambria Math" panose="02040503050406030204" pitchFamily="18" charset="0"/>
                                  <a:ea typeface="Cambria Math" panose="02040503050406030204" pitchFamily="18" charset="0"/>
                                </a:rPr>
                                <m:t>𝑧</m:t>
                              </m:r>
                            </m:sub>
                          </m:sSub>
                        </m:num>
                        <m:den>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𝑑</m:t>
                              </m:r>
                            </m:e>
                            <m:sub>
                              <m:r>
                                <a:rPr lang="en-US" altLang="zh-CN" sz="2400" b="0" i="1" smtClean="0">
                                  <a:latin typeface="Cambria Math" panose="02040503050406030204" pitchFamily="18" charset="0"/>
                                  <a:ea typeface="Cambria Math" panose="02040503050406030204" pitchFamily="18" charset="0"/>
                                </a:rPr>
                                <m:t>𝑧</m:t>
                              </m:r>
                            </m:sub>
                          </m:sSub>
                        </m:den>
                      </m:f>
                    </m:oMath>
                  </m:oMathPara>
                </a14:m>
                <a:endParaRPr lang="zh-CN" altLang="en-US" sz="2400"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针对旋转面的特殊处理</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sz="2400" dirty="0"/>
                  <a:t>射线参数</a:t>
                </a:r>
                <a:endParaRPr lang="en-US" altLang="zh-CN" sz="2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𝑟</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ea typeface="Cambria Math" panose="02040503050406030204" pitchFamily="18" charset="0"/>
                            </a:rPr>
                            <m:t>𝑥</m:t>
                          </m:r>
                          <m:d>
                            <m:dPr>
                              <m:ctrlPr>
                                <a:rPr lang="en-US" altLang="zh-CN" sz="2400" i="1">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ea typeface="Cambria Math" panose="02040503050406030204" pitchFamily="18" charset="0"/>
                                </a:rPr>
                                <m:t>𝑡</m:t>
                              </m:r>
                            </m:e>
                          </m:d>
                          <m:func>
                            <m:funcPr>
                              <m:ctrlPr>
                                <a:rPr lang="en-US" altLang="zh-CN" sz="2400" i="1">
                                  <a:latin typeface="Cambria Math" panose="02040503050406030204" pitchFamily="18" charset="0"/>
                                  <a:ea typeface="Cambria Math" panose="02040503050406030204" pitchFamily="18" charset="0"/>
                                </a:rPr>
                              </m:ctrlPr>
                            </m:funcPr>
                            <m:fName>
                              <m:r>
                                <m:rPr>
                                  <m:sty m:val="p"/>
                                </m:rPr>
                                <a:rPr lang="en-US" altLang="zh-CN" sz="2400">
                                  <a:latin typeface="Cambria Math" panose="02040503050406030204" pitchFamily="18" charset="0"/>
                                  <a:ea typeface="Cambria Math" panose="02040503050406030204" pitchFamily="18" charset="0"/>
                                </a:rPr>
                                <m:t>cos</m:t>
                              </m:r>
                            </m:fName>
                            <m:e>
                              <m:r>
                                <a:rPr lang="en-US" altLang="zh-CN" sz="2400" i="1">
                                  <a:latin typeface="Cambria Math" panose="02040503050406030204" pitchFamily="18" charset="0"/>
                                  <a:ea typeface="Cambria Math" panose="02040503050406030204" pitchFamily="18" charset="0"/>
                                </a:rPr>
                                <m:t>𝜃</m:t>
                              </m:r>
                            </m:e>
                          </m:func>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𝑜</m:t>
                              </m:r>
                            </m:e>
                            <m:sub>
                              <m:r>
                                <a:rPr lang="en-US" altLang="zh-CN" sz="2400" b="0" i="1" smtClean="0">
                                  <a:latin typeface="Cambria Math" panose="02040503050406030204" pitchFamily="18" charset="0"/>
                                  <a:ea typeface="Cambria Math" panose="02040503050406030204" pitchFamily="18" charset="0"/>
                                </a:rPr>
                                <m:t>𝑥</m:t>
                              </m:r>
                            </m:sub>
                          </m:sSub>
                        </m:num>
                        <m:den>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𝑑</m:t>
                              </m:r>
                            </m:e>
                            <m:sub>
                              <m:r>
                                <a:rPr lang="en-US" altLang="zh-CN" sz="2400" b="0" i="1" smtClean="0">
                                  <a:latin typeface="Cambria Math" panose="02040503050406030204" pitchFamily="18" charset="0"/>
                                  <a:ea typeface="Cambria Math" panose="02040503050406030204" pitchFamily="18" charset="0"/>
                                </a:rPr>
                                <m:t>𝑥</m:t>
                              </m:r>
                            </m:sub>
                          </m:sSub>
                        </m:den>
                      </m:f>
                      <m:r>
                        <a:rPr lang="en-US" altLang="zh-CN" sz="2400" b="0" i="1" smtClean="0">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ea typeface="Cambria Math" panose="02040503050406030204" pitchFamily="18" charset="0"/>
                            </a:rPr>
                            <m:t>𝑥</m:t>
                          </m:r>
                          <m:d>
                            <m:dPr>
                              <m:ctrlPr>
                                <a:rPr lang="en-US" altLang="zh-CN" sz="2400" i="1">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ea typeface="Cambria Math" panose="02040503050406030204" pitchFamily="18" charset="0"/>
                                </a:rPr>
                                <m:t>𝑡</m:t>
                              </m:r>
                            </m:e>
                          </m:d>
                          <m:func>
                            <m:funcPr>
                              <m:ctrlPr>
                                <a:rPr lang="en-US" altLang="zh-CN" sz="2400" i="1">
                                  <a:latin typeface="Cambria Math" panose="02040503050406030204" pitchFamily="18" charset="0"/>
                                  <a:ea typeface="Cambria Math" panose="02040503050406030204" pitchFamily="18" charset="0"/>
                                </a:rPr>
                              </m:ctrlPr>
                            </m:funcPr>
                            <m:fName>
                              <m:r>
                                <m:rPr>
                                  <m:sty m:val="p"/>
                                </m:rPr>
                                <a:rPr lang="en-US" altLang="zh-CN" sz="2400" b="0" i="0" smtClean="0">
                                  <a:latin typeface="Cambria Math" panose="02040503050406030204" pitchFamily="18" charset="0"/>
                                  <a:ea typeface="Cambria Math" panose="02040503050406030204" pitchFamily="18" charset="0"/>
                                </a:rPr>
                                <m:t>sin</m:t>
                              </m:r>
                            </m:fName>
                            <m:e>
                              <m:r>
                                <a:rPr lang="en-US" altLang="zh-CN" sz="2400" i="1">
                                  <a:latin typeface="Cambria Math" panose="02040503050406030204" pitchFamily="18" charset="0"/>
                                  <a:ea typeface="Cambria Math" panose="02040503050406030204" pitchFamily="18" charset="0"/>
                                </a:rPr>
                                <m:t>𝜃</m:t>
                              </m:r>
                            </m:e>
                          </m:func>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𝑜</m:t>
                              </m:r>
                            </m:e>
                            <m:sub>
                              <m:r>
                                <a:rPr lang="en-US" altLang="zh-CN" sz="2400" b="0" i="1" smtClean="0">
                                  <a:latin typeface="Cambria Math" panose="02040503050406030204" pitchFamily="18" charset="0"/>
                                  <a:ea typeface="Cambria Math" panose="02040503050406030204" pitchFamily="18" charset="0"/>
                                </a:rPr>
                                <m:t>𝑦</m:t>
                              </m:r>
                            </m:sub>
                          </m:sSub>
                        </m:num>
                        <m:den>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𝑑</m:t>
                              </m:r>
                            </m:e>
                            <m:sub>
                              <m:r>
                                <a:rPr lang="en-US" altLang="zh-CN" sz="2400" b="0" i="1" smtClean="0">
                                  <a:latin typeface="Cambria Math" panose="02040503050406030204" pitchFamily="18" charset="0"/>
                                  <a:ea typeface="Cambria Math" panose="02040503050406030204" pitchFamily="18" charset="0"/>
                                </a:rPr>
                                <m:t>𝑦</m:t>
                              </m:r>
                            </m:sub>
                          </m:sSub>
                        </m:den>
                      </m:f>
                      <m:r>
                        <a:rPr lang="en-US" altLang="zh-CN" sz="2400" b="0" i="1" smtClean="0">
                          <a:latin typeface="Cambria Math" panose="02040503050406030204" pitchFamily="18" charset="0"/>
                          <a:ea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𝑦</m:t>
                          </m:r>
                          <m:d>
                            <m:dPr>
                              <m:ctrlPr>
                                <a:rPr lang="en-US" altLang="zh-CN" sz="2400" b="0" i="1" smtClean="0">
                                  <a:latin typeface="Cambria Math" panose="02040503050406030204" pitchFamily="18" charset="0"/>
                                  <a:ea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𝑡</m:t>
                              </m:r>
                            </m:e>
                          </m:d>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𝑜</m:t>
                              </m:r>
                            </m:e>
                            <m:sub>
                              <m:r>
                                <a:rPr lang="en-US" altLang="zh-CN" sz="2400" b="0" i="1" smtClean="0">
                                  <a:latin typeface="Cambria Math" panose="02040503050406030204" pitchFamily="18" charset="0"/>
                                  <a:ea typeface="Cambria Math" panose="02040503050406030204" pitchFamily="18" charset="0"/>
                                </a:rPr>
                                <m:t>𝑧</m:t>
                              </m:r>
                            </m:sub>
                          </m:sSub>
                        </m:num>
                        <m:den>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𝑑</m:t>
                              </m:r>
                            </m:e>
                            <m:sub>
                              <m:r>
                                <a:rPr lang="en-US" altLang="zh-CN" sz="2400" b="0" i="1" smtClean="0">
                                  <a:latin typeface="Cambria Math" panose="02040503050406030204" pitchFamily="18" charset="0"/>
                                  <a:ea typeface="Cambria Math" panose="02040503050406030204" pitchFamily="18" charset="0"/>
                                </a:rPr>
                                <m:t>𝑧</m:t>
                              </m:r>
                            </m:sub>
                          </m:sSub>
                        </m:den>
                      </m:f>
                    </m:oMath>
                  </m:oMathPara>
                </a14:m>
                <a:endParaRPr lang="en-US" altLang="zh-CN" sz="2400" dirty="0"/>
              </a:p>
              <a:p>
                <a:r>
                  <a:rPr lang="zh-CN" altLang="en-US" sz="2400" dirty="0"/>
                  <a:t>整理得到</a:t>
                </a:r>
                <a:endParaRPr lang="en-US" altLang="zh-CN" sz="2400" dirty="0"/>
              </a:p>
              <a:p>
                <a:pPr marL="0" indent="0">
                  <a:buNone/>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𝑥</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r>
                            <a:rPr lang="en-US" altLang="zh-CN" sz="2400" b="0" i="1" smtClean="0">
                              <a:latin typeface="Cambria Math" panose="02040503050406030204" pitchFamily="18" charset="0"/>
                            </a:rPr>
                            <m:t>𝜃</m:t>
                          </m:r>
                          <m:r>
                            <a:rPr lang="en-US" altLang="zh-CN" sz="2400" b="0" i="1" smtClean="0">
                              <a:latin typeface="Cambria Math" panose="02040503050406030204" pitchFamily="18" charset="0"/>
                            </a:rPr>
                            <m:t>=</m:t>
                          </m:r>
                        </m:e>
                      </m:func>
                      <m:f>
                        <m:fPr>
                          <m:ctrlPr>
                            <a:rPr lang="en-US" altLang="zh-CN" sz="2400" i="1">
                              <a:latin typeface="Cambria Math" panose="02040503050406030204" pitchFamily="18" charset="0"/>
                              <a:ea typeface="Cambria Math" panose="02040503050406030204" pitchFamily="18" charset="0"/>
                            </a:rPr>
                          </m:ctrlPr>
                        </m:fPr>
                        <m:num>
                          <m:d>
                            <m:dPr>
                              <m:ctrlPr>
                                <a:rPr lang="en-US" altLang="zh-CN" sz="2400" b="0" i="1" smtClean="0">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ea typeface="Cambria Math" panose="02040503050406030204" pitchFamily="18" charset="0"/>
                                </a:rPr>
                                <m:t>𝑦</m:t>
                              </m:r>
                              <m:d>
                                <m:dPr>
                                  <m:ctrlPr>
                                    <a:rPr lang="en-US" altLang="zh-CN" sz="2400" i="1">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ea typeface="Cambria Math" panose="02040503050406030204" pitchFamily="18" charset="0"/>
                                    </a:rPr>
                                    <m:t>𝑡</m:t>
                                  </m:r>
                                </m:e>
                              </m:d>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𝑜</m:t>
                                  </m:r>
                                </m:e>
                                <m:sub>
                                  <m:r>
                                    <a:rPr lang="en-US" altLang="zh-CN" sz="2400" i="1">
                                      <a:latin typeface="Cambria Math" panose="02040503050406030204" pitchFamily="18" charset="0"/>
                                      <a:ea typeface="Cambria Math" panose="02040503050406030204" pitchFamily="18" charset="0"/>
                                    </a:rPr>
                                    <m:t>𝑧</m:t>
                                  </m:r>
                                </m:sub>
                              </m:sSub>
                            </m:e>
                          </m:d>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𝑑</m:t>
                              </m:r>
                            </m:e>
                            <m:sub>
                              <m:r>
                                <a:rPr lang="en-US" altLang="zh-CN" sz="2400" b="0" i="1" smtClean="0">
                                  <a:latin typeface="Cambria Math" panose="02040503050406030204" pitchFamily="18" charset="0"/>
                                  <a:ea typeface="Cambria Math" panose="02040503050406030204" pitchFamily="18" charset="0"/>
                                </a:rPr>
                                <m:t>𝑥</m:t>
                              </m:r>
                            </m:sub>
                          </m:sSub>
                        </m:num>
                        <m:den>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𝑑</m:t>
                              </m:r>
                            </m:e>
                            <m:sub>
                              <m:r>
                                <a:rPr lang="en-US" altLang="zh-CN" sz="2400" i="1">
                                  <a:latin typeface="Cambria Math" panose="02040503050406030204" pitchFamily="18" charset="0"/>
                                  <a:ea typeface="Cambria Math" panose="02040503050406030204" pitchFamily="18" charset="0"/>
                                </a:rPr>
                                <m:t>𝑧</m:t>
                              </m:r>
                            </m:sub>
                          </m:sSub>
                        </m:den>
                      </m:f>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𝑜</m:t>
                          </m:r>
                        </m:e>
                        <m:sub>
                          <m:r>
                            <a:rPr lang="en-US" altLang="zh-CN" sz="2400" b="0" i="1" smtClean="0">
                              <a:latin typeface="Cambria Math" panose="02040503050406030204" pitchFamily="18" charset="0"/>
                              <a:ea typeface="Cambria Math" panose="02040503050406030204" pitchFamily="18" charset="0"/>
                            </a:rPr>
                            <m:t>𝑥</m:t>
                          </m:r>
                        </m:sub>
                      </m:sSub>
                    </m:oMath>
                  </m:oMathPara>
                </a14:m>
                <a:endParaRPr lang="en-US" altLang="zh-CN" sz="2400"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r>
                            <a:rPr lang="en-US" altLang="zh-CN" sz="2400" b="0" i="1" smtClean="0">
                              <a:latin typeface="Cambria Math" panose="02040503050406030204" pitchFamily="18" charset="0"/>
                            </a:rPr>
                            <m:t>𝜃</m:t>
                          </m:r>
                          <m:r>
                            <a:rPr lang="en-US" altLang="zh-CN" sz="2400" b="0" i="1" smtClean="0">
                              <a:latin typeface="Cambria Math" panose="02040503050406030204" pitchFamily="18" charset="0"/>
                            </a:rPr>
                            <m:t>=</m:t>
                          </m:r>
                        </m:e>
                      </m:func>
                      <m:f>
                        <m:fPr>
                          <m:ctrlPr>
                            <a:rPr lang="en-US" altLang="zh-CN" sz="2400" i="1">
                              <a:latin typeface="Cambria Math" panose="02040503050406030204" pitchFamily="18" charset="0"/>
                              <a:ea typeface="Cambria Math" panose="02040503050406030204" pitchFamily="18" charset="0"/>
                            </a:rPr>
                          </m:ctrlPr>
                        </m:fPr>
                        <m:num>
                          <m:d>
                            <m:dPr>
                              <m:ctrlPr>
                                <a:rPr lang="en-US" altLang="zh-CN" sz="2400" b="0" i="1" smtClean="0">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ea typeface="Cambria Math" panose="02040503050406030204" pitchFamily="18" charset="0"/>
                                </a:rPr>
                                <m:t>𝑦</m:t>
                              </m:r>
                              <m:d>
                                <m:dPr>
                                  <m:ctrlPr>
                                    <a:rPr lang="en-US" altLang="zh-CN" sz="2400" i="1">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ea typeface="Cambria Math" panose="02040503050406030204" pitchFamily="18" charset="0"/>
                                    </a:rPr>
                                    <m:t>𝑡</m:t>
                                  </m:r>
                                </m:e>
                              </m:d>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𝑜</m:t>
                                  </m:r>
                                </m:e>
                                <m:sub>
                                  <m:r>
                                    <a:rPr lang="en-US" altLang="zh-CN" sz="2400" i="1">
                                      <a:latin typeface="Cambria Math" panose="02040503050406030204" pitchFamily="18" charset="0"/>
                                      <a:ea typeface="Cambria Math" panose="02040503050406030204" pitchFamily="18" charset="0"/>
                                    </a:rPr>
                                    <m:t>𝑧</m:t>
                                  </m:r>
                                </m:sub>
                              </m:sSub>
                            </m:e>
                          </m:d>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𝑑</m:t>
                              </m:r>
                            </m:e>
                            <m:sub>
                              <m:r>
                                <a:rPr lang="en-US" altLang="zh-CN" sz="2400" b="0" i="1" smtClean="0">
                                  <a:latin typeface="Cambria Math" panose="02040503050406030204" pitchFamily="18" charset="0"/>
                                  <a:ea typeface="Cambria Math" panose="02040503050406030204" pitchFamily="18" charset="0"/>
                                </a:rPr>
                                <m:t>𝑦</m:t>
                              </m:r>
                            </m:sub>
                          </m:sSub>
                        </m:num>
                        <m:den>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𝑑</m:t>
                              </m:r>
                            </m:e>
                            <m:sub>
                              <m:r>
                                <a:rPr lang="en-US" altLang="zh-CN" sz="2400" i="1">
                                  <a:latin typeface="Cambria Math" panose="02040503050406030204" pitchFamily="18" charset="0"/>
                                  <a:ea typeface="Cambria Math" panose="02040503050406030204" pitchFamily="18" charset="0"/>
                                </a:rPr>
                                <m:t>𝑧</m:t>
                              </m:r>
                            </m:sub>
                          </m:sSub>
                        </m:den>
                      </m:f>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𝑜</m:t>
                          </m:r>
                        </m:e>
                        <m:sub>
                          <m:r>
                            <a:rPr lang="en-US" altLang="zh-CN" sz="2400" b="0" i="1" smtClean="0">
                              <a:latin typeface="Cambria Math" panose="02040503050406030204" pitchFamily="18" charset="0"/>
                              <a:ea typeface="Cambria Math" panose="02040503050406030204" pitchFamily="18" charset="0"/>
                            </a:rPr>
                            <m:t>𝑦</m:t>
                          </m:r>
                        </m:sub>
                      </m:sSub>
                    </m:oMath>
                  </m:oMathPara>
                </a14:m>
                <a:endParaRPr lang="en-US" altLang="zh-CN" sz="2400" dirty="0"/>
              </a:p>
              <a:p>
                <a:r>
                  <a:rPr lang="zh-CN" altLang="en-US" sz="2400" dirty="0"/>
                  <a:t>两式平方相加消去变量</a:t>
                </a:r>
                <a14:m>
                  <m:oMath xmlns:m="http://schemas.openxmlformats.org/officeDocument/2006/math">
                    <m:r>
                      <a:rPr lang="en-US" altLang="zh-CN" sz="2400" b="0" i="1" smtClean="0">
                        <a:latin typeface="Cambria Math" panose="02040503050406030204" pitchFamily="18" charset="0"/>
                      </a:rPr>
                      <m:t>𝜃</m:t>
                    </m:r>
                  </m:oMath>
                </a14:m>
                <a:r>
                  <a:rPr lang="zh-CN" altLang="en-US" sz="2400" dirty="0"/>
                  <a:t>，最终得到一个只含</a:t>
                </a:r>
                <a14:m>
                  <m:oMath xmlns:m="http://schemas.openxmlformats.org/officeDocument/2006/math">
                    <m:r>
                      <a:rPr lang="en-US" altLang="zh-CN" sz="2400" i="1">
                        <a:latin typeface="Cambria Math" panose="02040503050406030204" pitchFamily="18" charset="0"/>
                      </a:rPr>
                      <m:t>𝑡</m:t>
                    </m:r>
                  </m:oMath>
                </a14:m>
                <a:r>
                  <a:rPr lang="zh-CN" altLang="en-US" sz="2400" dirty="0"/>
                  <a:t>的方程</a:t>
                </a:r>
                <a:endParaRPr lang="zh-CN" altLang="en-US" sz="2400" dirty="0"/>
              </a:p>
              <a:p>
                <a:pPr marL="0" indent="0">
                  <a:buNone/>
                </a:pPr>
                <a:endParaRPr lang="zh-CN" altLang="en-US" sz="2400"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大作业加分项</a:t>
            </a:r>
            <a:endParaRPr lang="zh-CN" altLang="en-US" dirty="0"/>
          </a:p>
        </p:txBody>
      </p:sp>
      <p:sp>
        <p:nvSpPr>
          <p:cNvPr id="3" name="内容占位符 2"/>
          <p:cNvSpPr>
            <a:spLocks noGrp="1"/>
          </p:cNvSpPr>
          <p:nvPr>
            <p:ph idx="1"/>
          </p:nvPr>
        </p:nvSpPr>
        <p:spPr/>
        <p:txBody>
          <a:bodyPr/>
          <a:lstStyle/>
          <a:p>
            <a:r>
              <a:rPr lang="zh-CN" altLang="en-US" dirty="0"/>
              <a:t>场景中包含参数曲面，可以为</a:t>
            </a:r>
            <a:endParaRPr lang="en-US" altLang="zh-CN" dirty="0"/>
          </a:p>
          <a:p>
            <a:pPr lvl="1"/>
            <a:r>
              <a:rPr lang="zh-CN" altLang="en-US" dirty="0"/>
              <a:t>一维参数曲线加一个旋转参数</a:t>
            </a:r>
            <a:endParaRPr lang="en-US" altLang="zh-CN" dirty="0"/>
          </a:p>
          <a:p>
            <a:pPr lvl="1"/>
            <a:r>
              <a:rPr lang="zh-CN" altLang="en-US" dirty="0"/>
              <a:t>二维参数曲面</a:t>
            </a:r>
            <a:endParaRPr lang="en-US" altLang="zh-CN" dirty="0"/>
          </a:p>
          <a:p>
            <a:r>
              <a:rPr lang="zh-CN" altLang="en-US" dirty="0"/>
              <a:t>曲面与射线求交采用数值解法</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41453" y="3721394"/>
            <a:ext cx="2286001" cy="2286001"/>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6547" y="3721395"/>
            <a:ext cx="2286001" cy="2286001"/>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大作业加分项</a:t>
            </a:r>
            <a:endParaRPr lang="zh-CN" altLang="en-US" dirty="0"/>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517492" y="1600200"/>
            <a:ext cx="8109016" cy="4525963"/>
          </a:xfr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大作业附加要求</a:t>
            </a:r>
            <a:endParaRPr lang="zh-CN" altLang="en-US" dirty="0"/>
          </a:p>
        </p:txBody>
      </p:sp>
      <p:sp>
        <p:nvSpPr>
          <p:cNvPr id="3" name="内容占位符 2"/>
          <p:cNvSpPr>
            <a:spLocks noGrp="1"/>
          </p:cNvSpPr>
          <p:nvPr>
            <p:ph idx="1"/>
          </p:nvPr>
        </p:nvSpPr>
        <p:spPr/>
        <p:txBody>
          <a:bodyPr/>
          <a:lstStyle/>
          <a:p>
            <a:r>
              <a:rPr lang="zh-CN" altLang="en-US" dirty="0"/>
              <a:t>基于第三方框架实现需要经过助教确认</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3140968"/>
            <a:ext cx="7211144" cy="1143000"/>
          </a:xfrm>
        </p:spPr>
        <p:txBody>
          <a:bodyPr>
            <a:noAutofit/>
          </a:bodyPr>
          <a:lstStyle/>
          <a:p>
            <a:pPr algn="ctr"/>
            <a:r>
              <a:rPr lang="en-US" altLang="zh-CN" sz="6000" dirty="0"/>
              <a:t>Thank You </a:t>
            </a:r>
            <a:r>
              <a:rPr lang="zh-CN" altLang="en-US" sz="6000" dirty="0"/>
              <a:t>！</a:t>
            </a:r>
            <a:br>
              <a:rPr lang="en-US" altLang="zh-CN" sz="6000" dirty="0"/>
            </a:br>
            <a:r>
              <a:rPr lang="en-US" altLang="zh-CN" sz="6000" dirty="0"/>
              <a:t>Any Questions?</a:t>
            </a:r>
            <a:endParaRPr lang="zh-CN" altLang="en-US" sz="6000"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3689</Words>
  <Application>WPS 演示</Application>
  <PresentationFormat>On-screen Show (4:3)</PresentationFormat>
  <Paragraphs>303</Paragraphs>
  <Slides>43</Slides>
  <Notes>16</Notes>
  <HiddenSlides>0</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43</vt:i4>
      </vt:variant>
    </vt:vector>
  </HeadingPairs>
  <TitlesOfParts>
    <vt:vector size="70" baseType="lpstr">
      <vt:lpstr>Arial</vt:lpstr>
      <vt:lpstr>宋体</vt:lpstr>
      <vt:lpstr>Wingdings</vt:lpstr>
      <vt:lpstr>仿宋</vt:lpstr>
      <vt:lpstr>方正仿宋_GBK</vt:lpstr>
      <vt:lpstr>DengXian</vt:lpstr>
      <vt:lpstr>汉仪中等线KW</vt:lpstr>
      <vt:lpstr>Consolas</vt:lpstr>
      <vt:lpstr>苹方-简</vt:lpstr>
      <vt:lpstr>MS PGothic</vt:lpstr>
      <vt:lpstr>宋体-简</vt:lpstr>
      <vt:lpstr>Cambria Math</vt:lpstr>
      <vt:lpstr>Kingsoft Math</vt:lpstr>
      <vt:lpstr>Arial Unicode MS</vt:lpstr>
      <vt:lpstr>Wingdings</vt:lpstr>
      <vt:lpstr>Calibri</vt:lpstr>
      <vt:lpstr>Helvetica Neue</vt:lpstr>
      <vt:lpstr>微软雅黑</vt:lpstr>
      <vt:lpstr>汉仪旗黑</vt:lpstr>
      <vt:lpstr>宋体</vt:lpstr>
      <vt:lpstr>汉仪书宋二KW</vt:lpstr>
      <vt:lpstr>DejaVu Math TeX Gyre</vt:lpstr>
      <vt:lpstr>BatangChe</vt:lpstr>
      <vt:lpstr>Apple SD Gothic Neo</vt:lpstr>
      <vt:lpstr>Apple Symbols</vt:lpstr>
      <vt:lpstr>STIX Two Math</vt:lpstr>
      <vt:lpstr>Office 主题​​</vt:lpstr>
      <vt:lpstr>《计算机图形学基础》  习题课3</vt:lpstr>
      <vt:lpstr>本次习题课内容</vt:lpstr>
      <vt:lpstr>OpenGL</vt:lpstr>
      <vt:lpstr>OpenGL是什么?</vt:lpstr>
      <vt:lpstr>起源</vt:lpstr>
      <vt:lpstr>可编程渲染管线</vt:lpstr>
      <vt:lpstr>如何理解 OpenGL </vt:lpstr>
      <vt:lpstr>一个简单的OpenGL程序</vt:lpstr>
      <vt:lpstr>一个简单的OpenGL程序</vt:lpstr>
      <vt:lpstr>一个简单的OpenGL程序</vt:lpstr>
      <vt:lpstr>OpenGL’s Geometric Primitives</vt:lpstr>
      <vt:lpstr>PA2代码框架 (main)</vt:lpstr>
      <vt:lpstr>PA2代码框架 (main)</vt:lpstr>
      <vt:lpstr>PA2代码框架 (main)</vt:lpstr>
      <vt:lpstr>PA2代码框架 (main)</vt:lpstr>
      <vt:lpstr>PA2代码框架 (light)</vt:lpstr>
      <vt:lpstr>PA2代码框架 (material)</vt:lpstr>
      <vt:lpstr>PA2代码框架 (Sphere)</vt:lpstr>
      <vt:lpstr>PA2代码框架 (plane)</vt:lpstr>
      <vt:lpstr>PA2：Bezier 曲线</vt:lpstr>
      <vt:lpstr>Bézier曲线/曲面</vt:lpstr>
      <vt:lpstr>Bézier曲线/曲面</vt:lpstr>
      <vt:lpstr>Bézier曲线造型的表示</vt:lpstr>
      <vt:lpstr>Bézier曲线求导</vt:lpstr>
      <vt:lpstr>Bézier曲线造型的表示</vt:lpstr>
      <vt:lpstr>样条曲线/曲面造型举例</vt:lpstr>
      <vt:lpstr>样条曲线/曲面造型举例</vt:lpstr>
      <vt:lpstr>PA2：B-spline 的 De Boor Cox实现</vt:lpstr>
      <vt:lpstr>PA2：B-spline 的 De Boor Cox实现</vt:lpstr>
      <vt:lpstr>PA2：注意事项</vt:lpstr>
      <vt:lpstr>PA2</vt:lpstr>
      <vt:lpstr>PA2扩展</vt:lpstr>
      <vt:lpstr>大作业：参数曲线数值求交</vt:lpstr>
      <vt:lpstr>线面求交（基本）</vt:lpstr>
      <vt:lpstr>线面求交（参数曲面，P107）</vt:lpstr>
      <vt:lpstr>线面求交（参数曲面）</vt:lpstr>
      <vt:lpstr>线面求交（参数曲面，P107）</vt:lpstr>
      <vt:lpstr>针对旋转面的特殊处理</vt:lpstr>
      <vt:lpstr>针对旋转面的特殊处理</vt:lpstr>
      <vt:lpstr>大作业加分项</vt:lpstr>
      <vt:lpstr>大作业加分项</vt:lpstr>
      <vt:lpstr>大作业附加要求</vt:lpstr>
      <vt:lpstr>Thank You ！ Any 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《计算机图形学基础》  习题课</dc:title>
  <dc:creator>Kang Chen</dc:creator>
  <cp:lastModifiedBy>冯启源(2022310842)</cp:lastModifiedBy>
  <cp:revision>305</cp:revision>
  <dcterms:created xsi:type="dcterms:W3CDTF">2025-04-12T07:24:36Z</dcterms:created>
  <dcterms:modified xsi:type="dcterms:W3CDTF">2025-04-12T07:24:36Z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E49B47C2423D8DD88758F6671FF6BD46_42</vt:lpwstr>
  </property>
  <property fmtid="{D5CDD505-2E9C-101B-9397-08002B2CF9AE}" pid="3" name="KSOProductBuildVer">
    <vt:lpwstr>2052-5.5.1.7991</vt:lpwstr>
  </property>
</Properties>
</file>