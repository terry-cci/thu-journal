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431" r:id="rId2"/>
    <p:sldId id="464" r:id="rId3"/>
    <p:sldId id="484" r:id="rId4"/>
    <p:sldId id="494" r:id="rId5"/>
    <p:sldId id="493" r:id="rId6"/>
    <p:sldId id="473" r:id="rId7"/>
    <p:sldId id="445" r:id="rId8"/>
    <p:sldId id="474" r:id="rId9"/>
    <p:sldId id="491" r:id="rId10"/>
    <p:sldId id="492" r:id="rId11"/>
    <p:sldId id="387" r:id="rId12"/>
    <p:sldId id="476" r:id="rId13"/>
    <p:sldId id="495" r:id="rId14"/>
    <p:sldId id="405" r:id="rId15"/>
    <p:sldId id="423" r:id="rId16"/>
    <p:sldId id="496" r:id="rId17"/>
    <p:sldId id="458" r:id="rId18"/>
    <p:sldId id="426" r:id="rId19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0000FF"/>
    <a:srgbClr val="FF00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957" autoAdjust="0"/>
  </p:normalViewPr>
  <p:slideViewPr>
    <p:cSldViewPr>
      <p:cViewPr varScale="1">
        <p:scale>
          <a:sx n="121" d="100"/>
          <a:sy n="121" d="100"/>
        </p:scale>
        <p:origin x="2016" y="65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>
            <a:extLst>
              <a:ext uri="{FF2B5EF4-FFF2-40B4-BE49-F238E27FC236}">
                <a16:creationId xmlns:a16="http://schemas.microsoft.com/office/drawing/2014/main" id="{9A0B9064-3256-4689-9208-CC461A6B126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buFont typeface="Arial" panose="020B0604020202020204" pitchFamily="34" charset="0"/>
              <a:buNone/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1" name="日期占位符 2">
            <a:extLst>
              <a:ext uri="{FF2B5EF4-FFF2-40B4-BE49-F238E27FC236}">
                <a16:creationId xmlns:a16="http://schemas.microsoft.com/office/drawing/2014/main" id="{82EB4C6B-715E-4A0D-A36D-362F4EAE7A3B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035AB698-3BD6-46D9-8DC4-25238243A18E}" type="datetimeFigureOut">
              <a:rPr lang="zh-CN" altLang="en-US"/>
              <a:pPr>
                <a:defRPr/>
              </a:pPr>
              <a:t>2025/3/4 Tuesday</a:t>
            </a:fld>
            <a:endParaRPr lang="zh-CN" altLang="en-US"/>
          </a:p>
        </p:txBody>
      </p:sp>
      <p:sp>
        <p:nvSpPr>
          <p:cNvPr id="2052" name="幻灯片图像占位符 3">
            <a:extLst>
              <a:ext uri="{FF2B5EF4-FFF2-40B4-BE49-F238E27FC236}">
                <a16:creationId xmlns:a16="http://schemas.microsoft.com/office/drawing/2014/main" id="{2E66171B-4D69-4359-9754-FBF6594E6540}"/>
              </a:ext>
            </a:extLst>
          </p:cNvPr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>
            <a:extLst>
              <a:ext uri="{FF2B5EF4-FFF2-40B4-BE49-F238E27FC236}">
                <a16:creationId xmlns:a16="http://schemas.microsoft.com/office/drawing/2014/main" id="{55CECA05-CD2B-4705-A85A-11112853109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054" name="页脚占位符 5">
            <a:extLst>
              <a:ext uri="{FF2B5EF4-FFF2-40B4-BE49-F238E27FC236}">
                <a16:creationId xmlns:a16="http://schemas.microsoft.com/office/drawing/2014/main" id="{BC0974D0-2200-4F08-A05E-5E894B98243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buFont typeface="Arial" panose="020B0604020202020204" pitchFamily="34" charset="0"/>
              <a:buNone/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5" name="灯片编号占位符 6">
            <a:extLst>
              <a:ext uri="{FF2B5EF4-FFF2-40B4-BE49-F238E27FC236}">
                <a16:creationId xmlns:a16="http://schemas.microsoft.com/office/drawing/2014/main" id="{5136B08D-E89C-48DF-A327-CC0BC261416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 sz="1200"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9216D2F1-75B3-4E6B-9507-FFDE3644E1A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B18F059-70DA-4EC8-94AA-D556FFCC308C}" type="slidenum">
              <a:rPr lang="zh-CN" altLang="en-US">
                <a:latin typeface="Calibri" panose="020F0502020204030204" pitchFamily="34" charset="0"/>
              </a:rPr>
              <a:pPr/>
              <a:t>1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91319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126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02FF459-D760-4C4D-868B-F638E68E22DC}" type="slidenum">
              <a:rPr lang="zh-CN" altLang="en-US">
                <a:latin typeface="Calibri" panose="020F0502020204030204" pitchFamily="34" charset="0"/>
              </a:rPr>
              <a:pPr/>
              <a:t>3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12614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16D2F1-75B3-4E6B-9507-FFDE3644E1A3}" type="slidenum">
              <a:rPr lang="zh-CN" altLang="en-US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68195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16D2F1-75B3-4E6B-9507-FFDE3644E1A3}" type="slidenum">
              <a:rPr lang="zh-CN" altLang="en-US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89094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16D2F1-75B3-4E6B-9507-FFDE3644E1A3}" type="slidenum">
              <a:rPr lang="zh-CN" altLang="en-US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777254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16D2F1-75B3-4E6B-9507-FFDE3644E1A3}" type="slidenum">
              <a:rPr lang="zh-CN" altLang="en-US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861757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16D2F1-75B3-4E6B-9507-FFDE3644E1A3}" type="slidenum">
              <a:rPr lang="zh-CN" altLang="en-US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472004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9C9AECF1-B5C4-4FAF-A75B-186D27FAE50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5DAD7146-9968-4A49-81E1-6FC8D9F0EF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eaLnBrk="1" hangingPunct="1"/>
            <a:endParaRPr lang="zh-CN" altLang="en-US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16D2F1-75B3-4E6B-9507-FFDE3644E1A3}" type="slidenum">
              <a:rPr lang="zh-CN" altLang="en-US" smtClean="0"/>
              <a:pPr>
                <a:defRPr/>
              </a:pPr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67121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16D2F1-75B3-4E6B-9507-FFDE3644E1A3}" type="slidenum">
              <a:rPr lang="zh-CN" altLang="en-US" smtClean="0"/>
              <a:pPr>
                <a:defRPr/>
              </a:pPr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57102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幻灯片图像占位符 1">
            <a:extLst>
              <a:ext uri="{FF2B5EF4-FFF2-40B4-BE49-F238E27FC236}">
                <a16:creationId xmlns:a16="http://schemas.microsoft.com/office/drawing/2014/main" id="{71A5CA28-0F5A-4ACF-ABDE-277240CC75B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8435" name="备注占位符 2">
            <a:extLst>
              <a:ext uri="{FF2B5EF4-FFF2-40B4-BE49-F238E27FC236}">
                <a16:creationId xmlns:a16="http://schemas.microsoft.com/office/drawing/2014/main" id="{5DDFB129-77B2-425A-BDBD-9950E94024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8436" name="灯片编号占位符 3">
            <a:extLst>
              <a:ext uri="{FF2B5EF4-FFF2-40B4-BE49-F238E27FC236}">
                <a16:creationId xmlns:a16="http://schemas.microsoft.com/office/drawing/2014/main" id="{C8A86799-3C24-47F3-A3CB-30866F4FB3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C9713E7-CE90-4479-BD44-746D810B9F47}" type="slidenum">
              <a:rPr lang="zh-CN" altLang="en-US">
                <a:latin typeface="Calibri" panose="020F0502020204030204" pitchFamily="34" charset="0"/>
              </a:rPr>
              <a:pPr/>
              <a:t>14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994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92B8CE5-E75E-4985-97AA-0D232BFEA28B}" type="slidenum">
              <a:rPr lang="zh-CN" altLang="en-US" smtClean="0">
                <a:latin typeface="Calibri" panose="020F0502020204030204" pitchFamily="34" charset="0"/>
              </a:rPr>
              <a:pPr/>
              <a:t>16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09234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353396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7FAE34AC-2C4E-4FC4-AD23-F3995B6E56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04513E15-1DBA-4893-A740-CC7CC4D86F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eaLnBrk="1" hangingPunct="1"/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16013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65F564-DA22-490D-8DC1-6C5159D482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245CA7-6FA1-4689-B6C5-5B2D4205A529}" type="datetimeFigureOut">
              <a:rPr lang="zh-CN" altLang="en-US"/>
              <a:pPr>
                <a:defRPr/>
              </a:pPr>
              <a:t>2025/3/4 Tuesday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6007E8-045F-41DF-8AA3-A801224313A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B2228A-E05B-4EDC-8FF6-A6C15114279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58A6E9-3633-46F9-B243-E986D1E211A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72161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C69BF3-FB1B-451E-8B90-A12F38D019B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4EED87-C07F-4BAD-A5EB-B1584D29239B}" type="datetimeFigureOut">
              <a:rPr lang="zh-CN" altLang="en-US"/>
              <a:pPr>
                <a:defRPr/>
              </a:pPr>
              <a:t>2025/3/4 Tuesday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54A436-5895-48C9-823A-45898460AD6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239456-E56A-4699-8347-EDB7FBC9136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17F643-E747-4A18-BE65-531B578027A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7610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917774-DD7B-4067-A2A7-E4FCD6F3E8A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A37432-7CA4-4271-ABE4-7AF5A2EE0E23}" type="datetimeFigureOut">
              <a:rPr lang="zh-CN" altLang="en-US"/>
              <a:pPr>
                <a:defRPr/>
              </a:pPr>
              <a:t>2025/3/4 Tuesday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B56BB8-BC9C-49FE-B905-F282552035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68BF9B-75A2-4168-AD0F-3FD5DF65F8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3CB546-23E1-40A8-A55F-5C39D44FBB3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52867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8DC41FBB-9A07-42FF-92A8-0495F1C7784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8A5A59-F8F5-4248-B3A7-012743A960FB}" type="datetimeFigureOut">
              <a:rPr lang="zh-CN" altLang="en-US"/>
              <a:pPr>
                <a:defRPr/>
              </a:pPr>
              <a:t>2025/3/4 Tuesday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6E7E0982-E27D-40A5-B4AC-C098E50B112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7BD45E09-A3AD-4DE3-BB24-FFEE0381A76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CE2B2C-A75A-4867-95BB-3E9EE1FC901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35586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19B5C8A8-2811-4E08-933E-8F9D666A028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4F6E21-91A2-41BC-B2D0-2245114B45EC}" type="datetimeFigureOut">
              <a:rPr lang="zh-CN" altLang="en-US"/>
              <a:pPr>
                <a:defRPr/>
              </a:pPr>
              <a:t>2025/3/4 Tuesday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52374E07-2934-43CE-BD63-1068391BEFB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6A51AD07-9A28-4CF1-B6BB-B74BB2AC8C2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EEEA25-F80A-42C5-9635-D042C8D3528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89659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AFED9FF2-202C-48EA-8ABC-50E8633D0F4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B1A8D8-4ACF-42DE-A6AA-0EB2352AB88E}" type="datetimeFigureOut">
              <a:rPr lang="zh-CN" altLang="en-US"/>
              <a:pPr>
                <a:defRPr/>
              </a:pPr>
              <a:t>2025/3/4 Tuesday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D8C043A9-1A95-4114-A294-049B0024F09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3E3B22E9-D487-41F1-BEB2-42852443FF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C8286B-7DCD-4E0C-BB84-A8332657C3A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28319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27924104-E146-49E6-9D01-75E4170DBAB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4DF019-F0D5-4CC1-B506-65F66E9C662A}" type="datetimeFigureOut">
              <a:rPr lang="zh-CN" altLang="en-US"/>
              <a:pPr>
                <a:defRPr/>
              </a:pPr>
              <a:t>2025/3/4 Tuesday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D7F456A3-60DE-485F-AB34-F94983E0AEE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03E416A9-B445-4A64-BEF9-E8F67B9BE40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8D722A-0156-4E71-9816-8D8F29F1E88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77155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FD89CBC1-CCDB-4D3E-8594-564602A3E08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16532C-C18C-488C-80D3-1FF8083A845F}" type="datetimeFigureOut">
              <a:rPr lang="zh-CN" altLang="en-US"/>
              <a:pPr>
                <a:defRPr/>
              </a:pPr>
              <a:t>2025/3/4 Tuesday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3343C718-C658-4CCC-8946-49ADB72893D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8B7B116D-830E-4E9F-A148-48134E72C4E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806B81-B87D-414D-9178-0C89F109199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38356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BB0EDFC8-2439-4C55-80FB-92797EF8DF3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F2B658-46D0-4E17-9A55-0A2252CDBAE1}" type="datetimeFigureOut">
              <a:rPr lang="zh-CN" altLang="en-US"/>
              <a:pPr>
                <a:defRPr/>
              </a:pPr>
              <a:t>2025/3/4 Tuesday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F82E8CE4-6F3F-49E5-9B78-B5A0C46B648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E095C8A4-53D8-4ED9-A44B-A3ED3301029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31E580-0B06-4841-BA55-73EC3C610DB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96309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48C0C2-9AF5-4A31-AC9C-F399104E57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8FF3B9-952D-464D-8320-79DA430DC98C}" type="datetimeFigureOut">
              <a:rPr lang="zh-CN" altLang="en-US"/>
              <a:pPr>
                <a:defRPr/>
              </a:pPr>
              <a:t>2025/3/4 Tuesday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D84E29-CC64-481E-983B-31E9A46AB93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E1E358-A69E-4C48-98A0-A60AB0050A6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CCCACD-85B8-482B-B4AD-82B28DEBF6D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4478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C5C176-CD5C-4F09-A4A2-E6EE2D80827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4B8092-C214-48B6-AE30-5260612A4132}" type="datetimeFigureOut">
              <a:rPr lang="zh-CN" altLang="en-US"/>
              <a:pPr>
                <a:defRPr/>
              </a:pPr>
              <a:t>2025/3/4 Tuesday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96A0CE-A83D-484D-9193-02C64AB5460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1990BA-DB26-4990-8FAD-8211A417A96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FAA8AD-2900-445F-A376-C20F1E8BFD7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75649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33E46D19-2E6D-43BB-8098-35FF1D060A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7976A5E9-F9C6-4D13-A2F3-2DFEAE2244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单击此处编辑母版文本样式</a:t>
            </a:r>
          </a:p>
          <a:p>
            <a:pPr lvl="1"/>
            <a:r>
              <a:rPr lang="zh-CN" altLang="zh-CN"/>
              <a:t>第二级</a:t>
            </a:r>
          </a:p>
          <a:p>
            <a:pPr lvl="2"/>
            <a:r>
              <a:rPr lang="zh-CN" altLang="zh-CN"/>
              <a:t>第三级</a:t>
            </a:r>
          </a:p>
          <a:p>
            <a:pPr lvl="3"/>
            <a:r>
              <a:rPr lang="zh-CN" altLang="zh-CN"/>
              <a:t>第四级</a:t>
            </a:r>
          </a:p>
          <a:p>
            <a:pPr lvl="4"/>
            <a:r>
              <a:rPr lang="zh-CN" altLang="zh-CN"/>
              <a:t>第五级</a:t>
            </a:r>
          </a:p>
        </p:txBody>
      </p:sp>
      <p:sp>
        <p:nvSpPr>
          <p:cNvPr id="1028" name="日期占位符 3">
            <a:extLst>
              <a:ext uri="{FF2B5EF4-FFF2-40B4-BE49-F238E27FC236}">
                <a16:creationId xmlns:a16="http://schemas.microsoft.com/office/drawing/2014/main" id="{13B8C8C4-157C-4AA1-89C1-EA41811684C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  <a:latin typeface="+mn-lt"/>
              </a:defRPr>
            </a:lvl1pPr>
          </a:lstStyle>
          <a:p>
            <a:pPr>
              <a:defRPr/>
            </a:pPr>
            <a:fld id="{9F5762F1-CF5D-4B75-AE00-844F7224535D}" type="datetimeFigureOut">
              <a:rPr lang="zh-CN" altLang="en-US"/>
              <a:pPr>
                <a:defRPr/>
              </a:pPr>
              <a:t>2025/3/4 Tuesday</a:t>
            </a:fld>
            <a:endParaRPr lang="zh-CN" altLang="en-US"/>
          </a:p>
        </p:txBody>
      </p:sp>
      <p:sp>
        <p:nvSpPr>
          <p:cNvPr id="1029" name="页脚占位符 4">
            <a:extLst>
              <a:ext uri="{FF2B5EF4-FFF2-40B4-BE49-F238E27FC236}">
                <a16:creationId xmlns:a16="http://schemas.microsoft.com/office/drawing/2014/main" id="{F9ACCF70-6BC4-4AE6-B4B3-03913F0A475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  <a:latin typeface="+mn-lt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30" name="灯片编号占位符 5">
            <a:extLst>
              <a:ext uri="{FF2B5EF4-FFF2-40B4-BE49-F238E27FC236}">
                <a16:creationId xmlns:a16="http://schemas.microsoft.com/office/drawing/2014/main" id="{38EAB0EE-C84B-4E2F-8532-91105966912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 sz="1200" smtClean="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15A1C9CC-EF96-473B-9F2D-497DD9AB9A6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6.png"/><Relationship Id="rId5" Type="http://schemas.openxmlformats.org/officeDocument/2006/relationships/image" Target="../media/image14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/>
          </p:cNvSpPr>
          <p:nvPr>
            <p:ph type="title"/>
          </p:nvPr>
        </p:nvSpPr>
        <p:spPr>
          <a:xfrm>
            <a:off x="468313" y="476250"/>
            <a:ext cx="8258175" cy="695325"/>
          </a:xfrm>
        </p:spPr>
        <p:txBody>
          <a:bodyPr/>
          <a:lstStyle/>
          <a:p>
            <a:pPr eaLnBrk="1" hangingPunct="1"/>
            <a:r>
              <a:rPr lang="zh-CN" altLang="en-US" dirty="0"/>
              <a:t>预习要求</a:t>
            </a:r>
            <a:endParaRPr lang="en-US" altLang="zh-CN" dirty="0"/>
          </a:p>
        </p:txBody>
      </p:sp>
      <p:sp>
        <p:nvSpPr>
          <p:cNvPr id="141315" name="Rectangle 3"/>
          <p:cNvSpPr>
            <a:spLocks noGrp="1"/>
          </p:cNvSpPr>
          <p:nvPr>
            <p:ph type="body" idx="1"/>
          </p:nvPr>
        </p:nvSpPr>
        <p:spPr>
          <a:xfrm>
            <a:off x="251520" y="1484784"/>
            <a:ext cx="8712968" cy="4032349"/>
          </a:xfrm>
        </p:spPr>
        <p:txBody>
          <a:bodyPr/>
          <a:lstStyle/>
          <a:p>
            <a:pPr marL="0" indent="0" eaLnBrk="1" hangingPunct="1">
              <a:lnSpc>
                <a:spcPct val="150000"/>
              </a:lnSpc>
              <a:spcAft>
                <a:spcPct val="20000"/>
              </a:spcAft>
              <a:buNone/>
              <a:defRPr/>
            </a:pPr>
            <a:r>
              <a:rPr lang="en-US" altLang="zh-CN" sz="2400" b="1" dirty="0">
                <a:latin typeface="Times New Roman" panose="02020603050405020304" pitchFamily="18" charset="0"/>
              </a:rPr>
              <a:t>1. </a:t>
            </a:r>
            <a:r>
              <a:rPr lang="zh-CN" altLang="en-US" sz="2400" b="1" dirty="0">
                <a:latin typeface="Times New Roman" panose="02020603050405020304" pitchFamily="18" charset="0"/>
              </a:rPr>
              <a:t>复习相关的理论知识。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Aft>
                <a:spcPct val="20000"/>
              </a:spcAft>
              <a:buNone/>
              <a:defRPr/>
            </a:pPr>
            <a:r>
              <a:rPr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2. 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熟悉所用芯片的功能、引脚分布和使用方法。</a:t>
            </a:r>
            <a:endParaRPr lang="en-US" altLang="zh-CN" sz="2400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Aft>
                <a:spcPct val="20000"/>
              </a:spcAft>
              <a:buNone/>
              <a:defRPr/>
            </a:pPr>
            <a:r>
              <a:rPr lang="en-US" altLang="zh-CN" sz="24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3. </a:t>
            </a:r>
            <a:r>
              <a:rPr lang="zh-CN" altLang="en-US" sz="24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用不同颜色的导线来接线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，例如红色线用于接电源、黑色线用于接地等等，这样做可以帮助排查接线错误。</a:t>
            </a:r>
          </a:p>
          <a:p>
            <a:pPr marL="0" indent="0" eaLnBrk="1" hangingPunct="1">
              <a:lnSpc>
                <a:spcPct val="150000"/>
              </a:lnSpc>
              <a:spcAft>
                <a:spcPct val="20000"/>
              </a:spcAft>
              <a:buNone/>
              <a:defRPr/>
            </a:pPr>
            <a:r>
              <a:rPr lang="en-US" altLang="zh-CN" sz="24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4. </a:t>
            </a:r>
            <a:r>
              <a:rPr lang="zh-CN" altLang="en-US" sz="24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可将芯片引脚编号标注在电路图上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，可以提高连线速度，也可以帮助检查错误。</a:t>
            </a:r>
            <a:endParaRPr lang="en-US" altLang="zh-CN" sz="2400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marL="609600" indent="-609600" eaLnBrk="1" hangingPunct="1">
              <a:lnSpc>
                <a:spcPct val="150000"/>
              </a:lnSpc>
              <a:spcAft>
                <a:spcPct val="20000"/>
              </a:spcAft>
              <a:buFont typeface="Arial" panose="020B0604020202020204" pitchFamily="34" charset="0"/>
              <a:buNone/>
              <a:defRPr/>
            </a:pPr>
            <a:endParaRPr lang="zh-CN" altLang="en-US" sz="2400" b="1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1749860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24E294B-B048-4170-807D-E928A6C6141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23528" y="1268760"/>
            <a:ext cx="2663825" cy="1143000"/>
          </a:xfrm>
        </p:spPr>
        <p:txBody>
          <a:bodyPr/>
          <a:lstStyle/>
          <a:p>
            <a:pPr eaLnBrk="1" hangingPunct="1"/>
            <a:r>
              <a:rPr lang="zh-CN" altLang="zh-CN" sz="4000" dirty="0">
                <a:latin typeface="宋体" panose="02010600030101010101" pitchFamily="2" charset="-122"/>
              </a:rPr>
              <a:t>实验目的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45A59211-F8EC-45A0-8092-3E098543D3F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23528" y="2348880"/>
            <a:ext cx="8610600" cy="3095625"/>
          </a:xfrm>
        </p:spPr>
        <p:txBody>
          <a:bodyPr/>
          <a:lstStyle/>
          <a:p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加深对</a:t>
            </a:r>
            <a:r>
              <a:rPr lang="en-US" altLang="zh-CN" dirty="0"/>
              <a:t>CMOS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与非门基本特性和主要参数的理解，掌握主要参数的测试方法。</a:t>
            </a:r>
          </a:p>
          <a:p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熟悉</a:t>
            </a:r>
            <a:r>
              <a:rPr lang="en-US" altLang="zh-CN" dirty="0"/>
              <a:t>TTL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与非门的基本特性和主要参数，以及主要参数的测试方法。</a:t>
            </a:r>
          </a:p>
          <a:p>
            <a:pPr marL="609600" indent="-609600" eaLnBrk="1" hangingPunct="1">
              <a:lnSpc>
                <a:spcPct val="140000"/>
              </a:lnSpc>
              <a:spcAft>
                <a:spcPct val="20000"/>
              </a:spcAft>
              <a:buFont typeface="Arial" panose="020B0604020202020204" pitchFamily="34" charset="0"/>
              <a:buNone/>
            </a:pPr>
            <a:endParaRPr lang="zh-CN" altLang="zh-CN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33292E9B-551B-4851-8B90-3F76C7BB05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404813"/>
            <a:ext cx="7280275" cy="115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4400" dirty="0"/>
              <a:t/>
            </a:r>
            <a:br>
              <a:rPr lang="zh-CN" altLang="en-US" sz="4400" dirty="0"/>
            </a:br>
            <a:r>
              <a:rPr lang="zh-CN" altLang="en-US" sz="4400" b="1" dirty="0"/>
              <a:t>与非门</a:t>
            </a:r>
            <a:r>
              <a:rPr lang="zh-CN" altLang="en-US" sz="4400" b="1" dirty="0" smtClean="0"/>
              <a:t>电路测试</a:t>
            </a:r>
            <a:r>
              <a:rPr lang="en-US" altLang="zh-CN" sz="4400" dirty="0"/>
              <a:t/>
            </a:r>
            <a:br>
              <a:rPr lang="en-US" altLang="zh-CN" sz="4400" dirty="0"/>
            </a:br>
            <a:endParaRPr lang="en-US" altLang="zh-CN" sz="4400" dirty="0"/>
          </a:p>
        </p:txBody>
      </p:sp>
    </p:spTree>
    <p:extLst>
      <p:ext uri="{BB962C8B-B14F-4D97-AF65-F5344CB8AC3E}">
        <p14:creationId xmlns:p14="http://schemas.microsoft.com/office/powerpoint/2010/main" val="3331004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1"/>
          <p:cNvSpPr>
            <a:spLocks noGrp="1"/>
          </p:cNvSpPr>
          <p:nvPr>
            <p:ph type="title"/>
          </p:nvPr>
        </p:nvSpPr>
        <p:spPr>
          <a:xfrm>
            <a:off x="467544" y="132062"/>
            <a:ext cx="8229600" cy="920674"/>
          </a:xfrm>
        </p:spPr>
        <p:txBody>
          <a:bodyPr/>
          <a:lstStyle/>
          <a:p>
            <a:r>
              <a:rPr lang="zh-CN" altLang="en-US" dirty="0"/>
              <a:t>数字逻辑实验装置</a:t>
            </a:r>
            <a:r>
              <a:rPr lang="en-US" altLang="zh-CN" dirty="0"/>
              <a:t>_</a:t>
            </a:r>
            <a:r>
              <a:rPr lang="zh-CN" altLang="en-US" dirty="0"/>
              <a:t>积木式</a:t>
            </a:r>
          </a:p>
        </p:txBody>
      </p:sp>
      <p:sp>
        <p:nvSpPr>
          <p:cNvPr id="6" name="内容占位符 2"/>
          <p:cNvSpPr txBox="1">
            <a:spLocks/>
          </p:cNvSpPr>
          <p:nvPr/>
        </p:nvSpPr>
        <p:spPr bwMode="auto">
          <a:xfrm>
            <a:off x="5436096" y="1340768"/>
            <a:ext cx="3744912" cy="33211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p"/>
              <a:defRPr kumimoji="1" sz="2800" b="1">
                <a:solidFill>
                  <a:srgbClr val="00336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kumimoji="1" sz="2500" b="1">
                <a:solidFill>
                  <a:srgbClr val="003366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pitchFamily="34" charset="0"/>
              <a:buChar char="•"/>
              <a:defRPr kumimoji="1" sz="2200" b="1">
                <a:solidFill>
                  <a:srgbClr val="003366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pitchFamily="34" charset="0"/>
              <a:buChar char="•"/>
              <a:defRPr kumimoji="1" sz="1900" b="1">
                <a:solidFill>
                  <a:srgbClr val="003366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pitchFamily="34" charset="0"/>
              <a:buChar char="•"/>
              <a:defRPr kumimoji="1" sz="1700" b="1">
                <a:solidFill>
                  <a:srgbClr val="003366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FFCC"/>
              </a:buClr>
              <a:buFont typeface="Wingdings" pitchFamily="2" charset="2"/>
              <a:buChar char="n"/>
              <a:defRPr kumimoji="1" sz="1700" b="1">
                <a:solidFill>
                  <a:srgbClr val="003366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FFCC"/>
              </a:buClr>
              <a:buFont typeface="Wingdings" pitchFamily="2" charset="2"/>
              <a:buChar char="n"/>
              <a:defRPr kumimoji="1" sz="1700" b="1">
                <a:solidFill>
                  <a:srgbClr val="003366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FFCC"/>
              </a:buClr>
              <a:buFont typeface="Wingdings" pitchFamily="2" charset="2"/>
              <a:buChar char="n"/>
              <a:defRPr kumimoji="1" sz="1700" b="1">
                <a:solidFill>
                  <a:srgbClr val="003366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FFCC"/>
              </a:buClr>
              <a:buFont typeface="Wingdings" pitchFamily="2" charset="2"/>
              <a:buChar char="n"/>
              <a:defRPr kumimoji="1" sz="1700" b="1">
                <a:solidFill>
                  <a:srgbClr val="003366"/>
                </a:solidFill>
                <a:latin typeface="+mn-lt"/>
                <a:ea typeface="+mn-ea"/>
              </a:defRPr>
            </a:lvl9pPr>
          </a:lstStyle>
          <a:p>
            <a:pPr>
              <a:defRPr/>
            </a:pPr>
            <a:r>
              <a:rPr lang="zh-CN" altLang="en-US" sz="2000" kern="0" dirty="0">
                <a:solidFill>
                  <a:schemeClr val="tx1"/>
                </a:solidFill>
              </a:rPr>
              <a:t>模块种类</a:t>
            </a:r>
          </a:p>
          <a:p>
            <a:pPr lvl="1">
              <a:lnSpc>
                <a:spcPct val="150000"/>
              </a:lnSpc>
              <a:defRPr/>
            </a:pPr>
            <a:r>
              <a:rPr lang="zh-CN" altLang="en-US" sz="1800" kern="0" dirty="0">
                <a:solidFill>
                  <a:srgbClr val="0000FF"/>
                </a:solidFill>
              </a:rPr>
              <a:t>电源模块</a:t>
            </a:r>
            <a:endParaRPr lang="en-US" altLang="zh-CN" sz="1800" kern="0" dirty="0">
              <a:solidFill>
                <a:srgbClr val="0000FF"/>
              </a:solidFill>
            </a:endParaRPr>
          </a:p>
          <a:p>
            <a:pPr lvl="1">
              <a:lnSpc>
                <a:spcPct val="150000"/>
              </a:lnSpc>
              <a:defRPr/>
            </a:pPr>
            <a:r>
              <a:rPr lang="zh-CN" altLang="en-US" sz="1800" kern="0" dirty="0" smtClean="0">
                <a:solidFill>
                  <a:srgbClr val="0000FF"/>
                </a:solidFill>
              </a:rPr>
              <a:t>可编程逻辑器件</a:t>
            </a:r>
            <a:r>
              <a:rPr lang="zh-CN" altLang="en-US" sz="1800" kern="0" dirty="0">
                <a:solidFill>
                  <a:srgbClr val="0000FF"/>
                </a:solidFill>
              </a:rPr>
              <a:t>模块</a:t>
            </a:r>
          </a:p>
          <a:p>
            <a:pPr lvl="1">
              <a:lnSpc>
                <a:spcPct val="150000"/>
              </a:lnSpc>
              <a:defRPr/>
            </a:pPr>
            <a:r>
              <a:rPr lang="zh-CN" altLang="en-US" sz="1800" kern="0" dirty="0">
                <a:solidFill>
                  <a:srgbClr val="0000FF"/>
                </a:solidFill>
              </a:rPr>
              <a:t>通用逻辑器件</a:t>
            </a:r>
            <a:r>
              <a:rPr lang="zh-CN" altLang="en-US" sz="1800" kern="0" dirty="0" smtClean="0">
                <a:solidFill>
                  <a:srgbClr val="0000FF"/>
                </a:solidFill>
              </a:rPr>
              <a:t>模块</a:t>
            </a:r>
            <a:endParaRPr lang="en-US" altLang="zh-CN" sz="1800" kern="0" dirty="0" smtClean="0">
              <a:solidFill>
                <a:srgbClr val="0000FF"/>
              </a:solidFill>
            </a:endParaRPr>
          </a:p>
          <a:p>
            <a:pPr lvl="1">
              <a:lnSpc>
                <a:spcPct val="150000"/>
              </a:lnSpc>
              <a:defRPr/>
            </a:pPr>
            <a:r>
              <a:rPr lang="zh-CN" altLang="en-US" sz="1800" kern="0" dirty="0">
                <a:solidFill>
                  <a:srgbClr val="0000FF"/>
                </a:solidFill>
              </a:rPr>
              <a:t>七段数码管</a:t>
            </a:r>
            <a:r>
              <a:rPr lang="zh-CN" altLang="en-US" sz="1800" kern="0" dirty="0" smtClean="0">
                <a:solidFill>
                  <a:srgbClr val="0000FF"/>
                </a:solidFill>
              </a:rPr>
              <a:t>模块</a:t>
            </a:r>
            <a:endParaRPr lang="en-US" altLang="zh-CN" sz="1800" kern="0" dirty="0" smtClean="0">
              <a:solidFill>
                <a:srgbClr val="0000FF"/>
              </a:solidFill>
            </a:endParaRPr>
          </a:p>
          <a:p>
            <a:pPr lvl="1">
              <a:lnSpc>
                <a:spcPct val="150000"/>
              </a:lnSpc>
              <a:defRPr/>
            </a:pPr>
            <a:r>
              <a:rPr lang="zh-CN" altLang="en-US" sz="1800" kern="0" dirty="0">
                <a:solidFill>
                  <a:srgbClr val="0000FF"/>
                </a:solidFill>
              </a:rPr>
              <a:t>微动开关和时钟模块</a:t>
            </a:r>
          </a:p>
          <a:p>
            <a:pPr lvl="1">
              <a:lnSpc>
                <a:spcPct val="150000"/>
              </a:lnSpc>
              <a:defRPr/>
            </a:pPr>
            <a:r>
              <a:rPr lang="zh-CN" altLang="en-US" sz="1800" kern="0" dirty="0" smtClean="0">
                <a:solidFill>
                  <a:srgbClr val="0000FF"/>
                </a:solidFill>
              </a:rPr>
              <a:t>开关</a:t>
            </a:r>
            <a:r>
              <a:rPr lang="zh-CN" altLang="en-US" sz="1800" kern="0" dirty="0">
                <a:solidFill>
                  <a:srgbClr val="0000FF"/>
                </a:solidFill>
              </a:rPr>
              <a:t>和</a:t>
            </a:r>
            <a:r>
              <a:rPr lang="zh-CN" altLang="en-US" sz="1800" kern="0" dirty="0" smtClean="0">
                <a:solidFill>
                  <a:srgbClr val="0000FF"/>
                </a:solidFill>
              </a:rPr>
              <a:t>发光二极管模块</a:t>
            </a:r>
            <a:endParaRPr lang="en-US" altLang="zh-CN" sz="1800" kern="0" dirty="0">
              <a:solidFill>
                <a:srgbClr val="0000FF"/>
              </a:solidFill>
            </a:endParaRPr>
          </a:p>
          <a:p>
            <a:pPr lvl="1">
              <a:defRPr/>
            </a:pPr>
            <a:endParaRPr lang="zh-CN" altLang="en-US" sz="1500" kern="0" dirty="0">
              <a:solidFill>
                <a:srgbClr val="7030A0"/>
              </a:solidFill>
            </a:endParaRPr>
          </a:p>
          <a:p>
            <a:pPr marL="0" indent="0">
              <a:buFont typeface="Wingdings" pitchFamily="2" charset="2"/>
              <a:buNone/>
              <a:defRPr/>
            </a:pPr>
            <a:endParaRPr lang="zh-CN" altLang="en-US" kern="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064" y="1449120"/>
            <a:ext cx="4999309" cy="30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527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23528" y="3026182"/>
            <a:ext cx="8496944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本模块的功能是为其他模块供电</a:t>
            </a:r>
            <a:r>
              <a:rPr lang="zh-CN" altLang="en-US" dirty="0" smtClean="0"/>
              <a:t>，当</a:t>
            </a:r>
            <a:r>
              <a:rPr lang="zh-CN" altLang="en-US" dirty="0"/>
              <a:t>电源模块与其他模块连接时就可以通过四边自带的弹簧针供电</a:t>
            </a:r>
            <a:r>
              <a:rPr lang="zh-CN" altLang="en-US"/>
              <a:t>了</a:t>
            </a:r>
            <a:r>
              <a:rPr lang="zh-CN" altLang="en-US" smtClean="0"/>
              <a:t>。当</a:t>
            </a:r>
            <a:r>
              <a:rPr lang="zh-CN" altLang="en-US" dirty="0" smtClean="0"/>
              <a:t>拨动开关</a:t>
            </a:r>
            <a:r>
              <a:rPr lang="zh-CN" altLang="en-US" dirty="0"/>
              <a:t>打开时，电源模块对外供电</a:t>
            </a:r>
            <a:r>
              <a:rPr lang="zh-CN" altLang="en-US" dirty="0" smtClean="0"/>
              <a:t>，</a:t>
            </a:r>
            <a:r>
              <a:rPr lang="en-US" altLang="zh-CN" dirty="0"/>
              <a:t> LED </a:t>
            </a:r>
            <a:r>
              <a:rPr lang="zh-CN" altLang="en-US" dirty="0"/>
              <a:t>发光二极管（</a:t>
            </a:r>
            <a:r>
              <a:rPr lang="en-US" altLang="zh-CN" dirty="0"/>
              <a:t>D1</a:t>
            </a:r>
            <a:r>
              <a:rPr lang="zh-CN" altLang="en-US" dirty="0" smtClean="0"/>
              <a:t>） 点</a:t>
            </a:r>
            <a:r>
              <a:rPr lang="zh-CN" altLang="en-US" dirty="0"/>
              <a:t>亮。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Roboto"/>
              </a:rPr>
              <a:t>5V </a:t>
            </a:r>
            <a:r>
              <a:rPr lang="zh-CN" altLang="en-US" dirty="0">
                <a:latin typeface="Roboto"/>
              </a:rPr>
              <a:t>电源线包括一个电源头和一根 </a:t>
            </a:r>
            <a:r>
              <a:rPr lang="en-US" altLang="zh-CN" dirty="0">
                <a:latin typeface="Roboto"/>
              </a:rPr>
              <a:t>USB </a:t>
            </a:r>
            <a:r>
              <a:rPr lang="zh-CN" altLang="en-US" dirty="0">
                <a:latin typeface="Roboto"/>
              </a:rPr>
              <a:t>线，电源头为 </a:t>
            </a:r>
            <a:r>
              <a:rPr lang="en-US" altLang="zh-CN" dirty="0">
                <a:latin typeface="Roboto"/>
              </a:rPr>
              <a:t>+5V </a:t>
            </a:r>
            <a:r>
              <a:rPr lang="zh-CN" altLang="en-US" dirty="0">
                <a:latin typeface="Roboto"/>
              </a:rPr>
              <a:t>输出，一般可以直接使用手机自带的充电头。</a:t>
            </a:r>
            <a:r>
              <a:rPr lang="en-US" altLang="zh-CN" dirty="0">
                <a:latin typeface="Roboto"/>
              </a:rPr>
              <a:t>USB </a:t>
            </a:r>
            <a:r>
              <a:rPr lang="zh-CN" altLang="en-US" dirty="0">
                <a:latin typeface="Roboto"/>
              </a:rPr>
              <a:t>线有两种，一种是标准的方头 </a:t>
            </a:r>
            <a:r>
              <a:rPr lang="en-US" altLang="zh-CN" dirty="0">
                <a:latin typeface="Roboto"/>
              </a:rPr>
              <a:t>USB </a:t>
            </a:r>
            <a:r>
              <a:rPr lang="zh-CN" altLang="en-US" dirty="0">
                <a:latin typeface="Roboto"/>
              </a:rPr>
              <a:t>线，可以插入电源模块上，给电源模块供电；另一种是带连接器的 </a:t>
            </a:r>
            <a:r>
              <a:rPr lang="en-US" altLang="zh-CN" dirty="0">
                <a:latin typeface="Roboto"/>
              </a:rPr>
              <a:t>USB </a:t>
            </a:r>
            <a:r>
              <a:rPr lang="zh-CN" altLang="en-US" dirty="0">
                <a:latin typeface="Roboto"/>
              </a:rPr>
              <a:t>线，连接器可以直接通过磁铁吸到接到各种模块四边上，为模块供电</a:t>
            </a:r>
            <a:r>
              <a:rPr lang="zh-CN" altLang="en-US" dirty="0" smtClean="0">
                <a:latin typeface="Roboto"/>
              </a:rPr>
              <a:t>。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467544" y="188640"/>
            <a:ext cx="280831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 smtClean="0">
                <a:latin typeface="Roboto"/>
              </a:rPr>
              <a:t>电源</a:t>
            </a:r>
            <a:r>
              <a:rPr lang="zh-CN" altLang="en-US" sz="2000" b="1" dirty="0">
                <a:latin typeface="Roboto"/>
              </a:rPr>
              <a:t>模块、</a:t>
            </a:r>
            <a:r>
              <a:rPr lang="en-US" altLang="zh-CN" sz="2000" b="1" dirty="0">
                <a:latin typeface="Roboto"/>
              </a:rPr>
              <a:t>5V</a:t>
            </a:r>
            <a:r>
              <a:rPr lang="zh-CN" altLang="en-US" sz="2000" b="1" dirty="0">
                <a:latin typeface="Roboto"/>
              </a:rPr>
              <a:t>电源线</a:t>
            </a:r>
          </a:p>
          <a:p>
            <a:endParaRPr lang="zh-CN" altLang="en-US" sz="2000" b="1" i="0" dirty="0">
              <a:effectLst/>
              <a:latin typeface="Roboto"/>
            </a:endParaRPr>
          </a:p>
        </p:txBody>
      </p:sp>
      <p:pic>
        <p:nvPicPr>
          <p:cNvPr id="3074" name="Picture 2" descr="https://lab.cs.tsinghua.edu.cn/digital-logic-lab/doc/figure/power_real.png"/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764704"/>
            <a:ext cx="2222816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https://lab.cs.tsinghua.edu.cn/digital-logic-lab/doc/figure/module_power.png"/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0773" y="764704"/>
            <a:ext cx="1768679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s://lab.cs.tsinghua.edu.cn/digital-logic-lab/doc/figure/line_power.png"/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160" y="764704"/>
            <a:ext cx="1920000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5251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11560" y="3140968"/>
            <a:ext cx="7992888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/>
              <a:t>该模块</a:t>
            </a:r>
            <a:r>
              <a:rPr lang="zh-CN" altLang="en-US" dirty="0"/>
              <a:t>有</a:t>
            </a:r>
            <a:r>
              <a:rPr lang="zh-CN" altLang="en-US" dirty="0" smtClean="0"/>
              <a:t> </a:t>
            </a:r>
            <a:r>
              <a:rPr lang="en-US" altLang="zh-CN" dirty="0"/>
              <a:t>4 </a:t>
            </a:r>
            <a:r>
              <a:rPr lang="zh-CN" altLang="en-US" dirty="0"/>
              <a:t>个 </a:t>
            </a:r>
            <a:r>
              <a:rPr lang="en-US" altLang="zh-CN" dirty="0"/>
              <a:t>LED </a:t>
            </a:r>
            <a:r>
              <a:rPr lang="zh-CN" altLang="en-US" dirty="0"/>
              <a:t>发 光二极管和 </a:t>
            </a:r>
            <a:r>
              <a:rPr lang="en-US" altLang="zh-CN" dirty="0"/>
              <a:t>4 </a:t>
            </a:r>
            <a:r>
              <a:rPr lang="zh-CN" altLang="en-US" dirty="0"/>
              <a:t>个</a:t>
            </a:r>
            <a:r>
              <a:rPr lang="zh-CN" altLang="en-US" dirty="0" smtClean="0"/>
              <a:t>拨动开关。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en-US" altLang="zh-CN" dirty="0" smtClean="0"/>
              <a:t>• </a:t>
            </a:r>
            <a:r>
              <a:rPr lang="zh-CN" altLang="en-US" dirty="0"/>
              <a:t>当发光二极管上面的插线孔输入的是高电平时，</a:t>
            </a:r>
            <a:r>
              <a:rPr lang="en-US" altLang="zh-CN" dirty="0"/>
              <a:t>LED </a:t>
            </a:r>
            <a:r>
              <a:rPr lang="zh-CN" altLang="en-US" dirty="0"/>
              <a:t>发光二极管点亮，反之熄灭。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• </a:t>
            </a:r>
            <a:r>
              <a:rPr lang="zh-CN" altLang="en-US" dirty="0"/>
              <a:t>当拨动开关处于 </a:t>
            </a:r>
            <a:r>
              <a:rPr lang="en-US" altLang="zh-CN" dirty="0"/>
              <a:t>1</a:t>
            </a:r>
            <a:r>
              <a:rPr lang="en-US" altLang="zh-CN" dirty="0" smtClean="0"/>
              <a:t> </a:t>
            </a:r>
            <a:r>
              <a:rPr lang="zh-CN" altLang="en-US" dirty="0"/>
              <a:t>的位置时，则开关上面的插线孔向外</a:t>
            </a:r>
            <a:r>
              <a:rPr lang="zh-CN" altLang="en-US" dirty="0" smtClean="0"/>
              <a:t>输出高电平</a:t>
            </a:r>
            <a:r>
              <a:rPr lang="zh-CN" altLang="en-US" dirty="0"/>
              <a:t>，反之</a:t>
            </a:r>
            <a:r>
              <a:rPr lang="zh-CN" altLang="en-US" dirty="0" smtClean="0"/>
              <a:t>输出低电平。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b="1" dirty="0"/>
              <a:t>注意</a:t>
            </a:r>
            <a:r>
              <a:rPr lang="zh-CN" altLang="en-US" b="1" dirty="0" smtClean="0"/>
              <a:t>：</a:t>
            </a:r>
            <a:r>
              <a:rPr lang="zh-CN" altLang="en-US" dirty="0" smtClean="0"/>
              <a:t>模块</a:t>
            </a:r>
            <a:r>
              <a:rPr lang="zh-CN" altLang="en-US" dirty="0"/>
              <a:t>上的拨动开关没有带去抖功能，拨动时的瞬间输出波形不是十分稳定，不建议用于时钟或者复位信号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pic>
        <p:nvPicPr>
          <p:cNvPr id="6" name="Picture 2" descr="https://lab.cs.tsinghua.edu.cn/digital-logic-lab/doc/figure/input_real.png"/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908720"/>
            <a:ext cx="2160000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/>
          <p:cNvSpPr/>
          <p:nvPr/>
        </p:nvSpPr>
        <p:spPr>
          <a:xfrm>
            <a:off x="518261" y="332656"/>
            <a:ext cx="383771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 smtClean="0">
                <a:latin typeface="Roboto"/>
              </a:rPr>
              <a:t>◼开关和发光二极管模块</a:t>
            </a:r>
            <a:endParaRPr lang="zh-CN" altLang="en-US" sz="2000" b="1" dirty="0">
              <a:latin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611902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95536" y="3068960"/>
            <a:ext cx="8208912" cy="36625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smtClean="0"/>
              <a:t>• </a:t>
            </a:r>
            <a:r>
              <a:rPr lang="zh-CN" altLang="en-US" dirty="0" smtClean="0"/>
              <a:t>该</a:t>
            </a:r>
            <a:r>
              <a:rPr lang="zh-CN" altLang="zh-CN" dirty="0" smtClean="0">
                <a:latin typeface="+mn-ea"/>
              </a:rPr>
              <a:t>模块</a:t>
            </a:r>
            <a:r>
              <a:rPr lang="zh-CN" altLang="zh-CN" dirty="0">
                <a:latin typeface="+mn-ea"/>
              </a:rPr>
              <a:t>有三个</a:t>
            </a:r>
            <a:r>
              <a:rPr lang="zh-CN" altLang="zh-CN" dirty="0" smtClean="0">
                <a:latin typeface="+mn-ea"/>
              </a:rPr>
              <a:t>部分</a:t>
            </a:r>
            <a:r>
              <a:rPr lang="zh-CN" altLang="en-US" dirty="0">
                <a:latin typeface="+mn-ea"/>
              </a:rPr>
              <a:t>：</a:t>
            </a:r>
            <a:r>
              <a:rPr lang="zh-CN" altLang="en-US" dirty="0" smtClean="0">
                <a:latin typeface="+mn-ea"/>
              </a:rPr>
              <a:t>时钟信号、微动开关</a:t>
            </a:r>
            <a:r>
              <a:rPr lang="zh-CN" altLang="en-US" dirty="0">
                <a:latin typeface="+mn-ea"/>
              </a:rPr>
              <a:t>以及一个</a:t>
            </a:r>
            <a:r>
              <a:rPr lang="en-US" altLang="zh-CN" dirty="0">
                <a:latin typeface="+mn-ea"/>
              </a:rPr>
              <a:t>10K</a:t>
            </a:r>
            <a:r>
              <a:rPr lang="zh-CN" altLang="en-US" dirty="0" smtClean="0">
                <a:latin typeface="+mn-ea"/>
              </a:rPr>
              <a:t>电阻。</a:t>
            </a:r>
            <a:endParaRPr lang="en-US" altLang="zh-CN" dirty="0">
              <a:latin typeface="+mn-ea"/>
            </a:endParaRPr>
          </a:p>
          <a:p>
            <a:endParaRPr lang="zh-CN" altLang="en-US" dirty="0"/>
          </a:p>
          <a:p>
            <a:r>
              <a:rPr lang="en-US" altLang="zh-CN" sz="1600" dirty="0"/>
              <a:t>• </a:t>
            </a:r>
            <a:r>
              <a:rPr lang="zh-CN" altLang="en-US" dirty="0">
                <a:latin typeface="+mn-ea"/>
                <a:ea typeface="+mn-ea"/>
              </a:rPr>
              <a:t>时钟信号：提供了</a:t>
            </a:r>
            <a:r>
              <a:rPr lang="en-US" altLang="zh-CN" dirty="0">
                <a:latin typeface="+mn-ea"/>
                <a:ea typeface="+mn-ea"/>
              </a:rPr>
              <a:t>1M</a:t>
            </a:r>
            <a:r>
              <a:rPr lang="zh-CN" altLang="en-US" dirty="0">
                <a:latin typeface="+mn-ea"/>
                <a:ea typeface="+mn-ea"/>
              </a:rPr>
              <a:t>、</a:t>
            </a:r>
            <a:r>
              <a:rPr lang="en-US" altLang="zh-CN" dirty="0">
                <a:latin typeface="+mn-ea"/>
                <a:ea typeface="+mn-ea"/>
              </a:rPr>
              <a:t>2M</a:t>
            </a:r>
            <a:r>
              <a:rPr lang="zh-CN" altLang="en-US" dirty="0">
                <a:latin typeface="+mn-ea"/>
                <a:ea typeface="+mn-ea"/>
              </a:rPr>
              <a:t>、</a:t>
            </a:r>
            <a:r>
              <a:rPr lang="en-US" altLang="zh-CN" dirty="0">
                <a:latin typeface="+mn-ea"/>
                <a:ea typeface="+mn-ea"/>
              </a:rPr>
              <a:t>4M</a:t>
            </a:r>
            <a:r>
              <a:rPr lang="zh-CN" altLang="en-US" dirty="0">
                <a:latin typeface="+mn-ea"/>
                <a:ea typeface="+mn-ea"/>
              </a:rPr>
              <a:t>、</a:t>
            </a:r>
            <a:r>
              <a:rPr lang="en-US" altLang="zh-CN" dirty="0">
                <a:latin typeface="+mn-ea"/>
                <a:ea typeface="+mn-ea"/>
              </a:rPr>
              <a:t>8M</a:t>
            </a:r>
            <a:r>
              <a:rPr lang="zh-CN" altLang="en-US" dirty="0">
                <a:latin typeface="+mn-ea"/>
                <a:ea typeface="+mn-ea"/>
              </a:rPr>
              <a:t>、</a:t>
            </a:r>
            <a:r>
              <a:rPr lang="en-US" altLang="zh-CN" dirty="0" smtClean="0">
                <a:latin typeface="+mn-ea"/>
                <a:ea typeface="+mn-ea"/>
              </a:rPr>
              <a:t>16M</a:t>
            </a:r>
            <a:r>
              <a:rPr lang="zh-CN" altLang="en-US" dirty="0"/>
              <a:t>共</a:t>
            </a:r>
            <a:r>
              <a:rPr lang="en-US" altLang="zh-CN" dirty="0"/>
              <a:t>5</a:t>
            </a:r>
            <a:r>
              <a:rPr lang="zh-CN" altLang="en-US" dirty="0"/>
              <a:t>种</a:t>
            </a:r>
            <a:r>
              <a:rPr lang="zh-CN" altLang="en-US" dirty="0" smtClean="0"/>
              <a:t>时钟频率，通过</a:t>
            </a:r>
            <a:r>
              <a:rPr lang="zh-CN" altLang="en-US" dirty="0"/>
              <a:t>用连接线从插线孔可以向外输出对应频率的时钟信号。</a:t>
            </a:r>
            <a:endParaRPr lang="en-US" altLang="zh-CN" dirty="0"/>
          </a:p>
          <a:p>
            <a:endParaRPr lang="en-US" altLang="zh-CN" strike="sngStrike" dirty="0">
              <a:solidFill>
                <a:srgbClr val="0070C0"/>
              </a:solidFill>
              <a:latin typeface="+mn-ea"/>
              <a:ea typeface="+mn-ea"/>
            </a:endParaRPr>
          </a:p>
          <a:p>
            <a:r>
              <a:rPr lang="en-US" altLang="zh-CN" sz="1600" dirty="0" smtClean="0"/>
              <a:t>• </a:t>
            </a:r>
            <a:r>
              <a:rPr lang="zh-CN" altLang="en-US" dirty="0">
                <a:latin typeface="+mn-ea"/>
                <a:ea typeface="+mn-ea"/>
              </a:rPr>
              <a:t>两个微动开关（自复位</a:t>
            </a:r>
            <a:r>
              <a:rPr lang="zh-CN" altLang="en-US" dirty="0" smtClean="0">
                <a:latin typeface="+mn-ea"/>
                <a:ea typeface="+mn-ea"/>
              </a:rPr>
              <a:t>），分别</a:t>
            </a:r>
            <a:r>
              <a:rPr lang="zh-CN" altLang="en-US" dirty="0">
                <a:latin typeface="+mn-ea"/>
                <a:ea typeface="+mn-ea"/>
              </a:rPr>
              <a:t>是 </a:t>
            </a:r>
            <a:r>
              <a:rPr lang="en-US" altLang="zh-CN" dirty="0">
                <a:latin typeface="+mn-ea"/>
                <a:ea typeface="+mn-ea"/>
              </a:rPr>
              <a:t>CLK </a:t>
            </a:r>
            <a:r>
              <a:rPr lang="zh-CN" altLang="en-US" dirty="0">
                <a:latin typeface="+mn-ea"/>
                <a:ea typeface="+mn-ea"/>
              </a:rPr>
              <a:t>和 </a:t>
            </a:r>
            <a:r>
              <a:rPr lang="en-US" altLang="zh-CN" dirty="0">
                <a:latin typeface="+mn-ea"/>
                <a:ea typeface="+mn-ea"/>
              </a:rPr>
              <a:t>RST</a:t>
            </a:r>
            <a:r>
              <a:rPr lang="zh-CN" altLang="en-US" dirty="0">
                <a:latin typeface="+mn-ea"/>
                <a:ea typeface="+mn-ea"/>
              </a:rPr>
              <a:t>，平时保持低电平（即逻辑</a:t>
            </a:r>
            <a:r>
              <a:rPr lang="en-US" altLang="zh-CN" dirty="0">
                <a:latin typeface="+mn-ea"/>
                <a:ea typeface="+mn-ea"/>
              </a:rPr>
              <a:t>0</a:t>
            </a:r>
            <a:r>
              <a:rPr lang="zh-CN" altLang="en-US" dirty="0">
                <a:latin typeface="+mn-ea"/>
                <a:ea typeface="+mn-ea"/>
              </a:rPr>
              <a:t>），按下时为高电平（即逻辑</a:t>
            </a:r>
            <a:r>
              <a:rPr lang="en-US" altLang="zh-CN" dirty="0">
                <a:latin typeface="+mn-ea"/>
                <a:ea typeface="+mn-ea"/>
              </a:rPr>
              <a:t>1</a:t>
            </a:r>
            <a:r>
              <a:rPr lang="zh-CN" altLang="en-US" dirty="0">
                <a:latin typeface="+mn-ea"/>
                <a:ea typeface="+mn-ea"/>
              </a:rPr>
              <a:t>），可以通过手去按动开关产生一次高低电平的变化，可以理解为手动产生一次时钟脉冲，这两个开关都自带了一定的防抖电路</a:t>
            </a:r>
            <a:r>
              <a:rPr lang="zh-CN" altLang="en-US" dirty="0" smtClean="0">
                <a:latin typeface="+mn-ea"/>
                <a:ea typeface="+mn-ea"/>
              </a:rPr>
              <a:t>。</a:t>
            </a:r>
            <a:endParaRPr lang="en-US" altLang="zh-CN" dirty="0" smtClean="0">
              <a:latin typeface="+mn-ea"/>
              <a:ea typeface="+mn-ea"/>
            </a:endParaRPr>
          </a:p>
          <a:p>
            <a:endParaRPr lang="en-US" altLang="zh-CN" dirty="0">
              <a:latin typeface="+mn-ea"/>
              <a:ea typeface="+mn-ea"/>
            </a:endParaRPr>
          </a:p>
          <a:p>
            <a:r>
              <a:rPr lang="en-US" altLang="zh-CN" sz="1600" dirty="0" smtClean="0"/>
              <a:t>• </a:t>
            </a:r>
            <a:r>
              <a:rPr lang="en-US" altLang="zh-CN" dirty="0" smtClean="0"/>
              <a:t>10K</a:t>
            </a:r>
            <a:r>
              <a:rPr lang="zh-CN" altLang="en-US" dirty="0"/>
              <a:t>电阻：供实验中搭建电路时使用</a:t>
            </a:r>
            <a:r>
              <a:rPr lang="zh-CN" altLang="en-US" dirty="0" smtClean="0"/>
              <a:t>。</a:t>
            </a:r>
            <a:r>
              <a:rPr lang="zh-CN" altLang="en-US" dirty="0" smtClean="0">
                <a:latin typeface="+mn-ea"/>
                <a:ea typeface="+mn-ea"/>
              </a:rPr>
              <a:t>此</a:t>
            </a:r>
            <a:r>
              <a:rPr lang="zh-CN" altLang="en-US" dirty="0">
                <a:latin typeface="+mn-ea"/>
                <a:ea typeface="+mn-ea"/>
              </a:rPr>
              <a:t>电阻的一端连接到一个插线孔（标识为</a:t>
            </a:r>
            <a:r>
              <a:rPr lang="en-US" altLang="zh-CN" dirty="0">
                <a:latin typeface="+mn-ea"/>
                <a:ea typeface="+mn-ea"/>
              </a:rPr>
              <a:t>R</a:t>
            </a:r>
            <a:r>
              <a:rPr lang="zh-CN" altLang="en-US" dirty="0">
                <a:latin typeface="+mn-ea"/>
                <a:ea typeface="+mn-ea"/>
              </a:rPr>
              <a:t>），另一端已经直接接地，当电路中需要使用这个电阻时，通过插线孔</a:t>
            </a:r>
            <a:r>
              <a:rPr lang="en-US" altLang="zh-CN" dirty="0">
                <a:latin typeface="+mn-ea"/>
                <a:ea typeface="+mn-ea"/>
              </a:rPr>
              <a:t>R</a:t>
            </a:r>
            <a:r>
              <a:rPr lang="zh-CN" altLang="en-US" dirty="0">
                <a:latin typeface="+mn-ea"/>
                <a:ea typeface="+mn-ea"/>
              </a:rPr>
              <a:t>连接到电路当中即可。</a:t>
            </a:r>
            <a:endParaRPr lang="zh-CN" altLang="en-US" dirty="0"/>
          </a:p>
          <a:p>
            <a:endParaRPr lang="en-US" altLang="zh-CN" sz="1600" dirty="0">
              <a:solidFill>
                <a:srgbClr val="FF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395536" y="260648"/>
            <a:ext cx="46805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Roboto"/>
              </a:rPr>
              <a:t>微动开关及时钟模块</a:t>
            </a:r>
            <a:endParaRPr lang="zh-CN" altLang="en-US" sz="2000" b="1" i="0" dirty="0">
              <a:effectLst/>
              <a:latin typeface="Roboto"/>
            </a:endParaRPr>
          </a:p>
        </p:txBody>
      </p:sp>
      <p:pic>
        <p:nvPicPr>
          <p:cNvPr id="9218" name="Picture 2" descr="https://lab.cs.tsinghua.edu.cn/digital-logic-lab/doc/figure/clock_real.png"/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764704"/>
            <a:ext cx="2152387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0650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059832" y="764704"/>
            <a:ext cx="576064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模块包含了 </a:t>
            </a:r>
            <a:r>
              <a:rPr lang="en-US" altLang="zh-CN" dirty="0"/>
              <a:t>3 </a:t>
            </a:r>
            <a:r>
              <a:rPr lang="zh-CN" altLang="en-US" dirty="0"/>
              <a:t>组七段数码管，模块自带七段数码管译码功能，每个数码管上面有 </a:t>
            </a:r>
            <a:r>
              <a:rPr lang="en-US" altLang="zh-CN" dirty="0"/>
              <a:t>4 </a:t>
            </a:r>
            <a:r>
              <a:rPr lang="zh-CN" altLang="en-US" dirty="0"/>
              <a:t>个输入插线孔，依次标识为</a:t>
            </a:r>
            <a:r>
              <a:rPr lang="en-US" altLang="zh-CN" dirty="0">
                <a:solidFill>
                  <a:srgbClr val="FF0000"/>
                </a:solidFill>
              </a:rPr>
              <a:t>1 2 4 8</a:t>
            </a:r>
            <a:r>
              <a:rPr lang="zh-CN" altLang="en-US" dirty="0">
                <a:solidFill>
                  <a:srgbClr val="FF0000"/>
                </a:solidFill>
              </a:rPr>
              <a:t>，</a:t>
            </a:r>
            <a:r>
              <a:rPr lang="zh-CN" altLang="en-US" dirty="0"/>
              <a:t>高位为</a:t>
            </a:r>
            <a:r>
              <a:rPr lang="en-US" altLang="zh-CN" dirty="0">
                <a:solidFill>
                  <a:srgbClr val="FF0000"/>
                </a:solidFill>
              </a:rPr>
              <a:t>8</a:t>
            </a:r>
            <a:r>
              <a:rPr lang="zh-CN" altLang="en-US" dirty="0"/>
              <a:t>，按照 </a:t>
            </a:r>
            <a:r>
              <a:rPr lang="en-US" altLang="zh-CN" dirty="0"/>
              <a:t>8421 </a:t>
            </a:r>
            <a:r>
              <a:rPr lang="zh-CN" altLang="en-US" dirty="0"/>
              <a:t>码输入，数码管即可显示相应的数字（只能显示 </a:t>
            </a:r>
            <a:r>
              <a:rPr lang="en-US" altLang="zh-CN" dirty="0"/>
              <a:t>0-9</a:t>
            </a:r>
            <a:r>
              <a:rPr lang="zh-CN" altLang="en-US" dirty="0"/>
              <a:t>，不能显示 </a:t>
            </a:r>
            <a:r>
              <a:rPr lang="en-US" altLang="zh-CN" dirty="0"/>
              <a:t>A-F</a:t>
            </a:r>
            <a:r>
              <a:rPr lang="zh-CN" altLang="en-US" dirty="0"/>
              <a:t>）。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en-US" altLang="zh-CN" b="1" dirty="0"/>
          </a:p>
          <a:p>
            <a:r>
              <a:rPr lang="zh-CN" altLang="en-US" b="1" dirty="0"/>
              <a:t>注意：</a:t>
            </a:r>
            <a:r>
              <a:rPr lang="zh-CN" altLang="en-US" dirty="0"/>
              <a:t>不用的高位插线孔应该置零（接地）不能悬空，否则显示不正确。</a:t>
            </a:r>
          </a:p>
        </p:txBody>
      </p:sp>
      <p:sp>
        <p:nvSpPr>
          <p:cNvPr id="5" name="矩形 4"/>
          <p:cNvSpPr/>
          <p:nvPr/>
        </p:nvSpPr>
        <p:spPr>
          <a:xfrm>
            <a:off x="386399" y="198232"/>
            <a:ext cx="300915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Roboto"/>
              </a:rPr>
              <a:t>带译码的七段数码管模块</a:t>
            </a:r>
            <a:endParaRPr lang="zh-CN" altLang="en-US" sz="2000" b="1" i="0" dirty="0">
              <a:effectLst/>
              <a:latin typeface="Roboto"/>
            </a:endParaRPr>
          </a:p>
        </p:txBody>
      </p:sp>
      <p:pic>
        <p:nvPicPr>
          <p:cNvPr id="8194" name="Picture 2" descr="https://lab.cs.tsinghua.edu.cn/digital-logic-lab/doc/figure/DYP_DECODERX3_real.png"/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764704"/>
            <a:ext cx="2187355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https://lab.cs.tsinghua.edu.cn/digital-logic-lab/doc/figure/DYPx3_real.png"/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61" y="3838582"/>
            <a:ext cx="2169558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/>
          <p:cNvSpPr/>
          <p:nvPr/>
        </p:nvSpPr>
        <p:spPr>
          <a:xfrm>
            <a:off x="395536" y="3257428"/>
            <a:ext cx="302358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Roboto"/>
              </a:rPr>
              <a:t>无译码的七段数码管模块</a:t>
            </a:r>
            <a:endParaRPr lang="zh-CN" altLang="en-US" sz="2000" b="1" i="0" dirty="0">
              <a:effectLst/>
              <a:latin typeface="Roboto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123272" y="3861048"/>
            <a:ext cx="576064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模块包含了 </a:t>
            </a:r>
            <a:r>
              <a:rPr lang="en-US" altLang="zh-CN" dirty="0"/>
              <a:t>3 </a:t>
            </a:r>
            <a:r>
              <a:rPr lang="zh-CN" altLang="en-US" dirty="0"/>
              <a:t>组七段数码管，没有译码功能，每个数码管相当于七个发光二极管的组合，因此需要七个控制端来控制数码管的显示，相应的插线孔为：</a:t>
            </a:r>
            <a:r>
              <a:rPr lang="en-US" altLang="zh-CN" dirty="0">
                <a:solidFill>
                  <a:srgbClr val="FF0000"/>
                </a:solidFill>
              </a:rPr>
              <a:t>a b c d e f g</a:t>
            </a:r>
            <a:r>
              <a:rPr lang="zh-CN" altLang="en-US" dirty="0"/>
              <a:t>，对应关系如图所示（小数点 </a:t>
            </a:r>
            <a:r>
              <a:rPr lang="en-US" altLang="zh-CN" dirty="0" err="1"/>
              <a:t>dp</a:t>
            </a:r>
            <a:r>
              <a:rPr lang="en-US" altLang="zh-CN" dirty="0"/>
              <a:t> </a:t>
            </a:r>
            <a:r>
              <a:rPr lang="zh-CN" altLang="en-US" dirty="0"/>
              <a:t>没有连接）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  <a:p>
            <a:r>
              <a:rPr lang="zh-CN" altLang="en-US" dirty="0"/>
              <a:t/>
            </a:r>
            <a:br>
              <a:rPr lang="zh-CN" altLang="en-US" dirty="0"/>
            </a:br>
            <a:r>
              <a:rPr lang="zh-CN" altLang="en-US" dirty="0"/>
              <a:t>模块采用的七段数码管为共阴的（即发光二极管的负极接在一起），只要在插线孔上输入高电平，相应的数码段就会变亮，反之熄灭。</a:t>
            </a:r>
          </a:p>
        </p:txBody>
      </p:sp>
      <p:pic>
        <p:nvPicPr>
          <p:cNvPr id="2052" name="Picture 4" descr="https://lab.cs.tsinghua.edu.cn/digital-logic-lab/doc/figure/seg7.png"/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5013176"/>
            <a:ext cx="543673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8105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23528" y="3068960"/>
            <a:ext cx="8568952" cy="3600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+mn-ea"/>
                <a:ea typeface="+mn-ea"/>
              </a:rPr>
              <a:t>模块的主芯片是一片可编程逻辑器件 </a:t>
            </a:r>
            <a:r>
              <a:rPr lang="en-US" altLang="zh-CN" dirty="0">
                <a:latin typeface="+mn-ea"/>
                <a:ea typeface="+mn-ea"/>
              </a:rPr>
              <a:t>FPGA</a:t>
            </a:r>
            <a:r>
              <a:rPr lang="zh-CN" altLang="en-US" dirty="0">
                <a:latin typeface="+mn-ea"/>
                <a:ea typeface="+mn-ea"/>
              </a:rPr>
              <a:t>，型号为 </a:t>
            </a:r>
            <a:r>
              <a:rPr lang="en-US" altLang="zh-CN" dirty="0">
                <a:latin typeface="+mn-ea"/>
                <a:ea typeface="+mn-ea"/>
              </a:rPr>
              <a:t>XC7A35TFGG484</a:t>
            </a:r>
            <a:r>
              <a:rPr lang="zh-CN" altLang="en-US" dirty="0">
                <a:latin typeface="+mn-ea"/>
                <a:ea typeface="+mn-ea"/>
              </a:rPr>
              <a:t>，共有 </a:t>
            </a:r>
            <a:r>
              <a:rPr lang="en-US" altLang="zh-CN" dirty="0">
                <a:latin typeface="+mn-ea"/>
                <a:ea typeface="+mn-ea"/>
              </a:rPr>
              <a:t>33,280 </a:t>
            </a:r>
            <a:r>
              <a:rPr lang="zh-CN" altLang="en-US" dirty="0">
                <a:latin typeface="+mn-ea"/>
                <a:ea typeface="+mn-ea"/>
              </a:rPr>
              <a:t>个逻辑</a:t>
            </a:r>
            <a:r>
              <a:rPr lang="zh-CN" altLang="en-US" dirty="0" smtClean="0">
                <a:latin typeface="+mn-ea"/>
                <a:ea typeface="+mn-ea"/>
              </a:rPr>
              <a:t>单元</a:t>
            </a:r>
            <a:endParaRPr lang="en-US" altLang="zh-CN" b="1" dirty="0">
              <a:solidFill>
                <a:srgbClr val="FF0000"/>
              </a:solidFill>
              <a:latin typeface="+mn-ea"/>
              <a:ea typeface="+mn-ea"/>
            </a:endParaRPr>
          </a:p>
          <a:p>
            <a:endParaRPr lang="en-US" altLang="zh-CN" sz="1600" dirty="0"/>
          </a:p>
          <a:p>
            <a:r>
              <a:rPr lang="en-US" altLang="zh-CN" sz="1600" dirty="0"/>
              <a:t>•  </a:t>
            </a:r>
            <a:r>
              <a:rPr lang="en-US" altLang="zh-CN" dirty="0" smtClean="0">
                <a:latin typeface="+mn-ea"/>
                <a:ea typeface="+mn-ea"/>
              </a:rPr>
              <a:t>FPGA </a:t>
            </a:r>
            <a:r>
              <a:rPr lang="zh-CN" altLang="en-US" dirty="0" smtClean="0">
                <a:latin typeface="+mn-ea"/>
                <a:ea typeface="+mn-ea"/>
              </a:rPr>
              <a:t>左下方</a:t>
            </a:r>
            <a:r>
              <a:rPr lang="zh-CN" altLang="en-US" dirty="0">
                <a:latin typeface="+mn-ea"/>
                <a:ea typeface="+mn-ea"/>
              </a:rPr>
              <a:t>的 </a:t>
            </a:r>
            <a:r>
              <a:rPr lang="en-US" altLang="zh-CN" dirty="0">
                <a:latin typeface="+mn-ea"/>
                <a:ea typeface="+mn-ea"/>
              </a:rPr>
              <a:t>2x7 </a:t>
            </a:r>
            <a:r>
              <a:rPr lang="zh-CN" altLang="en-US" dirty="0">
                <a:latin typeface="+mn-ea"/>
                <a:ea typeface="+mn-ea"/>
              </a:rPr>
              <a:t>插座是 </a:t>
            </a:r>
            <a:r>
              <a:rPr lang="en-US" altLang="zh-CN" dirty="0">
                <a:latin typeface="+mn-ea"/>
                <a:ea typeface="+mn-ea"/>
              </a:rPr>
              <a:t>JTAG </a:t>
            </a:r>
            <a:r>
              <a:rPr lang="zh-CN" altLang="en-US" dirty="0">
                <a:latin typeface="+mn-ea"/>
                <a:ea typeface="+mn-ea"/>
              </a:rPr>
              <a:t>下载插座，可以连接相应的下载器，将综合后的比特流文件从 </a:t>
            </a:r>
            <a:r>
              <a:rPr lang="en-US" altLang="zh-CN" dirty="0">
                <a:latin typeface="+mn-ea"/>
                <a:ea typeface="+mn-ea"/>
              </a:rPr>
              <a:t>PC </a:t>
            </a:r>
            <a:r>
              <a:rPr lang="zh-CN" altLang="en-US" dirty="0">
                <a:latin typeface="+mn-ea"/>
                <a:ea typeface="+mn-ea"/>
              </a:rPr>
              <a:t>端下载到 </a:t>
            </a:r>
            <a:r>
              <a:rPr lang="en-US" altLang="zh-CN" dirty="0">
                <a:latin typeface="+mn-ea"/>
                <a:ea typeface="+mn-ea"/>
              </a:rPr>
              <a:t>FPGA </a:t>
            </a:r>
            <a:r>
              <a:rPr lang="zh-CN" altLang="en-US" dirty="0" smtClean="0">
                <a:latin typeface="+mn-ea"/>
                <a:ea typeface="+mn-ea"/>
              </a:rPr>
              <a:t>当中</a:t>
            </a:r>
            <a:endParaRPr lang="en-US" altLang="zh-CN" dirty="0">
              <a:latin typeface="+mn-ea"/>
              <a:ea typeface="+mn-ea"/>
            </a:endParaRPr>
          </a:p>
          <a:p>
            <a:endParaRPr lang="en-US" altLang="zh-CN" sz="1600" dirty="0"/>
          </a:p>
          <a:p>
            <a:r>
              <a:rPr lang="en-US" altLang="zh-CN" sz="1600" dirty="0"/>
              <a:t>•  </a:t>
            </a:r>
            <a:r>
              <a:rPr lang="en-US" altLang="zh-CN" dirty="0" smtClean="0">
                <a:latin typeface="+mn-ea"/>
                <a:ea typeface="+mn-ea"/>
              </a:rPr>
              <a:t>FPGA </a:t>
            </a:r>
            <a:r>
              <a:rPr lang="zh-CN" altLang="en-US" dirty="0" smtClean="0">
                <a:latin typeface="+mn-ea"/>
                <a:ea typeface="+mn-ea"/>
              </a:rPr>
              <a:t>左上方</a:t>
            </a:r>
            <a:r>
              <a:rPr lang="zh-CN" altLang="en-US" dirty="0">
                <a:latin typeface="+mn-ea"/>
                <a:ea typeface="+mn-ea"/>
              </a:rPr>
              <a:t>的芯片是一片 </a:t>
            </a:r>
            <a:r>
              <a:rPr lang="en-US" altLang="zh-CN" dirty="0">
                <a:latin typeface="+mn-ea"/>
                <a:ea typeface="+mn-ea"/>
              </a:rPr>
              <a:t>SRAM </a:t>
            </a:r>
            <a:r>
              <a:rPr lang="zh-CN" altLang="en-US" dirty="0">
                <a:latin typeface="+mn-ea"/>
                <a:ea typeface="+mn-ea"/>
              </a:rPr>
              <a:t>芯片，供内存实验</a:t>
            </a:r>
            <a:r>
              <a:rPr lang="zh-CN" altLang="en-US" dirty="0" smtClean="0">
                <a:latin typeface="+mn-ea"/>
                <a:ea typeface="+mn-ea"/>
              </a:rPr>
              <a:t>使用</a:t>
            </a:r>
            <a:endParaRPr lang="en-US" altLang="zh-CN" dirty="0">
              <a:latin typeface="+mn-ea"/>
              <a:ea typeface="+mn-ea"/>
            </a:endParaRPr>
          </a:p>
          <a:p>
            <a:endParaRPr lang="zh-CN" altLang="en-US" sz="1600" dirty="0"/>
          </a:p>
          <a:p>
            <a:r>
              <a:rPr lang="en-US" altLang="zh-CN" sz="1600" dirty="0"/>
              <a:t>• </a:t>
            </a:r>
            <a:r>
              <a:rPr lang="en-US" altLang="zh-CN" sz="1600" dirty="0" smtClean="0"/>
              <a:t> </a:t>
            </a:r>
            <a:r>
              <a:rPr lang="zh-CN" altLang="en-US" dirty="0" smtClean="0">
                <a:latin typeface="+mn-ea"/>
                <a:ea typeface="+mn-ea"/>
              </a:rPr>
              <a:t>模块</a:t>
            </a:r>
            <a:r>
              <a:rPr lang="zh-CN" altLang="en-US" dirty="0">
                <a:latin typeface="+mn-ea"/>
                <a:ea typeface="+mn-ea"/>
              </a:rPr>
              <a:t>右边的接插孔用于连接其他模块，</a:t>
            </a:r>
            <a:r>
              <a:rPr lang="en-US" altLang="zh-CN" dirty="0">
                <a:latin typeface="+mn-ea"/>
                <a:ea typeface="+mn-ea"/>
              </a:rPr>
              <a:t>CLK</a:t>
            </a:r>
            <a:r>
              <a:rPr lang="zh-CN" altLang="en-US" dirty="0">
                <a:latin typeface="+mn-ea"/>
                <a:ea typeface="+mn-ea"/>
              </a:rPr>
              <a:t>接插孔用于连接外部输入的时钟，</a:t>
            </a:r>
            <a:r>
              <a:rPr lang="en-US" altLang="zh-CN" dirty="0">
                <a:latin typeface="+mn-ea"/>
                <a:ea typeface="+mn-ea"/>
              </a:rPr>
              <a:t>IO0</a:t>
            </a:r>
            <a:r>
              <a:rPr lang="zh-CN" altLang="en-US" dirty="0">
                <a:latin typeface="+mn-ea"/>
                <a:ea typeface="+mn-ea"/>
              </a:rPr>
              <a:t>接插孔用于连接外部输入的复位信号，</a:t>
            </a:r>
            <a:r>
              <a:rPr lang="en-US" altLang="zh-CN" dirty="0">
                <a:latin typeface="+mn-ea"/>
                <a:ea typeface="+mn-ea"/>
              </a:rPr>
              <a:t>IO1</a:t>
            </a:r>
            <a:r>
              <a:rPr lang="zh-CN" altLang="en-US" dirty="0">
                <a:latin typeface="+mn-ea"/>
                <a:ea typeface="+mn-ea"/>
              </a:rPr>
              <a:t>至</a:t>
            </a:r>
            <a:r>
              <a:rPr lang="en-US" altLang="zh-CN" dirty="0">
                <a:latin typeface="+mn-ea"/>
                <a:ea typeface="+mn-ea"/>
              </a:rPr>
              <a:t>IO20</a:t>
            </a:r>
            <a:r>
              <a:rPr lang="zh-CN" altLang="en-US" dirty="0">
                <a:latin typeface="+mn-ea"/>
                <a:ea typeface="+mn-ea"/>
              </a:rPr>
              <a:t>为通用接插孔，可以作为输入也可以作为输出</a:t>
            </a:r>
            <a:r>
              <a:rPr lang="zh-CN" altLang="en-US" dirty="0" smtClean="0">
                <a:latin typeface="+mn-ea"/>
                <a:ea typeface="+mn-ea"/>
              </a:rPr>
              <a:t>。</a:t>
            </a:r>
            <a:endParaRPr lang="en-US" altLang="zh-CN" dirty="0" smtClean="0">
              <a:latin typeface="+mn-ea"/>
              <a:ea typeface="+mn-ea"/>
            </a:endParaRPr>
          </a:p>
          <a:p>
            <a:endParaRPr lang="en-US" altLang="zh-CN" dirty="0" smtClean="0">
              <a:latin typeface="+mn-ea"/>
              <a:ea typeface="+mn-ea"/>
            </a:endParaRPr>
          </a:p>
          <a:p>
            <a:r>
              <a:rPr lang="en-US" altLang="zh-CN" sz="1600" dirty="0"/>
              <a:t>•  </a:t>
            </a:r>
            <a:r>
              <a:rPr lang="en-US" altLang="zh-CN" dirty="0" smtClean="0">
                <a:latin typeface="+mn-ea"/>
              </a:rPr>
              <a:t>FPGA</a:t>
            </a:r>
            <a:r>
              <a:rPr lang="zh-CN" altLang="en-US" dirty="0" smtClean="0">
                <a:latin typeface="+mn-ea"/>
              </a:rPr>
              <a:t>的</a:t>
            </a:r>
            <a:r>
              <a:rPr lang="zh-CN" altLang="en-US" dirty="0">
                <a:latin typeface="+mn-ea"/>
              </a:rPr>
              <a:t>管脚连接表见</a:t>
            </a:r>
            <a:r>
              <a:rPr lang="zh-CN" altLang="en-US" dirty="0" smtClean="0">
                <a:latin typeface="+mn-ea"/>
              </a:rPr>
              <a:t>“</a:t>
            </a:r>
            <a:r>
              <a:rPr lang="zh-CN" altLang="en-US" b="1" dirty="0" smtClean="0">
                <a:latin typeface="+mn-ea"/>
              </a:rPr>
              <a:t>课程文档</a:t>
            </a:r>
            <a:r>
              <a:rPr lang="zh-CN" altLang="en-US" dirty="0" smtClean="0">
                <a:latin typeface="+mn-ea"/>
              </a:rPr>
              <a:t>”</a:t>
            </a:r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67544" y="116632"/>
            <a:ext cx="331236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Roboto"/>
              </a:rPr>
              <a:t>可编程模块</a:t>
            </a:r>
            <a:r>
              <a:rPr lang="en-US" altLang="zh-CN" sz="2000" dirty="0"/>
              <a:t> (XC7A35)</a:t>
            </a:r>
          </a:p>
        </p:txBody>
      </p:sp>
      <p:pic>
        <p:nvPicPr>
          <p:cNvPr id="2050" name="Picture 2" descr="https://lab.cs.tsinghua.edu.cn/digital-logic-lab/doc/figure/FPGA_real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497549"/>
            <a:ext cx="4992317" cy="251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6243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lab.cs.tsinghua.edu.cn/digital-logic-lab/doc/figure/IC14_real.png"/>
          <p:cNvPicPr>
            <a:picLocks noGrp="1" noChangeAspect="1" noChangeArrowheads="1"/>
          </p:cNvPicPr>
          <p:nvPr>
            <p:ph idx="1"/>
          </p:nvPr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908" y="728760"/>
            <a:ext cx="2122123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/>
          <p:cNvSpPr/>
          <p:nvPr/>
        </p:nvSpPr>
        <p:spPr>
          <a:xfrm>
            <a:off x="179512" y="2996952"/>
            <a:ext cx="8712968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Roboto"/>
              </a:rPr>
              <a:t>模块中间安装有</a:t>
            </a:r>
            <a:r>
              <a:rPr lang="en-US" altLang="zh-CN" dirty="0">
                <a:latin typeface="Roboto"/>
              </a:rPr>
              <a:t>14</a:t>
            </a:r>
            <a:r>
              <a:rPr lang="zh-CN" altLang="en-US" dirty="0">
                <a:latin typeface="Roboto"/>
              </a:rPr>
              <a:t>脚双列直插的黑色管座，可以将</a:t>
            </a:r>
            <a:r>
              <a:rPr lang="en-US" altLang="zh-CN" dirty="0">
                <a:latin typeface="Roboto"/>
              </a:rPr>
              <a:t>14</a:t>
            </a:r>
            <a:r>
              <a:rPr lang="zh-CN" altLang="en-US" dirty="0">
                <a:latin typeface="Roboto"/>
              </a:rPr>
              <a:t>脚的芯片安装在上面，管座四周分布了</a:t>
            </a:r>
            <a:r>
              <a:rPr lang="en-US" altLang="zh-CN" dirty="0">
                <a:latin typeface="Roboto"/>
              </a:rPr>
              <a:t>14</a:t>
            </a:r>
            <a:r>
              <a:rPr lang="zh-CN" altLang="en-US" dirty="0">
                <a:latin typeface="Roboto"/>
              </a:rPr>
              <a:t>个通用插线孔（台阶插座）、一个电源</a:t>
            </a:r>
            <a:r>
              <a:rPr lang="en-US" altLang="zh-CN" dirty="0">
                <a:latin typeface="Roboto"/>
              </a:rPr>
              <a:t>+VCC </a:t>
            </a:r>
            <a:r>
              <a:rPr lang="zh-CN" altLang="en-US" dirty="0">
                <a:latin typeface="Roboto"/>
              </a:rPr>
              <a:t>插线孔、一个地线 </a:t>
            </a:r>
            <a:r>
              <a:rPr lang="en-US" altLang="zh-CN" dirty="0">
                <a:latin typeface="Roboto"/>
              </a:rPr>
              <a:t>GND </a:t>
            </a:r>
            <a:r>
              <a:rPr lang="zh-CN" altLang="en-US" dirty="0">
                <a:latin typeface="Roboto"/>
              </a:rPr>
              <a:t>插线孔，每个管脚都对应引出到一个插线孔上，每个孔位名称与芯片的引脚号是一一对应的关系。可以使用连接线将各个孔位与其他模块进行连接，搭建形成所需电路。正放模块时管座的左下角始终对应芯片的</a:t>
            </a:r>
            <a:r>
              <a:rPr lang="en-US" altLang="zh-CN" dirty="0">
                <a:latin typeface="Roboto"/>
              </a:rPr>
              <a:t>1</a:t>
            </a:r>
            <a:r>
              <a:rPr lang="zh-CN" altLang="en-US" dirty="0">
                <a:latin typeface="Roboto"/>
              </a:rPr>
              <a:t>号脚。</a:t>
            </a:r>
            <a:endParaRPr lang="en-US" altLang="zh-CN" dirty="0">
              <a:latin typeface="Roboto"/>
            </a:endParaRPr>
          </a:p>
          <a:p>
            <a:endParaRPr lang="zh-CN" altLang="en-US" dirty="0"/>
          </a:p>
          <a:p>
            <a:r>
              <a:rPr lang="zh-CN" altLang="en-US" b="1" dirty="0"/>
              <a:t>注意</a:t>
            </a:r>
            <a:r>
              <a:rPr lang="zh-CN" altLang="en-US" b="1" dirty="0" smtClean="0"/>
              <a:t>：</a:t>
            </a:r>
            <a:endParaRPr lang="en-US" altLang="zh-CN" b="1" dirty="0" smtClean="0"/>
          </a:p>
          <a:p>
            <a:pPr marL="285750">
              <a:buFont typeface="Arial" panose="020B0604020202020204" pitchFamily="34" charset="0"/>
              <a:buChar char="•"/>
            </a:pPr>
            <a:r>
              <a:rPr lang="zh-CN" altLang="en-US" dirty="0" smtClean="0"/>
              <a:t>  将</a:t>
            </a:r>
            <a:r>
              <a:rPr lang="zh-CN" altLang="en-US" dirty="0"/>
              <a:t>芯片插入管座的</a:t>
            </a:r>
            <a:r>
              <a:rPr lang="zh-CN" altLang="en-US" dirty="0" smtClean="0"/>
              <a:t>时候一定注意</a:t>
            </a:r>
            <a:r>
              <a:rPr lang="zh-CN" altLang="en-US" dirty="0"/>
              <a:t>芯片</a:t>
            </a:r>
            <a:r>
              <a:rPr lang="zh-CN" altLang="en-US" dirty="0" smtClean="0"/>
              <a:t>方向要与</a:t>
            </a:r>
            <a:r>
              <a:rPr lang="zh-CN" altLang="en-US" dirty="0"/>
              <a:t>管座一致，插反了上电可能会</a:t>
            </a:r>
            <a:r>
              <a:rPr lang="zh-CN" altLang="en-US" dirty="0" smtClean="0"/>
              <a:t>烧</a:t>
            </a:r>
            <a:endParaRPr lang="en-US" altLang="zh-CN" dirty="0" smtClean="0"/>
          </a:p>
          <a:p>
            <a:pPr marL="285750"/>
            <a:r>
              <a:rPr lang="en-US" altLang="zh-CN" dirty="0"/>
              <a:t> </a:t>
            </a:r>
            <a:r>
              <a:rPr lang="zh-CN" altLang="en-US" dirty="0" smtClean="0"/>
              <a:t>  毁</a:t>
            </a:r>
            <a:r>
              <a:rPr lang="zh-CN" altLang="en-US" dirty="0"/>
              <a:t>芯片</a:t>
            </a:r>
            <a:r>
              <a:rPr lang="zh-CN" altLang="en-US" dirty="0" smtClean="0"/>
              <a:t>！！</a:t>
            </a:r>
            <a:endParaRPr lang="en-US" altLang="zh-CN" dirty="0"/>
          </a:p>
          <a:p>
            <a:pPr marL="285750">
              <a:buFont typeface="Arial" panose="020B0604020202020204" pitchFamily="34" charset="0"/>
              <a:buChar char="•"/>
            </a:pPr>
            <a:r>
              <a:rPr lang="zh-CN" altLang="en-US" dirty="0" smtClean="0"/>
              <a:t>  插入</a:t>
            </a:r>
            <a:r>
              <a:rPr lang="zh-CN" altLang="en-US" dirty="0"/>
              <a:t>器件时请垂直插入管座，防止管脚没插入或者被折弯，造成接触不良。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251520" y="220458"/>
            <a:ext cx="251062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>
                <a:latin typeface="Roboto"/>
              </a:rPr>
              <a:t>14</a:t>
            </a:r>
            <a:r>
              <a:rPr lang="zh-CN" altLang="en-US" sz="2000" b="1" dirty="0">
                <a:latin typeface="Roboto"/>
              </a:rPr>
              <a:t>脚、</a:t>
            </a:r>
            <a:r>
              <a:rPr lang="en-US" altLang="zh-CN" sz="2000" b="1" dirty="0">
                <a:latin typeface="Roboto"/>
              </a:rPr>
              <a:t>16</a:t>
            </a:r>
            <a:r>
              <a:rPr lang="zh-CN" altLang="en-US" sz="2000" b="1" dirty="0">
                <a:latin typeface="Roboto"/>
              </a:rPr>
              <a:t>脚器件模块</a:t>
            </a:r>
            <a:endParaRPr lang="zh-CN" altLang="en-US" sz="2000" b="1" i="0" dirty="0">
              <a:effectLst/>
              <a:latin typeface="Roboto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8444" y="728760"/>
            <a:ext cx="2090541" cy="2160000"/>
          </a:xfrm>
          <a:prstGeom prst="rect">
            <a:avLst/>
          </a:prstGeom>
        </p:spPr>
      </p:pic>
      <p:sp>
        <p:nvSpPr>
          <p:cNvPr id="9" name="上箭头 8"/>
          <p:cNvSpPr/>
          <p:nvPr/>
        </p:nvSpPr>
        <p:spPr bwMode="auto">
          <a:xfrm>
            <a:off x="6005972" y="1941458"/>
            <a:ext cx="72008" cy="218144"/>
          </a:xfrm>
          <a:prstGeom prst="up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5444816" y="2127713"/>
            <a:ext cx="1122312" cy="45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b="1" dirty="0">
                <a:solidFill>
                  <a:srgbClr val="FF0000"/>
                </a:solidFill>
              </a:rPr>
              <a:t>1</a:t>
            </a:r>
            <a:r>
              <a:rPr lang="zh-CN" altLang="en-US" sz="1800" b="1" dirty="0">
                <a:solidFill>
                  <a:srgbClr val="FF0000"/>
                </a:solidFill>
              </a:rPr>
              <a:t>脚</a:t>
            </a:r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 bwMode="auto">
          <a:xfrm>
            <a:off x="5144344" y="1368854"/>
            <a:ext cx="724000" cy="403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800" b="1" dirty="0">
                <a:solidFill>
                  <a:srgbClr val="FF0000"/>
                </a:solidFill>
              </a:rPr>
              <a:t>缺口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4128" y="1179052"/>
            <a:ext cx="1800000" cy="764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990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>
            <a:extLst>
              <a:ext uri="{FF2B5EF4-FFF2-40B4-BE49-F238E27FC236}">
                <a16:creationId xmlns:a16="http://schemas.microsoft.com/office/drawing/2014/main" id="{E17AC269-673F-4DD1-A35E-7BA64EC6B9C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79425" y="188913"/>
            <a:ext cx="4043363" cy="523220"/>
          </a:xfrm>
        </p:spPr>
        <p:txBody>
          <a:bodyPr anchor="t">
            <a:spAutoFit/>
          </a:bodyPr>
          <a:lstStyle/>
          <a:p>
            <a:pPr algn="l" eaLnBrk="1" hangingPunct="1"/>
            <a:r>
              <a:rPr lang="en-US" altLang="zh-CN" sz="2800" dirty="0">
                <a:latin typeface="宋体" panose="02010600030101010101" pitchFamily="2" charset="-122"/>
              </a:rPr>
              <a:t>CD4011 </a:t>
            </a:r>
            <a:r>
              <a:rPr lang="zh-CN" altLang="en-US" sz="2800" dirty="0">
                <a:latin typeface="宋体" panose="02010600030101010101" pitchFamily="2" charset="-122"/>
              </a:rPr>
              <a:t>四</a:t>
            </a:r>
            <a:r>
              <a:rPr lang="en-US" altLang="zh-CN" sz="2800" dirty="0">
                <a:latin typeface="宋体" panose="02010600030101010101" pitchFamily="2" charset="-122"/>
              </a:rPr>
              <a:t>2</a:t>
            </a:r>
            <a:r>
              <a:rPr lang="zh-CN" altLang="en-US" sz="2800" dirty="0">
                <a:latin typeface="宋体" panose="02010600030101010101" pitchFamily="2" charset="-122"/>
              </a:rPr>
              <a:t>输入与非门</a:t>
            </a:r>
            <a:endParaRPr lang="en-US" altLang="zh-CN" sz="2800" dirty="0"/>
          </a:p>
        </p:txBody>
      </p:sp>
      <p:grpSp>
        <p:nvGrpSpPr>
          <p:cNvPr id="11267" name="组合 6">
            <a:extLst>
              <a:ext uri="{FF2B5EF4-FFF2-40B4-BE49-F238E27FC236}">
                <a16:creationId xmlns:a16="http://schemas.microsoft.com/office/drawing/2014/main" id="{0EE3251C-A715-40B8-A444-A95F546DBBF6}"/>
              </a:ext>
            </a:extLst>
          </p:cNvPr>
          <p:cNvGrpSpPr>
            <a:grpSpLocks/>
          </p:cNvGrpSpPr>
          <p:nvPr/>
        </p:nvGrpSpPr>
        <p:grpSpPr bwMode="auto">
          <a:xfrm>
            <a:off x="765175" y="717550"/>
            <a:ext cx="2519363" cy="1439863"/>
            <a:chOff x="0" y="0"/>
            <a:chExt cx="4924428" cy="4140498"/>
          </a:xfrm>
        </p:grpSpPr>
        <p:pic>
          <p:nvPicPr>
            <p:cNvPr id="11284" name="Picture 5">
              <a:extLst>
                <a:ext uri="{FF2B5EF4-FFF2-40B4-BE49-F238E27FC236}">
                  <a16:creationId xmlns:a16="http://schemas.microsoft.com/office/drawing/2014/main" id="{385A9E9E-651A-43AF-AE49-24E05B883B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4924428" cy="4140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285" name="TextBox 8">
              <a:extLst>
                <a:ext uri="{FF2B5EF4-FFF2-40B4-BE49-F238E27FC236}">
                  <a16:creationId xmlns:a16="http://schemas.microsoft.com/office/drawing/2014/main" id="{06FB4DF1-2D23-46C3-A8AF-7E53CE3734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932220">
              <a:off x="973856" y="1102497"/>
              <a:ext cx="2896478" cy="11504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2000" b="1" dirty="0">
                  <a:solidFill>
                    <a:srgbClr val="6D6D6D"/>
                  </a:solidFill>
                  <a:latin typeface="Arial" panose="020B0604020202020204" pitchFamily="34" charset="0"/>
                </a:rPr>
                <a:t>CD4011</a:t>
              </a:r>
            </a:p>
          </p:txBody>
        </p:sp>
        <p:sp>
          <p:nvSpPr>
            <p:cNvPr id="11286" name="弦形 10">
              <a:extLst>
                <a:ext uri="{FF2B5EF4-FFF2-40B4-BE49-F238E27FC236}">
                  <a16:creationId xmlns:a16="http://schemas.microsoft.com/office/drawing/2014/main" id="{CC63DAC7-D460-4FD4-BFF2-27F663A2A565}"/>
                </a:ext>
              </a:extLst>
            </p:cNvPr>
            <p:cNvSpPr>
              <a:spLocks/>
            </p:cNvSpPr>
            <p:nvPr/>
          </p:nvSpPr>
          <p:spPr bwMode="auto">
            <a:xfrm rot="-7171031">
              <a:off x="424630" y="706609"/>
              <a:ext cx="358043" cy="232407"/>
            </a:xfrm>
            <a:custGeom>
              <a:avLst/>
              <a:gdLst>
                <a:gd name="T0" fmla="*/ 291901 w 357171"/>
                <a:gd name="T1" fmla="*/ 213585 h 232408"/>
                <a:gd name="T2" fmla="*/ 291900 w 357171"/>
                <a:gd name="T3" fmla="*/ 213584 h 232408"/>
                <a:gd name="T4" fmla="*/ 188885 w 357171"/>
                <a:gd name="T5" fmla="*/ 232388 h 232408"/>
                <a:gd name="T6" fmla="*/ -1 w 357171"/>
                <a:gd name="T7" fmla="*/ 116204 h 232408"/>
                <a:gd name="T8" fmla="*/ 188884 w 357171"/>
                <a:gd name="T9" fmla="*/ 0 h 232408"/>
                <a:gd name="T10" fmla="*/ 291901 w 357171"/>
                <a:gd name="T11" fmla="*/ 213585 h 23240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52307 w 357171"/>
                <a:gd name="T19" fmla="*/ 34035 h 232408"/>
                <a:gd name="T20" fmla="*/ 304864 w 357171"/>
                <a:gd name="T21" fmla="*/ 198373 h 23240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57171" h="232408">
                  <a:moveTo>
                    <a:pt x="275985" y="213604"/>
                  </a:moveTo>
                  <a:lnTo>
                    <a:pt x="275984" y="213603"/>
                  </a:lnTo>
                  <a:cubicBezTo>
                    <a:pt x="247000" y="225875"/>
                    <a:pt x="213164" y="232407"/>
                    <a:pt x="178585" y="232407"/>
                  </a:cubicBezTo>
                  <a:cubicBezTo>
                    <a:pt x="79954" y="232408"/>
                    <a:pt x="-1" y="180381"/>
                    <a:pt x="-1" y="116204"/>
                  </a:cubicBezTo>
                  <a:cubicBezTo>
                    <a:pt x="-1" y="52026"/>
                    <a:pt x="79954" y="0"/>
                    <a:pt x="178584" y="0"/>
                  </a:cubicBezTo>
                  <a:lnTo>
                    <a:pt x="275985" y="213604"/>
                  </a:lnTo>
                  <a:close/>
                </a:path>
              </a:pathLst>
            </a:custGeom>
            <a:noFill/>
            <a:ln w="19050" cmpd="sng">
              <a:solidFill>
                <a:schemeClr val="bg2"/>
              </a:solidFill>
              <a:round/>
              <a:headEnd/>
              <a:tailEnd/>
            </a:ln>
            <a:effectLst>
              <a:prstShdw prst="shdw17" dist="17961" dir="2700000">
                <a:srgbClr val="306E1A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eaVert" wrap="none" tIns="0" bIns="0" anchor="ctr"/>
            <a:lstStyle/>
            <a:p>
              <a:endParaRPr lang="zh-CN" altLang="en-US"/>
            </a:p>
          </p:txBody>
        </p:sp>
      </p:grpSp>
      <p:graphicFrame>
        <p:nvGraphicFramePr>
          <p:cNvPr id="11268" name="Object 8">
            <a:extLst>
              <a:ext uri="{FF2B5EF4-FFF2-40B4-BE49-F238E27FC236}">
                <a16:creationId xmlns:a16="http://schemas.microsoft.com/office/drawing/2014/main" id="{92271D33-7EE5-4F68-99B1-E9BC843E08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02653" y="3135177"/>
          <a:ext cx="7874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4" r:id="rId4" imgW="787742" imgH="279521" progId="">
                  <p:embed/>
                </p:oleObj>
              </mc:Choice>
              <mc:Fallback>
                <p:oleObj r:id="rId4" imgW="787742" imgH="279521" progId="">
                  <p:embed/>
                  <p:pic>
                    <p:nvPicPr>
                      <p:cNvPr id="11268" name="Object 8">
                        <a:extLst>
                          <a:ext uri="{FF2B5EF4-FFF2-40B4-BE49-F238E27FC236}">
                            <a16:creationId xmlns:a16="http://schemas.microsoft.com/office/drawing/2014/main" id="{92271D33-7EE5-4F68-99B1-E9BC843E08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2653" y="3135177"/>
                        <a:ext cx="7874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9" name="标题 1">
            <a:extLst>
              <a:ext uri="{FF2B5EF4-FFF2-40B4-BE49-F238E27FC236}">
                <a16:creationId xmlns:a16="http://schemas.microsoft.com/office/drawing/2014/main" id="{A07EE182-0DB3-4844-81EB-83209C62A7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5924" y="1748719"/>
            <a:ext cx="133032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芯片</a:t>
            </a:r>
            <a:endParaRPr lang="en-US" altLang="zh-CN" sz="2400" dirty="0">
              <a:latin typeface="楷体_GB2312" pitchFamily="1" charset="-122"/>
              <a:ea typeface="楷体_GB2312" pitchFamily="1" charset="-122"/>
            </a:endParaRPr>
          </a:p>
        </p:txBody>
      </p:sp>
      <p:pic>
        <p:nvPicPr>
          <p:cNvPr id="11270" name="图片 171">
            <a:extLst>
              <a:ext uri="{FF2B5EF4-FFF2-40B4-BE49-F238E27FC236}">
                <a16:creationId xmlns:a16="http://schemas.microsoft.com/office/drawing/2014/main" id="{B28D28DB-F3D6-43DB-8F97-2B213FE4BC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8106" y="91642"/>
            <a:ext cx="2520950" cy="174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71" name="标题 1">
            <a:extLst>
              <a:ext uri="{FF2B5EF4-FFF2-40B4-BE49-F238E27FC236}">
                <a16:creationId xmlns:a16="http://schemas.microsoft.com/office/drawing/2014/main" id="{C06CEF6D-656D-4294-9E7E-D5AF20E436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477" y="2505674"/>
            <a:ext cx="46894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800" dirty="0">
                <a:latin typeface="宋体" panose="02010600030101010101" pitchFamily="2" charset="-122"/>
              </a:rPr>
              <a:t>74LS00 </a:t>
            </a:r>
            <a:r>
              <a:rPr lang="zh-CN" altLang="en-US" sz="2800" dirty="0">
                <a:latin typeface="宋体" panose="02010600030101010101" pitchFamily="2" charset="-122"/>
              </a:rPr>
              <a:t>四</a:t>
            </a:r>
            <a:r>
              <a:rPr lang="en-US" altLang="zh-CN" sz="2800" dirty="0">
                <a:latin typeface="宋体" panose="02010600030101010101" pitchFamily="2" charset="-122"/>
              </a:rPr>
              <a:t>2</a:t>
            </a:r>
            <a:r>
              <a:rPr lang="zh-CN" altLang="en-US" sz="2800" dirty="0">
                <a:latin typeface="宋体" panose="02010600030101010101" pitchFamily="2" charset="-122"/>
              </a:rPr>
              <a:t>输入与非门</a:t>
            </a:r>
            <a:endParaRPr lang="en-US" altLang="zh-CN" sz="3000" dirty="0"/>
          </a:p>
        </p:txBody>
      </p:sp>
      <p:pic>
        <p:nvPicPr>
          <p:cNvPr id="11272" name="图片 2">
            <a:extLst>
              <a:ext uri="{FF2B5EF4-FFF2-40B4-BE49-F238E27FC236}">
                <a16:creationId xmlns:a16="http://schemas.microsoft.com/office/drawing/2014/main" id="{7C7EA6C9-5E55-41D5-ACDC-36A21DBF56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6596" y="2644136"/>
            <a:ext cx="2520950" cy="161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1273" name="Object 15">
            <a:extLst>
              <a:ext uri="{FF2B5EF4-FFF2-40B4-BE49-F238E27FC236}">
                <a16:creationId xmlns:a16="http://schemas.microsoft.com/office/drawing/2014/main" id="{D8640A9C-267B-4ED4-BC7C-D7D45F8D0A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02653" y="747482"/>
          <a:ext cx="7874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5" r:id="rId8" imgW="787742" imgH="279521" progId="">
                  <p:embed/>
                </p:oleObj>
              </mc:Choice>
              <mc:Fallback>
                <p:oleObj r:id="rId8" imgW="787742" imgH="279521" progId="">
                  <p:embed/>
                  <p:pic>
                    <p:nvPicPr>
                      <p:cNvPr id="11273" name="Object 15">
                        <a:extLst>
                          <a:ext uri="{FF2B5EF4-FFF2-40B4-BE49-F238E27FC236}">
                            <a16:creationId xmlns:a16="http://schemas.microsoft.com/office/drawing/2014/main" id="{D8640A9C-267B-4ED4-BC7C-D7D45F8D0AF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2653" y="747482"/>
                        <a:ext cx="7874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4" name="Oval 21">
            <a:extLst>
              <a:ext uri="{FF2B5EF4-FFF2-40B4-BE49-F238E27FC236}">
                <a16:creationId xmlns:a16="http://schemas.microsoft.com/office/drawing/2014/main" id="{EC3B6BE8-9EFC-4726-A650-194D859A4E3C}"/>
              </a:ext>
            </a:extLst>
          </p:cNvPr>
          <p:cNvSpPr>
            <a:spLocks noChangeArrowheads="1"/>
          </p:cNvSpPr>
          <p:nvPr/>
        </p:nvSpPr>
        <p:spPr bwMode="auto">
          <a:xfrm flipH="1" flipV="1">
            <a:off x="998538" y="1250950"/>
            <a:ext cx="153987" cy="1143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rot="10800000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b="1">
              <a:latin typeface="Arial" panose="020B0604020202020204" pitchFamily="34" charset="0"/>
            </a:endParaRPr>
          </a:p>
        </p:txBody>
      </p:sp>
      <p:grpSp>
        <p:nvGrpSpPr>
          <p:cNvPr id="11275" name="组合 6">
            <a:extLst>
              <a:ext uri="{FF2B5EF4-FFF2-40B4-BE49-F238E27FC236}">
                <a16:creationId xmlns:a16="http://schemas.microsoft.com/office/drawing/2014/main" id="{A7A0D04A-EBBE-40C7-8E93-E85469321222}"/>
              </a:ext>
            </a:extLst>
          </p:cNvPr>
          <p:cNvGrpSpPr>
            <a:grpSpLocks/>
          </p:cNvGrpSpPr>
          <p:nvPr/>
        </p:nvGrpSpPr>
        <p:grpSpPr bwMode="auto">
          <a:xfrm>
            <a:off x="777875" y="3046731"/>
            <a:ext cx="2520950" cy="1439863"/>
            <a:chOff x="0" y="0"/>
            <a:chExt cx="4924428" cy="4140498"/>
          </a:xfrm>
        </p:grpSpPr>
        <p:pic>
          <p:nvPicPr>
            <p:cNvPr id="11281" name="Picture 5">
              <a:extLst>
                <a:ext uri="{FF2B5EF4-FFF2-40B4-BE49-F238E27FC236}">
                  <a16:creationId xmlns:a16="http://schemas.microsoft.com/office/drawing/2014/main" id="{AAB4889F-BDD8-4333-9003-EC95A415BD3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4924428" cy="4140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282" name="TextBox 8">
              <a:extLst>
                <a:ext uri="{FF2B5EF4-FFF2-40B4-BE49-F238E27FC236}">
                  <a16:creationId xmlns:a16="http://schemas.microsoft.com/office/drawing/2014/main" id="{A7A973CF-CD50-4579-91AC-5F5FDEC41D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932220">
              <a:off x="973856" y="1102497"/>
              <a:ext cx="2896478" cy="11504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2000" b="1" dirty="0">
                  <a:solidFill>
                    <a:srgbClr val="6D6D6D"/>
                  </a:solidFill>
                  <a:latin typeface="Arial" panose="020B0604020202020204" pitchFamily="34" charset="0"/>
                </a:rPr>
                <a:t>74LS00</a:t>
              </a:r>
            </a:p>
          </p:txBody>
        </p:sp>
        <p:sp>
          <p:nvSpPr>
            <p:cNvPr id="11283" name="弦形 10">
              <a:extLst>
                <a:ext uri="{FF2B5EF4-FFF2-40B4-BE49-F238E27FC236}">
                  <a16:creationId xmlns:a16="http://schemas.microsoft.com/office/drawing/2014/main" id="{BF61B907-30EA-4B3E-8CB8-6ED6A594E1C4}"/>
                </a:ext>
              </a:extLst>
            </p:cNvPr>
            <p:cNvSpPr>
              <a:spLocks/>
            </p:cNvSpPr>
            <p:nvPr/>
          </p:nvSpPr>
          <p:spPr bwMode="auto">
            <a:xfrm rot="-7171031">
              <a:off x="424630" y="706609"/>
              <a:ext cx="358043" cy="232407"/>
            </a:xfrm>
            <a:custGeom>
              <a:avLst/>
              <a:gdLst>
                <a:gd name="T0" fmla="*/ 291901 w 357171"/>
                <a:gd name="T1" fmla="*/ 213585 h 232408"/>
                <a:gd name="T2" fmla="*/ 291900 w 357171"/>
                <a:gd name="T3" fmla="*/ 213584 h 232408"/>
                <a:gd name="T4" fmla="*/ 188885 w 357171"/>
                <a:gd name="T5" fmla="*/ 232388 h 232408"/>
                <a:gd name="T6" fmla="*/ -1 w 357171"/>
                <a:gd name="T7" fmla="*/ 116204 h 232408"/>
                <a:gd name="T8" fmla="*/ 188884 w 357171"/>
                <a:gd name="T9" fmla="*/ 0 h 232408"/>
                <a:gd name="T10" fmla="*/ 291901 w 357171"/>
                <a:gd name="T11" fmla="*/ 213585 h 23240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52307 w 357171"/>
                <a:gd name="T19" fmla="*/ 34035 h 232408"/>
                <a:gd name="T20" fmla="*/ 304864 w 357171"/>
                <a:gd name="T21" fmla="*/ 198373 h 23240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57171" h="232408">
                  <a:moveTo>
                    <a:pt x="275985" y="213604"/>
                  </a:moveTo>
                  <a:lnTo>
                    <a:pt x="275984" y="213603"/>
                  </a:lnTo>
                  <a:cubicBezTo>
                    <a:pt x="247000" y="225875"/>
                    <a:pt x="213164" y="232407"/>
                    <a:pt x="178585" y="232407"/>
                  </a:cubicBezTo>
                  <a:cubicBezTo>
                    <a:pt x="79954" y="232408"/>
                    <a:pt x="-1" y="180381"/>
                    <a:pt x="-1" y="116204"/>
                  </a:cubicBezTo>
                  <a:cubicBezTo>
                    <a:pt x="-1" y="52026"/>
                    <a:pt x="79954" y="0"/>
                    <a:pt x="178584" y="0"/>
                  </a:cubicBezTo>
                  <a:lnTo>
                    <a:pt x="275985" y="213604"/>
                  </a:lnTo>
                  <a:close/>
                </a:path>
              </a:pathLst>
            </a:custGeom>
            <a:noFill/>
            <a:ln w="19050" cmpd="sng">
              <a:solidFill>
                <a:schemeClr val="bg2"/>
              </a:solidFill>
              <a:round/>
              <a:headEnd/>
              <a:tailEnd/>
            </a:ln>
            <a:effectLst>
              <a:prstShdw prst="shdw17" dist="17961" dir="2700000">
                <a:srgbClr val="306E1A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eaVert" wrap="none" tIns="0" bIns="0" anchor="ctr"/>
            <a:lstStyle/>
            <a:p>
              <a:endParaRPr lang="zh-CN" altLang="en-US"/>
            </a:p>
          </p:txBody>
        </p:sp>
      </p:grpSp>
      <p:sp>
        <p:nvSpPr>
          <p:cNvPr id="11276" name="标题 1">
            <a:extLst>
              <a:ext uri="{FF2B5EF4-FFF2-40B4-BE49-F238E27FC236}">
                <a16:creationId xmlns:a16="http://schemas.microsoft.com/office/drawing/2014/main" id="{2A928387-338A-41DD-A8AB-D3EB089C33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538" y="4097380"/>
            <a:ext cx="133032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芯片</a:t>
            </a:r>
            <a:endParaRPr lang="en-US" altLang="zh-CN" sz="2400" dirty="0"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11277" name="Oval 21">
            <a:extLst>
              <a:ext uri="{FF2B5EF4-FFF2-40B4-BE49-F238E27FC236}">
                <a16:creationId xmlns:a16="http://schemas.microsoft.com/office/drawing/2014/main" id="{3C3D66AA-0C75-4AE1-AC14-E127D05BB3E7}"/>
              </a:ext>
            </a:extLst>
          </p:cNvPr>
          <p:cNvSpPr>
            <a:spLocks noChangeArrowheads="1"/>
          </p:cNvSpPr>
          <p:nvPr/>
        </p:nvSpPr>
        <p:spPr bwMode="auto">
          <a:xfrm flipH="1" flipV="1">
            <a:off x="986660" y="3600831"/>
            <a:ext cx="153987" cy="1143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rot="10800000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b="1">
              <a:latin typeface="Arial" panose="020B0604020202020204" pitchFamily="34" charset="0"/>
            </a:endParaRPr>
          </a:p>
        </p:txBody>
      </p:sp>
      <p:sp>
        <p:nvSpPr>
          <p:cNvPr id="11278" name="矩形 1">
            <a:extLst>
              <a:ext uri="{FF2B5EF4-FFF2-40B4-BE49-F238E27FC236}">
                <a16:creationId xmlns:a16="http://schemas.microsoft.com/office/drawing/2014/main" id="{E4C8FCB5-C7DF-4835-8A42-6B06A532CB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4635142"/>
            <a:ext cx="8856983" cy="198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10000"/>
              </a:spcBef>
              <a:spcAft>
                <a:spcPct val="1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</a:pP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</a:rPr>
              <a:t>引脚号排列：正读双列直插式集成电路型号，左下角引脚为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</a:rPr>
              <a:t>，按逆时针方向引脚依次增加，左上角引脚号最大</a:t>
            </a:r>
            <a:endParaRPr lang="en-US" altLang="zh-CN" sz="1800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marL="0" indent="0" eaLnBrk="1" hangingPunct="1">
              <a:lnSpc>
                <a:spcPct val="125000"/>
              </a:lnSpc>
              <a:spcBef>
                <a:spcPct val="10000"/>
              </a:spcBef>
              <a:spcAft>
                <a:spcPct val="10000"/>
              </a:spcAft>
              <a:buClr>
                <a:schemeClr val="tx2"/>
              </a:buClr>
              <a:buSzPct val="75000"/>
              <a:buNone/>
            </a:pPr>
            <a:r>
              <a:rPr lang="zh-CN" altLang="en-US" sz="1800" b="1" dirty="0">
                <a:solidFill>
                  <a:srgbClr val="FF0000"/>
                </a:solidFill>
                <a:latin typeface="宋体" panose="02010600030101010101" pitchFamily="2" charset="-122"/>
              </a:rPr>
              <a:t>注意：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</a:rPr>
              <a:t>在管座上插入芯片后芯片并没有供电，需要使用连接</a:t>
            </a:r>
            <a:endParaRPr lang="en-US" altLang="zh-CN" sz="1800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marL="0" indent="0" eaLnBrk="1" hangingPunct="1">
              <a:lnSpc>
                <a:spcPct val="125000"/>
              </a:lnSpc>
              <a:spcBef>
                <a:spcPct val="10000"/>
              </a:spcBef>
              <a:spcAft>
                <a:spcPct val="10000"/>
              </a:spcAft>
              <a:buClr>
                <a:schemeClr val="tx2"/>
              </a:buClr>
              <a:buSzPct val="75000"/>
              <a:buNone/>
            </a:pP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</a:rPr>
              <a:t>线连接芯片电源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</a:rPr>
              <a:t>V</a:t>
            </a:r>
            <a:r>
              <a:rPr lang="en-US" altLang="zh-CN" sz="1800" baseline="-25000" dirty="0">
                <a:solidFill>
                  <a:srgbClr val="000000"/>
                </a:solidFill>
                <a:latin typeface="宋体" panose="02010600030101010101" pitchFamily="2" charset="-122"/>
              </a:rPr>
              <a:t>DD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</a:rPr>
              <a:t>（或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</a:rPr>
              <a:t>V</a:t>
            </a:r>
            <a:r>
              <a:rPr lang="en-US" altLang="zh-CN" sz="1800" baseline="-25000" dirty="0">
                <a:solidFill>
                  <a:srgbClr val="000000"/>
                </a:solidFill>
                <a:latin typeface="宋体" panose="02010600030101010101" pitchFamily="2" charset="-122"/>
              </a:rPr>
              <a:t>CC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</a:rPr>
              <a:t>）引脚对应的接线孔到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</a:rPr>
              <a:t>+VCC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</a:rPr>
              <a:t>接线孔，</a:t>
            </a:r>
            <a:endParaRPr lang="en-US" altLang="zh-CN" sz="1800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marL="0" indent="0" eaLnBrk="1" hangingPunct="1">
              <a:lnSpc>
                <a:spcPct val="125000"/>
              </a:lnSpc>
              <a:spcBef>
                <a:spcPct val="10000"/>
              </a:spcBef>
              <a:spcAft>
                <a:spcPct val="10000"/>
              </a:spcAft>
              <a:buClr>
                <a:schemeClr val="tx2"/>
              </a:buClr>
              <a:buSzPct val="75000"/>
              <a:buNone/>
            </a:pP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</a:rPr>
              <a:t>芯片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</a:rPr>
              <a:t>GND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</a:rPr>
              <a:t>引脚对应的接线孔</a:t>
            </a:r>
            <a:r>
              <a:rPr lang="zh-CN" altLang="en-US" sz="18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到</a:t>
            </a:r>
            <a:r>
              <a:rPr lang="en-US" altLang="zh-CN" sz="18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-GND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</a:rPr>
              <a:t>接线</a:t>
            </a:r>
            <a:r>
              <a:rPr lang="zh-CN" altLang="en-US" sz="18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孔</a:t>
            </a:r>
            <a:endParaRPr lang="zh-CN" altLang="en-US" sz="18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1279" name="标题 1">
            <a:extLst>
              <a:ext uri="{FF2B5EF4-FFF2-40B4-BE49-F238E27FC236}">
                <a16:creationId xmlns:a16="http://schemas.microsoft.com/office/drawing/2014/main" id="{C3E213C9-DB23-4038-AE99-33F37AB34B1B}"/>
              </a:ext>
            </a:extLst>
          </p:cNvPr>
          <p:cNvSpPr txBox="1">
            <a:spLocks/>
          </p:cNvSpPr>
          <p:nvPr/>
        </p:nvSpPr>
        <p:spPr bwMode="auto">
          <a:xfrm>
            <a:off x="4860029" y="1877293"/>
            <a:ext cx="266382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b="1" dirty="0">
                <a:latin typeface="宋体" panose="02010600030101010101" pitchFamily="2" charset="-122"/>
              </a:rPr>
              <a:t>CD4011 </a:t>
            </a:r>
            <a:r>
              <a:rPr lang="zh-CN" altLang="en-US" sz="1600" b="1" dirty="0">
                <a:latin typeface="宋体" panose="02010600030101010101" pitchFamily="2" charset="-122"/>
              </a:rPr>
              <a:t>器件引脚图</a:t>
            </a:r>
            <a:endParaRPr lang="en-US" altLang="zh-CN" sz="1600" b="1" dirty="0"/>
          </a:p>
        </p:txBody>
      </p:sp>
      <p:sp>
        <p:nvSpPr>
          <p:cNvPr id="11280" name="标题 1">
            <a:extLst>
              <a:ext uri="{FF2B5EF4-FFF2-40B4-BE49-F238E27FC236}">
                <a16:creationId xmlns:a16="http://schemas.microsoft.com/office/drawing/2014/main" id="{97ED8CBD-087E-43A3-9224-AF6DFC0763FA}"/>
              </a:ext>
            </a:extLst>
          </p:cNvPr>
          <p:cNvSpPr txBox="1">
            <a:spLocks/>
          </p:cNvSpPr>
          <p:nvPr/>
        </p:nvSpPr>
        <p:spPr bwMode="auto">
          <a:xfrm>
            <a:off x="4860028" y="4213864"/>
            <a:ext cx="26638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b="1" dirty="0">
                <a:latin typeface="宋体" panose="02010600030101010101" pitchFamily="2" charset="-122"/>
              </a:rPr>
              <a:t>74LS00 </a:t>
            </a:r>
            <a:r>
              <a:rPr lang="zh-CN" altLang="en-US" sz="1600" b="1" dirty="0">
                <a:latin typeface="宋体" panose="02010600030101010101" pitchFamily="2" charset="-122"/>
              </a:rPr>
              <a:t>器件引脚图</a:t>
            </a:r>
            <a:endParaRPr lang="en-US" altLang="zh-CN" sz="1600" b="1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44BEAC4D-2992-D9A5-47BD-649062A069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288" y="1461215"/>
            <a:ext cx="936104" cy="2932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b="1" dirty="0">
                <a:solidFill>
                  <a:srgbClr val="FF0000"/>
                </a:solidFill>
              </a:rPr>
              <a:t>1</a:t>
            </a:r>
            <a:r>
              <a:rPr lang="zh-CN" altLang="en-US" sz="1800" b="1" dirty="0">
                <a:solidFill>
                  <a:srgbClr val="FF0000"/>
                </a:solidFill>
              </a:rPr>
              <a:t>脚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316359-E993-108D-98AA-997053D870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826" y="779295"/>
            <a:ext cx="670840" cy="2932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800" b="1" dirty="0">
                <a:solidFill>
                  <a:srgbClr val="FF0000"/>
                </a:solidFill>
              </a:rPr>
              <a:t>缺口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509AE09-E816-319B-D96A-7B8FC6772D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492" y="3840417"/>
            <a:ext cx="936104" cy="2932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b="1" dirty="0">
                <a:solidFill>
                  <a:srgbClr val="FF0000"/>
                </a:solidFill>
              </a:rPr>
              <a:t>1</a:t>
            </a:r>
            <a:r>
              <a:rPr lang="zh-CN" altLang="en-US" sz="1800" b="1" dirty="0">
                <a:solidFill>
                  <a:srgbClr val="FF0000"/>
                </a:solidFill>
              </a:rPr>
              <a:t>脚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67034F5-3A00-DE66-8B72-8C21F3B5D0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612" y="3096717"/>
            <a:ext cx="670840" cy="2932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800" b="1" dirty="0">
                <a:solidFill>
                  <a:srgbClr val="FF0000"/>
                </a:solidFill>
              </a:rPr>
              <a:t>缺口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9F234AE-D4EB-2810-E566-E0B2628D497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0362" y="5233479"/>
            <a:ext cx="2524125" cy="145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0333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9FA77D59-3236-4500-B65F-0AB518DDB0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8229600" cy="706438"/>
          </a:xfrm>
        </p:spPr>
        <p:txBody>
          <a:bodyPr/>
          <a:lstStyle/>
          <a:p>
            <a:pPr algn="l" eaLnBrk="1" hangingPunct="1"/>
            <a:r>
              <a:rPr lang="zh-CN" altLang="en-US">
                <a:latin typeface="宋体" panose="02010600030101010101" pitchFamily="2" charset="-122"/>
              </a:rPr>
              <a:t>实验内容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BEA208A7-2012-4C47-8885-A4D77EA03C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552" y="1082650"/>
            <a:ext cx="8352927" cy="5514702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Aft>
                <a:spcPct val="20000"/>
              </a:spcAft>
              <a:buFont typeface="Arial" panose="020B0604020202020204" pitchFamily="34" charset="0"/>
              <a:buNone/>
            </a:pPr>
            <a:r>
              <a:rPr lang="en-US" altLang="zh-CN" sz="2400" dirty="0">
                <a:latin typeface="宋体" panose="02010600030101010101" pitchFamily="2" charset="-122"/>
              </a:rPr>
              <a:t>1. </a:t>
            </a:r>
            <a:r>
              <a:rPr lang="zh-CN" altLang="en-US" sz="2400" dirty="0">
                <a:latin typeface="宋体" panose="02010600030101010101" pitchFamily="2" charset="-122"/>
              </a:rPr>
              <a:t>测量</a:t>
            </a:r>
            <a:r>
              <a:rPr lang="en-US" altLang="zh-CN" sz="2400" dirty="0">
                <a:latin typeface="宋体" panose="02010600030101010101" pitchFamily="2" charset="-122"/>
              </a:rPr>
              <a:t>CMOS</a:t>
            </a:r>
            <a:r>
              <a:rPr lang="zh-CN" altLang="en-US" sz="2400" dirty="0">
                <a:latin typeface="宋体" panose="02010600030101010101" pitchFamily="2" charset="-122"/>
              </a:rPr>
              <a:t>与非门</a:t>
            </a:r>
            <a:r>
              <a:rPr lang="en-US" altLang="zh-CN" sz="2400" dirty="0">
                <a:latin typeface="宋体" panose="02010600030101010101" pitchFamily="2" charset="-122"/>
              </a:rPr>
              <a:t>CD4011</a:t>
            </a:r>
            <a:r>
              <a:rPr lang="zh-CN" altLang="en-US" sz="2400" dirty="0">
                <a:latin typeface="宋体" panose="02010600030101010101" pitchFamily="2" charset="-122"/>
              </a:rPr>
              <a:t>的平均延迟时间        </a:t>
            </a:r>
          </a:p>
          <a:p>
            <a:pPr eaLnBrk="1" hangingPunct="1">
              <a:lnSpc>
                <a:spcPct val="150000"/>
              </a:lnSpc>
              <a:spcAft>
                <a:spcPct val="20000"/>
              </a:spcAft>
              <a:buFont typeface="Arial" panose="020B0604020202020204" pitchFamily="34" charset="0"/>
              <a:buNone/>
            </a:pPr>
            <a:r>
              <a:rPr lang="en-US" altLang="zh-CN" sz="2400" dirty="0">
                <a:latin typeface="宋体" panose="02010600030101010101" pitchFamily="2" charset="-122"/>
              </a:rPr>
              <a:t>2. </a:t>
            </a:r>
            <a:r>
              <a:rPr lang="zh-CN" altLang="en-US" sz="2400" dirty="0">
                <a:latin typeface="宋体" panose="02010600030101010101" pitchFamily="2" charset="-122"/>
              </a:rPr>
              <a:t>测量</a:t>
            </a:r>
            <a:r>
              <a:rPr lang="en-US" altLang="zh-CN" sz="2400" dirty="0">
                <a:latin typeface="宋体" panose="02010600030101010101" pitchFamily="2" charset="-122"/>
              </a:rPr>
              <a:t>CMOS</a:t>
            </a:r>
            <a:r>
              <a:rPr lang="zh-CN" altLang="en-US" sz="2400" dirty="0">
                <a:latin typeface="宋体" panose="02010600030101010101" pitchFamily="2" charset="-122"/>
              </a:rPr>
              <a:t>与非门</a:t>
            </a:r>
            <a:r>
              <a:rPr lang="en-US" altLang="zh-CN" sz="2400" dirty="0">
                <a:latin typeface="宋体" panose="02010600030101010101" pitchFamily="2" charset="-122"/>
              </a:rPr>
              <a:t>CD4011</a:t>
            </a:r>
            <a:r>
              <a:rPr lang="zh-CN" altLang="en-US" sz="2400" dirty="0">
                <a:latin typeface="宋体" panose="02010600030101010101" pitchFamily="2" charset="-122"/>
              </a:rPr>
              <a:t>的电压传输特性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spcAft>
                <a:spcPct val="20000"/>
              </a:spcAft>
              <a:buFont typeface="Arial" panose="020B0604020202020204" pitchFamily="34" charset="0"/>
              <a:buNone/>
            </a:pPr>
            <a:r>
              <a:rPr lang="en-US" altLang="zh-CN" sz="2400" dirty="0">
                <a:latin typeface="宋体" panose="02010600030101010101" pitchFamily="2" charset="-122"/>
              </a:rPr>
              <a:t>3. </a:t>
            </a:r>
            <a:r>
              <a:rPr lang="zh-CN" altLang="en-US" sz="2400" dirty="0">
                <a:latin typeface="宋体" panose="02010600030101010101" pitchFamily="2" charset="-122"/>
              </a:rPr>
              <a:t>测量</a:t>
            </a:r>
            <a:r>
              <a:rPr lang="en-US" altLang="zh-CN" sz="2400" dirty="0">
                <a:latin typeface="宋体" panose="02010600030101010101" pitchFamily="2" charset="-122"/>
              </a:rPr>
              <a:t>TTL</a:t>
            </a:r>
            <a:r>
              <a:rPr lang="zh-CN" altLang="en-US" sz="2400" dirty="0">
                <a:latin typeface="宋体" panose="02010600030101010101" pitchFamily="2" charset="-122"/>
              </a:rPr>
              <a:t>与非门</a:t>
            </a:r>
            <a:r>
              <a:rPr lang="en-US" altLang="zh-CN" sz="2400" dirty="0">
                <a:latin typeface="宋体" panose="02010600030101010101" pitchFamily="2" charset="-122"/>
              </a:rPr>
              <a:t>74LS00</a:t>
            </a:r>
            <a:r>
              <a:rPr lang="zh-CN" altLang="en-US" sz="2400" dirty="0">
                <a:latin typeface="宋体" panose="02010600030101010101" pitchFamily="2" charset="-122"/>
              </a:rPr>
              <a:t>的电压传输特性 </a:t>
            </a:r>
          </a:p>
          <a:p>
            <a:pPr eaLnBrk="1" hangingPunct="1">
              <a:lnSpc>
                <a:spcPct val="150000"/>
              </a:lnSpc>
              <a:spcAft>
                <a:spcPct val="20000"/>
              </a:spcAft>
              <a:buFont typeface="Arial" panose="020B0604020202020204" pitchFamily="34" charset="0"/>
              <a:buNone/>
            </a:pPr>
            <a:r>
              <a:rPr lang="en-US" altLang="zh-CN" sz="2400" dirty="0">
                <a:latin typeface="宋体" panose="02010600030101010101" pitchFamily="2" charset="-122"/>
              </a:rPr>
              <a:t>4. </a:t>
            </a:r>
            <a:r>
              <a:rPr lang="zh-CN" altLang="en-US" sz="2400" dirty="0">
                <a:latin typeface="宋体" panose="02010600030101010101" pitchFamily="2" charset="-122"/>
              </a:rPr>
              <a:t>测量</a:t>
            </a:r>
            <a:r>
              <a:rPr lang="en-US" altLang="zh-CN" sz="2400" dirty="0">
                <a:latin typeface="宋体" panose="02010600030101010101" pitchFamily="2" charset="-122"/>
              </a:rPr>
              <a:t>TTL</a:t>
            </a:r>
            <a:r>
              <a:rPr lang="zh-CN" altLang="en-US" sz="2400" dirty="0">
                <a:latin typeface="宋体" panose="02010600030101010101" pitchFamily="2" charset="-122"/>
              </a:rPr>
              <a:t>与非门</a:t>
            </a:r>
            <a:r>
              <a:rPr lang="en-US" altLang="zh-CN" sz="2400" dirty="0">
                <a:latin typeface="宋体" panose="02010600030101010101" pitchFamily="2" charset="-122"/>
              </a:rPr>
              <a:t>74LS00</a:t>
            </a:r>
            <a:r>
              <a:rPr lang="zh-CN" altLang="en-US" sz="2400" dirty="0">
                <a:latin typeface="宋体" panose="02010600030101010101" pitchFamily="2" charset="-122"/>
              </a:rPr>
              <a:t>的平均延迟时间 </a:t>
            </a:r>
          </a:p>
          <a:p>
            <a:pPr eaLnBrk="1" hangingPunct="1">
              <a:lnSpc>
                <a:spcPct val="130000"/>
              </a:lnSpc>
              <a:spcAft>
                <a:spcPct val="20000"/>
              </a:spcAft>
              <a:buNone/>
            </a:pPr>
            <a:endParaRPr lang="en-US" altLang="zh-CN" sz="24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30000"/>
              </a:lnSpc>
              <a:spcAft>
                <a:spcPct val="20000"/>
              </a:spcAft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要求：</a:t>
            </a:r>
            <a:endParaRPr lang="en-US" altLang="zh-CN" sz="24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30000"/>
              </a:lnSpc>
              <a:spcAft>
                <a:spcPct val="20000"/>
              </a:spcAft>
            </a:pPr>
            <a:r>
              <a:rPr lang="zh-CN" altLang="en-US" sz="2000" dirty="0">
                <a:latin typeface="宋体" panose="02010600030101010101" pitchFamily="2" charset="-122"/>
              </a:rPr>
              <a:t>实验</a:t>
            </a:r>
            <a:r>
              <a:rPr lang="en-US" altLang="zh-CN" sz="2000" dirty="0">
                <a:latin typeface="宋体" panose="02010600030101010101" pitchFamily="2" charset="-122"/>
              </a:rPr>
              <a:t>1</a:t>
            </a:r>
            <a:r>
              <a:rPr lang="zh-CN" altLang="en-US" sz="2000" dirty="0">
                <a:latin typeface="宋体" panose="02010600030101010101" pitchFamily="2" charset="-122"/>
              </a:rPr>
              <a:t>和</a:t>
            </a:r>
            <a:r>
              <a:rPr lang="en-US" altLang="zh-CN" sz="2000" dirty="0">
                <a:latin typeface="宋体" panose="02010600030101010101" pitchFamily="2" charset="-122"/>
              </a:rPr>
              <a:t>2 </a:t>
            </a:r>
            <a:r>
              <a:rPr lang="zh-CN" altLang="en-US" sz="2000" dirty="0">
                <a:latin typeface="宋体" panose="02010600030101010101" pitchFamily="2" charset="-122"/>
              </a:rPr>
              <a:t>必做，实验</a:t>
            </a:r>
            <a:r>
              <a:rPr lang="en-US" altLang="zh-CN" sz="2000" dirty="0">
                <a:latin typeface="宋体" panose="02010600030101010101" pitchFamily="2" charset="-122"/>
              </a:rPr>
              <a:t>3</a:t>
            </a:r>
            <a:r>
              <a:rPr lang="zh-CN" altLang="en-US" sz="2000" dirty="0">
                <a:latin typeface="宋体" panose="02010600030101010101" pitchFamily="2" charset="-122"/>
              </a:rPr>
              <a:t>和</a:t>
            </a:r>
            <a:r>
              <a:rPr lang="en-US" altLang="zh-CN" sz="2000" dirty="0">
                <a:latin typeface="宋体" panose="02010600030101010101" pitchFamily="2" charset="-122"/>
              </a:rPr>
              <a:t>4 </a:t>
            </a:r>
            <a:r>
              <a:rPr lang="zh-CN" altLang="en-US" sz="2000" dirty="0">
                <a:latin typeface="宋体" panose="02010600030101010101" pitchFamily="2" charset="-122"/>
              </a:rPr>
              <a:t>选做。</a:t>
            </a:r>
            <a:endParaRPr lang="en-US" altLang="zh-CN" sz="2000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130000"/>
              </a:lnSpc>
              <a:spcAft>
                <a:spcPct val="20000"/>
              </a:spcAft>
            </a:pPr>
            <a:r>
              <a:rPr lang="zh-CN" altLang="en-US" sz="2000" dirty="0">
                <a:latin typeface="宋体" panose="02010600030101010101" pitchFamily="2" charset="-122"/>
              </a:rPr>
              <a:t>实验</a:t>
            </a:r>
            <a:r>
              <a:rPr lang="en-US" altLang="zh-CN" sz="2000" dirty="0">
                <a:latin typeface="宋体" panose="02010600030101010101" pitchFamily="2" charset="-122"/>
              </a:rPr>
              <a:t>2</a:t>
            </a:r>
            <a:r>
              <a:rPr lang="zh-CN" altLang="en-US" sz="2000" dirty="0">
                <a:latin typeface="宋体" panose="02010600030101010101" pitchFamily="2" charset="-122"/>
              </a:rPr>
              <a:t>和</a:t>
            </a:r>
            <a:r>
              <a:rPr lang="en-US" altLang="zh-CN" sz="2000" dirty="0">
                <a:latin typeface="宋体" panose="02010600030101010101" pitchFamily="2" charset="-122"/>
              </a:rPr>
              <a:t>3 </a:t>
            </a:r>
            <a:r>
              <a:rPr lang="zh-CN" altLang="en-US" sz="2000" dirty="0">
                <a:latin typeface="宋体" panose="02010600030101010101" pitchFamily="2" charset="-122"/>
              </a:rPr>
              <a:t>只要求测出电压传输特性曲线，</a:t>
            </a:r>
            <a:r>
              <a:rPr kumimoji="1" lang="en-US" altLang="zh-CN" sz="2000" dirty="0">
                <a:latin typeface="宋体" panose="02010600030101010101" pitchFamily="2" charset="-122"/>
              </a:rPr>
              <a:t>VOFF</a:t>
            </a:r>
            <a:r>
              <a:rPr kumimoji="1" lang="zh-CN" altLang="en-US" sz="2000" dirty="0">
                <a:latin typeface="宋体" panose="02010600030101010101" pitchFamily="2" charset="-122"/>
              </a:rPr>
              <a:t>、</a:t>
            </a:r>
            <a:r>
              <a:rPr kumimoji="1" lang="en-US" altLang="zh-CN" sz="2000" dirty="0">
                <a:latin typeface="宋体" panose="02010600030101010101" pitchFamily="2" charset="-122"/>
              </a:rPr>
              <a:t>VON</a:t>
            </a:r>
            <a:r>
              <a:rPr kumimoji="1" lang="zh-CN" altLang="en-US" sz="2000" dirty="0">
                <a:latin typeface="宋体" panose="02010600030101010101" pitchFamily="2" charset="-122"/>
              </a:rPr>
              <a:t>等等具体值不要求测量</a:t>
            </a:r>
            <a:r>
              <a:rPr lang="zh-CN" altLang="en-US" sz="2000" dirty="0">
                <a:latin typeface="宋体" panose="02010600030101010101" pitchFamily="2" charset="-122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>
            <a:extLst>
              <a:ext uri="{FF2B5EF4-FFF2-40B4-BE49-F238E27FC236}">
                <a16:creationId xmlns:a16="http://schemas.microsoft.com/office/drawing/2014/main" id="{AB310130-C270-4626-B55D-30E8877AA6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1537" y="4016942"/>
            <a:ext cx="5584825" cy="252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39" name="Rectangle 3">
            <a:extLst>
              <a:ext uri="{FF2B5EF4-FFF2-40B4-BE49-F238E27FC236}">
                <a16:creationId xmlns:a16="http://schemas.microsoft.com/office/drawing/2014/main" id="{94B10F61-811A-4E8A-B746-404EB458C3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1143000"/>
            <a:ext cx="3378200" cy="1447800"/>
          </a:xfrm>
          <a:prstGeom prst="rect">
            <a:avLst/>
          </a:prstGeom>
          <a:solidFill>
            <a:srgbClr val="FFFF66"/>
          </a:solidFill>
          <a:ln>
            <a:noFill/>
          </a:ln>
          <a:effectLst>
            <a:prstShdw prst="shdw17" dist="17961" dir="2700000">
              <a:srgbClr val="99993D"/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latin typeface="Arial" panose="020B0604020202020204" pitchFamily="34" charset="0"/>
            </a:endParaRPr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51B0086E-FBAF-402F-A826-6A413A83F8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875" y="173038"/>
            <a:ext cx="8393113" cy="547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None/>
            </a:pPr>
            <a:r>
              <a:rPr lang="en-US" altLang="zh-CN" sz="4400" dirty="0">
                <a:latin typeface="宋体" panose="02010600030101010101" pitchFamily="2" charset="-122"/>
              </a:rPr>
              <a:t>CD4011</a:t>
            </a:r>
            <a:r>
              <a:rPr lang="zh-CN" altLang="en-US" sz="4400" dirty="0">
                <a:latin typeface="宋体" panose="02010600030101010101" pitchFamily="2" charset="-122"/>
              </a:rPr>
              <a:t>平均延迟时间的测量</a:t>
            </a:r>
          </a:p>
        </p:txBody>
      </p:sp>
      <p:sp>
        <p:nvSpPr>
          <p:cNvPr id="14341" name="Text Box 5">
            <a:extLst>
              <a:ext uri="{FF2B5EF4-FFF2-40B4-BE49-F238E27FC236}">
                <a16:creationId xmlns:a16="http://schemas.microsoft.com/office/drawing/2014/main" id="{636733E9-FEBD-4590-B4B2-E77CD65592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6038" y="1176338"/>
            <a:ext cx="528637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3600" b="1" i="1">
                <a:latin typeface="Times New Roman" panose="02020603050405020304" pitchFamily="18" charset="0"/>
              </a:rPr>
              <a:t>v</a:t>
            </a:r>
            <a:r>
              <a:rPr lang="en-US" altLang="zh-CN" sz="3600" b="1" baseline="-25000">
                <a:latin typeface="Times New Roman" panose="02020603050405020304" pitchFamily="18" charset="0"/>
              </a:rPr>
              <a:t>I</a:t>
            </a:r>
          </a:p>
        </p:txBody>
      </p:sp>
      <p:sp>
        <p:nvSpPr>
          <p:cNvPr id="14342" name="Line 6">
            <a:extLst>
              <a:ext uri="{FF2B5EF4-FFF2-40B4-BE49-F238E27FC236}">
                <a16:creationId xmlns:a16="http://schemas.microsoft.com/office/drawing/2014/main" id="{C76A4C34-DC9D-480C-8363-36A593D0D178}"/>
              </a:ext>
            </a:extLst>
          </p:cNvPr>
          <p:cNvSpPr>
            <a:spLocks noChangeShapeType="1"/>
          </p:cNvSpPr>
          <p:nvPr/>
        </p:nvSpPr>
        <p:spPr bwMode="auto">
          <a:xfrm>
            <a:off x="2795588" y="1946275"/>
            <a:ext cx="32861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43" name="AutoShape 7">
            <a:extLst>
              <a:ext uri="{FF2B5EF4-FFF2-40B4-BE49-F238E27FC236}">
                <a16:creationId xmlns:a16="http://schemas.microsoft.com/office/drawing/2014/main" id="{D6A1BAAF-CA6A-4EAA-8471-FD454B7EAB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521075"/>
            <a:ext cx="2533650" cy="1306513"/>
          </a:xfrm>
          <a:prstGeom prst="wedgeRectCallout">
            <a:avLst>
              <a:gd name="adj1" fmla="val -9338"/>
              <a:gd name="adj2" fmla="val -103949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 typeface="Arial" panose="020B0604020202020204" pitchFamily="34" charset="0"/>
              <a:buNone/>
            </a:pPr>
            <a:endParaRPr lang="zh-CN" altLang="zh-CN" sz="3600">
              <a:latin typeface="Comic Sans MS" panose="030F0702030302020204" pitchFamily="66" charset="0"/>
            </a:endParaRPr>
          </a:p>
        </p:txBody>
      </p:sp>
      <p:sp>
        <p:nvSpPr>
          <p:cNvPr id="14344" name="AutoShape 8">
            <a:extLst>
              <a:ext uri="{FF2B5EF4-FFF2-40B4-BE49-F238E27FC236}">
                <a16:creationId xmlns:a16="http://schemas.microsoft.com/office/drawing/2014/main" id="{D911C537-3AEF-46B4-A094-E4ACA603FA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224088"/>
            <a:ext cx="2814638" cy="700087"/>
          </a:xfrm>
          <a:prstGeom prst="wedgeRectCallout">
            <a:avLst>
              <a:gd name="adj1" fmla="val 28681"/>
              <a:gd name="adj2" fmla="val -91722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10000"/>
              </a:spcBef>
            </a:pPr>
            <a:r>
              <a:rPr lang="en-US" altLang="zh-CN" sz="1800" b="1">
                <a:latin typeface="Comic Sans MS" panose="030F0702030302020204" pitchFamily="66" charset="0"/>
              </a:rPr>
              <a:t> </a:t>
            </a:r>
            <a:r>
              <a:rPr lang="en-US" altLang="zh-CN" sz="1800" b="1">
                <a:latin typeface="宋体" panose="02010600030101010101" pitchFamily="2" charset="-122"/>
              </a:rPr>
              <a:t>1MHz TTL</a:t>
            </a:r>
            <a:r>
              <a:rPr lang="zh-CN" altLang="en-US" sz="1800" b="1">
                <a:latin typeface="宋体" panose="02010600030101010101" pitchFamily="2" charset="-122"/>
              </a:rPr>
              <a:t>方波</a:t>
            </a:r>
          </a:p>
          <a:p>
            <a:pPr>
              <a:spcBef>
                <a:spcPct val="10000"/>
              </a:spcBef>
            </a:pPr>
            <a:r>
              <a:rPr lang="zh-CN" altLang="en-US" sz="1800" b="1">
                <a:latin typeface="宋体" panose="02010600030101010101" pitchFamily="2" charset="-122"/>
              </a:rPr>
              <a:t> 取自内置的信号发生器</a:t>
            </a:r>
            <a:endParaRPr lang="en-US" altLang="zh-CN" sz="1800" b="1">
              <a:solidFill>
                <a:srgbClr val="FF3300"/>
              </a:solidFill>
              <a:latin typeface="宋体" panose="02010600030101010101" pitchFamily="2" charset="-122"/>
            </a:endParaRPr>
          </a:p>
        </p:txBody>
      </p:sp>
      <p:sp>
        <p:nvSpPr>
          <p:cNvPr id="14345" name="Text Box 9">
            <a:extLst>
              <a:ext uri="{FF2B5EF4-FFF2-40B4-BE49-F238E27FC236}">
                <a16:creationId xmlns:a16="http://schemas.microsoft.com/office/drawing/2014/main" id="{56822248-F53D-486E-B733-5EC957BAB0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2652" y="1474787"/>
            <a:ext cx="806450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3600" b="1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25000" dirty="0" err="1">
                <a:latin typeface="Times New Roman" panose="02020603050405020304" pitchFamily="18" charset="0"/>
              </a:rPr>
              <a:t>O</a:t>
            </a:r>
            <a:endParaRPr lang="en-US" altLang="zh-CN" sz="2400" b="1" baseline="-25000" dirty="0">
              <a:latin typeface="Times New Roman" panose="02020603050405020304" pitchFamily="18" charset="0"/>
            </a:endParaRPr>
          </a:p>
        </p:txBody>
      </p:sp>
      <p:sp>
        <p:nvSpPr>
          <p:cNvPr id="14347" name="Text Box 11">
            <a:extLst>
              <a:ext uri="{FF2B5EF4-FFF2-40B4-BE49-F238E27FC236}">
                <a16:creationId xmlns:a16="http://schemas.microsoft.com/office/drawing/2014/main" id="{850D90F3-9761-4A11-B2B0-999ED56324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8438" y="4491038"/>
            <a:ext cx="609600" cy="33655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1600" b="1" dirty="0">
                <a:solidFill>
                  <a:srgbClr val="0000FF"/>
                </a:solidFill>
                <a:latin typeface="Arial" panose="020B0604020202020204" pitchFamily="34" charset="0"/>
              </a:rPr>
              <a:t>50%</a:t>
            </a:r>
          </a:p>
        </p:txBody>
      </p:sp>
      <p:sp>
        <p:nvSpPr>
          <p:cNvPr id="14348" name="Text Box 12">
            <a:extLst>
              <a:ext uri="{FF2B5EF4-FFF2-40B4-BE49-F238E27FC236}">
                <a16:creationId xmlns:a16="http://schemas.microsoft.com/office/drawing/2014/main" id="{3478A0BA-A572-4FA4-A3FC-295F397600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2263" y="5733256"/>
            <a:ext cx="609600" cy="33655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1600" b="1" dirty="0">
                <a:solidFill>
                  <a:srgbClr val="0000FF"/>
                </a:solidFill>
                <a:latin typeface="Arial" panose="020B0604020202020204" pitchFamily="34" charset="0"/>
              </a:rPr>
              <a:t>50%</a:t>
            </a:r>
          </a:p>
        </p:txBody>
      </p:sp>
      <p:sp>
        <p:nvSpPr>
          <p:cNvPr id="14349" name="Line 13">
            <a:extLst>
              <a:ext uri="{FF2B5EF4-FFF2-40B4-BE49-F238E27FC236}">
                <a16:creationId xmlns:a16="http://schemas.microsoft.com/office/drawing/2014/main" id="{E0E35B57-A922-4836-ADD1-0CFDE6A01BC5}"/>
              </a:ext>
            </a:extLst>
          </p:cNvPr>
          <p:cNvSpPr>
            <a:spLocks noChangeShapeType="1"/>
          </p:cNvSpPr>
          <p:nvPr/>
        </p:nvSpPr>
        <p:spPr bwMode="auto">
          <a:xfrm>
            <a:off x="3154363" y="1781175"/>
            <a:ext cx="0" cy="3349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50" name="Line 14">
            <a:extLst>
              <a:ext uri="{FF2B5EF4-FFF2-40B4-BE49-F238E27FC236}">
                <a16:creationId xmlns:a16="http://schemas.microsoft.com/office/drawing/2014/main" id="{4325BF9E-7B05-4BD5-949F-5131E05BAB83}"/>
              </a:ext>
            </a:extLst>
          </p:cNvPr>
          <p:cNvSpPr>
            <a:spLocks noChangeShapeType="1"/>
          </p:cNvSpPr>
          <p:nvPr/>
        </p:nvSpPr>
        <p:spPr bwMode="auto">
          <a:xfrm>
            <a:off x="3154363" y="1779588"/>
            <a:ext cx="5254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51" name="Line 15">
            <a:extLst>
              <a:ext uri="{FF2B5EF4-FFF2-40B4-BE49-F238E27FC236}">
                <a16:creationId xmlns:a16="http://schemas.microsoft.com/office/drawing/2014/main" id="{5CB81AD6-10E5-46F4-8378-40462509995D}"/>
              </a:ext>
            </a:extLst>
          </p:cNvPr>
          <p:cNvSpPr>
            <a:spLocks noChangeShapeType="1"/>
          </p:cNvSpPr>
          <p:nvPr/>
        </p:nvSpPr>
        <p:spPr bwMode="auto">
          <a:xfrm>
            <a:off x="3154363" y="2114550"/>
            <a:ext cx="5254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52" name="AutoShape 16">
            <a:extLst>
              <a:ext uri="{FF2B5EF4-FFF2-40B4-BE49-F238E27FC236}">
                <a16:creationId xmlns:a16="http://schemas.microsoft.com/office/drawing/2014/main" id="{29A1A05B-FDF4-4F50-9AF9-405D1B8F11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8238" y="1639888"/>
            <a:ext cx="635000" cy="584200"/>
          </a:xfrm>
          <a:prstGeom prst="flowChartDelay">
            <a:avLst/>
          </a:prstGeom>
          <a:noFill/>
          <a:ln w="28575">
            <a:solidFill>
              <a:srgbClr val="CC3300"/>
            </a:solidFill>
            <a:miter lim="800000"/>
            <a:headEnd/>
            <a:tailEnd/>
          </a:ln>
          <a:effectLst>
            <a:prstShdw prst="shdw17" dist="17961" dir="2700000">
              <a:srgbClr val="7A1F00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latin typeface="Arial" panose="020B0604020202020204" pitchFamily="34" charset="0"/>
            </a:endParaRPr>
          </a:p>
        </p:txBody>
      </p:sp>
      <p:sp>
        <p:nvSpPr>
          <p:cNvPr id="14353" name="Oval 17">
            <a:extLst>
              <a:ext uri="{FF2B5EF4-FFF2-40B4-BE49-F238E27FC236}">
                <a16:creationId xmlns:a16="http://schemas.microsoft.com/office/drawing/2014/main" id="{021AC0CF-1AB8-4D46-BB2E-5A3CD91229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6575" y="1912938"/>
            <a:ext cx="90488" cy="6667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 typeface="Arial" panose="020B0604020202020204" pitchFamily="34" charset="0"/>
              <a:buNone/>
            </a:pPr>
            <a:endParaRPr lang="zh-CN" altLang="zh-CN" sz="3600">
              <a:latin typeface="Comic Sans MS" panose="030F0702030302020204" pitchFamily="66" charset="0"/>
            </a:endParaRPr>
          </a:p>
        </p:txBody>
      </p:sp>
      <p:sp>
        <p:nvSpPr>
          <p:cNvPr id="14354" name="Oval 18">
            <a:extLst>
              <a:ext uri="{FF2B5EF4-FFF2-40B4-BE49-F238E27FC236}">
                <a16:creationId xmlns:a16="http://schemas.microsoft.com/office/drawing/2014/main" id="{91A0D9E5-6493-4386-A5DE-367753543F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9388" y="1884363"/>
            <a:ext cx="150812" cy="12382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latin typeface="Arial" panose="020B0604020202020204" pitchFamily="34" charset="0"/>
            </a:endParaRPr>
          </a:p>
        </p:txBody>
      </p:sp>
      <p:sp>
        <p:nvSpPr>
          <p:cNvPr id="14355" name="Oval 19">
            <a:extLst>
              <a:ext uri="{FF2B5EF4-FFF2-40B4-BE49-F238E27FC236}">
                <a16:creationId xmlns:a16="http://schemas.microsoft.com/office/drawing/2014/main" id="{5D588096-1CE1-4FCA-9F86-438C08C018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0700" y="1879600"/>
            <a:ext cx="101600" cy="88900"/>
          </a:xfrm>
          <a:prstGeom prst="ellipse">
            <a:avLst/>
          </a:prstGeom>
          <a:noFill/>
          <a:ln w="28575">
            <a:solidFill>
              <a:srgbClr val="CC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latin typeface="Arial" panose="020B0604020202020204" pitchFamily="34" charset="0"/>
            </a:endParaRPr>
          </a:p>
        </p:txBody>
      </p:sp>
      <p:sp>
        <p:nvSpPr>
          <p:cNvPr id="14356" name="Oval 20">
            <a:extLst>
              <a:ext uri="{FF2B5EF4-FFF2-40B4-BE49-F238E27FC236}">
                <a16:creationId xmlns:a16="http://schemas.microsoft.com/office/drawing/2014/main" id="{CE9926B5-AA8F-4BC1-838C-DDC3BFE5AD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0463" y="1862138"/>
            <a:ext cx="149225" cy="12382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latin typeface="Arial" panose="020B0604020202020204" pitchFamily="34" charset="0"/>
            </a:endParaRPr>
          </a:p>
        </p:txBody>
      </p:sp>
      <p:sp>
        <p:nvSpPr>
          <p:cNvPr id="14357" name="Line 21">
            <a:extLst>
              <a:ext uri="{FF2B5EF4-FFF2-40B4-BE49-F238E27FC236}">
                <a16:creationId xmlns:a16="http://schemas.microsoft.com/office/drawing/2014/main" id="{192A2871-FDAB-49D7-9F12-A202ED1EE885}"/>
              </a:ext>
            </a:extLst>
          </p:cNvPr>
          <p:cNvSpPr>
            <a:spLocks noChangeShapeType="1"/>
          </p:cNvSpPr>
          <p:nvPr/>
        </p:nvSpPr>
        <p:spPr bwMode="auto">
          <a:xfrm>
            <a:off x="4449763" y="1931988"/>
            <a:ext cx="5254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58" name="矩形 1">
            <a:extLst>
              <a:ext uri="{FF2B5EF4-FFF2-40B4-BE49-F238E27FC236}">
                <a16:creationId xmlns:a16="http://schemas.microsoft.com/office/drawing/2014/main" id="{0573E743-E5A4-46F7-B075-8C7C11A868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1500" y="6488113"/>
            <a:ext cx="5302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800" b="1" dirty="0">
                <a:latin typeface="宋体" panose="02010600030101010101" pitchFamily="2" charset="-122"/>
              </a:rPr>
              <a:t>图</a:t>
            </a:r>
            <a:r>
              <a:rPr lang="en-US" altLang="zh-CN" sz="1800" b="1" dirty="0">
                <a:latin typeface="宋体" panose="02010600030101010101" pitchFamily="2" charset="-122"/>
              </a:rPr>
              <a:t>b</a:t>
            </a:r>
            <a:endParaRPr lang="zh-CN" altLang="en-US" sz="1800" b="1" dirty="0">
              <a:latin typeface="Arial" panose="020B0604020202020204" pitchFamily="34" charset="0"/>
            </a:endParaRPr>
          </a:p>
        </p:txBody>
      </p:sp>
      <p:sp>
        <p:nvSpPr>
          <p:cNvPr id="14359" name="矩形 22">
            <a:extLst>
              <a:ext uri="{FF2B5EF4-FFF2-40B4-BE49-F238E27FC236}">
                <a16:creationId xmlns:a16="http://schemas.microsoft.com/office/drawing/2014/main" id="{2D501A5A-8C4D-45BF-A699-BA24FFFB23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5588" y="2686050"/>
            <a:ext cx="5302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800" b="1">
                <a:latin typeface="宋体" panose="02010600030101010101" pitchFamily="2" charset="-122"/>
              </a:rPr>
              <a:t>图</a:t>
            </a:r>
            <a:r>
              <a:rPr lang="en-US" altLang="zh-CN" sz="1800" b="1">
                <a:latin typeface="宋体" panose="02010600030101010101" pitchFamily="2" charset="-122"/>
              </a:rPr>
              <a:t>a</a:t>
            </a:r>
            <a:endParaRPr lang="zh-CN" altLang="en-US" sz="1800" b="1">
              <a:latin typeface="Arial" panose="020B0604020202020204" pitchFamily="34" charset="0"/>
            </a:endParaRPr>
          </a:p>
        </p:txBody>
      </p:sp>
      <p:sp>
        <p:nvSpPr>
          <p:cNvPr id="14360" name="Rectangle 9">
            <a:extLst>
              <a:ext uri="{FF2B5EF4-FFF2-40B4-BE49-F238E27FC236}">
                <a16:creationId xmlns:a16="http://schemas.microsoft.com/office/drawing/2014/main" id="{508CA7AE-5886-421F-B60A-83ED640B0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9370" y="2653636"/>
            <a:ext cx="3374976" cy="2419124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>
              <a:spcBef>
                <a:spcPct val="10000"/>
              </a:spcBef>
              <a:defRPr/>
            </a:pPr>
            <a:r>
              <a:rPr lang="zh-CN" altLang="en-US" sz="1800" b="1" dirty="0">
                <a:latin typeface="宋体" panose="02010600030101010101" pitchFamily="2" charset="-122"/>
              </a:rPr>
              <a:t>探头用“</a:t>
            </a:r>
            <a:r>
              <a:rPr lang="en-US" altLang="zh-CN" sz="1800" b="1" dirty="0">
                <a:latin typeface="宋体" panose="02010600030101010101" pitchFamily="2" charset="-122"/>
              </a:rPr>
              <a:t>x10”</a:t>
            </a:r>
            <a:r>
              <a:rPr lang="zh-CN" altLang="en-US" sz="1800" b="1" dirty="0">
                <a:latin typeface="宋体" panose="02010600030101010101" pitchFamily="2" charset="-122"/>
              </a:rPr>
              <a:t>档</a:t>
            </a:r>
            <a:r>
              <a:rPr lang="zh-CN" altLang="en-US" sz="1800" b="1" dirty="0">
                <a:latin typeface="Arial" panose="020B0604020202020204" pitchFamily="34" charset="0"/>
              </a:rPr>
              <a:t>，同时在示波器上要设置探头衰减常数为</a:t>
            </a:r>
            <a:r>
              <a:rPr lang="en-US" altLang="zh-CN" sz="1800" b="1" dirty="0">
                <a:latin typeface="Arial" panose="020B0604020202020204" pitchFamily="34" charset="0"/>
              </a:rPr>
              <a:t>10:1</a:t>
            </a:r>
          </a:p>
          <a:p>
            <a:pPr marL="285750" indent="-285750">
              <a:spcBef>
                <a:spcPct val="10000"/>
              </a:spcBef>
              <a:defRPr/>
            </a:pP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TTL</a:t>
            </a:r>
            <a:r>
              <a:rPr lang="zh-CN" altLang="en-US" sz="1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方波未调好前，不要接入芯片</a:t>
            </a:r>
          </a:p>
          <a:p>
            <a:pPr marL="285750" indent="-285750">
              <a:spcBef>
                <a:spcPct val="10000"/>
              </a:spcBef>
              <a:defRPr/>
            </a:pPr>
            <a:r>
              <a:rPr lang="zh-CN" altLang="en-US" sz="1800" b="1" dirty="0">
                <a:latin typeface="Arial" panose="020B0604020202020204" pitchFamily="34" charset="0"/>
              </a:rPr>
              <a:t>示波器和被测电路共地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 marL="285750" indent="-285750">
              <a:spcBef>
                <a:spcPct val="10000"/>
              </a:spcBef>
              <a:defRPr/>
            </a:pPr>
            <a:r>
              <a:rPr lang="zh-CN" altLang="en-US" sz="1800" b="1" dirty="0">
                <a:latin typeface="宋体" panose="02010600030101010101" pitchFamily="2" charset="-122"/>
              </a:rPr>
              <a:t>用示波器的</a:t>
            </a:r>
            <a:r>
              <a:rPr lang="en-US" altLang="zh-CN" sz="1800" b="1" dirty="0">
                <a:latin typeface="宋体" panose="02010600030101010101" pitchFamily="2" charset="-122"/>
              </a:rPr>
              <a:t>CH1</a:t>
            </a:r>
            <a:r>
              <a:rPr lang="zh-CN" altLang="en-US" sz="1800" b="1" dirty="0">
                <a:latin typeface="宋体" panose="02010600030101010101" pitchFamily="2" charset="-122"/>
              </a:rPr>
              <a:t>和</a:t>
            </a:r>
            <a:r>
              <a:rPr lang="en-US" altLang="zh-CN" sz="1800" b="1" dirty="0">
                <a:latin typeface="宋体" panose="02010600030101010101" pitchFamily="2" charset="-122"/>
              </a:rPr>
              <a:t>CH2</a:t>
            </a:r>
            <a:r>
              <a:rPr lang="zh-CN" altLang="en-US" sz="1800" b="1" dirty="0">
                <a:latin typeface="宋体" panose="02010600030101010101" pitchFamily="2" charset="-122"/>
              </a:rPr>
              <a:t>通道双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>
              <a:spcBef>
                <a:spcPct val="10000"/>
              </a:spcBef>
              <a:buNone/>
              <a:defRPr/>
            </a:pPr>
            <a:r>
              <a:rPr lang="en-US" altLang="zh-CN" sz="1800" b="1" dirty="0">
                <a:latin typeface="宋体" panose="02010600030101010101" pitchFamily="2" charset="-122"/>
              </a:rPr>
              <a:t>   </a:t>
            </a:r>
            <a:r>
              <a:rPr lang="zh-CN" altLang="en-US" sz="1800" b="1" dirty="0">
                <a:latin typeface="宋体" panose="02010600030101010101" pitchFamily="2" charset="-122"/>
              </a:rPr>
              <a:t>踪显示输入、输出波形</a:t>
            </a:r>
            <a:endParaRPr lang="en-US" altLang="zh-CN" sz="1800" b="1" dirty="0">
              <a:latin typeface="Arial" panose="020B0604020202020204" pitchFamily="34" charset="0"/>
            </a:endParaRPr>
          </a:p>
        </p:txBody>
      </p:sp>
      <p:sp>
        <p:nvSpPr>
          <p:cNvPr id="14361" name="AutoShape 22">
            <a:extLst>
              <a:ext uri="{FF2B5EF4-FFF2-40B4-BE49-F238E27FC236}">
                <a16:creationId xmlns:a16="http://schemas.microsoft.com/office/drawing/2014/main" id="{C59E5248-D57F-481D-BE60-81669E667C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3163" y="1220788"/>
            <a:ext cx="1385887" cy="731837"/>
          </a:xfrm>
          <a:prstGeom prst="rightArrowCallout">
            <a:avLst>
              <a:gd name="adj1" fmla="val 25000"/>
              <a:gd name="adj2" fmla="val 25000"/>
              <a:gd name="adj3" fmla="val 31562"/>
              <a:gd name="adj4" fmla="val 66667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latin typeface="Arial" panose="020B0604020202020204" pitchFamily="34" charset="0"/>
            </a:endParaRPr>
          </a:p>
        </p:txBody>
      </p:sp>
      <p:sp>
        <p:nvSpPr>
          <p:cNvPr id="14362" name="Text Box 25">
            <a:extLst>
              <a:ext uri="{FF2B5EF4-FFF2-40B4-BE49-F238E27FC236}">
                <a16:creationId xmlns:a16="http://schemas.microsoft.com/office/drawing/2014/main" id="{798866CA-3383-412E-8319-1E0AB7D209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3163" y="1287463"/>
            <a:ext cx="1241425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CH1</a:t>
            </a:r>
          </a:p>
        </p:txBody>
      </p:sp>
      <p:sp>
        <p:nvSpPr>
          <p:cNvPr id="14363" name="AutoShape 24">
            <a:extLst>
              <a:ext uri="{FF2B5EF4-FFF2-40B4-BE49-F238E27FC236}">
                <a16:creationId xmlns:a16="http://schemas.microsoft.com/office/drawing/2014/main" id="{E18686C5-798A-42FF-BF81-1AC0EDDBA7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9552" y="1528762"/>
            <a:ext cx="1495425" cy="701675"/>
          </a:xfrm>
          <a:prstGeom prst="leftArrowCallout">
            <a:avLst>
              <a:gd name="adj1" fmla="val 25000"/>
              <a:gd name="adj2" fmla="val 25000"/>
              <a:gd name="adj3" fmla="val 29521"/>
              <a:gd name="adj4" fmla="val 66667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latin typeface="Arial" panose="020B0604020202020204" pitchFamily="34" charset="0"/>
            </a:endParaRPr>
          </a:p>
        </p:txBody>
      </p:sp>
      <p:sp>
        <p:nvSpPr>
          <p:cNvPr id="14364" name="Text Box 25">
            <a:extLst>
              <a:ext uri="{FF2B5EF4-FFF2-40B4-BE49-F238E27FC236}">
                <a16:creationId xmlns:a16="http://schemas.microsoft.com/office/drawing/2014/main" id="{96D11E88-8DDE-4844-B470-DB42A6F1AB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3101" y="1589086"/>
            <a:ext cx="1241425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CH2</a:t>
            </a:r>
          </a:p>
        </p:txBody>
      </p:sp>
    </p:spTree>
    <p:extLst>
      <p:ext uri="{BB962C8B-B14F-4D97-AF65-F5344CB8AC3E}">
        <p14:creationId xmlns:p14="http://schemas.microsoft.com/office/powerpoint/2010/main" val="90188772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矩形 1"/>
          <p:cNvSpPr>
            <a:spLocks noChangeArrowheads="1"/>
          </p:cNvSpPr>
          <p:nvPr/>
        </p:nvSpPr>
        <p:spPr bwMode="auto">
          <a:xfrm>
            <a:off x="4451928" y="804775"/>
            <a:ext cx="4536503" cy="2820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lnSpc>
                <a:spcPct val="135000"/>
              </a:lnSpc>
              <a:buNone/>
              <a:defRPr/>
            </a:pPr>
            <a:r>
              <a:rPr lang="en-US" altLang="zh-CN" sz="1800" dirty="0" smtClean="0"/>
              <a:t>1.</a:t>
            </a:r>
            <a:r>
              <a:rPr lang="zh-CN" altLang="en-US" sz="1800" dirty="0" smtClean="0"/>
              <a:t>探头</a:t>
            </a:r>
            <a:r>
              <a:rPr lang="zh-CN" altLang="en-US" sz="1800" dirty="0"/>
              <a:t>用</a:t>
            </a:r>
            <a:r>
              <a:rPr lang="zh-CN" altLang="en-US" sz="1800" dirty="0">
                <a:latin typeface="Arial" panose="020B0604020202020204" pitchFamily="34" charset="0"/>
              </a:rPr>
              <a:t>“</a:t>
            </a:r>
            <a:r>
              <a:rPr lang="en-US" altLang="zh-CN" sz="1800" dirty="0"/>
              <a:t>x10</a:t>
            </a:r>
            <a:r>
              <a:rPr lang="en-US" altLang="zh-CN" sz="1800" dirty="0">
                <a:latin typeface="Arial" panose="020B0604020202020204" pitchFamily="34" charset="0"/>
              </a:rPr>
              <a:t>”</a:t>
            </a:r>
            <a:r>
              <a:rPr lang="zh-CN" altLang="en-US" sz="1800" dirty="0"/>
              <a:t>档（</a:t>
            </a:r>
            <a:r>
              <a:rPr lang="zh-CN" altLang="en-US" sz="1800" b="1" dirty="0">
                <a:solidFill>
                  <a:srgbClr val="FF0000"/>
                </a:solidFill>
              </a:rPr>
              <a:t>注意</a:t>
            </a:r>
            <a:r>
              <a:rPr lang="zh-CN" altLang="en-US" sz="1800" dirty="0">
                <a:solidFill>
                  <a:srgbClr val="FF0000"/>
                </a:solidFill>
              </a:rPr>
              <a:t>：</a:t>
            </a:r>
            <a:r>
              <a:rPr lang="zh-CN" altLang="en-US" sz="1800" dirty="0"/>
              <a:t>同时在示波器上要设置探头衰减常数为</a:t>
            </a:r>
            <a:r>
              <a:rPr lang="en-US" altLang="zh-CN" sz="1800" dirty="0">
                <a:latin typeface="Times New Roman" panose="02020603050405020304" pitchFamily="18" charset="0"/>
              </a:rPr>
              <a:t>10:1</a:t>
            </a:r>
            <a:r>
              <a:rPr lang="zh-CN" altLang="en-US" sz="1800" dirty="0"/>
              <a:t>）</a:t>
            </a:r>
          </a:p>
          <a:p>
            <a:pPr marL="0" indent="0" eaLnBrk="1" hangingPunct="1">
              <a:lnSpc>
                <a:spcPct val="135000"/>
              </a:lnSpc>
              <a:buNone/>
              <a:defRPr/>
            </a:pPr>
            <a:r>
              <a:rPr lang="en-US" altLang="zh-CN" sz="1800" dirty="0" smtClean="0">
                <a:latin typeface="Roboto"/>
              </a:rPr>
              <a:t>2.</a:t>
            </a:r>
            <a:r>
              <a:rPr lang="zh-CN" altLang="en-US" sz="1800" dirty="0" smtClean="0">
                <a:latin typeface="Roboto"/>
              </a:rPr>
              <a:t>参照</a:t>
            </a:r>
            <a:r>
              <a:rPr lang="zh-CN" altLang="en-US" sz="1800" dirty="0">
                <a:latin typeface="Roboto"/>
              </a:rPr>
              <a:t>实验 </a:t>
            </a:r>
            <a:r>
              <a:rPr lang="en-US" altLang="zh-CN" sz="1800" dirty="0">
                <a:latin typeface="Roboto"/>
              </a:rPr>
              <a:t>1 </a:t>
            </a:r>
            <a:r>
              <a:rPr lang="zh-CN" altLang="en-US" sz="1800" dirty="0">
                <a:latin typeface="Roboto"/>
              </a:rPr>
              <a:t>的内容，使用信号发生器产生</a:t>
            </a:r>
            <a:r>
              <a:rPr lang="en-US" altLang="zh-CN" sz="1800" dirty="0">
                <a:latin typeface="Roboto"/>
              </a:rPr>
              <a:t>1</a:t>
            </a:r>
            <a:r>
              <a:rPr lang="en-US" altLang="zh-CN" sz="1800" dirty="0"/>
              <a:t>MHz</a:t>
            </a:r>
            <a:r>
              <a:rPr lang="zh-CN" altLang="en-US" sz="1800" dirty="0"/>
              <a:t>的</a:t>
            </a:r>
            <a:r>
              <a:rPr lang="en-US" altLang="zh-CN" sz="1800" dirty="0"/>
              <a:t>TTL</a:t>
            </a:r>
            <a:r>
              <a:rPr lang="zh-CN" altLang="en-US" sz="1800" dirty="0"/>
              <a:t>方波（</a:t>
            </a:r>
            <a:r>
              <a:rPr lang="zh-CN" altLang="en-US" sz="1800" b="1" dirty="0">
                <a:solidFill>
                  <a:srgbClr val="FF0000"/>
                </a:solidFill>
              </a:rPr>
              <a:t>调好后接到实验电路中</a:t>
            </a:r>
            <a:r>
              <a:rPr lang="zh-CN" altLang="en-US" sz="1800" dirty="0"/>
              <a:t>）</a:t>
            </a:r>
            <a:endParaRPr lang="en-US" altLang="zh-CN" sz="1800" dirty="0"/>
          </a:p>
          <a:p>
            <a:pPr marL="0" indent="0" eaLnBrk="1" hangingPunct="1">
              <a:lnSpc>
                <a:spcPct val="135000"/>
              </a:lnSpc>
              <a:buNone/>
              <a:defRPr/>
            </a:pPr>
            <a:r>
              <a:rPr lang="en-US" altLang="zh-CN" sz="1800" dirty="0" smtClean="0">
                <a:latin typeface="Roboto"/>
              </a:rPr>
              <a:t>3.</a:t>
            </a:r>
            <a:r>
              <a:rPr lang="zh-CN" altLang="en-US" sz="1800" dirty="0" smtClean="0">
                <a:latin typeface="Roboto"/>
              </a:rPr>
              <a:t>连接</a:t>
            </a:r>
            <a:r>
              <a:rPr lang="zh-CN" altLang="en-US" sz="1800" dirty="0">
                <a:latin typeface="Roboto"/>
              </a:rPr>
              <a:t>电路，将方波作为与非门的输入，用示波器的 </a:t>
            </a:r>
            <a:r>
              <a:rPr lang="en-US" altLang="zh-CN" sz="1800" dirty="0">
                <a:latin typeface="Roboto"/>
              </a:rPr>
              <a:t>CH1</a:t>
            </a:r>
            <a:r>
              <a:rPr lang="zh-CN" altLang="en-US" sz="1800" dirty="0">
                <a:latin typeface="Roboto"/>
              </a:rPr>
              <a:t>（通道 </a:t>
            </a:r>
            <a:r>
              <a:rPr lang="en-US" altLang="zh-CN" sz="1800" dirty="0">
                <a:latin typeface="Roboto"/>
              </a:rPr>
              <a:t>1</a:t>
            </a:r>
            <a:r>
              <a:rPr lang="zh-CN" altLang="en-US" sz="1800" dirty="0">
                <a:latin typeface="Roboto"/>
              </a:rPr>
              <a:t>）和 </a:t>
            </a:r>
            <a:r>
              <a:rPr lang="en-US" altLang="zh-CN" sz="1800" dirty="0">
                <a:latin typeface="Roboto"/>
              </a:rPr>
              <a:t>CH2</a:t>
            </a:r>
            <a:r>
              <a:rPr lang="zh-CN" altLang="en-US" sz="1800" dirty="0">
                <a:latin typeface="Roboto"/>
              </a:rPr>
              <a:t>（通道 </a:t>
            </a:r>
            <a:r>
              <a:rPr lang="en-US" altLang="zh-CN" sz="1800" dirty="0">
                <a:latin typeface="Roboto"/>
              </a:rPr>
              <a:t>2</a:t>
            </a:r>
            <a:r>
              <a:rPr lang="zh-CN" altLang="en-US" sz="1800" dirty="0">
                <a:latin typeface="Roboto"/>
              </a:rPr>
              <a:t>）探头分别接入输入和输出</a:t>
            </a:r>
            <a:endParaRPr lang="en-US" altLang="zh-CN" sz="1800" dirty="0">
              <a:latin typeface="Roboto"/>
            </a:endParaRPr>
          </a:p>
        </p:txBody>
      </p:sp>
      <p:sp>
        <p:nvSpPr>
          <p:cNvPr id="4" name="标题 1"/>
          <p:cNvSpPr txBox="1">
            <a:spLocks/>
          </p:cNvSpPr>
          <p:nvPr/>
        </p:nvSpPr>
        <p:spPr bwMode="auto">
          <a:xfrm>
            <a:off x="179512" y="116632"/>
            <a:ext cx="7704856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4000" dirty="0">
                <a:latin typeface="宋体" panose="02010600030101010101" pitchFamily="2" charset="-122"/>
              </a:rPr>
              <a:t>CD4011</a:t>
            </a:r>
            <a:r>
              <a:rPr lang="zh-CN" altLang="en-US" sz="4000" dirty="0"/>
              <a:t>平均延迟时间的测量</a:t>
            </a:r>
          </a:p>
        </p:txBody>
      </p:sp>
      <p:pic>
        <p:nvPicPr>
          <p:cNvPr id="5" name="图片 3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808138"/>
            <a:ext cx="3228601" cy="28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295054" y="3717032"/>
            <a:ext cx="8712968" cy="27099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eaLnBrk="1" hangingPunct="1">
              <a:lnSpc>
                <a:spcPct val="135000"/>
              </a:lnSpc>
              <a:buNone/>
              <a:defRPr/>
            </a:pPr>
            <a:r>
              <a:rPr lang="en-US" altLang="zh-CN" dirty="0">
                <a:latin typeface="Roboto"/>
              </a:rPr>
              <a:t>4</a:t>
            </a:r>
            <a:r>
              <a:rPr lang="en-US" altLang="zh-CN" dirty="0" smtClean="0">
                <a:latin typeface="Roboto"/>
              </a:rPr>
              <a:t>.</a:t>
            </a:r>
            <a:r>
              <a:rPr lang="zh-CN" altLang="en-US" dirty="0" smtClean="0">
                <a:latin typeface="Roboto"/>
              </a:rPr>
              <a:t>接通</a:t>
            </a:r>
            <a:r>
              <a:rPr lang="zh-CN" altLang="en-US" dirty="0">
                <a:latin typeface="Roboto"/>
              </a:rPr>
              <a:t>电路开关，</a:t>
            </a:r>
            <a:r>
              <a:rPr lang="zh-CN" altLang="en-US" dirty="0"/>
              <a:t>按下</a:t>
            </a:r>
            <a:r>
              <a:rPr lang="en-US" altLang="zh-CN" b="1" dirty="0"/>
              <a:t>Auto</a:t>
            </a:r>
            <a:r>
              <a:rPr lang="zh-CN" altLang="en-US" b="1" dirty="0"/>
              <a:t> </a:t>
            </a:r>
            <a:r>
              <a:rPr lang="en-US" altLang="zh-CN" b="1" dirty="0"/>
              <a:t>Scale</a:t>
            </a:r>
            <a:r>
              <a:rPr lang="zh-CN" altLang="en-US" b="1" dirty="0"/>
              <a:t>（</a:t>
            </a:r>
            <a:r>
              <a:rPr lang="zh-CN" altLang="en-US" dirty="0"/>
              <a:t>自动调整</a:t>
            </a:r>
            <a:r>
              <a:rPr lang="zh-CN" altLang="en-US" b="1" dirty="0"/>
              <a:t>）键</a:t>
            </a:r>
            <a:r>
              <a:rPr lang="zh-CN" altLang="en-US" dirty="0">
                <a:latin typeface="Roboto"/>
              </a:rPr>
              <a:t>，就会看到通道</a:t>
            </a:r>
            <a:r>
              <a:rPr lang="en-US" altLang="zh-CN" dirty="0">
                <a:latin typeface="Roboto"/>
              </a:rPr>
              <a:t>2</a:t>
            </a:r>
            <a:r>
              <a:rPr lang="zh-CN" altLang="en-US" dirty="0">
                <a:latin typeface="Roboto"/>
              </a:rPr>
              <a:t>的波形和通道</a:t>
            </a:r>
            <a:r>
              <a:rPr lang="en-US" altLang="zh-CN" dirty="0">
                <a:latin typeface="Roboto"/>
              </a:rPr>
              <a:t>1</a:t>
            </a:r>
            <a:r>
              <a:rPr lang="zh-CN" altLang="en-US" dirty="0">
                <a:latin typeface="Roboto"/>
              </a:rPr>
              <a:t>的波形，并且是反相的</a:t>
            </a:r>
            <a:endParaRPr lang="en-US" altLang="zh-CN" b="1" dirty="0"/>
          </a:p>
          <a:p>
            <a:pPr marL="0" indent="0" eaLnBrk="1" hangingPunct="1">
              <a:lnSpc>
                <a:spcPct val="135000"/>
              </a:lnSpc>
              <a:buNone/>
              <a:defRPr/>
            </a:pPr>
            <a:r>
              <a:rPr lang="en-US" altLang="zh-CN" dirty="0">
                <a:latin typeface="Roboto"/>
              </a:rPr>
              <a:t>5</a:t>
            </a:r>
            <a:r>
              <a:rPr lang="en-US" altLang="zh-CN" dirty="0" smtClean="0">
                <a:latin typeface="Roboto"/>
              </a:rPr>
              <a:t>.</a:t>
            </a:r>
            <a:r>
              <a:rPr lang="zh-CN" altLang="en-US" dirty="0" smtClean="0"/>
              <a:t>按</a:t>
            </a:r>
            <a:r>
              <a:rPr lang="zh-CN" altLang="en-US" dirty="0"/>
              <a:t>测量</a:t>
            </a:r>
            <a:r>
              <a:rPr lang="en-US" altLang="zh-CN" b="1" dirty="0" err="1"/>
              <a:t>Meas</a:t>
            </a:r>
            <a:r>
              <a:rPr lang="zh-CN" altLang="en-US" dirty="0"/>
              <a:t>按键</a:t>
            </a:r>
            <a:r>
              <a:rPr lang="en-US" altLang="zh-CN" dirty="0"/>
              <a:t>-&gt;</a:t>
            </a:r>
            <a:r>
              <a:rPr lang="zh-CN" altLang="en-US" dirty="0"/>
              <a:t>在测量菜单里，按</a:t>
            </a:r>
            <a:r>
              <a:rPr lang="zh-CN" altLang="en-US" b="1" dirty="0">
                <a:solidFill>
                  <a:srgbClr val="0000FF"/>
                </a:solidFill>
              </a:rPr>
              <a:t>类型软键</a:t>
            </a:r>
            <a:r>
              <a:rPr lang="en-US" altLang="zh-CN" dirty="0"/>
              <a:t>-&gt;</a:t>
            </a:r>
            <a:r>
              <a:rPr lang="zh-CN" altLang="en-US" b="1" dirty="0">
                <a:solidFill>
                  <a:srgbClr val="0000FF"/>
                </a:solidFill>
              </a:rPr>
              <a:t>选延迟时间</a:t>
            </a:r>
            <a:r>
              <a:rPr lang="zh-CN" altLang="en-US" dirty="0"/>
              <a:t>；按</a:t>
            </a:r>
            <a:r>
              <a:rPr lang="zh-CN" altLang="en-US" b="1" dirty="0">
                <a:solidFill>
                  <a:srgbClr val="0000FF"/>
                </a:solidFill>
              </a:rPr>
              <a:t>设置软键</a:t>
            </a:r>
            <a:r>
              <a:rPr lang="zh-CN" altLang="en-US" dirty="0"/>
              <a:t>，在测量设置菜单里，</a:t>
            </a:r>
            <a:r>
              <a:rPr lang="zh-CN" altLang="en-US" b="1" dirty="0">
                <a:solidFill>
                  <a:srgbClr val="0000FF"/>
                </a:solidFill>
              </a:rPr>
              <a:t>源</a:t>
            </a:r>
            <a:r>
              <a:rPr lang="en-US" altLang="zh-CN" b="1" dirty="0">
                <a:solidFill>
                  <a:srgbClr val="0000FF"/>
                </a:solidFill>
              </a:rPr>
              <a:t>1</a:t>
            </a:r>
            <a:r>
              <a:rPr lang="zh-CN" altLang="en-US" b="1" dirty="0">
                <a:solidFill>
                  <a:srgbClr val="0000FF"/>
                </a:solidFill>
              </a:rPr>
              <a:t>选</a:t>
            </a:r>
            <a:r>
              <a:rPr lang="en-US" altLang="zh-CN" b="1" dirty="0">
                <a:solidFill>
                  <a:srgbClr val="0000FF"/>
                </a:solidFill>
              </a:rPr>
              <a:t>1</a:t>
            </a:r>
            <a:r>
              <a:rPr lang="zh-CN" altLang="en-US" b="1" dirty="0">
                <a:solidFill>
                  <a:srgbClr val="0000FF"/>
                </a:solidFill>
              </a:rPr>
              <a:t>，选上升沿</a:t>
            </a:r>
            <a:r>
              <a:rPr lang="zh-CN" altLang="en-US" b="1" dirty="0"/>
              <a:t>；</a:t>
            </a:r>
            <a:r>
              <a:rPr lang="zh-CN" altLang="en-US" dirty="0"/>
              <a:t> </a:t>
            </a:r>
            <a:r>
              <a:rPr lang="zh-CN" altLang="en-US" b="1" dirty="0">
                <a:solidFill>
                  <a:srgbClr val="0000FF"/>
                </a:solidFill>
              </a:rPr>
              <a:t>源</a:t>
            </a:r>
            <a:r>
              <a:rPr lang="en-US" altLang="zh-CN" b="1" dirty="0">
                <a:solidFill>
                  <a:srgbClr val="0000FF"/>
                </a:solidFill>
              </a:rPr>
              <a:t>2</a:t>
            </a:r>
            <a:r>
              <a:rPr lang="zh-CN" altLang="en-US" b="1" dirty="0">
                <a:solidFill>
                  <a:srgbClr val="0000FF"/>
                </a:solidFill>
              </a:rPr>
              <a:t>选</a:t>
            </a:r>
            <a:r>
              <a:rPr lang="en-US" altLang="zh-CN" b="1" dirty="0">
                <a:solidFill>
                  <a:srgbClr val="0000FF"/>
                </a:solidFill>
              </a:rPr>
              <a:t>2</a:t>
            </a:r>
            <a:r>
              <a:rPr lang="zh-CN" altLang="en-US" b="1" dirty="0">
                <a:solidFill>
                  <a:srgbClr val="0000FF"/>
                </a:solidFill>
              </a:rPr>
              <a:t>，选下降沿</a:t>
            </a:r>
            <a:r>
              <a:rPr lang="en-US" altLang="zh-CN" dirty="0"/>
              <a:t>-&gt;</a:t>
            </a:r>
            <a:r>
              <a:rPr lang="zh-CN" altLang="en-US" dirty="0"/>
              <a:t>按</a:t>
            </a:r>
            <a:r>
              <a:rPr lang="en-US" altLang="zh-CN" dirty="0"/>
              <a:t> </a:t>
            </a:r>
            <a:r>
              <a:rPr lang="en-US" altLang="zh-CN" b="1" dirty="0"/>
              <a:t>Back</a:t>
            </a:r>
            <a:r>
              <a:rPr lang="zh-CN" altLang="en-US" dirty="0"/>
              <a:t>按钮返回上一级测量菜单，按</a:t>
            </a:r>
            <a:r>
              <a:rPr lang="zh-CN" altLang="en-US" b="1" dirty="0">
                <a:solidFill>
                  <a:srgbClr val="0000FF"/>
                </a:solidFill>
              </a:rPr>
              <a:t>添加测量</a:t>
            </a:r>
            <a:r>
              <a:rPr lang="zh-CN" altLang="en-US" dirty="0"/>
              <a:t>软键，即可得到</a:t>
            </a:r>
            <a:r>
              <a:rPr lang="en-US" altLang="zh-CN" dirty="0" err="1"/>
              <a:t>tPHL</a:t>
            </a:r>
            <a:r>
              <a:rPr lang="zh-CN" altLang="en-US" dirty="0"/>
              <a:t>；再按</a:t>
            </a:r>
            <a:r>
              <a:rPr lang="zh-CN" altLang="en-US" b="1" dirty="0">
                <a:solidFill>
                  <a:srgbClr val="0000FF"/>
                </a:solidFill>
              </a:rPr>
              <a:t>设置软键</a:t>
            </a:r>
            <a:r>
              <a:rPr lang="zh-CN" altLang="en-US" dirty="0"/>
              <a:t>，在测量设置菜单里，</a:t>
            </a:r>
            <a:r>
              <a:rPr lang="zh-CN" altLang="en-US" b="1" dirty="0">
                <a:solidFill>
                  <a:srgbClr val="0000FF"/>
                </a:solidFill>
              </a:rPr>
              <a:t>源</a:t>
            </a:r>
            <a:r>
              <a:rPr lang="en-US" altLang="zh-CN" b="1" dirty="0">
                <a:solidFill>
                  <a:srgbClr val="0000FF"/>
                </a:solidFill>
              </a:rPr>
              <a:t>1</a:t>
            </a:r>
            <a:r>
              <a:rPr lang="zh-CN" altLang="en-US" b="1" dirty="0">
                <a:solidFill>
                  <a:srgbClr val="0000FF"/>
                </a:solidFill>
              </a:rPr>
              <a:t>选</a:t>
            </a:r>
            <a:r>
              <a:rPr lang="en-US" altLang="zh-CN" b="1" dirty="0">
                <a:solidFill>
                  <a:srgbClr val="0000FF"/>
                </a:solidFill>
              </a:rPr>
              <a:t>1</a:t>
            </a:r>
            <a:r>
              <a:rPr lang="zh-CN" altLang="en-US" b="1" dirty="0">
                <a:solidFill>
                  <a:srgbClr val="0000FF"/>
                </a:solidFill>
              </a:rPr>
              <a:t>，选下降沿； 源</a:t>
            </a:r>
            <a:r>
              <a:rPr lang="en-US" altLang="zh-CN" b="1" dirty="0">
                <a:solidFill>
                  <a:srgbClr val="0000FF"/>
                </a:solidFill>
              </a:rPr>
              <a:t>2</a:t>
            </a:r>
            <a:r>
              <a:rPr lang="zh-CN" altLang="en-US" b="1" dirty="0">
                <a:solidFill>
                  <a:srgbClr val="0000FF"/>
                </a:solidFill>
              </a:rPr>
              <a:t>选</a:t>
            </a:r>
            <a:r>
              <a:rPr lang="en-US" altLang="zh-CN" b="1" dirty="0">
                <a:solidFill>
                  <a:srgbClr val="0000FF"/>
                </a:solidFill>
              </a:rPr>
              <a:t>2</a:t>
            </a:r>
            <a:r>
              <a:rPr lang="zh-CN" altLang="en-US" b="1" dirty="0">
                <a:solidFill>
                  <a:srgbClr val="0000FF"/>
                </a:solidFill>
              </a:rPr>
              <a:t>， 选上升沿</a:t>
            </a:r>
            <a:r>
              <a:rPr lang="en-US" altLang="zh-CN" dirty="0"/>
              <a:t>-&gt; </a:t>
            </a:r>
            <a:r>
              <a:rPr lang="zh-CN" altLang="en-US" dirty="0"/>
              <a:t>按</a:t>
            </a:r>
            <a:r>
              <a:rPr lang="en-US" altLang="zh-CN" b="1" dirty="0"/>
              <a:t>Back</a:t>
            </a:r>
            <a:r>
              <a:rPr lang="zh-CN" altLang="en-US" dirty="0"/>
              <a:t>按钮返回上一级测量菜单，按</a:t>
            </a:r>
            <a:r>
              <a:rPr lang="zh-CN" altLang="en-US" b="1" dirty="0">
                <a:solidFill>
                  <a:srgbClr val="0000FF"/>
                </a:solidFill>
              </a:rPr>
              <a:t>添加测量</a:t>
            </a:r>
            <a:r>
              <a:rPr lang="zh-CN" altLang="en-US" dirty="0"/>
              <a:t>软键，即可得到</a:t>
            </a:r>
            <a:r>
              <a:rPr lang="en-US" altLang="zh-CN" dirty="0" err="1" smtClean="0"/>
              <a:t>tPLH</a:t>
            </a:r>
            <a:r>
              <a:rPr lang="zh-CN" altLang="en-US" b="1" dirty="0" smtClean="0">
                <a:solidFill>
                  <a:srgbClr val="0000FF"/>
                </a:solidFill>
              </a:rPr>
              <a:t>   </a:t>
            </a:r>
            <a:r>
              <a:rPr lang="zh-CN" altLang="en-US" b="1" dirty="0" smtClean="0">
                <a:solidFill>
                  <a:srgbClr val="FF0000"/>
                </a:solidFill>
              </a:rPr>
              <a:t>              平均</a:t>
            </a:r>
            <a:r>
              <a:rPr lang="zh-CN" altLang="en-US" b="1" dirty="0">
                <a:solidFill>
                  <a:srgbClr val="FF0000"/>
                </a:solidFill>
              </a:rPr>
              <a:t>延迟时间  </a:t>
            </a:r>
            <a:r>
              <a:rPr lang="en-US" altLang="zh-CN" b="1" i="1" dirty="0" err="1">
                <a:solidFill>
                  <a:srgbClr val="FF0000"/>
                </a:solidFill>
              </a:rPr>
              <a:t>t</a:t>
            </a:r>
            <a:r>
              <a:rPr lang="en-US" altLang="zh-CN" b="1" baseline="-25000" dirty="0" err="1">
                <a:solidFill>
                  <a:srgbClr val="FF0000"/>
                </a:solidFill>
              </a:rPr>
              <a:t>pd</a:t>
            </a:r>
            <a:r>
              <a:rPr lang="zh-CN" altLang="en-US" b="1" dirty="0">
                <a:solidFill>
                  <a:srgbClr val="FF0000"/>
                </a:solidFill>
              </a:rPr>
              <a:t>＝</a:t>
            </a:r>
            <a:r>
              <a:rPr lang="en-US" altLang="zh-CN" b="1" dirty="0">
                <a:solidFill>
                  <a:srgbClr val="FF0000"/>
                </a:solidFill>
              </a:rPr>
              <a:t>(</a:t>
            </a:r>
            <a:r>
              <a:rPr lang="en-US" altLang="zh-CN" b="1" i="1" dirty="0" err="1">
                <a:solidFill>
                  <a:srgbClr val="FF0000"/>
                </a:solidFill>
              </a:rPr>
              <a:t>t</a:t>
            </a:r>
            <a:r>
              <a:rPr lang="en-US" altLang="zh-CN" b="1" baseline="-25000" dirty="0" err="1">
                <a:solidFill>
                  <a:srgbClr val="FF0000"/>
                </a:solidFill>
              </a:rPr>
              <a:t>pHL</a:t>
            </a:r>
            <a:r>
              <a:rPr lang="zh-CN" altLang="en-US" b="1" dirty="0">
                <a:solidFill>
                  <a:srgbClr val="FF0000"/>
                </a:solidFill>
              </a:rPr>
              <a:t>＋</a:t>
            </a:r>
            <a:r>
              <a:rPr lang="en-US" altLang="zh-CN" b="1" i="1" dirty="0" err="1">
                <a:solidFill>
                  <a:srgbClr val="FF0000"/>
                </a:solidFill>
              </a:rPr>
              <a:t>t</a:t>
            </a:r>
            <a:r>
              <a:rPr lang="en-US" altLang="zh-CN" b="1" baseline="-25000" dirty="0" err="1">
                <a:solidFill>
                  <a:srgbClr val="FF0000"/>
                </a:solidFill>
              </a:rPr>
              <a:t>pLH</a:t>
            </a:r>
            <a:r>
              <a:rPr lang="en-US" altLang="zh-CN" b="1" dirty="0">
                <a:solidFill>
                  <a:srgbClr val="FF0000"/>
                </a:solidFill>
              </a:rPr>
              <a:t>)/2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4589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">
            <a:extLst>
              <a:ext uri="{FF2B5EF4-FFF2-40B4-BE49-F238E27FC236}">
                <a16:creationId xmlns:a16="http://schemas.microsoft.com/office/drawing/2014/main" id="{691C9D92-CB48-4E64-91B5-F11AFD6BC64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latin typeface="宋体" panose="02010600030101010101" pitchFamily="2" charset="-122"/>
              </a:rPr>
              <a:t>74LS00</a:t>
            </a:r>
            <a:r>
              <a:rPr lang="zh-CN" altLang="en-US" dirty="0">
                <a:latin typeface="宋体" panose="02010600030101010101" pitchFamily="2" charset="-122"/>
              </a:rPr>
              <a:t>平均</a:t>
            </a:r>
            <a:r>
              <a:rPr lang="zh-CN" altLang="en-US" dirty="0"/>
              <a:t>延迟时间的测量</a:t>
            </a:r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12FA96E0-A607-4236-A3B5-93BF9E19A3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4581525"/>
            <a:ext cx="5543550" cy="13843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</a:rPr>
              <a:t>注意：</a:t>
            </a:r>
          </a:p>
          <a:p>
            <a:pPr marL="342900" indent="-342900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000" dirty="0">
                <a:latin typeface="宋体" panose="02010600030101010101" pitchFamily="2" charset="-122"/>
              </a:rPr>
              <a:t>输入</a:t>
            </a:r>
            <a:r>
              <a:rPr lang="en-US" altLang="zh-CN" sz="2000" dirty="0">
                <a:latin typeface="宋体" panose="02010600030101010101" pitchFamily="2" charset="-122"/>
              </a:rPr>
              <a:t>Vi</a:t>
            </a:r>
            <a:r>
              <a:rPr lang="zh-CN" altLang="en-US" sz="2000" dirty="0">
                <a:latin typeface="宋体" panose="02010600030101010101" pitchFamily="2" charset="-122"/>
              </a:rPr>
              <a:t>为</a:t>
            </a:r>
            <a:r>
              <a:rPr lang="en-US" altLang="zh-CN" sz="2000" dirty="0">
                <a:latin typeface="宋体" panose="02010600030101010101" pitchFamily="2" charset="-122"/>
              </a:rPr>
              <a:t>2MHz TTL</a:t>
            </a:r>
            <a:r>
              <a:rPr lang="zh-CN" altLang="en-US" sz="2000" dirty="0">
                <a:latin typeface="宋体" panose="02010600030101010101" pitchFamily="2" charset="-122"/>
              </a:rPr>
              <a:t>方波</a:t>
            </a:r>
            <a:endParaRPr lang="en-US" altLang="zh-CN" sz="2000" dirty="0">
              <a:latin typeface="宋体" panose="02010600030101010101" pitchFamily="2" charset="-122"/>
            </a:endParaRPr>
          </a:p>
          <a:p>
            <a:pPr marL="342900" indent="-342900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000" dirty="0">
                <a:latin typeface="宋体" panose="02010600030101010101" pitchFamily="2" charset="-122"/>
              </a:rPr>
              <a:t>测量方法与上页</a:t>
            </a:r>
            <a:r>
              <a:rPr lang="en-US" altLang="zh-CN" sz="2000" dirty="0" err="1">
                <a:latin typeface="宋体" panose="02010600030101010101" pitchFamily="2" charset="-122"/>
              </a:rPr>
              <a:t>ppt</a:t>
            </a:r>
            <a:r>
              <a:rPr lang="zh-CN" altLang="en-US" sz="2000" dirty="0">
                <a:latin typeface="宋体" panose="02010600030101010101" pitchFamily="2" charset="-122"/>
              </a:rPr>
              <a:t>略有不同</a:t>
            </a:r>
          </a:p>
        </p:txBody>
      </p:sp>
      <p:pic>
        <p:nvPicPr>
          <p:cNvPr id="17412" name="图片 1">
            <a:extLst>
              <a:ext uri="{FF2B5EF4-FFF2-40B4-BE49-F238E27FC236}">
                <a16:creationId xmlns:a16="http://schemas.microsoft.com/office/drawing/2014/main" id="{6619FE49-9067-41C1-BB4C-68AFF5658B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1700213"/>
            <a:ext cx="6473825" cy="266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2BC842D9-F277-4181-B43F-8921FAE6BB0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76131" y="201613"/>
            <a:ext cx="8393113" cy="750887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eaLnBrk="1" hangingPunct="1"/>
            <a:r>
              <a:rPr lang="zh-CN" altLang="zh-CN" dirty="0">
                <a:latin typeface="宋体" panose="02010600030101010101" pitchFamily="2" charset="-122"/>
              </a:rPr>
              <a:t>电压传输特性</a:t>
            </a:r>
          </a:p>
        </p:txBody>
      </p:sp>
      <p:grpSp>
        <p:nvGrpSpPr>
          <p:cNvPr id="19459" name="Group 3">
            <a:extLst>
              <a:ext uri="{FF2B5EF4-FFF2-40B4-BE49-F238E27FC236}">
                <a16:creationId xmlns:a16="http://schemas.microsoft.com/office/drawing/2014/main" id="{C52EAA14-B7D1-43D8-A133-69449A315517}"/>
              </a:ext>
            </a:extLst>
          </p:cNvPr>
          <p:cNvGrpSpPr>
            <a:grpSpLocks/>
          </p:cNvGrpSpPr>
          <p:nvPr/>
        </p:nvGrpSpPr>
        <p:grpSpPr bwMode="auto">
          <a:xfrm>
            <a:off x="1639888" y="1346200"/>
            <a:ext cx="4343400" cy="3346450"/>
            <a:chOff x="0" y="0"/>
            <a:chExt cx="2736" cy="2108"/>
          </a:xfrm>
        </p:grpSpPr>
        <p:sp>
          <p:nvSpPr>
            <p:cNvPr id="19465" name="Line 4">
              <a:extLst>
                <a:ext uri="{FF2B5EF4-FFF2-40B4-BE49-F238E27FC236}">
                  <a16:creationId xmlns:a16="http://schemas.microsoft.com/office/drawing/2014/main" id="{91445F5F-E4F9-472C-BBF7-992632318E6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480" y="92"/>
              <a:ext cx="0" cy="1776"/>
            </a:xfrm>
            <a:prstGeom prst="line">
              <a:avLst/>
            </a:prstGeom>
            <a:noFill/>
            <a:ln w="22225" cap="sq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9466" name="Line 5">
              <a:extLst>
                <a:ext uri="{FF2B5EF4-FFF2-40B4-BE49-F238E27FC236}">
                  <a16:creationId xmlns:a16="http://schemas.microsoft.com/office/drawing/2014/main" id="{40E177B7-712E-4C6A-B5A2-E8ECC8ACFD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" y="1676"/>
              <a:ext cx="2400" cy="0"/>
            </a:xfrm>
            <a:prstGeom prst="line">
              <a:avLst/>
            </a:prstGeom>
            <a:noFill/>
            <a:ln w="22225" cap="sq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9467" name="Freeform 6">
              <a:extLst>
                <a:ext uri="{FF2B5EF4-FFF2-40B4-BE49-F238E27FC236}">
                  <a16:creationId xmlns:a16="http://schemas.microsoft.com/office/drawing/2014/main" id="{DCFA8BF6-180A-4013-A4E6-D1F78FE55FB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468"/>
              <a:ext cx="1584" cy="1136"/>
            </a:xfrm>
            <a:custGeom>
              <a:avLst/>
              <a:gdLst>
                <a:gd name="T0" fmla="*/ 0 w 1584"/>
                <a:gd name="T1" fmla="*/ 8 h 1136"/>
                <a:gd name="T2" fmla="*/ 432 w 1584"/>
                <a:gd name="T3" fmla="*/ 8 h 1136"/>
                <a:gd name="T4" fmla="*/ 528 w 1584"/>
                <a:gd name="T5" fmla="*/ 56 h 1136"/>
                <a:gd name="T6" fmla="*/ 576 w 1584"/>
                <a:gd name="T7" fmla="*/ 152 h 1136"/>
                <a:gd name="T8" fmla="*/ 624 w 1584"/>
                <a:gd name="T9" fmla="*/ 296 h 1136"/>
                <a:gd name="T10" fmla="*/ 816 w 1584"/>
                <a:gd name="T11" fmla="*/ 968 h 1136"/>
                <a:gd name="T12" fmla="*/ 1056 w 1584"/>
                <a:gd name="T13" fmla="*/ 1112 h 1136"/>
                <a:gd name="T14" fmla="*/ 1392 w 1584"/>
                <a:gd name="T15" fmla="*/ 1112 h 1136"/>
                <a:gd name="T16" fmla="*/ 1584 w 1584"/>
                <a:gd name="T17" fmla="*/ 1112 h 11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584" h="1136">
                  <a:moveTo>
                    <a:pt x="0" y="8"/>
                  </a:moveTo>
                  <a:cubicBezTo>
                    <a:pt x="172" y="4"/>
                    <a:pt x="344" y="0"/>
                    <a:pt x="432" y="8"/>
                  </a:cubicBezTo>
                  <a:cubicBezTo>
                    <a:pt x="520" y="16"/>
                    <a:pt x="504" y="32"/>
                    <a:pt x="528" y="56"/>
                  </a:cubicBezTo>
                  <a:cubicBezTo>
                    <a:pt x="552" y="80"/>
                    <a:pt x="560" y="112"/>
                    <a:pt x="576" y="152"/>
                  </a:cubicBezTo>
                  <a:cubicBezTo>
                    <a:pt x="592" y="192"/>
                    <a:pt x="584" y="160"/>
                    <a:pt x="624" y="296"/>
                  </a:cubicBezTo>
                  <a:cubicBezTo>
                    <a:pt x="664" y="432"/>
                    <a:pt x="744" y="832"/>
                    <a:pt x="816" y="968"/>
                  </a:cubicBezTo>
                  <a:cubicBezTo>
                    <a:pt x="888" y="1104"/>
                    <a:pt x="960" y="1088"/>
                    <a:pt x="1056" y="1112"/>
                  </a:cubicBezTo>
                  <a:cubicBezTo>
                    <a:pt x="1152" y="1136"/>
                    <a:pt x="1304" y="1112"/>
                    <a:pt x="1392" y="1112"/>
                  </a:cubicBezTo>
                  <a:cubicBezTo>
                    <a:pt x="1480" y="1112"/>
                    <a:pt x="1552" y="1112"/>
                    <a:pt x="1584" y="1112"/>
                  </a:cubicBezTo>
                </a:path>
              </a:pathLst>
            </a:custGeom>
            <a:noFill/>
            <a:ln w="22225" cap="sq" cmpd="sng">
              <a:solidFill>
                <a:schemeClr val="tx1"/>
              </a:solidFill>
              <a:bevel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9468" name="Line 7">
              <a:extLst>
                <a:ext uri="{FF2B5EF4-FFF2-40B4-BE49-F238E27FC236}">
                  <a16:creationId xmlns:a16="http://schemas.microsoft.com/office/drawing/2014/main" id="{6A331DCB-1C6E-434C-9AB4-AF854305F0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716"/>
              <a:ext cx="624" cy="0"/>
            </a:xfrm>
            <a:prstGeom prst="line">
              <a:avLst/>
            </a:prstGeom>
            <a:noFill/>
            <a:ln w="1905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9469" name="Line 8">
              <a:extLst>
                <a:ext uri="{FF2B5EF4-FFF2-40B4-BE49-F238E27FC236}">
                  <a16:creationId xmlns:a16="http://schemas.microsoft.com/office/drawing/2014/main" id="{6D9F1B23-C58B-44CF-ADC3-BBBAD34233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388"/>
              <a:ext cx="793" cy="0"/>
            </a:xfrm>
            <a:prstGeom prst="line">
              <a:avLst/>
            </a:prstGeom>
            <a:noFill/>
            <a:ln w="1905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9470" name="Line 9">
              <a:extLst>
                <a:ext uri="{FF2B5EF4-FFF2-40B4-BE49-F238E27FC236}">
                  <a16:creationId xmlns:a16="http://schemas.microsoft.com/office/drawing/2014/main" id="{FEA7ED5B-7B8D-48A5-9D0E-7C9B2BD646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956"/>
              <a:ext cx="0" cy="720"/>
            </a:xfrm>
            <a:prstGeom prst="line">
              <a:avLst/>
            </a:prstGeom>
            <a:noFill/>
            <a:ln w="1905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9471" name="Line 10">
              <a:extLst>
                <a:ext uri="{FF2B5EF4-FFF2-40B4-BE49-F238E27FC236}">
                  <a16:creationId xmlns:a16="http://schemas.microsoft.com/office/drawing/2014/main" id="{A20CEE40-488D-4E2E-943F-28DFC4B145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79" y="716"/>
              <a:ext cx="0" cy="960"/>
            </a:xfrm>
            <a:prstGeom prst="line">
              <a:avLst/>
            </a:prstGeom>
            <a:noFill/>
            <a:ln w="1905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9472" name="Line 11">
              <a:extLst>
                <a:ext uri="{FF2B5EF4-FFF2-40B4-BE49-F238E27FC236}">
                  <a16:creationId xmlns:a16="http://schemas.microsoft.com/office/drawing/2014/main" id="{F4339F52-4D35-41DC-AA1D-1F759C67C8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3" y="956"/>
              <a:ext cx="0" cy="720"/>
            </a:xfrm>
            <a:prstGeom prst="line">
              <a:avLst/>
            </a:prstGeom>
            <a:noFill/>
            <a:ln w="1905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9473" name="Line 12">
              <a:extLst>
                <a:ext uri="{FF2B5EF4-FFF2-40B4-BE49-F238E27FC236}">
                  <a16:creationId xmlns:a16="http://schemas.microsoft.com/office/drawing/2014/main" id="{24A0EA6C-07F4-4BB8-9278-616A746C58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" y="956"/>
              <a:ext cx="0" cy="720"/>
            </a:xfrm>
            <a:prstGeom prst="line">
              <a:avLst/>
            </a:prstGeom>
            <a:noFill/>
            <a:ln w="1905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9474" name="Line 13">
              <a:extLst>
                <a:ext uri="{FF2B5EF4-FFF2-40B4-BE49-F238E27FC236}">
                  <a16:creationId xmlns:a16="http://schemas.microsoft.com/office/drawing/2014/main" id="{A656E246-F184-4E6F-8EE5-F6D88730F0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1148"/>
              <a:ext cx="506" cy="0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 type="triangl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9475" name="Line 14">
              <a:extLst>
                <a:ext uri="{FF2B5EF4-FFF2-40B4-BE49-F238E27FC236}">
                  <a16:creationId xmlns:a16="http://schemas.microsoft.com/office/drawing/2014/main" id="{AEA464C9-4E16-42D6-8659-512E45F9BD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3" y="1148"/>
              <a:ext cx="456" cy="0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 type="triangl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9476" name="Text Box 15">
              <a:extLst>
                <a:ext uri="{FF2B5EF4-FFF2-40B4-BE49-F238E27FC236}">
                  <a16:creationId xmlns:a16="http://schemas.microsoft.com/office/drawing/2014/main" id="{507ED344-C98B-4139-A9A2-CDD43C279F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332"/>
              <a:ext cx="38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V</a:t>
              </a:r>
              <a:r>
                <a:rPr lang="en-US" altLang="zh-CN" sz="1800" baseline="-25000">
                  <a:latin typeface="Times New Roman" panose="02020603050405020304" pitchFamily="18" charset="0"/>
                </a:rPr>
                <a:t>OH</a:t>
              </a:r>
            </a:p>
          </p:txBody>
        </p:sp>
        <p:sp>
          <p:nvSpPr>
            <p:cNvPr id="19477" name="Text Box 16">
              <a:extLst>
                <a:ext uri="{FF2B5EF4-FFF2-40B4-BE49-F238E27FC236}">
                  <a16:creationId xmlns:a16="http://schemas.microsoft.com/office/drawing/2014/main" id="{50018247-7F48-4B80-93D1-9F6B977D1C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1724"/>
              <a:ext cx="38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V</a:t>
              </a:r>
              <a:r>
                <a:rPr lang="en-US" altLang="zh-CN" sz="1800" baseline="-25000"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19478" name="Text Box 17">
              <a:extLst>
                <a:ext uri="{FF2B5EF4-FFF2-40B4-BE49-F238E27FC236}">
                  <a16:creationId xmlns:a16="http://schemas.microsoft.com/office/drawing/2014/main" id="{7722A9FD-9117-425E-A01C-13EB45366E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572"/>
              <a:ext cx="52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V</a:t>
              </a:r>
              <a:r>
                <a:rPr lang="en-US" altLang="zh-CN" sz="1800" baseline="-25000">
                  <a:latin typeface="Times New Roman" panose="02020603050405020304" pitchFamily="18" charset="0"/>
                </a:rPr>
                <a:t>OHmin</a:t>
              </a:r>
            </a:p>
          </p:txBody>
        </p:sp>
        <p:sp>
          <p:nvSpPr>
            <p:cNvPr id="19479" name="Text Box 18">
              <a:extLst>
                <a:ext uri="{FF2B5EF4-FFF2-40B4-BE49-F238E27FC236}">
                  <a16:creationId xmlns:a16="http://schemas.microsoft.com/office/drawing/2014/main" id="{31173C1F-B3D4-4733-9357-73B7683EF2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244"/>
              <a:ext cx="52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V</a:t>
              </a:r>
              <a:r>
                <a:rPr lang="en-US" altLang="zh-CN" sz="1800" baseline="-25000">
                  <a:latin typeface="Times New Roman" panose="02020603050405020304" pitchFamily="18" charset="0"/>
                </a:rPr>
                <a:t>OLmax</a:t>
              </a:r>
            </a:p>
          </p:txBody>
        </p:sp>
        <p:sp>
          <p:nvSpPr>
            <p:cNvPr id="19480" name="Text Box 19">
              <a:extLst>
                <a:ext uri="{FF2B5EF4-FFF2-40B4-BE49-F238E27FC236}">
                  <a16:creationId xmlns:a16="http://schemas.microsoft.com/office/drawing/2014/main" id="{5328F907-C4FF-4C10-9C0C-42961B528C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1877"/>
              <a:ext cx="52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V</a:t>
              </a:r>
              <a:r>
                <a:rPr lang="en-US" altLang="zh-CN" sz="1800" baseline="-25000">
                  <a:latin typeface="Times New Roman" panose="02020603050405020304" pitchFamily="18" charset="0"/>
                </a:rPr>
                <a:t>OLmax</a:t>
              </a:r>
            </a:p>
          </p:txBody>
        </p:sp>
        <p:sp>
          <p:nvSpPr>
            <p:cNvPr id="19481" name="Text Box 20">
              <a:extLst>
                <a:ext uri="{FF2B5EF4-FFF2-40B4-BE49-F238E27FC236}">
                  <a16:creationId xmlns:a16="http://schemas.microsoft.com/office/drawing/2014/main" id="{2A0206C6-64CF-453D-84E7-6860E8A336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1877"/>
              <a:ext cx="48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V</a:t>
              </a:r>
              <a:r>
                <a:rPr lang="en-US" altLang="zh-CN" sz="1800" baseline="-25000">
                  <a:latin typeface="Times New Roman" panose="02020603050405020304" pitchFamily="18" charset="0"/>
                </a:rPr>
                <a:t>OFF</a:t>
              </a:r>
            </a:p>
          </p:txBody>
        </p:sp>
        <p:sp>
          <p:nvSpPr>
            <p:cNvPr id="19482" name="Text Box 21">
              <a:extLst>
                <a:ext uri="{FF2B5EF4-FFF2-40B4-BE49-F238E27FC236}">
                  <a16:creationId xmlns:a16="http://schemas.microsoft.com/office/drawing/2014/main" id="{16854936-4643-42DE-8A4F-EF31E1F5FC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1676"/>
              <a:ext cx="38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V</a:t>
              </a:r>
              <a:r>
                <a:rPr lang="en-US" altLang="zh-CN" sz="1800" baseline="-25000">
                  <a:latin typeface="Times New Roman" panose="02020603050405020304" pitchFamily="18" charset="0"/>
                </a:rPr>
                <a:t>ON</a:t>
              </a:r>
            </a:p>
          </p:txBody>
        </p:sp>
        <p:sp>
          <p:nvSpPr>
            <p:cNvPr id="19483" name="Text Box 22">
              <a:extLst>
                <a:ext uri="{FF2B5EF4-FFF2-40B4-BE49-F238E27FC236}">
                  <a16:creationId xmlns:a16="http://schemas.microsoft.com/office/drawing/2014/main" id="{C21F07CC-614B-4D26-8FF8-295781E981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4" y="1676"/>
              <a:ext cx="57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V</a:t>
              </a:r>
              <a:r>
                <a:rPr lang="en-US" altLang="zh-CN" sz="1800" baseline="-25000">
                  <a:latin typeface="Times New Roman" panose="02020603050405020304" pitchFamily="18" charset="0"/>
                </a:rPr>
                <a:t>OHmin</a:t>
              </a:r>
            </a:p>
          </p:txBody>
        </p:sp>
        <p:sp>
          <p:nvSpPr>
            <p:cNvPr id="19484" name="Text Box 23">
              <a:extLst>
                <a:ext uri="{FF2B5EF4-FFF2-40B4-BE49-F238E27FC236}">
                  <a16:creationId xmlns:a16="http://schemas.microsoft.com/office/drawing/2014/main" id="{BED27D88-5ED1-457E-9E07-4CE30F11A6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860"/>
              <a:ext cx="38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V</a:t>
              </a:r>
              <a:r>
                <a:rPr lang="en-US" altLang="zh-CN" sz="1800" baseline="-25000">
                  <a:latin typeface="Times New Roman" panose="02020603050405020304" pitchFamily="18" charset="0"/>
                </a:rPr>
                <a:t>NL</a:t>
              </a:r>
            </a:p>
          </p:txBody>
        </p:sp>
        <p:sp>
          <p:nvSpPr>
            <p:cNvPr id="19485" name="Text Box 24">
              <a:extLst>
                <a:ext uri="{FF2B5EF4-FFF2-40B4-BE49-F238E27FC236}">
                  <a16:creationId xmlns:a16="http://schemas.microsoft.com/office/drawing/2014/main" id="{4EA9AF3C-3B97-4651-A8A0-8EEF8A19D1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6" y="860"/>
              <a:ext cx="38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V</a:t>
              </a:r>
              <a:r>
                <a:rPr lang="en-US" altLang="zh-CN" sz="1800" baseline="-25000">
                  <a:latin typeface="Times New Roman" panose="02020603050405020304" pitchFamily="18" charset="0"/>
                </a:rPr>
                <a:t>NH</a:t>
              </a:r>
            </a:p>
          </p:txBody>
        </p:sp>
        <p:sp>
          <p:nvSpPr>
            <p:cNvPr id="19486" name="Text Box 25">
              <a:extLst>
                <a:ext uri="{FF2B5EF4-FFF2-40B4-BE49-F238E27FC236}">
                  <a16:creationId xmlns:a16="http://schemas.microsoft.com/office/drawing/2014/main" id="{7DBB9349-5BD4-4574-B437-5E86345891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2" y="0"/>
              <a:ext cx="38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V</a:t>
              </a:r>
              <a:r>
                <a:rPr lang="en-US" altLang="zh-CN" sz="1800" baseline="-25000">
                  <a:latin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19487" name="Text Box 26">
              <a:extLst>
                <a:ext uri="{FF2B5EF4-FFF2-40B4-BE49-F238E27FC236}">
                  <a16:creationId xmlns:a16="http://schemas.microsoft.com/office/drawing/2014/main" id="{B9CE77E8-2077-4F59-A8C3-00582BDBF6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1445"/>
              <a:ext cx="38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V</a:t>
              </a:r>
              <a:r>
                <a:rPr lang="en-US" altLang="zh-CN" sz="1800" baseline="-25000">
                  <a:latin typeface="Times New Roman" panose="02020603050405020304" pitchFamily="18" charset="0"/>
                </a:rPr>
                <a:t>OL</a:t>
              </a:r>
            </a:p>
          </p:txBody>
        </p:sp>
        <p:sp>
          <p:nvSpPr>
            <p:cNvPr id="19488" name="Text Box 27">
              <a:extLst>
                <a:ext uri="{FF2B5EF4-FFF2-40B4-BE49-F238E27FC236}">
                  <a16:creationId xmlns:a16="http://schemas.microsoft.com/office/drawing/2014/main" id="{8CD951D8-BB66-4AE7-BB79-9D87914365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1685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0</a:t>
              </a:r>
            </a:p>
          </p:txBody>
        </p:sp>
      </p:grpSp>
      <p:sp>
        <p:nvSpPr>
          <p:cNvPr id="19461" name="Text Box 29">
            <a:extLst>
              <a:ext uri="{FF2B5EF4-FFF2-40B4-BE49-F238E27FC236}">
                <a16:creationId xmlns:a16="http://schemas.microsoft.com/office/drawing/2014/main" id="{16DAAF05-0967-4AA7-B89C-71E90904C5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88" y="2319338"/>
            <a:ext cx="1568450" cy="4619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10000"/>
              </a:spcBef>
              <a:buFont typeface="Arial" panose="020B0604020202020204" pitchFamily="34" charset="0"/>
              <a:buNone/>
            </a:pPr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CD</a:t>
            </a:r>
            <a:r>
              <a:rPr lang="en-US" altLang="zh-CN" sz="1400">
                <a:latin typeface="Comic Sans MS" panose="030F0702030302020204" pitchFamily="66" charset="0"/>
              </a:rPr>
              <a:t>4011</a:t>
            </a:r>
            <a:r>
              <a:rPr lang="zh-CN" altLang="en-US" sz="1400">
                <a:latin typeface="Comic Sans MS" panose="030F0702030302020204" pitchFamily="66" charset="0"/>
              </a:rPr>
              <a:t>  </a:t>
            </a:r>
            <a:r>
              <a:rPr lang="en-US" altLang="zh-CN" sz="1400">
                <a:latin typeface="Comic Sans MS" panose="030F0702030302020204" pitchFamily="66" charset="0"/>
              </a:rPr>
              <a:t> 4.95V</a:t>
            </a:r>
          </a:p>
          <a:p>
            <a:pPr>
              <a:spcBef>
                <a:spcPct val="10000"/>
              </a:spcBef>
              <a:buFont typeface="Arial" panose="020B0604020202020204" pitchFamily="34" charset="0"/>
              <a:buNone/>
            </a:pPr>
            <a:r>
              <a:rPr lang="en-US" altLang="zh-CN" sz="1400">
                <a:latin typeface="Comic Sans MS" panose="030F0702030302020204" pitchFamily="66" charset="0"/>
              </a:rPr>
              <a:t>74</a:t>
            </a:r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LS</a:t>
            </a:r>
            <a:r>
              <a:rPr lang="en-US" altLang="zh-CN" sz="1400">
                <a:latin typeface="Comic Sans MS" panose="030F0702030302020204" pitchFamily="66" charset="0"/>
              </a:rPr>
              <a:t>00   2.7V</a:t>
            </a:r>
          </a:p>
        </p:txBody>
      </p:sp>
      <p:sp>
        <p:nvSpPr>
          <p:cNvPr id="19462" name="Text Box 30">
            <a:extLst>
              <a:ext uri="{FF2B5EF4-FFF2-40B4-BE49-F238E27FC236}">
                <a16:creationId xmlns:a16="http://schemas.microsoft.com/office/drawing/2014/main" id="{500C5CCE-CC3E-45A8-BEBB-D2E180BACF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88" y="3317875"/>
            <a:ext cx="1562100" cy="4619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10000"/>
              </a:spcBef>
              <a:buFont typeface="Arial" panose="020B0604020202020204" pitchFamily="34" charset="0"/>
              <a:buNone/>
            </a:pPr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CD</a:t>
            </a:r>
            <a:r>
              <a:rPr lang="en-US" altLang="zh-CN" sz="1400">
                <a:latin typeface="Comic Sans MS" panose="030F0702030302020204" pitchFamily="66" charset="0"/>
              </a:rPr>
              <a:t>4011</a:t>
            </a:r>
            <a:r>
              <a:rPr lang="zh-CN" altLang="en-US" sz="1400">
                <a:latin typeface="Comic Sans MS" panose="030F0702030302020204" pitchFamily="66" charset="0"/>
              </a:rPr>
              <a:t>  </a:t>
            </a:r>
            <a:r>
              <a:rPr lang="en-US" altLang="zh-CN" sz="1400">
                <a:latin typeface="Comic Sans MS" panose="030F0702030302020204" pitchFamily="66" charset="0"/>
              </a:rPr>
              <a:t> 0.05V</a:t>
            </a:r>
          </a:p>
          <a:p>
            <a:pPr>
              <a:spcBef>
                <a:spcPct val="10000"/>
              </a:spcBef>
              <a:buFont typeface="Arial" panose="020B0604020202020204" pitchFamily="34" charset="0"/>
              <a:buNone/>
            </a:pPr>
            <a:r>
              <a:rPr lang="en-US" altLang="zh-CN" sz="1400">
                <a:latin typeface="Comic Sans MS" panose="030F0702030302020204" pitchFamily="66" charset="0"/>
              </a:rPr>
              <a:t>74</a:t>
            </a:r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LS</a:t>
            </a:r>
            <a:r>
              <a:rPr lang="en-US" altLang="zh-CN" sz="1400">
                <a:latin typeface="Comic Sans MS" panose="030F0702030302020204" pitchFamily="66" charset="0"/>
              </a:rPr>
              <a:t>00   0.4V </a:t>
            </a:r>
          </a:p>
        </p:txBody>
      </p:sp>
      <p:sp>
        <p:nvSpPr>
          <p:cNvPr id="19463" name="Text Box 31">
            <a:extLst>
              <a:ext uri="{FF2B5EF4-FFF2-40B4-BE49-F238E27FC236}">
                <a16:creationId xmlns:a16="http://schemas.microsoft.com/office/drawing/2014/main" id="{CF869788-2B5E-4311-90C3-7F93C8782C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4675" y="1922463"/>
            <a:ext cx="45862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000" b="1" dirty="0">
                <a:latin typeface="Times New Roman" panose="02020603050405020304" pitchFamily="18" charset="0"/>
              </a:rPr>
              <a:t>高电平噪声容限电压    </a:t>
            </a:r>
            <a:r>
              <a:rPr lang="en-US" altLang="zh-CN" sz="2000" b="1" dirty="0">
                <a:latin typeface="Times New Roman" panose="02020603050405020304" pitchFamily="18" charset="0"/>
              </a:rPr>
              <a:t>V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NH</a:t>
            </a:r>
            <a:r>
              <a:rPr lang="en-US" altLang="zh-CN" sz="2000" b="1" dirty="0">
                <a:latin typeface="Times New Roman" panose="02020603050405020304" pitchFamily="18" charset="0"/>
              </a:rPr>
              <a:t>=</a:t>
            </a:r>
            <a:r>
              <a:rPr lang="en-US" altLang="zh-CN" sz="2000" b="1" dirty="0" err="1">
                <a:latin typeface="Times New Roman" panose="02020603050405020304" pitchFamily="18" charset="0"/>
              </a:rPr>
              <a:t>V</a:t>
            </a:r>
            <a:r>
              <a:rPr lang="en-US" altLang="zh-CN" sz="2000" b="1" baseline="-25000" dirty="0" err="1">
                <a:latin typeface="Times New Roman" panose="02020603050405020304" pitchFamily="18" charset="0"/>
              </a:rPr>
              <a:t>OHmin</a:t>
            </a:r>
            <a:r>
              <a:rPr lang="en-US" altLang="zh-CN" sz="2000" b="1" dirty="0">
                <a:latin typeface="Times New Roman" panose="02020603050405020304" pitchFamily="18" charset="0"/>
              </a:rPr>
              <a:t>-V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ON</a:t>
            </a:r>
          </a:p>
        </p:txBody>
      </p:sp>
      <p:sp>
        <p:nvSpPr>
          <p:cNvPr id="19464" name="Text Box 32">
            <a:extLst>
              <a:ext uri="{FF2B5EF4-FFF2-40B4-BE49-F238E27FC236}">
                <a16:creationId xmlns:a16="http://schemas.microsoft.com/office/drawing/2014/main" id="{02205F20-DB4D-48A6-886F-C8B922729F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2406650"/>
            <a:ext cx="47593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000" b="1">
                <a:latin typeface="Comic Sans MS" panose="030F0702030302020204" pitchFamily="66" charset="0"/>
              </a:rPr>
              <a:t> 低电平噪声容限电压  </a:t>
            </a:r>
            <a:r>
              <a:rPr lang="en-US" altLang="zh-CN" sz="2000" b="1">
                <a:latin typeface="Times New Roman" panose="02020603050405020304" pitchFamily="18" charset="0"/>
              </a:rPr>
              <a:t>V</a:t>
            </a:r>
            <a:r>
              <a:rPr lang="en-US" altLang="zh-CN" sz="2000" b="1" baseline="-25000">
                <a:latin typeface="Times New Roman" panose="02020603050405020304" pitchFamily="18" charset="0"/>
              </a:rPr>
              <a:t>NL</a:t>
            </a:r>
            <a:r>
              <a:rPr lang="en-US" altLang="zh-CN" sz="2000" b="1">
                <a:latin typeface="Times New Roman" panose="02020603050405020304" pitchFamily="18" charset="0"/>
              </a:rPr>
              <a:t>=V</a:t>
            </a:r>
            <a:r>
              <a:rPr lang="en-US" altLang="zh-CN" sz="2000" b="1" baseline="-25000">
                <a:latin typeface="Times New Roman" panose="02020603050405020304" pitchFamily="18" charset="0"/>
              </a:rPr>
              <a:t>OFF</a:t>
            </a:r>
            <a:r>
              <a:rPr lang="en-US" altLang="zh-CN" sz="2000" b="1">
                <a:latin typeface="Times New Roman" panose="02020603050405020304" pitchFamily="18" charset="0"/>
              </a:rPr>
              <a:t>-V</a:t>
            </a:r>
            <a:r>
              <a:rPr lang="en-US" altLang="zh-CN" sz="2000" b="1" baseline="-25000">
                <a:latin typeface="Times New Roman" panose="02020603050405020304" pitchFamily="18" charset="0"/>
              </a:rPr>
              <a:t>OLmax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9994C34F-FE43-45E0-8755-1C78EC3CB208}"/>
              </a:ext>
            </a:extLst>
          </p:cNvPr>
          <p:cNvSpPr txBox="1"/>
          <p:nvPr/>
        </p:nvSpPr>
        <p:spPr>
          <a:xfrm>
            <a:off x="668016" y="5252978"/>
            <a:ext cx="77924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 sz="2000" b="1" dirty="0">
                <a:latin typeface="+mn-ea"/>
                <a:ea typeface="+mn-ea"/>
              </a:rPr>
              <a:t>对于</a:t>
            </a:r>
            <a:r>
              <a:rPr lang="en-US" altLang="zh-CN" sz="2000" b="1" dirty="0">
                <a:latin typeface="+mn-ea"/>
                <a:ea typeface="+mn-ea"/>
                <a:cs typeface="Times New Roman" panose="02020603050405020304" pitchFamily="18" charset="0"/>
              </a:rPr>
              <a:t>CMOS</a:t>
            </a:r>
            <a:r>
              <a:rPr lang="zh-CN" altLang="en-US" sz="2000" b="1" dirty="0">
                <a:latin typeface="+mn-ea"/>
                <a:ea typeface="+mn-ea"/>
              </a:rPr>
              <a:t>与非门，电压传输特性曲线很陡，</a:t>
            </a:r>
            <a:r>
              <a:rPr lang="en-US" altLang="zh-CN" sz="2000" b="1" dirty="0">
                <a:latin typeface="+mn-ea"/>
                <a:ea typeface="+mn-ea"/>
              </a:rPr>
              <a:t>V</a:t>
            </a:r>
            <a:r>
              <a:rPr lang="en-US" altLang="zh-CN" sz="2000" b="1" baseline="-25000" dirty="0">
                <a:latin typeface="+mn-ea"/>
                <a:ea typeface="+mn-ea"/>
              </a:rPr>
              <a:t>OFF</a:t>
            </a:r>
            <a:r>
              <a:rPr lang="zh-CN" altLang="en-US" sz="2000" b="1" dirty="0">
                <a:latin typeface="+mn-ea"/>
                <a:ea typeface="+mn-ea"/>
              </a:rPr>
              <a:t>和</a:t>
            </a:r>
            <a:r>
              <a:rPr lang="en-US" altLang="zh-CN" sz="2000" b="1" dirty="0">
                <a:latin typeface="+mn-ea"/>
                <a:ea typeface="+mn-ea"/>
              </a:rPr>
              <a:t>V</a:t>
            </a:r>
            <a:r>
              <a:rPr lang="en-US" altLang="zh-CN" sz="2000" b="1" baseline="-25000" dirty="0">
                <a:latin typeface="+mn-ea"/>
                <a:ea typeface="+mn-ea"/>
              </a:rPr>
              <a:t>ON </a:t>
            </a:r>
            <a:r>
              <a:rPr lang="zh-CN" altLang="en-US" sz="2000" b="1" dirty="0">
                <a:latin typeface="+mn-ea"/>
                <a:ea typeface="+mn-ea"/>
              </a:rPr>
              <a:t>非常接近。</a:t>
            </a:r>
          </a:p>
        </p:txBody>
      </p:sp>
    </p:spTree>
    <p:extLst>
      <p:ext uri="{BB962C8B-B14F-4D97-AF65-F5344CB8AC3E}">
        <p14:creationId xmlns:p14="http://schemas.microsoft.com/office/powerpoint/2010/main" val="368078236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ChangeArrowheads="1"/>
          </p:cNvSpPr>
          <p:nvPr/>
        </p:nvSpPr>
        <p:spPr bwMode="auto">
          <a:xfrm>
            <a:off x="1922463" y="1066800"/>
            <a:ext cx="5791200" cy="2159000"/>
          </a:xfrm>
          <a:prstGeom prst="rect">
            <a:avLst/>
          </a:prstGeom>
          <a:solidFill>
            <a:srgbClr val="CCFF33"/>
          </a:solidFill>
          <a:ln>
            <a:noFill/>
          </a:ln>
          <a:effectLst>
            <a:prstShdw prst="shdw17" dist="17961" dir="2700000">
              <a:srgbClr val="7A991F"/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latin typeface="Arial" panose="020B0604020202020204" pitchFamily="34" charset="0"/>
            </a:endParaRPr>
          </a:p>
        </p:txBody>
      </p:sp>
      <p:sp>
        <p:nvSpPr>
          <p:cNvPr id="38915" name="Rectangle 3"/>
          <p:cNvSpPr>
            <a:spLocks noGrp="1"/>
          </p:cNvSpPr>
          <p:nvPr>
            <p:ph type="title" idx="4294967295"/>
          </p:nvPr>
        </p:nvSpPr>
        <p:spPr>
          <a:xfrm>
            <a:off x="419100" y="282575"/>
            <a:ext cx="8393113" cy="496888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eaLnBrk="1" hangingPunct="1"/>
            <a:r>
              <a:rPr lang="zh-CN" altLang="zh-CN">
                <a:latin typeface="宋体" panose="02010600030101010101" pitchFamily="2" charset="-122"/>
              </a:rPr>
              <a:t>电压传输特性的测量</a:t>
            </a:r>
          </a:p>
        </p:txBody>
      </p:sp>
      <p:sp>
        <p:nvSpPr>
          <p:cNvPr id="38916" name="Text Box 4"/>
          <p:cNvSpPr txBox="1">
            <a:spLocks noChangeArrowheads="1"/>
          </p:cNvSpPr>
          <p:nvPr/>
        </p:nvSpPr>
        <p:spPr bwMode="auto">
          <a:xfrm>
            <a:off x="1976438" y="1112838"/>
            <a:ext cx="625475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4000" i="1">
                <a:latin typeface="Times New Roman" panose="02020603050405020304" pitchFamily="18" charset="0"/>
              </a:rPr>
              <a:t>v</a:t>
            </a:r>
            <a:r>
              <a:rPr lang="en-US" altLang="zh-CN" sz="2400" baseline="-25000">
                <a:latin typeface="Times New Roman" panose="02020603050405020304" pitchFamily="18" charset="0"/>
              </a:rPr>
              <a:t>I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38917" name="Text Box 5"/>
          <p:cNvSpPr txBox="1">
            <a:spLocks noChangeArrowheads="1"/>
          </p:cNvSpPr>
          <p:nvPr/>
        </p:nvSpPr>
        <p:spPr bwMode="auto">
          <a:xfrm>
            <a:off x="6675438" y="1136650"/>
            <a:ext cx="687387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i="1">
                <a:latin typeface="Times New Roman" panose="02020603050405020304" pitchFamily="18" charset="0"/>
              </a:rPr>
              <a:t>v</a:t>
            </a:r>
            <a:r>
              <a:rPr lang="en-US" altLang="zh-CN" sz="2000" baseline="-25000">
                <a:latin typeface="Times New Roman" panose="02020603050405020304" pitchFamily="18" charset="0"/>
              </a:rPr>
              <a:t>O</a:t>
            </a:r>
            <a:endParaRPr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38918" name="Text Box 6"/>
          <p:cNvSpPr txBox="1">
            <a:spLocks noChangeArrowheads="1"/>
          </p:cNvSpPr>
          <p:nvPr/>
        </p:nvSpPr>
        <p:spPr bwMode="auto">
          <a:xfrm>
            <a:off x="6516688" y="2133600"/>
            <a:ext cx="839787" cy="677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88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000" i="1">
                <a:latin typeface="Times New Roman" panose="02020603050405020304" pitchFamily="18" charset="0"/>
              </a:rPr>
              <a:t>R</a:t>
            </a:r>
            <a:r>
              <a:rPr lang="en-US" altLang="zh-CN" sz="2000" baseline="-25000">
                <a:latin typeface="Times New Roman" panose="02020603050405020304" pitchFamily="18" charset="0"/>
              </a:rPr>
              <a:t>L</a:t>
            </a:r>
          </a:p>
          <a:p>
            <a:pPr algn="just">
              <a:lnSpc>
                <a:spcPct val="88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800">
                <a:latin typeface="Times New Roman" panose="02020603050405020304" pitchFamily="18" charset="0"/>
              </a:rPr>
              <a:t>10K</a:t>
            </a:r>
            <a:r>
              <a:rPr lang="en-US" altLang="zh-CN" sz="1800">
                <a:latin typeface="Times New Roman" panose="02020603050405020304" pitchFamily="18" charset="0"/>
                <a:sym typeface="Symbol" panose="05050102010706020507" pitchFamily="18" charset="2"/>
              </a:rPr>
              <a:t></a:t>
            </a:r>
            <a:endParaRPr lang="en-US" altLang="zh-CN" sz="1800">
              <a:latin typeface="Times New Roman" panose="02020603050405020304" pitchFamily="18" charset="0"/>
            </a:endParaRPr>
          </a:p>
        </p:txBody>
      </p:sp>
      <p:sp>
        <p:nvSpPr>
          <p:cNvPr id="38919" name="AutoShape 7"/>
          <p:cNvSpPr>
            <a:spLocks noChangeArrowheads="1"/>
          </p:cNvSpPr>
          <p:nvPr/>
        </p:nvSpPr>
        <p:spPr bwMode="auto">
          <a:xfrm>
            <a:off x="466725" y="2322513"/>
            <a:ext cx="4122738" cy="846137"/>
          </a:xfrm>
          <a:prstGeom prst="wedgeRectCallout">
            <a:avLst>
              <a:gd name="adj1" fmla="val -4019"/>
              <a:gd name="adj2" fmla="val -110259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10000"/>
              </a:spcBef>
            </a:pPr>
            <a:r>
              <a:rPr lang="en-US" altLang="zh-CN" sz="2000" b="1">
                <a:latin typeface="Comic Sans MS" panose="030F0702030302020204" pitchFamily="66" charset="0"/>
              </a:rPr>
              <a:t> </a:t>
            </a:r>
            <a:r>
              <a:rPr lang="en-US" altLang="zh-CN" sz="2000" b="1">
                <a:latin typeface="宋体" panose="02010600030101010101" pitchFamily="2" charset="-122"/>
              </a:rPr>
              <a:t>100Hz</a:t>
            </a:r>
            <a:r>
              <a:rPr lang="zh-CN" altLang="en-US" sz="2000" b="1">
                <a:latin typeface="宋体" panose="02010600030101010101" pitchFamily="2" charset="-122"/>
              </a:rPr>
              <a:t>，</a:t>
            </a:r>
            <a:r>
              <a:rPr lang="en-US" altLang="zh-CN" sz="2000" b="1">
                <a:latin typeface="宋体" panose="02010600030101010101" pitchFamily="2" charset="-122"/>
              </a:rPr>
              <a:t>0-5V</a:t>
            </a:r>
            <a:r>
              <a:rPr lang="zh-CN" altLang="en-US" sz="2000" b="1">
                <a:latin typeface="宋体" panose="02010600030101010101" pitchFamily="2" charset="-122"/>
              </a:rPr>
              <a:t>的三角波</a:t>
            </a:r>
          </a:p>
          <a:p>
            <a:pPr>
              <a:spcBef>
                <a:spcPct val="10000"/>
              </a:spcBef>
            </a:pPr>
            <a:r>
              <a:rPr lang="zh-CN" altLang="en-US" sz="2000" b="1">
                <a:latin typeface="宋体" panose="02010600030101010101" pitchFamily="2" charset="-122"/>
              </a:rPr>
              <a:t> 取自内置的信号发生器输出端口</a:t>
            </a:r>
          </a:p>
          <a:p>
            <a:pPr>
              <a:spcBef>
                <a:spcPct val="10000"/>
              </a:spcBef>
              <a:buFont typeface="Arial" panose="020B0604020202020204" pitchFamily="34" charset="0"/>
              <a:buNone/>
            </a:pPr>
            <a:endParaRPr lang="zh-CN" altLang="en-US" sz="1800" b="1">
              <a:latin typeface="Arial" panose="020B0604020202020204" pitchFamily="34" charset="0"/>
            </a:endParaRPr>
          </a:p>
        </p:txBody>
      </p:sp>
      <p:sp>
        <p:nvSpPr>
          <p:cNvPr id="38920" name="Oval 10"/>
          <p:cNvSpPr>
            <a:spLocks noChangeArrowheads="1"/>
          </p:cNvSpPr>
          <p:nvPr/>
        </p:nvSpPr>
        <p:spPr bwMode="auto">
          <a:xfrm>
            <a:off x="5291138" y="1612900"/>
            <a:ext cx="184150" cy="139700"/>
          </a:xfrm>
          <a:prstGeom prst="ellipse">
            <a:avLst/>
          </a:prstGeom>
          <a:noFill/>
          <a:ln w="28575">
            <a:solidFill>
              <a:srgbClr val="CC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latin typeface="Arial" panose="020B0604020202020204" pitchFamily="34" charset="0"/>
            </a:endParaRPr>
          </a:p>
        </p:txBody>
      </p:sp>
      <p:sp>
        <p:nvSpPr>
          <p:cNvPr id="38921" name="Line 11"/>
          <p:cNvSpPr>
            <a:spLocks noChangeShapeType="1"/>
          </p:cNvSpPr>
          <p:nvPr/>
        </p:nvSpPr>
        <p:spPr bwMode="auto">
          <a:xfrm>
            <a:off x="5492750" y="1709738"/>
            <a:ext cx="11350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22" name="Line 12"/>
          <p:cNvSpPr>
            <a:spLocks noChangeShapeType="1"/>
          </p:cNvSpPr>
          <p:nvPr/>
        </p:nvSpPr>
        <p:spPr bwMode="auto">
          <a:xfrm>
            <a:off x="3271838" y="1463675"/>
            <a:ext cx="10620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23" name="Line 13"/>
          <p:cNvSpPr>
            <a:spLocks noChangeShapeType="1"/>
          </p:cNvSpPr>
          <p:nvPr/>
        </p:nvSpPr>
        <p:spPr bwMode="auto">
          <a:xfrm flipV="1">
            <a:off x="3295650" y="1984375"/>
            <a:ext cx="10239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24" name="Line 14"/>
          <p:cNvSpPr>
            <a:spLocks noChangeShapeType="1"/>
          </p:cNvSpPr>
          <p:nvPr/>
        </p:nvSpPr>
        <p:spPr bwMode="auto">
          <a:xfrm flipH="1" flipV="1">
            <a:off x="3282950" y="1463675"/>
            <a:ext cx="0" cy="520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25" name="Line 15"/>
          <p:cNvSpPr>
            <a:spLocks noChangeShapeType="1"/>
          </p:cNvSpPr>
          <p:nvPr/>
        </p:nvSpPr>
        <p:spPr bwMode="auto">
          <a:xfrm>
            <a:off x="2525713" y="1722438"/>
            <a:ext cx="7699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26" name="Oval 16"/>
          <p:cNvSpPr>
            <a:spLocks noChangeArrowheads="1"/>
          </p:cNvSpPr>
          <p:nvPr/>
        </p:nvSpPr>
        <p:spPr bwMode="auto">
          <a:xfrm>
            <a:off x="3186113" y="1676400"/>
            <a:ext cx="182562" cy="1095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latin typeface="Arial" panose="020B0604020202020204" pitchFamily="34" charset="0"/>
            </a:endParaRPr>
          </a:p>
        </p:txBody>
      </p:sp>
      <p:sp>
        <p:nvSpPr>
          <p:cNvPr id="38927" name="Oval 17"/>
          <p:cNvSpPr>
            <a:spLocks noChangeArrowheads="1"/>
          </p:cNvSpPr>
          <p:nvPr/>
        </p:nvSpPr>
        <p:spPr bwMode="auto">
          <a:xfrm>
            <a:off x="6623050" y="1633538"/>
            <a:ext cx="184150" cy="138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latin typeface="Arial" panose="020B0604020202020204" pitchFamily="34" charset="0"/>
            </a:endParaRPr>
          </a:p>
        </p:txBody>
      </p:sp>
      <p:sp>
        <p:nvSpPr>
          <p:cNvPr id="38928" name="Oval 18"/>
          <p:cNvSpPr>
            <a:spLocks noChangeArrowheads="1"/>
          </p:cNvSpPr>
          <p:nvPr/>
        </p:nvSpPr>
        <p:spPr bwMode="auto">
          <a:xfrm>
            <a:off x="2349500" y="1649413"/>
            <a:ext cx="184150" cy="1365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latin typeface="Arial" panose="020B0604020202020204" pitchFamily="34" charset="0"/>
            </a:endParaRPr>
          </a:p>
        </p:txBody>
      </p:sp>
      <p:sp>
        <p:nvSpPr>
          <p:cNvPr id="38929" name="Line 19"/>
          <p:cNvSpPr>
            <a:spLocks noChangeShapeType="1"/>
          </p:cNvSpPr>
          <p:nvPr/>
        </p:nvSpPr>
        <p:spPr bwMode="auto">
          <a:xfrm>
            <a:off x="6151563" y="1722438"/>
            <a:ext cx="0" cy="14017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30" name="Line 20"/>
          <p:cNvSpPr>
            <a:spLocks noChangeShapeType="1"/>
          </p:cNvSpPr>
          <p:nvPr/>
        </p:nvSpPr>
        <p:spPr bwMode="auto">
          <a:xfrm>
            <a:off x="5895975" y="3132138"/>
            <a:ext cx="5492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31" name="Rectangle 21"/>
          <p:cNvSpPr>
            <a:spLocks noChangeArrowheads="1"/>
          </p:cNvSpPr>
          <p:nvPr/>
        </p:nvSpPr>
        <p:spPr bwMode="auto">
          <a:xfrm>
            <a:off x="6011863" y="2157413"/>
            <a:ext cx="257175" cy="519112"/>
          </a:xfrm>
          <a:prstGeom prst="rect">
            <a:avLst/>
          </a:prstGeom>
          <a:solidFill>
            <a:srgbClr val="0000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latin typeface="Arial" panose="020B0604020202020204" pitchFamily="34" charset="0"/>
            </a:endParaRPr>
          </a:p>
        </p:txBody>
      </p:sp>
      <p:sp>
        <p:nvSpPr>
          <p:cNvPr id="38932" name="Oval 22"/>
          <p:cNvSpPr>
            <a:spLocks noChangeArrowheads="1"/>
          </p:cNvSpPr>
          <p:nvPr/>
        </p:nvSpPr>
        <p:spPr bwMode="auto">
          <a:xfrm>
            <a:off x="6042025" y="1649413"/>
            <a:ext cx="184150" cy="1095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latin typeface="Arial" panose="020B0604020202020204" pitchFamily="34" charset="0"/>
            </a:endParaRPr>
          </a:p>
        </p:txBody>
      </p:sp>
      <p:sp>
        <p:nvSpPr>
          <p:cNvPr id="38933" name="AutoShape 23"/>
          <p:cNvSpPr>
            <a:spLocks noChangeArrowheads="1"/>
          </p:cNvSpPr>
          <p:nvPr/>
        </p:nvSpPr>
        <p:spPr bwMode="auto">
          <a:xfrm>
            <a:off x="4319588" y="1362075"/>
            <a:ext cx="1003300" cy="673100"/>
          </a:xfrm>
          <a:prstGeom prst="flowChartDelay">
            <a:avLst/>
          </a:prstGeom>
          <a:noFill/>
          <a:ln w="28575">
            <a:solidFill>
              <a:srgbClr val="CC3300"/>
            </a:solidFill>
            <a:miter lim="800000"/>
            <a:headEnd/>
            <a:tailEnd/>
          </a:ln>
          <a:effectLst>
            <a:prstShdw prst="shdw17" dist="17961" dir="2700000">
              <a:srgbClr val="7A1F00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latin typeface="Arial" panose="020B0604020202020204" pitchFamily="34" charset="0"/>
            </a:endParaRPr>
          </a:p>
        </p:txBody>
      </p:sp>
      <p:sp>
        <p:nvSpPr>
          <p:cNvPr id="38934" name="矩形 44"/>
          <p:cNvSpPr>
            <a:spLocks noChangeArrowheads="1"/>
          </p:cNvSpPr>
          <p:nvPr/>
        </p:nvSpPr>
        <p:spPr bwMode="auto">
          <a:xfrm>
            <a:off x="3924300" y="1125538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38935" name="矩形 44"/>
          <p:cNvSpPr>
            <a:spLocks noChangeArrowheads="1"/>
          </p:cNvSpPr>
          <p:nvPr/>
        </p:nvSpPr>
        <p:spPr bwMode="auto">
          <a:xfrm>
            <a:off x="3924300" y="1916113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38936" name="矩形 44"/>
          <p:cNvSpPr>
            <a:spLocks noChangeArrowheads="1"/>
          </p:cNvSpPr>
          <p:nvPr/>
        </p:nvSpPr>
        <p:spPr bwMode="auto">
          <a:xfrm>
            <a:off x="5508625" y="1341438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38946" name="Text Box 25"/>
          <p:cNvSpPr txBox="1">
            <a:spLocks noChangeArrowheads="1"/>
          </p:cNvSpPr>
          <p:nvPr/>
        </p:nvSpPr>
        <p:spPr bwMode="auto">
          <a:xfrm>
            <a:off x="622300" y="1385888"/>
            <a:ext cx="1241425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CH1</a:t>
            </a:r>
          </a:p>
        </p:txBody>
      </p:sp>
      <p:sp>
        <p:nvSpPr>
          <p:cNvPr id="38947" name="AutoShape 24"/>
          <p:cNvSpPr>
            <a:spLocks noChangeArrowheads="1"/>
          </p:cNvSpPr>
          <p:nvPr/>
        </p:nvSpPr>
        <p:spPr bwMode="auto">
          <a:xfrm>
            <a:off x="6983413" y="1379538"/>
            <a:ext cx="1495425" cy="701675"/>
          </a:xfrm>
          <a:prstGeom prst="leftArrowCallout">
            <a:avLst>
              <a:gd name="adj1" fmla="val 25000"/>
              <a:gd name="adj2" fmla="val 25000"/>
              <a:gd name="adj3" fmla="val 29521"/>
              <a:gd name="adj4" fmla="val 66667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latin typeface="Arial" panose="020B0604020202020204" pitchFamily="34" charset="0"/>
            </a:endParaRPr>
          </a:p>
        </p:txBody>
      </p:sp>
      <p:sp>
        <p:nvSpPr>
          <p:cNvPr id="38948" name="Text Box 25"/>
          <p:cNvSpPr txBox="1">
            <a:spLocks noChangeArrowheads="1"/>
          </p:cNvSpPr>
          <p:nvPr/>
        </p:nvSpPr>
        <p:spPr bwMode="auto">
          <a:xfrm>
            <a:off x="7407275" y="1427163"/>
            <a:ext cx="12414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CH2</a:t>
            </a:r>
          </a:p>
        </p:txBody>
      </p:sp>
      <p:sp>
        <p:nvSpPr>
          <p:cNvPr id="38950" name="AutoShape 22"/>
          <p:cNvSpPr>
            <a:spLocks noChangeArrowheads="1"/>
          </p:cNvSpPr>
          <p:nvPr/>
        </p:nvSpPr>
        <p:spPr bwMode="auto">
          <a:xfrm>
            <a:off x="658813" y="1284288"/>
            <a:ext cx="1385887" cy="731837"/>
          </a:xfrm>
          <a:prstGeom prst="rightArrowCallout">
            <a:avLst>
              <a:gd name="adj1" fmla="val 25000"/>
              <a:gd name="adj2" fmla="val 25000"/>
              <a:gd name="adj3" fmla="val 31562"/>
              <a:gd name="adj4" fmla="val 66667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latin typeface="Arial" panose="020B0604020202020204" pitchFamily="3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74093" y="3655261"/>
            <a:ext cx="6733182" cy="27699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Comic Sans MS" panose="030F0702030302020204" pitchFamily="66" charset="0"/>
              </a:rPr>
              <a:t>探头用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X1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en-US" b="1" dirty="0">
                <a:latin typeface="Comic Sans MS" panose="030F0702030302020204" pitchFamily="66" charset="0"/>
              </a:rPr>
              <a:t>档</a:t>
            </a:r>
            <a:r>
              <a:rPr lang="zh-CN" altLang="en-US" b="1" dirty="0"/>
              <a:t>，同时在示波器上要设置探头衰减常数为</a:t>
            </a:r>
            <a:r>
              <a:rPr lang="en-US" altLang="zh-CN" b="1" dirty="0"/>
              <a:t>1:1</a:t>
            </a:r>
            <a:endParaRPr lang="en-US" altLang="zh-CN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b="1" dirty="0"/>
              <a:t>三角波信号未调好</a:t>
            </a:r>
            <a:r>
              <a:rPr lang="zh-CN" altLang="en-US" b="1" dirty="0" smtClean="0"/>
              <a:t>前，不能</a:t>
            </a:r>
            <a:r>
              <a:rPr lang="zh-CN" altLang="en-US" b="1" dirty="0"/>
              <a:t>接入芯片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Comic Sans MS" panose="030F0702030302020204" pitchFamily="66" charset="0"/>
              </a:rPr>
              <a:t>示波器和被测电路共</a:t>
            </a:r>
            <a:r>
              <a:rPr lang="zh-CN" altLang="en-US" b="1" dirty="0" smtClean="0">
                <a:latin typeface="Comic Sans MS" panose="030F0702030302020204" pitchFamily="66" charset="0"/>
              </a:rPr>
              <a:t>地</a:t>
            </a:r>
            <a:endParaRPr lang="en-US" altLang="zh-CN" b="1" dirty="0" smtClean="0">
              <a:latin typeface="Comic Sans MS" panose="030F0702030302020204" pitchFamily="66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Comic Sans MS" panose="030F0702030302020204" pitchFamily="66" charset="0"/>
              </a:rPr>
              <a:t>通道</a:t>
            </a:r>
            <a:r>
              <a:rPr lang="en-US" altLang="zh-CN" dirty="0">
                <a:latin typeface="宋体" panose="02010600030101010101" pitchFamily="2" charset="-122"/>
              </a:rPr>
              <a:t>CH1</a:t>
            </a:r>
            <a:r>
              <a:rPr lang="zh-CN" altLang="en-US" b="1" dirty="0">
                <a:latin typeface="Comic Sans MS" panose="030F0702030302020204" pitchFamily="66" charset="0"/>
              </a:rPr>
              <a:t>接</a:t>
            </a:r>
            <a:r>
              <a:rPr lang="en-US" altLang="zh-CN" sz="2400" dirty="0" err="1">
                <a:latin typeface="宋体" panose="02010600030101010101" pitchFamily="2" charset="-122"/>
              </a:rPr>
              <a:t>v</a:t>
            </a:r>
            <a:r>
              <a:rPr lang="en-US" altLang="zh-CN" baseline="-25000" dirty="0" err="1">
                <a:latin typeface="宋体" panose="02010600030101010101" pitchFamily="2" charset="-122"/>
              </a:rPr>
              <a:t>I</a:t>
            </a:r>
            <a:r>
              <a:rPr lang="zh-CN" altLang="en-US" baseline="-25000" dirty="0">
                <a:latin typeface="宋体" panose="02010600030101010101" pitchFamily="2" charset="-122"/>
              </a:rPr>
              <a:t>，</a:t>
            </a:r>
            <a:r>
              <a:rPr lang="zh-CN" altLang="en-US" b="1" dirty="0">
                <a:latin typeface="Comic Sans MS" panose="030F0702030302020204" pitchFamily="66" charset="0"/>
              </a:rPr>
              <a:t>通道</a:t>
            </a:r>
            <a:r>
              <a:rPr lang="en-US" altLang="zh-CN" dirty="0">
                <a:latin typeface="宋体" panose="02010600030101010101" pitchFamily="2" charset="-122"/>
              </a:rPr>
              <a:t>CH2</a:t>
            </a:r>
            <a:r>
              <a:rPr lang="zh-CN" altLang="en-US" b="1" dirty="0">
                <a:latin typeface="Comic Sans MS" panose="030F0702030302020204" pitchFamily="66" charset="0"/>
              </a:rPr>
              <a:t>接</a:t>
            </a:r>
            <a:r>
              <a:rPr lang="en-US" altLang="zh-CN" dirty="0">
                <a:latin typeface="宋体" panose="02010600030101010101" pitchFamily="2" charset="-122"/>
              </a:rPr>
              <a:t>Vo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Comic Sans MS" panose="030F0702030302020204" pitchFamily="66" charset="0"/>
              </a:rPr>
              <a:t>时基模式</a:t>
            </a:r>
            <a:r>
              <a:rPr lang="zh-CN" altLang="en-US" sz="2000" dirty="0">
                <a:latin typeface="宋体" panose="02010600030101010101" pitchFamily="2" charset="-122"/>
              </a:rPr>
              <a:t>：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YT</a:t>
            </a:r>
            <a:r>
              <a:rPr lang="zh-CN" altLang="en-US" b="1" dirty="0">
                <a:latin typeface="Comic Sans MS" panose="030F0702030302020204" pitchFamily="66" charset="0"/>
              </a:rPr>
              <a:t>模式切换到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XY</a:t>
            </a:r>
            <a:r>
              <a:rPr lang="zh-CN" altLang="en-US" b="1" dirty="0">
                <a:latin typeface="Comic Sans MS" panose="030F0702030302020204" pitchFamily="66" charset="0"/>
              </a:rPr>
              <a:t>模式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endParaRPr lang="zh-CN" altLang="en-US" b="1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7750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1"/>
          <p:cNvSpPr>
            <a:spLocks noChangeArrowheads="1"/>
          </p:cNvSpPr>
          <p:nvPr/>
        </p:nvSpPr>
        <p:spPr bwMode="auto">
          <a:xfrm>
            <a:off x="179388" y="333375"/>
            <a:ext cx="6912892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zh-CN" altLang="en-US" sz="4400" b="1" dirty="0">
                <a:latin typeface="楷体_GB2312" pitchFamily="1" charset="-122"/>
              </a:rPr>
              <a:t>注意事项</a:t>
            </a:r>
            <a:endParaRPr lang="zh-CN" altLang="en-US" sz="4400" b="1" dirty="0">
              <a:latin typeface="Comic Sans MS" panose="030F0702030302020204" pitchFamily="66" charset="0"/>
            </a:endParaRPr>
          </a:p>
        </p:txBody>
      </p:sp>
      <p:sp>
        <p:nvSpPr>
          <p:cNvPr id="28676" name="Rectangle 22"/>
          <p:cNvSpPr>
            <a:spLocks noChangeArrowheads="1"/>
          </p:cNvSpPr>
          <p:nvPr/>
        </p:nvSpPr>
        <p:spPr bwMode="auto">
          <a:xfrm>
            <a:off x="395536" y="1340768"/>
            <a:ext cx="8424862" cy="3754874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9144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3716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8288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 typeface="+mj-lt"/>
              <a:buAutoNum type="arabicPeriod"/>
              <a:defRPr/>
            </a:pPr>
            <a:r>
              <a:rPr kumimoji="1" lang="zh-CN" altLang="zh-CN" sz="2800" dirty="0">
                <a:solidFill>
                  <a:srgbClr val="000000"/>
                </a:solidFill>
                <a:latin typeface="宋体" panose="02010600030101010101" pitchFamily="2" charset="-122"/>
              </a:rPr>
              <a:t>芯片的引脚要垂直插入插座（插到底）</a:t>
            </a:r>
            <a:endParaRPr kumimoji="1" lang="en-US" altLang="zh-CN" sz="2800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>
              <a:spcBef>
                <a:spcPct val="50000"/>
              </a:spcBef>
              <a:buFont typeface="+mj-lt"/>
              <a:buAutoNum type="arabicPeriod"/>
              <a:defRPr/>
            </a:pPr>
            <a:r>
              <a:rPr lang="zh-CN" altLang="en-US" sz="2800" dirty="0">
                <a:latin typeface="+mn-ea"/>
                <a:ea typeface="+mn-ea"/>
              </a:rPr>
              <a:t>不要忘记给芯片接电源和地</a:t>
            </a:r>
            <a:endParaRPr lang="en-US" altLang="zh-CN" sz="2800" dirty="0">
              <a:latin typeface="+mn-ea"/>
              <a:ea typeface="+mn-ea"/>
            </a:endParaRPr>
          </a:p>
          <a:p>
            <a:pPr marL="0" indent="0">
              <a:spcBef>
                <a:spcPct val="50000"/>
              </a:spcBef>
              <a:defRPr/>
            </a:pPr>
            <a:r>
              <a:rPr lang="zh-CN" altLang="en-US" sz="2800" dirty="0">
                <a:solidFill>
                  <a:srgbClr val="000000"/>
                </a:solidFill>
                <a:latin typeface="宋体" panose="02010600030101010101" pitchFamily="2" charset="-122"/>
              </a:rPr>
              <a:t>  芯片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</a:rPr>
              <a:t>V</a:t>
            </a:r>
            <a:r>
              <a:rPr lang="en-US" altLang="zh-CN" sz="2800" baseline="-25000" dirty="0">
                <a:solidFill>
                  <a:srgbClr val="000000"/>
                </a:solidFill>
                <a:latin typeface="宋体" panose="02010600030101010101" pitchFamily="2" charset="-122"/>
              </a:rPr>
              <a:t>DD</a:t>
            </a:r>
            <a:r>
              <a:rPr lang="zh-CN" altLang="en-US" sz="2800" dirty="0">
                <a:solidFill>
                  <a:srgbClr val="000000"/>
                </a:solidFill>
                <a:latin typeface="宋体" panose="02010600030101010101" pitchFamily="2" charset="-122"/>
              </a:rPr>
              <a:t>（或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</a:rPr>
              <a:t>V</a:t>
            </a:r>
            <a:r>
              <a:rPr lang="en-US" altLang="zh-CN" sz="2800" baseline="-25000" dirty="0">
                <a:solidFill>
                  <a:srgbClr val="000000"/>
                </a:solidFill>
                <a:latin typeface="宋体" panose="02010600030101010101" pitchFamily="2" charset="-122"/>
              </a:rPr>
              <a:t>CC</a:t>
            </a:r>
            <a:r>
              <a:rPr lang="zh-CN" altLang="en-US" sz="2800" dirty="0">
                <a:solidFill>
                  <a:srgbClr val="000000"/>
                </a:solidFill>
                <a:latin typeface="宋体" panose="02010600030101010101" pitchFamily="2" charset="-122"/>
              </a:rPr>
              <a:t>）接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</a:rPr>
              <a:t>5V</a:t>
            </a:r>
            <a:r>
              <a:rPr lang="zh-CN" altLang="en-US" sz="2800" dirty="0">
                <a:solidFill>
                  <a:srgbClr val="000000"/>
                </a:solidFill>
                <a:latin typeface="宋体" panose="02010600030101010101" pitchFamily="2" charset="-122"/>
              </a:rPr>
              <a:t>电源，芯片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</a:rPr>
              <a:t>GND</a:t>
            </a:r>
            <a:r>
              <a:rPr lang="zh-CN" altLang="en-US" sz="2800" dirty="0">
                <a:solidFill>
                  <a:srgbClr val="000000"/>
                </a:solidFill>
                <a:latin typeface="宋体" panose="02010600030101010101" pitchFamily="2" charset="-122"/>
              </a:rPr>
              <a:t>接地</a:t>
            </a:r>
            <a:endParaRPr lang="en-US" altLang="zh-CN" sz="2800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marL="0" indent="0">
              <a:spcBef>
                <a:spcPct val="50000"/>
              </a:spcBef>
              <a:defRPr/>
            </a:pP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+mn-ea"/>
              </a:rPr>
              <a:t>3. </a:t>
            </a:r>
            <a:r>
              <a:rPr lang="zh-CN" altLang="en-US" sz="2800" dirty="0">
                <a:latin typeface="+mn-ea"/>
                <a:ea typeface="+mn-ea"/>
              </a:rPr>
              <a:t>不许带电接插线及更换元件</a:t>
            </a:r>
            <a:endParaRPr lang="en-US" altLang="zh-CN" sz="2800" dirty="0">
              <a:latin typeface="+mn-ea"/>
              <a:ea typeface="+mn-ea"/>
            </a:endParaRPr>
          </a:p>
          <a:p>
            <a:pPr marL="0" indent="0">
              <a:spcBef>
                <a:spcPct val="50000"/>
              </a:spcBef>
              <a:defRPr/>
            </a:pPr>
            <a:endParaRPr kumimoji="1" lang="en-US" altLang="zh-CN" sz="2800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marL="0" indent="0">
              <a:spcBef>
                <a:spcPct val="50000"/>
              </a:spcBef>
              <a:defRPr/>
            </a:pPr>
            <a:endParaRPr kumimoji="1" lang="en-US" altLang="zh-CN" sz="28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9795197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9B27799B-70AF-43F4-ADC8-39BC56623B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27087"/>
          </a:xfrm>
        </p:spPr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000000"/>
                </a:solidFill>
              </a:rPr>
              <a:t>实验完毕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3B9050D4-2F85-4B19-A8B3-419B2A88E7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41438"/>
            <a:ext cx="8229600" cy="4787900"/>
          </a:xfrm>
        </p:spPr>
        <p:txBody>
          <a:bodyPr/>
          <a:lstStyle/>
          <a:p>
            <a:pPr marL="609600" indent="-609600" eaLnBrk="1" hangingPunct="1">
              <a:lnSpc>
                <a:spcPct val="120000"/>
              </a:lnSpc>
              <a:spcAft>
                <a:spcPct val="20000"/>
              </a:spcAft>
              <a:buFont typeface="Calibri" panose="020F0502020204030204" pitchFamily="34" charset="0"/>
              <a:buAutoNum type="arabicPeriod"/>
            </a:pPr>
            <a:r>
              <a:rPr lang="zh-CN" altLang="en-US" b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关闭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</a:rPr>
              <a:t>示波器</a:t>
            </a:r>
            <a:r>
              <a:rPr lang="zh-CN" altLang="en-US" b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电源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</a:rPr>
              <a:t>及电源接插板开关</a:t>
            </a:r>
          </a:p>
          <a:p>
            <a:pPr marL="609600" indent="-609600" eaLnBrk="1" hangingPunct="1">
              <a:lnSpc>
                <a:spcPct val="120000"/>
              </a:lnSpc>
              <a:spcAft>
                <a:spcPct val="20000"/>
              </a:spcAft>
              <a:buFont typeface="Calibri" panose="020F0502020204030204" pitchFamily="34" charset="0"/>
              <a:buAutoNum type="arabicPeriod"/>
            </a:pP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</a:rPr>
              <a:t>整理示波器探头</a:t>
            </a:r>
          </a:p>
          <a:p>
            <a:pPr marL="609600" indent="-609600" eaLnBrk="1" hangingPunct="1">
              <a:lnSpc>
                <a:spcPct val="120000"/>
              </a:lnSpc>
              <a:spcAft>
                <a:spcPct val="20000"/>
              </a:spcAft>
              <a:buFont typeface="Calibri" panose="020F0502020204030204" pitchFamily="34" charset="0"/>
              <a:buAutoNum type="arabicPeriod"/>
            </a:pP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</a:rPr>
              <a:t>整理桌面杂物</a:t>
            </a:r>
          </a:p>
          <a:p>
            <a:pPr marL="609600" indent="-609600" eaLnBrk="1" hangingPunct="1">
              <a:lnSpc>
                <a:spcPct val="120000"/>
              </a:lnSpc>
              <a:spcAft>
                <a:spcPct val="20000"/>
              </a:spcAft>
              <a:buFont typeface="Calibri" panose="020F0502020204030204" pitchFamily="34" charset="0"/>
              <a:buAutoNum type="arabicPeriod"/>
            </a:pPr>
            <a:r>
              <a:rPr lang="zh-CN" altLang="en-US" b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将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</a:rPr>
              <a:t>椅子推入实验桌下面</a:t>
            </a:r>
          </a:p>
        </p:txBody>
      </p:sp>
    </p:spTree>
    <p:extLst>
      <p:ext uri="{BB962C8B-B14F-4D97-AF65-F5344CB8AC3E}">
        <p14:creationId xmlns:p14="http://schemas.microsoft.com/office/powerpoint/2010/main" val="1583581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 主题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tabLst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tabLst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2542</TotalTime>
  <Pages>0</Pages>
  <Words>1814</Words>
  <Characters>0</Characters>
  <Application>Microsoft Office PowerPoint</Application>
  <DocSecurity>0</DocSecurity>
  <PresentationFormat>全屏显示(4:3)</PresentationFormat>
  <Lines>0</Lines>
  <Paragraphs>172</Paragraphs>
  <Slides>18</Slides>
  <Notes>14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0</vt:i4>
      </vt:variant>
      <vt:variant>
        <vt:lpstr>幻灯片标题</vt:lpstr>
      </vt:variant>
      <vt:variant>
        <vt:i4>18</vt:i4>
      </vt:variant>
    </vt:vector>
  </HeadingPairs>
  <TitlesOfParts>
    <vt:vector size="28" baseType="lpstr">
      <vt:lpstr>Roboto</vt:lpstr>
      <vt:lpstr>楷体_GB2312</vt:lpstr>
      <vt:lpstr>宋体</vt:lpstr>
      <vt:lpstr>Arial</vt:lpstr>
      <vt:lpstr>Calibri</vt:lpstr>
      <vt:lpstr>Comic Sans MS</vt:lpstr>
      <vt:lpstr>Symbol</vt:lpstr>
      <vt:lpstr>Times New Roman</vt:lpstr>
      <vt:lpstr>Wingdings</vt:lpstr>
      <vt:lpstr>Office 主题</vt:lpstr>
      <vt:lpstr>预习要求</vt:lpstr>
      <vt:lpstr>实验目的</vt:lpstr>
      <vt:lpstr>数字逻辑实验装置_积木式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CD4011 四2输入与非门</vt:lpstr>
      <vt:lpstr>实验内容</vt:lpstr>
      <vt:lpstr>PowerPoint 演示文稿</vt:lpstr>
      <vt:lpstr>PowerPoint 演示文稿</vt:lpstr>
      <vt:lpstr>74LS00平均延迟时间的测量</vt:lpstr>
      <vt:lpstr>电压传输特性</vt:lpstr>
      <vt:lpstr>电压传输特性的测量</vt:lpstr>
      <vt:lpstr>PowerPoint 演示文稿</vt:lpstr>
      <vt:lpstr>实验完毕</vt:lpstr>
    </vt:vector>
  </TitlesOfParts>
  <Manager/>
  <Company/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与非门电路的测试</dc:title>
  <dc:subject/>
  <dc:creator>tiansz</dc:creator>
  <cp:keywords/>
  <dc:description/>
  <cp:lastModifiedBy>Administrator</cp:lastModifiedBy>
  <cp:revision>1568</cp:revision>
  <dcterms:created xsi:type="dcterms:W3CDTF">2013-12-12T06:56:42Z</dcterms:created>
  <dcterms:modified xsi:type="dcterms:W3CDTF">2025-03-04T02:37:04Z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2052-9.1.0.4954</vt:lpwstr>
  </property>
</Properties>
</file>