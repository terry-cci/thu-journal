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0"/>
  </p:notesMasterIdLst>
  <p:sldIdLst>
    <p:sldId id="273" r:id="rId2"/>
    <p:sldId id="274" r:id="rId3"/>
    <p:sldId id="307" r:id="rId4"/>
    <p:sldId id="308" r:id="rId5"/>
    <p:sldId id="277" r:id="rId6"/>
    <p:sldId id="279" r:id="rId7"/>
    <p:sldId id="278" r:id="rId8"/>
    <p:sldId id="281" r:id="rId9"/>
    <p:sldId id="280" r:id="rId10"/>
    <p:sldId id="282" r:id="rId11"/>
    <p:sldId id="283" r:id="rId12"/>
    <p:sldId id="284" r:id="rId13"/>
    <p:sldId id="285" r:id="rId14"/>
    <p:sldId id="286" r:id="rId15"/>
    <p:sldId id="305" r:id="rId16"/>
    <p:sldId id="306" r:id="rId17"/>
    <p:sldId id="296" r:id="rId18"/>
    <p:sldId id="299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48" autoAdjust="0"/>
    <p:restoredTop sz="87240" autoAdjust="0"/>
  </p:normalViewPr>
  <p:slideViewPr>
    <p:cSldViewPr>
      <p:cViewPr varScale="1">
        <p:scale>
          <a:sx n="57" d="100"/>
          <a:sy n="57" d="100"/>
        </p:scale>
        <p:origin x="1437" y="2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4F68B-665F-4F27-85DC-403017885F3B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A64C1-8D65-4737-A4E6-E5D6ACBEF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22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Solve</a:t>
            </a:r>
            <a:r>
              <a:rPr lang="zh-CN" altLang="en-US" dirty="0"/>
              <a:t>支持字符串的功能已经被移除了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A64C1-8D65-4737-A4E6-E5D6ACBEF8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10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567F0A8-0EA3-4503-A71C-A45F6621C019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95CF-48C9-4E3F-8723-92E761480647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D025B-6634-44C4-935E-4260C4CD3BD7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8EA3-C780-4FBC-98AF-E8C5FD44B6A4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93BE-5BFB-45D8-8090-773B6FED3CE3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022D8-8015-4193-B7F0-0F17757D5C7C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09B3-E5E2-46CC-A859-DFEAFF9AD79B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C19E42E0-654A-47D4-969B-169E3FE555B6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951972F-F3D5-4F8C-9881-1A1307984640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08646-2BD1-4D7C-8181-B257F73504A4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E1A5-6280-40BB-AA4D-B22125567B73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222559E-BDF3-4BA9-B88A-AF9725DA337D}" type="datetime1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BF13EAF-B667-42C7-BC3D-A8A1A2F1A4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47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Matlab</a:t>
            </a:r>
            <a:r>
              <a:rPr lang="zh-CN" altLang="en-US" dirty="0"/>
              <a:t>入门与练习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3161584"/>
          </a:xfrm>
        </p:spPr>
        <p:txBody>
          <a:bodyPr>
            <a:noAutofit/>
          </a:bodyPr>
          <a:lstStyle/>
          <a:p>
            <a:r>
              <a:rPr lang="zh-CN" altLang="en-US" dirty="0"/>
              <a:t>准备知识</a:t>
            </a:r>
            <a:endParaRPr lang="en-US" altLang="zh-CN" dirty="0"/>
          </a:p>
          <a:p>
            <a:r>
              <a:rPr lang="zh-CN" altLang="zh-CN" dirty="0"/>
              <a:t>黄金分割比</a:t>
            </a:r>
            <a:endParaRPr lang="en-US" altLang="zh-CN" dirty="0"/>
          </a:p>
          <a:p>
            <a:r>
              <a:rPr lang="zh-CN" altLang="zh-CN" dirty="0"/>
              <a:t>斐波</a:t>
            </a:r>
            <a:r>
              <a:rPr lang="zh-CN" altLang="en-US" dirty="0"/>
              <a:t>那</a:t>
            </a:r>
            <a:r>
              <a:rPr lang="zh-CN" altLang="zh-CN" dirty="0"/>
              <a:t>契数</a:t>
            </a:r>
            <a:endParaRPr lang="en-US" altLang="zh-CN" dirty="0"/>
          </a:p>
          <a:p>
            <a:r>
              <a:rPr lang="zh-CN" altLang="en-US" dirty="0"/>
              <a:t>分形蕨</a:t>
            </a:r>
            <a:endParaRPr lang="en-US" altLang="zh-CN" dirty="0"/>
          </a:p>
          <a:p>
            <a:r>
              <a:rPr lang="zh-CN" altLang="en-US" dirty="0"/>
              <a:t>幻方</a:t>
            </a:r>
            <a:endParaRPr lang="en-US" altLang="zh-CN" dirty="0"/>
          </a:p>
          <a:p>
            <a:r>
              <a:rPr lang="zh-CN" altLang="en-US" dirty="0"/>
              <a:t>浮点数与舍入误差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80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MATLAB</a:t>
            </a:r>
            <a:r>
              <a:rPr lang="zh-CN" altLang="en-US" b="1"/>
              <a:t>简介</a:t>
            </a:r>
            <a:r>
              <a:rPr lang="en-US" altLang="zh-CN"/>
              <a:t>(1)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953000"/>
          </a:xfrm>
        </p:spPr>
        <p:txBody>
          <a:bodyPr/>
          <a:lstStyle/>
          <a:p>
            <a:pPr lvl="0">
              <a:spcBef>
                <a:spcPts val="600"/>
              </a:spcBef>
              <a:buClr>
                <a:srgbClr val="2DA2BF"/>
              </a:buClr>
            </a:pPr>
            <a:r>
              <a:rPr lang="en-US" altLang="zh-CN" sz="2800" dirty="0" err="1">
                <a:solidFill>
                  <a:srgbClr val="1818FF"/>
                </a:solidFill>
              </a:rPr>
              <a:t>MAT</a:t>
            </a:r>
            <a:r>
              <a:rPr lang="en-US" altLang="zh-CN" sz="2800" dirty="0" err="1">
                <a:solidFill>
                  <a:prstClr val="black"/>
                </a:solidFill>
              </a:rPr>
              <a:t>rix</a:t>
            </a:r>
            <a:r>
              <a:rPr lang="en-US" altLang="zh-CN" sz="2800" dirty="0">
                <a:solidFill>
                  <a:prstClr val="black"/>
                </a:solidFill>
              </a:rPr>
              <a:t> </a:t>
            </a:r>
            <a:r>
              <a:rPr lang="en-US" altLang="zh-CN" sz="2800" dirty="0" err="1">
                <a:solidFill>
                  <a:srgbClr val="1818FF"/>
                </a:solidFill>
              </a:rPr>
              <a:t>LAB</a:t>
            </a:r>
            <a:r>
              <a:rPr lang="en-US" altLang="en-US" sz="2800" dirty="0" err="1">
                <a:solidFill>
                  <a:prstClr val="black"/>
                </a:solidFill>
              </a:rPr>
              <a:t>oratory</a:t>
            </a:r>
            <a:r>
              <a:rPr lang="en-US" altLang="en-US" sz="2800" dirty="0">
                <a:solidFill>
                  <a:prstClr val="black"/>
                </a:solidFill>
              </a:rPr>
              <a:t> </a:t>
            </a:r>
            <a:r>
              <a:rPr lang="en-US" altLang="zh-CN" sz="2800" dirty="0">
                <a:solidFill>
                  <a:prstClr val="black"/>
                </a:solidFill>
              </a:rPr>
              <a:t>(</a:t>
            </a:r>
            <a:r>
              <a:rPr lang="zh-CN" altLang="en-US" sz="2800" dirty="0">
                <a:solidFill>
                  <a:prstClr val="black"/>
                </a:solidFill>
              </a:rPr>
              <a:t>矩阵实验室</a:t>
            </a:r>
            <a:r>
              <a:rPr lang="en-US" altLang="zh-CN" sz="2800" dirty="0">
                <a:solidFill>
                  <a:prstClr val="black"/>
                </a:solidFill>
              </a:rPr>
              <a:t>),</a:t>
            </a:r>
            <a:r>
              <a:rPr lang="en-US" altLang="en-US" sz="2800" dirty="0">
                <a:solidFill>
                  <a:prstClr val="black"/>
                </a:solidFill>
              </a:rPr>
              <a:t> </a:t>
            </a:r>
            <a:r>
              <a:rPr lang="zh-CN" altLang="en-US" sz="2800" dirty="0">
                <a:solidFill>
                  <a:prstClr val="black"/>
                </a:solidFill>
              </a:rPr>
              <a:t>集成可视化</a:t>
            </a:r>
          </a:p>
          <a:p>
            <a:pPr lvl="0">
              <a:spcBef>
                <a:spcPts val="600"/>
              </a:spcBef>
              <a:buClr>
                <a:srgbClr val="2DA2BF"/>
              </a:buClr>
            </a:pPr>
            <a:r>
              <a:rPr lang="zh-CN" altLang="en-US" sz="2600" dirty="0">
                <a:solidFill>
                  <a:prstClr val="black"/>
                </a:solidFill>
              </a:rPr>
              <a:t>快速原型编程工具</a:t>
            </a:r>
            <a:r>
              <a:rPr lang="en-US" altLang="zh-CN" sz="2600" dirty="0">
                <a:solidFill>
                  <a:prstClr val="black"/>
                </a:solidFill>
              </a:rPr>
              <a:t>, </a:t>
            </a:r>
            <a:r>
              <a:rPr lang="zh-CN" altLang="en-US" sz="2600" dirty="0">
                <a:solidFill>
                  <a:prstClr val="black"/>
                </a:solidFill>
              </a:rPr>
              <a:t>数值</a:t>
            </a:r>
            <a:r>
              <a:rPr lang="en-US" altLang="zh-CN" sz="2600" dirty="0">
                <a:solidFill>
                  <a:prstClr val="black"/>
                </a:solidFill>
              </a:rPr>
              <a:t>/</a:t>
            </a:r>
            <a:r>
              <a:rPr lang="zh-CN" altLang="en-US" sz="2600" dirty="0">
                <a:solidFill>
                  <a:prstClr val="black"/>
                </a:solidFill>
              </a:rPr>
              <a:t>矩阵计算功能强</a:t>
            </a:r>
            <a:r>
              <a:rPr lang="en-US" altLang="zh-CN" sz="2600" dirty="0">
                <a:solidFill>
                  <a:prstClr val="black"/>
                </a:solidFill>
              </a:rPr>
              <a:t>(</a:t>
            </a:r>
            <a:r>
              <a:rPr lang="zh-CN" altLang="en-US" sz="2600" dirty="0">
                <a:solidFill>
                  <a:prstClr val="black"/>
                </a:solidFill>
              </a:rPr>
              <a:t>先进算法</a:t>
            </a:r>
            <a:r>
              <a:rPr lang="en-US" altLang="zh-CN" sz="2600" dirty="0">
                <a:solidFill>
                  <a:prstClr val="black"/>
                </a:solidFill>
              </a:rPr>
              <a:t>)</a:t>
            </a:r>
            <a:endParaRPr lang="zh-CN" altLang="en-US" sz="2600" dirty="0">
              <a:solidFill>
                <a:prstClr val="black"/>
              </a:solidFill>
            </a:endParaRPr>
          </a:p>
          <a:p>
            <a:pPr lvl="0">
              <a:spcBef>
                <a:spcPts val="600"/>
              </a:spcBef>
              <a:buClr>
                <a:srgbClr val="2DA2BF"/>
              </a:buClr>
            </a:pPr>
            <a:r>
              <a:rPr lang="zh-CN" altLang="en-US" sz="2600" dirty="0">
                <a:solidFill>
                  <a:prstClr val="black"/>
                </a:solidFill>
              </a:rPr>
              <a:t>大量专题工具箱</a:t>
            </a:r>
            <a:r>
              <a:rPr lang="en-US" altLang="zh-CN" sz="2600" dirty="0">
                <a:solidFill>
                  <a:prstClr val="black"/>
                </a:solidFill>
              </a:rPr>
              <a:t>(Toolbox), </a:t>
            </a:r>
            <a:r>
              <a:rPr lang="zh-CN" altLang="en-US" sz="2600" dirty="0">
                <a:solidFill>
                  <a:prstClr val="black"/>
                </a:solidFill>
              </a:rPr>
              <a:t>为专业应用提供便利</a:t>
            </a:r>
            <a:endParaRPr lang="en-US" altLang="zh-CN" sz="2600" dirty="0">
              <a:solidFill>
                <a:prstClr val="black"/>
              </a:solidFill>
            </a:endParaRPr>
          </a:p>
        </p:txBody>
      </p:sp>
      <p:graphicFrame>
        <p:nvGraphicFramePr>
          <p:cNvPr id="11332" name="Group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470955"/>
              </p:ext>
            </p:extLst>
          </p:nvPr>
        </p:nvGraphicFramePr>
        <p:xfrm>
          <a:off x="609600" y="3140968"/>
          <a:ext cx="8077200" cy="3048002"/>
        </p:xfrm>
        <a:graphic>
          <a:graphicData uri="http://schemas.openxmlformats.org/drawingml/2006/table">
            <a:tbl>
              <a:tblPr/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7200" marR="7200" marT="7200" marB="7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Matlab(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作为编程语言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)</a:t>
                      </a:r>
                    </a:p>
                  </a:txBody>
                  <a:tcPr marL="7200" marR="7200" marT="7200" marB="7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C, C++, Fortran</a:t>
                      </a:r>
                    </a:p>
                  </a:txBody>
                  <a:tcPr marL="7200" marR="7200" marT="7200" marB="7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7200" marR="7200" marT="7200" marB="7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第四代编程语言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第三代编程语言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编译方式</a:t>
                      </a:r>
                    </a:p>
                  </a:txBody>
                  <a:tcPr marL="7200" marR="7200" marT="7200" marB="7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解释器，或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JIT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加速器</a:t>
                      </a:r>
                      <a:endParaRPr kumimoji="0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编译器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申明变量</a:t>
                      </a: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？</a:t>
                      </a:r>
                    </a:p>
                  </a:txBody>
                  <a:tcPr marL="7200" marR="7200" marT="7200" marB="7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不需要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需要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开发时间</a:t>
                      </a:r>
                    </a:p>
                  </a:txBody>
                  <a:tcPr marL="7200" marR="7200" marT="7200" marB="7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较快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较慢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运行时间</a:t>
                      </a:r>
                    </a:p>
                  </a:txBody>
                  <a:tcPr marL="7200" marR="7200" marT="7200" marB="7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较慢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较快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开发环境</a:t>
                      </a:r>
                    </a:p>
                  </a:txBody>
                  <a:tcPr marL="7200" marR="7200" marT="7200" marB="72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集成环境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(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编辑器、调试器、命令历史、变量空间、</a:t>
                      </a: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profiler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、编译器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)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--</a:t>
                      </a:r>
                    </a:p>
                  </a:txBody>
                  <a:tcPr marL="7200" marR="7200" marT="7200" marB="7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1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2451CFC-C978-4AC1-A5F1-077CACA1B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00" y="1314842"/>
            <a:ext cx="8028384" cy="5267897"/>
          </a:xfrm>
          <a:prstGeom prst="rect">
            <a:avLst/>
          </a:prstGeom>
        </p:spPr>
      </p:pic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MATLAB</a:t>
            </a:r>
            <a:r>
              <a:rPr lang="zh-CN" altLang="en-US" b="1"/>
              <a:t>简介</a:t>
            </a:r>
            <a:r>
              <a:rPr lang="en-US" altLang="zh-CN"/>
              <a:t>(2)</a:t>
            </a:r>
          </a:p>
        </p:txBody>
      </p:sp>
      <p:sp>
        <p:nvSpPr>
          <p:cNvPr id="6149" name="AutoShape 39"/>
          <p:cNvSpPr>
            <a:spLocks noChangeArrowheads="1"/>
          </p:cNvSpPr>
          <p:nvPr/>
        </p:nvSpPr>
        <p:spPr bwMode="auto">
          <a:xfrm>
            <a:off x="5730416" y="3965265"/>
            <a:ext cx="2971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t>命令窗口，将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t>Matlab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t>作为计算器使用</a:t>
            </a:r>
          </a:p>
        </p:txBody>
      </p:sp>
      <p:sp>
        <p:nvSpPr>
          <p:cNvPr id="12328" name="AutoShape 40"/>
          <p:cNvSpPr>
            <a:spLocks noChangeArrowheads="1"/>
          </p:cNvSpPr>
          <p:nvPr/>
        </p:nvSpPr>
        <p:spPr bwMode="auto">
          <a:xfrm>
            <a:off x="908874" y="3237899"/>
            <a:ext cx="1295400" cy="457200"/>
          </a:xfrm>
          <a:prstGeom prst="wedgeRoundRectCallout">
            <a:avLst>
              <a:gd name="adj1" fmla="val 6547"/>
              <a:gd name="adj2" fmla="val -10959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" rIns="720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t>变量空间</a:t>
            </a:r>
          </a:p>
        </p:txBody>
      </p:sp>
      <p:sp>
        <p:nvSpPr>
          <p:cNvPr id="12329" name="AutoShape 41"/>
          <p:cNvSpPr>
            <a:spLocks noChangeArrowheads="1"/>
          </p:cNvSpPr>
          <p:nvPr/>
        </p:nvSpPr>
        <p:spPr bwMode="auto">
          <a:xfrm>
            <a:off x="261174" y="3965265"/>
            <a:ext cx="1295400" cy="304800"/>
          </a:xfrm>
          <a:prstGeom prst="wedgeRoundRectCallout">
            <a:avLst>
              <a:gd name="adj1" fmla="val 34824"/>
              <a:gd name="adj2" fmla="val 15353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" tIns="0" rIns="720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t>命令历史</a:t>
            </a:r>
          </a:p>
        </p:txBody>
      </p:sp>
      <p:sp>
        <p:nvSpPr>
          <p:cNvPr id="12330" name="AutoShape 42"/>
          <p:cNvSpPr>
            <a:spLocks noChangeArrowheads="1"/>
          </p:cNvSpPr>
          <p:nvPr/>
        </p:nvSpPr>
        <p:spPr bwMode="auto">
          <a:xfrm>
            <a:off x="4778073" y="1030680"/>
            <a:ext cx="1524000" cy="310480"/>
          </a:xfrm>
          <a:prstGeom prst="wedgeRoundRectCallout">
            <a:avLst>
              <a:gd name="adj1" fmla="val 27632"/>
              <a:gd name="adj2" fmla="val 189551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720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t>其他窗口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F13EAF-B667-42C7-BC3D-A8A1A2F1A4C9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26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115180C-672E-45CA-A8A9-4BB85FBFD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1" y="2060848"/>
            <a:ext cx="5122021" cy="4752450"/>
          </a:xfrm>
          <a:prstGeom prst="rect">
            <a:avLst/>
          </a:prstGeom>
        </p:spPr>
      </p:pic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MATLAB</a:t>
            </a:r>
            <a:r>
              <a:rPr lang="zh-CN" altLang="en-US" b="1"/>
              <a:t>简介</a:t>
            </a:r>
            <a:r>
              <a:rPr lang="en-US" altLang="zh-CN"/>
              <a:t>(3)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953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/>
              <a:t>程序编辑窗口</a:t>
            </a:r>
          </a:p>
        </p:txBody>
      </p:sp>
      <p:sp>
        <p:nvSpPr>
          <p:cNvPr id="7173" name="AutoShape 8"/>
          <p:cNvSpPr>
            <a:spLocks noChangeArrowheads="1"/>
          </p:cNvSpPr>
          <p:nvPr/>
        </p:nvSpPr>
        <p:spPr bwMode="auto">
          <a:xfrm>
            <a:off x="1907704" y="3609974"/>
            <a:ext cx="1676400" cy="457200"/>
          </a:xfrm>
          <a:prstGeom prst="wedgeRoundRectCallout">
            <a:avLst>
              <a:gd name="adj1" fmla="val -40657"/>
              <a:gd name="adj2" fmla="val -8903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72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t>注释语句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t>%</a:t>
            </a:r>
          </a:p>
        </p:txBody>
      </p:sp>
      <p:sp>
        <p:nvSpPr>
          <p:cNvPr id="7177" name="Text Box 13"/>
          <p:cNvSpPr txBox="1">
            <a:spLocks noChangeArrowheads="1"/>
          </p:cNvSpPr>
          <p:nvPr/>
        </p:nvSpPr>
        <p:spPr bwMode="auto">
          <a:xfrm>
            <a:off x="5508104" y="1008534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帮助窗口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F13EAF-B667-42C7-BC3D-A8A1A2F1A4C9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98A50F-33EA-4044-A3C6-C4A02F667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738" y="1494168"/>
            <a:ext cx="5506995" cy="366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47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MATLAB</a:t>
            </a:r>
            <a:r>
              <a:rPr lang="zh-CN" altLang="en-US" b="1"/>
              <a:t>简介</a:t>
            </a:r>
            <a:r>
              <a:rPr lang="en-US" altLang="zh-CN"/>
              <a:t>(4)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481327"/>
            <a:ext cx="8229600" cy="529174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800" dirty="0"/>
              <a:t>如何“上手”？</a:t>
            </a:r>
            <a:endParaRPr lang="en-US" altLang="zh-CN" sz="2800" dirty="0"/>
          </a:p>
          <a:p>
            <a:pPr lvl="1">
              <a:spcBef>
                <a:spcPts val="600"/>
              </a:spcBef>
            </a:pPr>
            <a:r>
              <a:rPr lang="zh-CN" altLang="en-US" sz="2400" dirty="0"/>
              <a:t>安装</a:t>
            </a:r>
            <a:r>
              <a:rPr lang="en-US" altLang="zh-CN" sz="2400" dirty="0" err="1"/>
              <a:t>Matlab</a:t>
            </a:r>
            <a:r>
              <a:rPr lang="zh-CN" altLang="en-US" sz="2400" dirty="0"/>
              <a:t>软件 </a:t>
            </a:r>
            <a:r>
              <a:rPr lang="en-US" altLang="zh-CN" sz="2400" dirty="0"/>
              <a:t>(R2020b</a:t>
            </a:r>
            <a:r>
              <a:rPr lang="zh-CN" altLang="en-US" sz="2400" dirty="0"/>
              <a:t>或更新</a:t>
            </a:r>
            <a:r>
              <a:rPr lang="en-US" altLang="zh-CN" sz="2400" dirty="0"/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2400" dirty="0"/>
              <a:t>《Numerical Computing with </a:t>
            </a:r>
            <a:r>
              <a:rPr lang="en-US" altLang="zh-CN" sz="2400" dirty="0" err="1"/>
              <a:t>Matlab</a:t>
            </a:r>
            <a:r>
              <a:rPr lang="en-US" altLang="zh-CN" sz="2400" dirty="0"/>
              <a:t>》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by Cleve </a:t>
            </a:r>
            <a:r>
              <a:rPr lang="en-US" altLang="zh-CN" dirty="0" err="1"/>
              <a:t>Moler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</a:pPr>
            <a:endParaRPr lang="en-US" altLang="zh-CN" sz="2400" dirty="0"/>
          </a:p>
          <a:p>
            <a:pPr lvl="1">
              <a:spcBef>
                <a:spcPts val="600"/>
              </a:spcBef>
            </a:pPr>
            <a:endParaRPr lang="en-US" altLang="zh-CN" sz="2400" dirty="0"/>
          </a:p>
          <a:p>
            <a:pPr lvl="1">
              <a:spcBef>
                <a:spcPts val="2400"/>
              </a:spcBef>
            </a:pPr>
            <a:r>
              <a:rPr lang="zh-CN" altLang="en-US" sz="2400" dirty="0"/>
              <a:t>获取</a:t>
            </a:r>
            <a:r>
              <a:rPr lang="en-US" altLang="zh-CN" sz="2400" dirty="0">
                <a:solidFill>
                  <a:srgbClr val="1818FF"/>
                </a:solidFill>
              </a:rPr>
              <a:t>NCM</a:t>
            </a:r>
            <a:r>
              <a:rPr lang="zh-CN" altLang="en-US" sz="2400" dirty="0">
                <a:solidFill>
                  <a:srgbClr val="1818FF"/>
                </a:solidFill>
              </a:rPr>
              <a:t>程序包</a:t>
            </a:r>
            <a:r>
              <a:rPr lang="zh-CN" altLang="en-US" sz="2400" dirty="0"/>
              <a:t>，并设置路径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zh-CN" altLang="en-US" sz="2400" dirty="0"/>
              <a:t>多动手实验</a:t>
            </a:r>
            <a:r>
              <a:rPr lang="en-US" altLang="zh-CN" sz="2400" dirty="0"/>
              <a:t>; </a:t>
            </a:r>
            <a:r>
              <a:rPr lang="zh-CN" altLang="en-US" sz="2400" dirty="0"/>
              <a:t>多用命令历史</a:t>
            </a:r>
            <a:r>
              <a:rPr lang="zh-CN" altLang="zh-CN" sz="2400" dirty="0"/>
              <a:t>键</a:t>
            </a:r>
            <a:r>
              <a:rPr lang="en-US" altLang="zh-CN" sz="2400" dirty="0"/>
              <a:t>: “</a:t>
            </a:r>
            <a:r>
              <a:rPr lang="en-US" altLang="zh-CN" sz="2400" dirty="0">
                <a:sym typeface="Symbol"/>
              </a:rPr>
              <a:t></a:t>
            </a:r>
            <a:r>
              <a:rPr lang="en-US" altLang="zh-CN" sz="2400" dirty="0"/>
              <a:t>”, “</a:t>
            </a:r>
            <a:r>
              <a:rPr lang="zh-CN" altLang="en-US" sz="2400" dirty="0">
                <a:sym typeface="Symbol"/>
              </a:rPr>
              <a:t></a:t>
            </a:r>
            <a:r>
              <a:rPr lang="en-US" altLang="zh-CN" sz="2400" dirty="0"/>
              <a:t>”</a:t>
            </a:r>
            <a:r>
              <a:rPr lang="zh-CN" altLang="zh-CN" sz="2400" dirty="0"/>
              <a:t> </a:t>
            </a:r>
            <a:r>
              <a:rPr lang="zh-CN" altLang="en-US" sz="2400" dirty="0"/>
              <a:t>，以及</a:t>
            </a:r>
            <a:r>
              <a:rPr lang="en-US" altLang="zh-CN" sz="2400" dirty="0"/>
              <a:t>doc</a:t>
            </a:r>
            <a:r>
              <a:rPr lang="zh-CN" altLang="en-US" sz="2400" dirty="0"/>
              <a:t>命令</a:t>
            </a:r>
            <a:endParaRPr lang="en-US" altLang="zh-CN" sz="2400" dirty="0"/>
          </a:p>
          <a:p>
            <a:pPr>
              <a:spcBef>
                <a:spcPts val="600"/>
              </a:spcBef>
            </a:pPr>
            <a:r>
              <a:rPr lang="zh-CN" altLang="en-US" sz="2800" dirty="0"/>
              <a:t>先通过几个例子问题熟悉</a:t>
            </a:r>
            <a:r>
              <a:rPr lang="en-US" altLang="zh-CN" sz="2800" dirty="0" err="1"/>
              <a:t>Matlab</a:t>
            </a:r>
            <a:endParaRPr lang="en-US" altLang="zh-CN" sz="2800" dirty="0"/>
          </a:p>
          <a:p>
            <a:pPr lvl="1">
              <a:spcBef>
                <a:spcPts val="600"/>
              </a:spcBef>
            </a:pPr>
            <a:r>
              <a:rPr lang="en-US" altLang="zh-CN" sz="2400" dirty="0"/>
              <a:t>               NCM</a:t>
            </a:r>
            <a:r>
              <a:rPr lang="zh-CN" altLang="en-US" sz="2400" dirty="0"/>
              <a:t>书的第</a:t>
            </a:r>
            <a:r>
              <a:rPr lang="en-US" altLang="zh-CN" sz="2400" dirty="0"/>
              <a:t>1.1 ~ 1.4</a:t>
            </a:r>
            <a:r>
              <a:rPr lang="zh-CN" altLang="en-US" sz="2400" dirty="0"/>
              <a:t>节</a:t>
            </a: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4675432" y="4870321"/>
            <a:ext cx="2344840" cy="43088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</a:t>
            </a:r>
            <a:r>
              <a:rPr lang="en-US" altLang="zh-CN" sz="2200" dirty="0" err="1"/>
              <a:t>ncmgui</a:t>
            </a:r>
            <a:endParaRPr lang="en-US" altLang="zh-CN" sz="2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068416" y="4886468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</a:t>
            </a:r>
            <a:r>
              <a:rPr lang="zh-CN" altLang="en-US" sz="2000" dirty="0"/>
              <a:t>网络学堂</a:t>
            </a:r>
            <a:r>
              <a:rPr lang="en-US" altLang="zh-CN" sz="2000" dirty="0"/>
              <a:t>-”</a:t>
            </a:r>
            <a:r>
              <a:rPr lang="zh-CN" altLang="en-US" sz="2000" dirty="0"/>
              <a:t>课程文件</a:t>
            </a:r>
            <a:r>
              <a:rPr lang="en-US" altLang="zh-CN" sz="2000" dirty="0"/>
              <a:t>”</a:t>
            </a:r>
            <a:r>
              <a:rPr lang="zh-CN" altLang="en-US" sz="2000" dirty="0"/>
              <a:t>栏目</a:t>
            </a:r>
            <a:r>
              <a:rPr lang="en-US" altLang="zh-CN" sz="2000" dirty="0"/>
              <a:t>)</a:t>
            </a:r>
            <a:endParaRPr lang="en-US" sz="2000" dirty="0"/>
          </a:p>
        </p:txBody>
      </p:sp>
      <p:pic>
        <p:nvPicPr>
          <p:cNvPr id="11" name="Picture 2" descr="Imag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375" y="1087815"/>
            <a:ext cx="1412897" cy="201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1043608" y="3247266"/>
            <a:ext cx="63150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/>
              <a:t>http://www.mathworks.com/moler/index_ncm.html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06" y="3592993"/>
            <a:ext cx="6886575" cy="7905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6A80C18-FBF0-4FA5-8781-E12D404EC065}"/>
              </a:ext>
            </a:extLst>
          </p:cNvPr>
          <p:cNvSpPr txBox="1"/>
          <p:nvPr/>
        </p:nvSpPr>
        <p:spPr>
          <a:xfrm>
            <a:off x="5036064" y="2846090"/>
            <a:ext cx="1902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简称为</a:t>
            </a:r>
            <a:r>
              <a:rPr lang="en-US" altLang="zh-CN" sz="2000" dirty="0"/>
              <a:t>”</a:t>
            </a:r>
            <a:r>
              <a:rPr lang="en-US" altLang="zh-CN" sz="2000" dirty="0">
                <a:solidFill>
                  <a:srgbClr val="1818FF"/>
                </a:solidFill>
              </a:rPr>
              <a:t>NCM</a:t>
            </a:r>
            <a:r>
              <a:rPr lang="en-US" altLang="zh-CN" sz="2000" dirty="0"/>
              <a:t>”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2013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ym typeface="Symbol"/>
              </a:rPr>
              <a:t>0.6180… </a:t>
            </a:r>
            <a:r>
              <a:rPr lang="zh-CN" altLang="en-US" sz="2800" dirty="0">
                <a:sym typeface="Symbol"/>
              </a:rPr>
              <a:t>，可能是世界上最有趣的数</a:t>
            </a:r>
            <a:endParaRPr lang="en-US" altLang="zh-CN" sz="2800" dirty="0">
              <a:sym typeface="Symbol"/>
            </a:endParaRPr>
          </a:p>
          <a:p>
            <a:r>
              <a:rPr lang="zh-CN" altLang="en-US" sz="2800" dirty="0">
                <a:sym typeface="Symbol"/>
              </a:rPr>
              <a:t>？</a:t>
            </a:r>
            <a:endParaRPr lang="en-US" altLang="zh-CN" sz="2800" dirty="0">
              <a:sym typeface="Symbol"/>
            </a:endParaRPr>
          </a:p>
          <a:p>
            <a:r>
              <a:rPr lang="en-US" altLang="zh-CN" sz="2800" dirty="0" err="1">
                <a:sym typeface="Symbol"/>
              </a:rPr>
              <a:t>Matlab</a:t>
            </a:r>
            <a:r>
              <a:rPr lang="zh-CN" altLang="en-US" sz="2800" dirty="0">
                <a:sym typeface="Symbol"/>
              </a:rPr>
              <a:t>功能</a:t>
            </a:r>
            <a:endParaRPr lang="en-US" altLang="zh-CN" sz="2800" dirty="0">
              <a:sym typeface="Symbol"/>
            </a:endParaRPr>
          </a:p>
          <a:p>
            <a:pPr lvl="1">
              <a:spcBef>
                <a:spcPts val="400"/>
              </a:spcBef>
            </a:pPr>
            <a:r>
              <a:rPr lang="zh-CN" altLang="zh-CN" sz="2400" dirty="0"/>
              <a:t>表示、显示数的格式</a:t>
            </a:r>
            <a:endParaRPr lang="en-US" altLang="zh-CN" sz="2400" dirty="0"/>
          </a:p>
          <a:p>
            <a:pPr lvl="1">
              <a:spcBef>
                <a:spcPts val="400"/>
              </a:spcBef>
            </a:pPr>
            <a:r>
              <a:rPr lang="zh-CN" altLang="zh-CN" sz="2400" dirty="0"/>
              <a:t>数值、符号</a:t>
            </a:r>
            <a:r>
              <a:rPr lang="en-US" altLang="zh-CN" sz="2400" dirty="0"/>
              <a:t>(</a:t>
            </a:r>
            <a:r>
              <a:rPr lang="zh-CN" altLang="en-US" sz="2400" dirty="0">
                <a:solidFill>
                  <a:srgbClr val="1818FF"/>
                </a:solidFill>
              </a:rPr>
              <a:t>解析</a:t>
            </a:r>
            <a:r>
              <a:rPr lang="en-US" altLang="zh-CN" sz="2400" dirty="0"/>
              <a:t>)</a:t>
            </a:r>
            <a:r>
              <a:rPr lang="zh-CN" altLang="zh-CN" sz="2400" dirty="0"/>
              <a:t>求解多项式方程</a:t>
            </a:r>
            <a:endParaRPr lang="en-US" altLang="zh-CN" sz="2400" dirty="0"/>
          </a:p>
          <a:p>
            <a:pPr lvl="1">
              <a:spcBef>
                <a:spcPts val="400"/>
              </a:spcBef>
            </a:pPr>
            <a:r>
              <a:rPr lang="zh-CN" altLang="zh-CN" sz="2400" dirty="0"/>
              <a:t>符号变量转为数值</a:t>
            </a:r>
            <a:endParaRPr lang="en-US" altLang="zh-CN" sz="2400" dirty="0"/>
          </a:p>
          <a:p>
            <a:pPr lvl="1">
              <a:spcBef>
                <a:spcPts val="400"/>
              </a:spcBef>
            </a:pPr>
            <a:r>
              <a:rPr lang="zh-CN" altLang="zh-CN" sz="2400" dirty="0"/>
              <a:t>函数句柄与函数的绘制</a:t>
            </a:r>
            <a:endParaRPr lang="en-US" altLang="zh-CN" sz="2400" dirty="0"/>
          </a:p>
          <a:p>
            <a:pPr lvl="1">
              <a:spcBef>
                <a:spcPts val="400"/>
              </a:spcBef>
            </a:pPr>
            <a:r>
              <a:rPr lang="zh-CN" altLang="en-US" sz="2400" dirty="0">
                <a:solidFill>
                  <a:srgbClr val="1818FF"/>
                </a:solidFill>
              </a:rPr>
              <a:t>脚本程序</a:t>
            </a:r>
            <a:r>
              <a:rPr lang="zh-CN" altLang="en-US" sz="2400" dirty="0"/>
              <a:t>与绘图功能</a:t>
            </a:r>
            <a:endParaRPr lang="en-US" altLang="zh-CN" sz="2400" dirty="0"/>
          </a:p>
          <a:p>
            <a:pPr lvl="1">
              <a:spcBef>
                <a:spcPts val="400"/>
              </a:spcBef>
            </a:pPr>
            <a:r>
              <a:rPr lang="zh-CN" altLang="en-US" sz="2400" dirty="0"/>
              <a:t>一个较复杂的</a:t>
            </a:r>
            <a:r>
              <a:rPr lang="zh-CN" altLang="en-US" sz="2400" dirty="0">
                <a:solidFill>
                  <a:srgbClr val="1818FF"/>
                </a:solidFill>
              </a:rPr>
              <a:t>函数程序</a:t>
            </a:r>
            <a:r>
              <a:rPr lang="en-US" altLang="zh-CN" sz="2400" dirty="0"/>
              <a:t>(</a:t>
            </a:r>
            <a:r>
              <a:rPr lang="zh-CN" altLang="en-US" sz="2400" dirty="0"/>
              <a:t>截断</a:t>
            </a:r>
            <a:r>
              <a:rPr lang="en-US" altLang="zh-CN" sz="2400" dirty="0"/>
              <a:t>n</a:t>
            </a:r>
            <a:r>
              <a:rPr lang="zh-CN" altLang="en-US" sz="2400" dirty="0"/>
              <a:t>项的连分数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黄金分割比</a:t>
            </a:r>
            <a:r>
              <a:rPr lang="en-US" altLang="zh-CN">
                <a:effectLst/>
              </a:rPr>
              <a:t>(1)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835696" y="1979112"/>
                <a:ext cx="4165949" cy="5078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700" i="1">
                        <a:latin typeface="Cambria Math"/>
                        <a:sym typeface="Symbol"/>
                      </a:rPr>
                      <m:t>𝜙</m:t>
                    </m:r>
                  </m:oMath>
                </a14:m>
                <a:r>
                  <a:rPr lang="en-US" altLang="zh-CN" sz="2700">
                    <a:sym typeface="Symbol"/>
                  </a:rPr>
                  <a:t>=1/0.6180… </a:t>
                </a:r>
                <a:r>
                  <a:rPr lang="en-US" altLang="zh-CN" sz="2700">
                    <a:solidFill>
                      <a:srgbClr val="1818FF"/>
                    </a:solidFill>
                    <a:sym typeface="Symbol"/>
                  </a:rPr>
                  <a:t>1.6180</a:t>
                </a:r>
                <a:endParaRPr lang="zh-CN" altLang="en-US" sz="2700">
                  <a:solidFill>
                    <a:srgbClr val="1818FF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1979112"/>
                <a:ext cx="4165949" cy="507831"/>
              </a:xfrm>
              <a:prstGeom prst="rect">
                <a:avLst/>
              </a:prstGeom>
              <a:blipFill rotWithShape="1">
                <a:blip r:embed="rId2"/>
                <a:stretch>
                  <a:fillRect l="-1462" t="-16867" r="-1316" b="-32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72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290" y="3880501"/>
            <a:ext cx="2543175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  <a:sym typeface="Symbol"/>
                      </a:rPr>
                      <m:t>𝜙</m:t>
                    </m:r>
                    <m:r>
                      <a:rPr lang="en-US" altLang="zh-CN" b="0" i="1" smtClean="0">
                        <a:latin typeface="Cambria Math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  <a:sym typeface="Symbol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/>
                                <a:sym typeface="Symbol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altLang="zh-CN" b="0" i="1" smtClean="0">
                            <a:latin typeface="Cambria Math"/>
                            <a:sym typeface="Symbol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>
                  <a:sym typeface="Symbol"/>
                </a:endParaRPr>
              </a:p>
              <a:p>
                <a:r>
                  <a:rPr lang="en-US" altLang="zh-CN" dirty="0" err="1">
                    <a:sym typeface="Symbol"/>
                  </a:rPr>
                  <a:t>Matlab</a:t>
                </a:r>
                <a:r>
                  <a:rPr lang="zh-CN" altLang="en-US" dirty="0">
                    <a:sym typeface="Symbol"/>
                  </a:rPr>
                  <a:t>默认采用</a:t>
                </a:r>
                <a:r>
                  <a:rPr lang="zh-CN" altLang="en-US" b="1" dirty="0">
                    <a:solidFill>
                      <a:srgbClr val="FF0000"/>
                    </a:solidFill>
                    <a:latin typeface="楷体" pitchFamily="49" charset="-122"/>
                    <a:ea typeface="楷体" pitchFamily="49" charset="-122"/>
                    <a:sym typeface="Symbol"/>
                  </a:rPr>
                  <a:t>双精度浮点数</a:t>
                </a:r>
                <a:r>
                  <a:rPr lang="zh-CN" altLang="en-US" dirty="0">
                    <a:sym typeface="Symbol"/>
                  </a:rPr>
                  <a:t>，但有多种显示格式</a:t>
                </a:r>
                <a:endParaRPr lang="en-US" altLang="zh-CN" dirty="0">
                  <a:sym typeface="Symbol"/>
                </a:endParaRPr>
              </a:p>
              <a:p>
                <a:r>
                  <a:rPr lang="en-US" altLang="zh-CN" dirty="0">
                    <a:sym typeface="Symbol"/>
                  </a:rPr>
                  <a:t>format</a:t>
                </a:r>
                <a:r>
                  <a:rPr lang="zh-CN" altLang="en-US" dirty="0">
                    <a:sym typeface="Symbol"/>
                  </a:rPr>
                  <a:t>命令 </a:t>
                </a:r>
                <a:r>
                  <a:rPr lang="en-US" altLang="zh-CN" sz="2300" dirty="0">
                    <a:sym typeface="Symbol"/>
                  </a:rPr>
                  <a:t>(</a:t>
                </a:r>
                <a:r>
                  <a:rPr lang="zh-CN" altLang="en-US" sz="2300" dirty="0">
                    <a:sym typeface="Symbol"/>
                  </a:rPr>
                  <a:t>也可通过“预设”菜单项设置“数值格式”</a:t>
                </a:r>
                <a:r>
                  <a:rPr lang="en-US" altLang="zh-CN" sz="2300" dirty="0">
                    <a:sym typeface="Symbol"/>
                  </a:rPr>
                  <a:t>)</a:t>
                </a:r>
              </a:p>
              <a:p>
                <a:pPr lvl="1"/>
                <a:endParaRPr lang="en-US" altLang="zh-CN" dirty="0"/>
              </a:p>
              <a:p>
                <a:r>
                  <a:rPr lang="zh-CN" altLang="zh-CN" dirty="0"/>
                  <a:t>黄金矩形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裁去正方形后，小矩形形状比例不变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根据这个特性求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sym typeface="Symbol"/>
                      </a:rPr>
                      <m:t>𝜙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解方程</a:t>
                </a:r>
                <a:r>
                  <a:rPr lang="en-US" altLang="zh-CN" dirty="0"/>
                  <a:t>:</a:t>
                </a: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r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黄金分割比</a:t>
            </a:r>
            <a:r>
              <a:rPr lang="en-US" altLang="zh-CN">
                <a:effectLst/>
              </a:rPr>
              <a:t>(2)</a:t>
            </a:r>
            <a:endParaRPr lang="zh-CN" altLang="en-US"/>
          </a:p>
        </p:txBody>
      </p:sp>
      <p:sp>
        <p:nvSpPr>
          <p:cNvPr id="4" name="Text Box 39"/>
          <p:cNvSpPr txBox="1">
            <a:spLocks noChangeArrowheads="1"/>
          </p:cNvSpPr>
          <p:nvPr/>
        </p:nvSpPr>
        <p:spPr bwMode="auto">
          <a:xfrm>
            <a:off x="5004048" y="3138503"/>
            <a:ext cx="3866688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/>
              <a:t>&gt;&gt; phi = (1+sqrt(5)) / 2</a:t>
            </a:r>
          </a:p>
          <a:p>
            <a:pPr eaLnBrk="1" hangingPunct="1"/>
            <a:r>
              <a:rPr lang="en-US" altLang="zh-CN" sz="2200"/>
              <a:t>&gt;&gt; format long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051720" y="5352739"/>
                <a:ext cx="1591974" cy="8199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30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zh-CN" altLang="en-US" sz="2300" i="1">
                              <a:latin typeface="Cambria Math"/>
                              <a:sym typeface="Symbol"/>
                            </a:rPr>
                            <m:t>𝜙</m:t>
                          </m:r>
                          <m:r>
                            <a:rPr lang="en-US" altLang="zh-CN" sz="2300" i="1">
                              <a:latin typeface="Cambria Math"/>
                              <a:sym typeface="Symbol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300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den>
                      </m:f>
                      <m:r>
                        <a:rPr lang="en-US" altLang="zh-CN" sz="2300" b="0" i="1" smtClean="0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US" altLang="zh-CN" sz="2300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altLang="zh-CN" sz="2300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300" i="1">
                              <a:latin typeface="Cambria Math"/>
                              <a:sym typeface="Symbol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5352739"/>
                <a:ext cx="1591974" cy="81990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208061" y="5547248"/>
                <a:ext cx="2249205" cy="4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30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zh-CN" altLang="en-US" sz="2300" i="1">
                              <a:latin typeface="Cambria Math"/>
                              <a:sym typeface="Symbol"/>
                            </a:rPr>
                            <m:t>𝜙</m:t>
                          </m:r>
                        </m:e>
                        <m:sup>
                          <m:r>
                            <a:rPr lang="en-US" altLang="zh-CN" sz="2300" i="1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US" altLang="zh-CN" sz="2300" i="1">
                          <a:latin typeface="Cambria Math"/>
                          <a:sym typeface="Symbol"/>
                        </a:rPr>
                        <m:t>−</m:t>
                      </m:r>
                      <m:r>
                        <a:rPr lang="zh-CN" altLang="en-US" sz="2300" i="1">
                          <a:latin typeface="Cambria Math"/>
                          <a:sym typeface="Symbol"/>
                        </a:rPr>
                        <m:t>𝜙</m:t>
                      </m:r>
                      <m:r>
                        <a:rPr lang="en-US" altLang="zh-CN" sz="2300" i="1">
                          <a:latin typeface="Cambria Math"/>
                          <a:sym typeface="Symbol"/>
                        </a:rPr>
                        <m:t>−1</m:t>
                      </m:r>
                      <m:r>
                        <a:rPr lang="en-US" altLang="zh-CN" sz="23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zh-CN" altLang="en-US" sz="230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061" y="5547248"/>
                <a:ext cx="2249205" cy="446276"/>
              </a:xfrm>
              <a:prstGeom prst="rect">
                <a:avLst/>
              </a:prstGeom>
              <a:blipFill rotWithShape="1">
                <a:blip r:embed="rId5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左右箭头 5"/>
          <p:cNvSpPr/>
          <p:nvPr/>
        </p:nvSpPr>
        <p:spPr>
          <a:xfrm>
            <a:off x="3578636" y="5674203"/>
            <a:ext cx="712282" cy="230833"/>
          </a:xfrm>
          <a:prstGeom prst="leftRightArrow">
            <a:avLst/>
          </a:prstGeom>
          <a:solidFill>
            <a:srgbClr val="0070C0"/>
          </a:solidFill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59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Autofit/>
          </a:bodyPr>
          <a:lstStyle/>
          <a:p>
            <a:r>
              <a:rPr lang="zh-CN" altLang="en-US" dirty="0"/>
              <a:t>求解多项式方程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zh-CN" altLang="en-US" u="sng" dirty="0"/>
              <a:t>降次排列</a:t>
            </a:r>
            <a:r>
              <a:rPr lang="zh-CN" altLang="en-US" dirty="0"/>
              <a:t>的系数表示多项式，再用</a:t>
            </a:r>
            <a:r>
              <a:rPr lang="en-US" altLang="zh-CN" dirty="0">
                <a:solidFill>
                  <a:srgbClr val="1818FF"/>
                </a:solidFill>
              </a:rPr>
              <a:t>roots</a:t>
            </a:r>
            <a:r>
              <a:rPr lang="zh-CN" altLang="en-US" dirty="0"/>
              <a:t>命令</a:t>
            </a:r>
            <a:r>
              <a:rPr lang="zh-CN" altLang="en-US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数值求解</a:t>
            </a:r>
            <a:endParaRPr lang="en-US" altLang="zh-CN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Symbolic Math Toolbox</a:t>
            </a:r>
          </a:p>
          <a:p>
            <a:pPr lvl="1">
              <a:spcBef>
                <a:spcPts val="1800"/>
              </a:spcBef>
            </a:pPr>
            <a:r>
              <a:rPr lang="zh-CN" altLang="en-US" dirty="0"/>
              <a:t>解析求解命令</a:t>
            </a:r>
            <a:r>
              <a:rPr lang="en-US" altLang="zh-CN" dirty="0">
                <a:solidFill>
                  <a:srgbClr val="1818FF"/>
                </a:solidFill>
              </a:rPr>
              <a:t>solve</a:t>
            </a:r>
            <a:r>
              <a:rPr lang="zh-CN" altLang="en-US" dirty="0"/>
              <a:t>命解方程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>
                <a:solidFill>
                  <a:srgbClr val="002060"/>
                </a:solidFill>
              </a:rPr>
              <a:t>解析</a:t>
            </a:r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zh-CN" altLang="en-US" dirty="0">
                <a:solidFill>
                  <a:srgbClr val="002060"/>
                </a:solidFill>
              </a:rPr>
              <a:t>符号</a:t>
            </a:r>
            <a:r>
              <a:rPr lang="en-US" altLang="zh-CN" dirty="0">
                <a:solidFill>
                  <a:srgbClr val="002060"/>
                </a:solidFill>
              </a:rPr>
              <a:t>)</a:t>
            </a:r>
            <a:r>
              <a:rPr lang="zh-CN" altLang="en-US" dirty="0">
                <a:solidFill>
                  <a:srgbClr val="002060"/>
                </a:solidFill>
              </a:rPr>
              <a:t>求解运算长</a:t>
            </a:r>
            <a:endParaRPr lang="en-US" altLang="zh-CN" dirty="0">
              <a:solidFill>
                <a:srgbClr val="002060"/>
              </a:solidFill>
            </a:endParaRPr>
          </a:p>
          <a:p>
            <a:pPr lvl="1"/>
            <a:r>
              <a:rPr lang="zh-CN" altLang="en-US" dirty="0">
                <a:solidFill>
                  <a:srgbClr val="002060"/>
                </a:solidFill>
              </a:rPr>
              <a:t>无法求解复杂方程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zh-CN" altLang="en-US" dirty="0"/>
              <a:t>符号变量转化为数值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1818FF"/>
                </a:solidFill>
              </a:rPr>
              <a:t>vpa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1818FF"/>
                </a:solidFill>
              </a:rPr>
              <a:t>double, single</a:t>
            </a:r>
            <a:r>
              <a:rPr lang="en-US" altLang="zh-CN" dirty="0"/>
              <a:t> </a:t>
            </a:r>
            <a:r>
              <a:rPr lang="zh-CN" altLang="en-US" dirty="0"/>
              <a:t>命令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2060"/>
                </a:solidFill>
              </a:rPr>
              <a:t>注意：</a:t>
            </a:r>
            <a:r>
              <a:rPr lang="zh-CN" altLang="en-US" dirty="0"/>
              <a:t>抑制输出符</a:t>
            </a:r>
            <a:r>
              <a:rPr lang="en-US" altLang="zh-CN" dirty="0"/>
              <a:t> “;”</a:t>
            </a:r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黄金分割比</a:t>
            </a:r>
            <a:r>
              <a:rPr lang="en-US" altLang="zh-CN">
                <a:effectLst/>
              </a:rPr>
              <a:t>(3)</a:t>
            </a:r>
            <a:endParaRPr lang="zh-CN" altLang="en-US"/>
          </a:p>
        </p:txBody>
      </p:sp>
      <p:sp>
        <p:nvSpPr>
          <p:cNvPr id="4" name="Text Box 39"/>
          <p:cNvSpPr txBox="1">
            <a:spLocks noChangeArrowheads="1"/>
          </p:cNvSpPr>
          <p:nvPr/>
        </p:nvSpPr>
        <p:spPr bwMode="auto">
          <a:xfrm>
            <a:off x="5004048" y="2348880"/>
            <a:ext cx="3866688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p = [1 -1 -1];</a:t>
            </a:r>
          </a:p>
          <a:p>
            <a:pPr eaLnBrk="1" hangingPunct="1"/>
            <a:r>
              <a:rPr lang="en-US" altLang="zh-CN" sz="2200" dirty="0"/>
              <a:t>&gt;&gt; r = </a:t>
            </a:r>
            <a:r>
              <a:rPr lang="en-US" altLang="zh-CN" sz="2200" dirty="0">
                <a:solidFill>
                  <a:srgbClr val="1818FF"/>
                </a:solidFill>
              </a:rPr>
              <a:t>roots</a:t>
            </a:r>
            <a:r>
              <a:rPr lang="en-US" altLang="zh-CN" sz="2200" dirty="0"/>
              <a:t>(p)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531538" y="1484784"/>
                <a:ext cx="2249205" cy="4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30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zh-CN" altLang="en-US" sz="2300" i="1">
                              <a:latin typeface="Cambria Math"/>
                              <a:sym typeface="Symbol"/>
                            </a:rPr>
                            <m:t>𝜙</m:t>
                          </m:r>
                        </m:e>
                        <m:sup>
                          <m:r>
                            <a:rPr lang="en-US" altLang="zh-CN" sz="2300" i="1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US" altLang="zh-CN" sz="2300" i="1">
                          <a:latin typeface="Cambria Math"/>
                          <a:sym typeface="Symbol"/>
                        </a:rPr>
                        <m:t>−</m:t>
                      </m:r>
                      <m:r>
                        <a:rPr lang="zh-CN" altLang="en-US" sz="2300" i="1">
                          <a:latin typeface="Cambria Math"/>
                          <a:sym typeface="Symbol"/>
                        </a:rPr>
                        <m:t>𝜙</m:t>
                      </m:r>
                      <m:r>
                        <a:rPr lang="en-US" altLang="zh-CN" sz="2300" i="1">
                          <a:latin typeface="Cambria Math"/>
                          <a:sym typeface="Symbol"/>
                        </a:rPr>
                        <m:t>−1</m:t>
                      </m:r>
                      <m:r>
                        <a:rPr lang="en-US" altLang="zh-CN" sz="23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zh-CN" altLang="en-US" sz="230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538" y="1484784"/>
                <a:ext cx="2249205" cy="446276"/>
              </a:xfrm>
              <a:prstGeom prst="rect">
                <a:avLst/>
              </a:prstGeom>
              <a:blipFill rotWithShape="1">
                <a:blip r:embed="rId3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924242" y="3099822"/>
                <a:ext cx="1591974" cy="8199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30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zh-CN" altLang="en-US" sz="2300" i="1">
                              <a:latin typeface="Cambria Math"/>
                              <a:sym typeface="Symbol"/>
                            </a:rPr>
                            <m:t>𝜙</m:t>
                          </m:r>
                          <m:r>
                            <a:rPr lang="en-US" altLang="zh-CN" sz="2300" i="1">
                              <a:latin typeface="Cambria Math"/>
                              <a:sym typeface="Symbol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300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den>
                      </m:f>
                      <m:r>
                        <a:rPr lang="en-US" altLang="zh-CN" sz="2300" b="0" i="1" smtClean="0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US" altLang="zh-CN" sz="2300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altLang="zh-CN" sz="2300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300" i="1">
                              <a:latin typeface="Cambria Math"/>
                              <a:sym typeface="Symbol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242" y="3099822"/>
                <a:ext cx="1591974" cy="81990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5004048" y="5301208"/>
            <a:ext cx="3866688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/>
              <a:t>&gt;&gt; vpa(phi, 50)</a:t>
            </a:r>
          </a:p>
          <a:p>
            <a:pPr eaLnBrk="1" hangingPunct="1"/>
            <a:r>
              <a:rPr lang="en-US" altLang="zh-CN" sz="2200"/>
              <a:t>&gt;&gt; phi = double (phi)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3" name="Text Box 39"/>
          <p:cNvSpPr txBox="1">
            <a:spLocks noChangeArrowheads="1"/>
          </p:cNvSpPr>
          <p:nvPr/>
        </p:nvSpPr>
        <p:spPr bwMode="auto">
          <a:xfrm>
            <a:off x="5004048" y="4221088"/>
            <a:ext cx="3866688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</a:t>
            </a:r>
            <a:r>
              <a:rPr lang="en-US" altLang="zh-CN" sz="2200" dirty="0" err="1"/>
              <a:t>syms</a:t>
            </a:r>
            <a:r>
              <a:rPr lang="en-US" altLang="zh-CN" sz="2200" dirty="0"/>
              <a:t> x; r = </a:t>
            </a:r>
            <a:r>
              <a:rPr lang="en-US" altLang="zh-CN" sz="2200" dirty="0">
                <a:solidFill>
                  <a:srgbClr val="1818FF"/>
                </a:solidFill>
              </a:rPr>
              <a:t>solve</a:t>
            </a:r>
            <a:r>
              <a:rPr lang="en-US" altLang="zh-CN" sz="2200" dirty="0"/>
              <a:t>(x-1==1/x)</a:t>
            </a:r>
          </a:p>
          <a:p>
            <a:pPr eaLnBrk="1" hangingPunct="1"/>
            <a:r>
              <a:rPr lang="en-US" altLang="zh-CN" sz="2200" dirty="0"/>
              <a:t>&gt;&gt;phi = r(2)</a:t>
            </a:r>
          </a:p>
        </p:txBody>
      </p:sp>
    </p:spTree>
    <p:extLst>
      <p:ext uri="{BB962C8B-B14F-4D97-AF65-F5344CB8AC3E}">
        <p14:creationId xmlns:p14="http://schemas.microsoft.com/office/powerpoint/2010/main" val="227044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1328"/>
                <a:ext cx="8229600" cy="4900000"/>
              </a:xfrm>
            </p:spPr>
            <p:txBody>
              <a:bodyPr>
                <a:noAutofit/>
              </a:bodyPr>
              <a:lstStyle/>
              <a:p>
                <a:r>
                  <a:rPr lang="zh-CN" altLang="zh-CN" dirty="0"/>
                  <a:t>函数句柄与函数的绘制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有时要将</a:t>
                </a:r>
                <a:r>
                  <a:rPr lang="zh-CN" altLang="en-US" dirty="0">
                    <a:solidFill>
                      <a:srgbClr val="1818FF"/>
                    </a:solidFill>
                  </a:rPr>
                  <a:t>函数作为参数</a:t>
                </a:r>
                <a:r>
                  <a:rPr lang="zh-CN" altLang="en-US" dirty="0"/>
                  <a:t>传递，例如积分、绘曲线、解方程</a:t>
                </a:r>
                <a:endParaRPr lang="en-US" altLang="zh-CN" b="1" dirty="0">
                  <a:solidFill>
                    <a:srgbClr val="FF0000"/>
                  </a:solidFill>
                  <a:latin typeface="楷体" pitchFamily="49" charset="-122"/>
                  <a:ea typeface="楷体" pitchFamily="49" charset="-122"/>
                </a:endParaRPr>
              </a:p>
              <a:p>
                <a:pPr lvl="1"/>
                <a:r>
                  <a:rPr lang="zh-CN" altLang="en-US" dirty="0"/>
                  <a:t>定义匿名函数</a:t>
                </a:r>
                <a:r>
                  <a:rPr lang="en-US" altLang="zh-CN" dirty="0"/>
                  <a:t>@</a:t>
                </a:r>
                <a:endParaRPr lang="en-US" altLang="zh-CN" strike="sngStrike" dirty="0"/>
              </a:p>
              <a:p>
                <a:pPr lvl="1"/>
                <a:r>
                  <a:rPr lang="en-US" altLang="zh-CN" dirty="0"/>
                  <a:t>                         , 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在</a:t>
                </a:r>
                <a:r>
                  <a:rPr lang="en-US" altLang="zh-CN" dirty="0"/>
                  <a:t>[0, 4]</a:t>
                </a:r>
                <a:r>
                  <a:rPr lang="zh-CN" altLang="en-US" dirty="0"/>
                  <a:t>区间绘制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sym typeface="Symbol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sym typeface="Symbol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的曲线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使用数值求解非线性方程的命令</a:t>
                </a:r>
                <a:r>
                  <a:rPr lang="en-US" altLang="zh-CN" dirty="0" err="1">
                    <a:solidFill>
                      <a:srgbClr val="1818FF"/>
                    </a:solidFill>
                  </a:rPr>
                  <a:t>fzero</a:t>
                </a:r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sym typeface="Symbol"/>
                      </a:rPr>
                      <m:t>𝜙</m:t>
                    </m:r>
                  </m:oMath>
                </a14:m>
                <a:endParaRPr lang="en-US" altLang="zh-CN" dirty="0"/>
              </a:p>
              <a:p>
                <a:pPr lvl="1">
                  <a:spcBef>
                    <a:spcPts val="0"/>
                  </a:spcBef>
                </a:pPr>
                <a:endParaRPr lang="en-US" altLang="zh-CN" dirty="0"/>
              </a:p>
              <a:p>
                <a:pPr lvl="1">
                  <a:spcBef>
                    <a:spcPts val="0"/>
                  </a:spcBef>
                </a:pPr>
                <a:r>
                  <a:rPr lang="zh-CN" altLang="en-US" dirty="0"/>
                  <a:t>逐项运算</a:t>
                </a:r>
                <a:r>
                  <a:rPr lang="en-US" altLang="zh-CN" b="1" dirty="0">
                    <a:solidFill>
                      <a:srgbClr val="1818FF"/>
                    </a:solidFill>
                  </a:rPr>
                  <a:t>./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用</a:t>
                </a:r>
                <a:r>
                  <a:rPr lang="en-US" altLang="zh-CN" dirty="0" err="1"/>
                  <a:t>ezplot</a:t>
                </a:r>
                <a:r>
                  <a:rPr lang="en-US" altLang="zh-CN" dirty="0"/>
                  <a:t>/</a:t>
                </a:r>
                <a:r>
                  <a:rPr lang="en-US" altLang="zh-CN" dirty="0" err="1"/>
                  <a:t>fplot</a:t>
                </a:r>
                <a:br>
                  <a:rPr lang="en-US" altLang="zh-CN" dirty="0"/>
                </a:br>
                <a:r>
                  <a:rPr lang="zh-CN" altLang="en-US" dirty="0"/>
                  <a:t>绘制函数</a:t>
                </a:r>
                <a:r>
                  <a:rPr lang="en-US" altLang="zh-CN" dirty="0"/>
                  <a:t>, plot, </a:t>
                </a:r>
                <a:r>
                  <a:rPr lang="en-US" altLang="zh-CN" dirty="0" err="1"/>
                  <a:t>fzero</a:t>
                </a:r>
                <a:r>
                  <a:rPr lang="zh-CN" altLang="en-US" dirty="0"/>
                  <a:t>命令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图形窗口</a:t>
                </a:r>
                <a:r>
                  <a:rPr lang="en-US" altLang="zh-CN" dirty="0"/>
                  <a:t>(figure)</a:t>
                </a:r>
                <a:r>
                  <a:rPr lang="zh-CN" altLang="en-US" dirty="0"/>
                  <a:t>的编辑、拷贝</a:t>
                </a:r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1328"/>
                <a:ext cx="8229600" cy="4900000"/>
              </a:xfrm>
              <a:blipFill>
                <a:blip r:embed="rId2"/>
                <a:stretch>
                  <a:fillRect t="-1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黄金分割比</a:t>
            </a:r>
            <a:r>
              <a:rPr lang="en-US" altLang="zh-CN">
                <a:effectLst/>
              </a:rPr>
              <a:t>(4)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999364" y="2588245"/>
                <a:ext cx="2439386" cy="7572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3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Symbol"/>
                        </a:rPr>
                        <m:t>𝑓</m:t>
                      </m:r>
                      <m:d>
                        <m:dPr>
                          <m:ctrlPr>
                            <a:rPr kumimoji="0" lang="en-US" altLang="zh-CN" sz="2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/>
                            </a:rPr>
                          </m:ctrlPr>
                        </m:dPr>
                        <m:e>
                          <m:r>
                            <a:rPr kumimoji="0" lang="en-US" altLang="zh-CN" sz="2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  <a:sym typeface="Symbol"/>
                            </a:rPr>
                            <m:t>𝑥</m:t>
                          </m:r>
                        </m:e>
                      </m:d>
                      <m:r>
                        <a:rPr kumimoji="0" lang="en-US" altLang="zh-CN" sz="23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Symbol"/>
                        </a:rPr>
                        <m:t>=</m:t>
                      </m:r>
                      <m:r>
                        <a:rPr kumimoji="0" lang="en-US" altLang="zh-CN" sz="23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Symbol"/>
                        </a:rPr>
                        <m:t>𝑥</m:t>
                      </m:r>
                      <m:r>
                        <a:rPr kumimoji="0" lang="en-US" altLang="zh-CN" sz="23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Symbol"/>
                        </a:rPr>
                        <m:t>−1−</m:t>
                      </m:r>
                      <m:f>
                        <m:fPr>
                          <m:ctrlPr>
                            <a:rPr kumimoji="0" lang="en-US" altLang="zh-CN" sz="2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/>
                            </a:rPr>
                          </m:ctrlPr>
                        </m:fPr>
                        <m:num>
                          <m:r>
                            <a:rPr kumimoji="0" lang="en-US" altLang="zh-CN" sz="2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  <a:sym typeface="Symbol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0" lang="zh-CN" altLang="en-US" sz="2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 Unicode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364" y="2588245"/>
                <a:ext cx="2439386" cy="75725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39"/>
          <p:cNvSpPr txBox="1">
            <a:spLocks noChangeArrowheads="1"/>
          </p:cNvSpPr>
          <p:nvPr/>
        </p:nvSpPr>
        <p:spPr bwMode="auto">
          <a:xfrm>
            <a:off x="5004048" y="2751432"/>
            <a:ext cx="3866688" cy="43088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&gt;&gt; f = @(x) x-1-1./x</a:t>
            </a:r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5461496" y="4725144"/>
            <a:ext cx="3364426" cy="1107996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&gt;&gt; phi = 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fzero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 (f,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&gt;&gt; hold 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&gt;&gt; plot (phi, 0, 'o')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557497" y="2765539"/>
                <a:ext cx="1448345" cy="4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3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Symbol"/>
                        </a:rPr>
                        <m:t>𝑓</m:t>
                      </m:r>
                      <m:d>
                        <m:dPr>
                          <m:ctrlPr>
                            <a:rPr kumimoji="0" lang="en-US" altLang="zh-CN" sz="2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/>
                            </a:rPr>
                          </m:ctrlPr>
                        </m:dPr>
                        <m:e>
                          <m:r>
                            <a:rPr kumimoji="0" lang="zh-CN" altLang="en-US" sz="2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cs typeface="+mn-cs"/>
                              <a:sym typeface="Symbol"/>
                            </a:rPr>
                            <m:t>𝜙</m:t>
                          </m:r>
                        </m:e>
                      </m:d>
                      <m:r>
                        <a:rPr kumimoji="0" lang="en-US" altLang="zh-CN" sz="23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cs typeface="+mn-cs"/>
                          <a:sym typeface="Symbol"/>
                        </a:rPr>
                        <m:t>=0</m:t>
                      </m:r>
                    </m:oMath>
                  </m:oMathPara>
                </a14:m>
                <a:endParaRPr kumimoji="0" lang="zh-CN" altLang="en-US" sz="23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 Unicode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497" y="2765539"/>
                <a:ext cx="1448345" cy="446276"/>
              </a:xfrm>
              <a:prstGeom prst="rect">
                <a:avLst/>
              </a:prstGeom>
              <a:blipFill rotWithShape="1">
                <a:blip r:embed="rId4"/>
                <a:stretch>
                  <a:fillRect b="-12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F13EAF-B667-42C7-BC3D-A8A1A2F1A4C9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Text Box 39">
            <a:extLst>
              <a:ext uri="{FF2B5EF4-FFF2-40B4-BE49-F238E27FC236}">
                <a16:creationId xmlns:a16="http://schemas.microsoft.com/office/drawing/2014/main" id="{D440AB3F-C9AD-4F34-84CC-9F0D3B7F9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098" y="3501008"/>
            <a:ext cx="3866688" cy="43088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&gt;&gt; 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fplot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t>(f, [0, 4])</a:t>
            </a:r>
          </a:p>
        </p:txBody>
      </p:sp>
    </p:spTree>
    <p:extLst>
      <p:ext uri="{BB962C8B-B14F-4D97-AF65-F5344CB8AC3E}">
        <p14:creationId xmlns:p14="http://schemas.microsoft.com/office/powerpoint/2010/main" val="187269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2" grpId="0" animBg="1"/>
      <p:bldP spid="13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42" y="2975163"/>
            <a:ext cx="3434570" cy="2382108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r>
              <a:rPr lang="zh-CN" altLang="en-US" dirty="0"/>
              <a:t>脚本程序与绘图功能</a:t>
            </a:r>
            <a:endParaRPr lang="en-US" altLang="zh-CN" dirty="0"/>
          </a:p>
          <a:p>
            <a:pPr lvl="1"/>
            <a:r>
              <a:rPr lang="en-US" altLang="zh-CN" dirty="0" err="1"/>
              <a:t>Matlab</a:t>
            </a:r>
            <a:r>
              <a:rPr lang="zh-CN" altLang="en-US" dirty="0"/>
              <a:t>程序</a:t>
            </a:r>
            <a:r>
              <a:rPr lang="en-US" altLang="zh-CN" dirty="0">
                <a:solidFill>
                  <a:srgbClr val="C00000"/>
                </a:solidFill>
              </a:rPr>
              <a:t>.m</a:t>
            </a:r>
            <a:r>
              <a:rPr lang="zh-CN" altLang="en-US" dirty="0">
                <a:solidFill>
                  <a:srgbClr val="C00000"/>
                </a:solidFill>
              </a:rPr>
              <a:t>文件</a:t>
            </a:r>
            <a:r>
              <a:rPr lang="zh-CN" altLang="en-US" dirty="0"/>
              <a:t>有两种</a:t>
            </a:r>
            <a:r>
              <a:rPr lang="en-US" altLang="zh-CN" dirty="0"/>
              <a:t>: </a:t>
            </a:r>
            <a:r>
              <a:rPr lang="zh-CN" altLang="en-US" b="1" dirty="0">
                <a:solidFill>
                  <a:srgbClr val="1818FF"/>
                </a:solidFill>
                <a:latin typeface="楷体" pitchFamily="49" charset="-122"/>
                <a:ea typeface="楷体" pitchFamily="49" charset="-122"/>
              </a:rPr>
              <a:t>脚本</a:t>
            </a:r>
            <a:r>
              <a:rPr lang="en-US" altLang="zh-CN" dirty="0"/>
              <a:t>(script), </a:t>
            </a:r>
            <a:r>
              <a:rPr lang="zh-CN" altLang="en-US" b="1" dirty="0">
                <a:solidFill>
                  <a:srgbClr val="1818FF"/>
                </a:solidFill>
                <a:latin typeface="楷体" pitchFamily="49" charset="-122"/>
                <a:ea typeface="楷体" pitchFamily="49" charset="-122"/>
              </a:rPr>
              <a:t>函数</a:t>
            </a:r>
            <a:r>
              <a:rPr lang="en-US" altLang="zh-CN" dirty="0"/>
              <a:t>(function)</a:t>
            </a:r>
            <a:endParaRPr lang="en-US" altLang="zh-CN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pPr lvl="1"/>
            <a:r>
              <a:rPr lang="zh-CN" altLang="en-US" dirty="0"/>
              <a:t>一个</a:t>
            </a:r>
            <a:r>
              <a:rPr lang="zh-CN" altLang="en-US" dirty="0">
                <a:solidFill>
                  <a:srgbClr val="1818FF"/>
                </a:solidFill>
              </a:rPr>
              <a:t>脚本程序</a:t>
            </a:r>
            <a:r>
              <a:rPr lang="zh-CN" altLang="en-US" dirty="0"/>
              <a:t>实现绘制黄金矩形的功能</a:t>
            </a:r>
            <a:endParaRPr lang="en-US" altLang="zh-CN" dirty="0"/>
          </a:p>
          <a:p>
            <a:pPr lvl="1"/>
            <a:r>
              <a:rPr lang="zh-CN" altLang="en-US" dirty="0"/>
              <a:t>                     程序内容为：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黄金分割比</a:t>
            </a:r>
            <a:r>
              <a:rPr lang="en-US" altLang="zh-CN">
                <a:effectLst/>
              </a:rPr>
              <a:t>(5)</a:t>
            </a:r>
            <a:endParaRPr lang="zh-CN" altLang="en-US"/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4983281" y="2708920"/>
            <a:ext cx="3866688" cy="43088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/>
              <a:t>&gt;&gt; edit goldrect.m</a:t>
            </a:r>
          </a:p>
        </p:txBody>
      </p:sp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4550475" y="3199649"/>
            <a:ext cx="4486021" cy="280076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2200"/>
              <a:t>%GOLDRECT  Golden Rectangle</a:t>
            </a:r>
          </a:p>
          <a:p>
            <a:r>
              <a:rPr lang="en-US" altLang="zh-CN" sz="2200"/>
              <a:t>…</a:t>
            </a:r>
          </a:p>
          <a:p>
            <a:r>
              <a:rPr lang="en-US" altLang="zh-CN" sz="2200"/>
              <a:t>plot(x,y,'b',u,v,'b--')</a:t>
            </a:r>
          </a:p>
          <a:p>
            <a:r>
              <a:rPr lang="en-US" altLang="zh-CN" sz="2200"/>
              <a:t>text(phi/2, 1.05, </a:t>
            </a:r>
            <a:r>
              <a:rPr lang="en-US" altLang="zh-CN" sz="2200" b="1">
                <a:solidFill>
                  <a:srgbClr val="002060"/>
                </a:solidFill>
              </a:rPr>
              <a:t>'\phi'</a:t>
            </a:r>
            <a:r>
              <a:rPr lang="en-US" altLang="zh-CN" sz="2200"/>
              <a:t>)</a:t>
            </a:r>
          </a:p>
          <a:p>
            <a:r>
              <a:rPr lang="en-US" altLang="zh-CN" sz="2200"/>
              <a:t>…</a:t>
            </a:r>
          </a:p>
          <a:p>
            <a:r>
              <a:rPr lang="en-US" altLang="zh-CN" sz="2200"/>
              <a:t>axis equal</a:t>
            </a:r>
          </a:p>
          <a:p>
            <a:r>
              <a:rPr lang="en-US" altLang="zh-CN" sz="2200"/>
              <a:t>axis off</a:t>
            </a:r>
          </a:p>
          <a:p>
            <a:r>
              <a:rPr lang="en-US" altLang="zh-CN" sz="2200"/>
              <a:t>set(gcf, 'color', 'white')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7" y="5293077"/>
            <a:ext cx="33843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00">
                <a:solidFill>
                  <a:srgbClr val="002060"/>
                </a:solidFill>
              </a:rPr>
              <a:t>注释、</a:t>
            </a:r>
            <a:r>
              <a:rPr lang="en-US" altLang="zh-CN" sz="2300">
                <a:solidFill>
                  <a:srgbClr val="002060"/>
                </a:solidFill>
              </a:rPr>
              <a:t>plot, text, axis, set</a:t>
            </a:r>
            <a:r>
              <a:rPr lang="zh-CN" altLang="en-US" sz="2300">
                <a:solidFill>
                  <a:srgbClr val="002060"/>
                </a:solidFill>
              </a:rPr>
              <a:t>命令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5321576" y="5938704"/>
            <a:ext cx="892756" cy="243318"/>
          </a:xfrm>
          <a:prstGeom prst="straightConnector1">
            <a:avLst/>
          </a:prstGeom>
          <a:ln w="190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4332" y="6022449"/>
            <a:ext cx="25922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/>
              <a:t>g</a:t>
            </a:r>
            <a:r>
              <a:rPr lang="en-US" altLang="zh-CN" sz="2200">
                <a:solidFill>
                  <a:srgbClr val="002060"/>
                </a:solidFill>
              </a:rPr>
              <a:t>et </a:t>
            </a:r>
            <a:r>
              <a:rPr lang="en-US" altLang="zh-CN" sz="2200" b="1"/>
              <a:t>c</a:t>
            </a:r>
            <a:r>
              <a:rPr lang="en-US" altLang="zh-CN" sz="2200">
                <a:solidFill>
                  <a:srgbClr val="002060"/>
                </a:solidFill>
              </a:rPr>
              <a:t>urrent </a:t>
            </a:r>
            <a:r>
              <a:rPr lang="en-US" altLang="zh-CN" sz="2200" b="1"/>
              <a:t>f</a:t>
            </a:r>
            <a:r>
              <a:rPr lang="en-US" altLang="zh-CN" sz="2200">
                <a:solidFill>
                  <a:srgbClr val="002060"/>
                </a:solidFill>
              </a:rPr>
              <a:t>igure</a:t>
            </a:r>
            <a:endParaRPr lang="zh-CN" altLang="en-US" sz="2200">
              <a:solidFill>
                <a:srgbClr val="0020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32240" y="4904507"/>
            <a:ext cx="2592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>
                <a:solidFill>
                  <a:srgbClr val="002060"/>
                </a:solidFill>
              </a:rPr>
              <a:t>% </a:t>
            </a:r>
            <a:r>
              <a:rPr lang="zh-CN" altLang="en-US" sz="2200">
                <a:solidFill>
                  <a:srgbClr val="002060"/>
                </a:solidFill>
              </a:rPr>
              <a:t>遵循真实尺寸</a:t>
            </a:r>
            <a:endParaRPr lang="en-US" altLang="zh-CN" sz="2200">
              <a:solidFill>
                <a:srgbClr val="002060"/>
              </a:solidFill>
            </a:endParaRPr>
          </a:p>
          <a:p>
            <a:r>
              <a:rPr lang="en-US" altLang="zh-CN" sz="2200">
                <a:solidFill>
                  <a:srgbClr val="002060"/>
                </a:solidFill>
              </a:rPr>
              <a:t>% </a:t>
            </a:r>
            <a:r>
              <a:rPr lang="zh-CN" altLang="en-US" sz="2200">
                <a:solidFill>
                  <a:srgbClr val="002060"/>
                </a:solidFill>
              </a:rPr>
              <a:t>删除坐标轴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10</a:t>
            </a:fld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1259632" y="4894451"/>
            <a:ext cx="2832869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1259632" y="3090167"/>
            <a:ext cx="0" cy="18000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4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4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1328"/>
                <a:ext cx="8229600" cy="49000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一个较复杂的</a:t>
                </a:r>
                <a:r>
                  <a:rPr lang="zh-CN" altLang="en-US" dirty="0">
                    <a:solidFill>
                      <a:srgbClr val="1818FF"/>
                    </a:solidFill>
                  </a:rPr>
                  <a:t>函数</a:t>
                </a:r>
                <a:r>
                  <a:rPr lang="zh-CN" altLang="en-US" dirty="0"/>
                  <a:t>程序</a:t>
                </a:r>
                <a:endParaRPr lang="en-US" altLang="zh-CN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sym typeface="Symbol"/>
                      </a:rPr>
                      <m:t>𝜙</m:t>
                    </m:r>
                  </m:oMath>
                </a14:m>
                <a:r>
                  <a:rPr lang="zh-CN" altLang="en-US" dirty="0"/>
                  <a:t>的另一种定义是无限阶</a:t>
                </a:r>
                <a:r>
                  <a:rPr lang="zh-CN" altLang="en-US" dirty="0">
                    <a:solidFill>
                      <a:srgbClr val="1818FF"/>
                    </a:solidFill>
                  </a:rPr>
                  <a:t>连分数</a:t>
                </a:r>
                <a:br>
                  <a:rPr lang="en-US" altLang="zh-CN" dirty="0">
                    <a:solidFill>
                      <a:srgbClr val="1818FF"/>
                    </a:solidFill>
                  </a:rPr>
                </a:br>
                <a:r>
                  <a:rPr lang="en-US" altLang="zh-CN" dirty="0"/>
                  <a:t>(</a:t>
                </a:r>
                <a:r>
                  <a:rPr lang="en-US" altLang="zh-CN" sz="2000" dirty="0"/>
                  <a:t>continued fraction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的值</a:t>
                </a:r>
                <a:endParaRPr lang="en-US" altLang="zh-CN" dirty="0"/>
              </a:p>
              <a:p>
                <a:pPr lvl="1">
                  <a:spcBef>
                    <a:spcPts val="600"/>
                  </a:spcBef>
                </a:pPr>
                <a:r>
                  <a:rPr lang="zh-CN" altLang="en-US" dirty="0"/>
                  <a:t>函数</a:t>
                </a:r>
                <a:r>
                  <a:rPr lang="en-US" altLang="zh-CN" dirty="0" err="1"/>
                  <a:t>goldfract.m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显示截断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项的连分数</a:t>
                </a:r>
                <a:br>
                  <a:rPr lang="en-US" altLang="zh-CN" dirty="0"/>
                </a:br>
                <a:r>
                  <a:rPr lang="zh-CN" altLang="en-US" dirty="0"/>
                  <a:t>及其化简分式，并计算它的值及近似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sym typeface="Symbol"/>
                      </a:rPr>
                      <m:t>𝜙</m:t>
                    </m:r>
                  </m:oMath>
                </a14:m>
                <a:r>
                  <a:rPr lang="zh-CN" altLang="en-US" b="0" dirty="0">
                    <a:sym typeface="Symbol"/>
                  </a:rPr>
                  <a:t>的误差</a:t>
                </a:r>
                <a:endParaRPr lang="en-US" altLang="zh-CN" b="0" dirty="0">
                  <a:sym typeface="Symbol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zh-CN" altLang="en-US" dirty="0">
                    <a:solidFill>
                      <a:srgbClr val="1818FF"/>
                    </a:solidFill>
                  </a:rPr>
                  <a:t>连分数化简：</a:t>
                </a:r>
                <a:endParaRPr lang="en-US" altLang="zh-CN" dirty="0">
                  <a:solidFill>
                    <a:srgbClr val="1818FF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zh-CN" altLang="en-US" dirty="0"/>
                  <a:t>注意</a:t>
                </a:r>
                <a:endParaRPr lang="en-US" altLang="zh-CN" dirty="0"/>
              </a:p>
              <a:p>
                <a:pPr lvl="1">
                  <a:spcBef>
                    <a:spcPts val="600"/>
                  </a:spcBef>
                </a:pPr>
                <a:r>
                  <a:rPr lang="zh-CN" altLang="en-US" dirty="0">
                    <a:solidFill>
                      <a:srgbClr val="002060"/>
                    </a:solidFill>
                  </a:rPr>
                  <a:t>字符串用</a:t>
                </a:r>
                <a:r>
                  <a:rPr lang="en-US" altLang="zh-CN" dirty="0">
                    <a:solidFill>
                      <a:srgbClr val="002060"/>
                    </a:solidFill>
                  </a:rPr>
                  <a:t>’   ’; 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用</a:t>
                </a:r>
                <a:r>
                  <a:rPr lang="en-US" altLang="zh-CN" dirty="0">
                    <a:solidFill>
                      <a:srgbClr val="002060"/>
                    </a:solidFill>
                  </a:rPr>
                  <a:t>“[ ]”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构造数组</a:t>
                </a:r>
                <a:r>
                  <a:rPr lang="en-US" altLang="zh-CN" dirty="0">
                    <a:solidFill>
                      <a:srgbClr val="002060"/>
                    </a:solidFill>
                  </a:rPr>
                  <a:t>, 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也实现字符串的合并</a:t>
                </a:r>
                <a:endParaRPr lang="en-US" altLang="zh-CN" dirty="0">
                  <a:solidFill>
                    <a:srgbClr val="002060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altLang="zh-CN" dirty="0" err="1">
                    <a:solidFill>
                      <a:srgbClr val="002060"/>
                    </a:solidFill>
                  </a:rPr>
                  <a:t>sprintf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命令实现带格式输出 </a:t>
                </a:r>
                <a:r>
                  <a:rPr lang="en-US" altLang="zh-CN" dirty="0">
                    <a:solidFill>
                      <a:srgbClr val="002060"/>
                    </a:solidFill>
                  </a:rPr>
                  <a:t>(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同</a:t>
                </a:r>
                <a:r>
                  <a:rPr lang="en-US" altLang="zh-CN" dirty="0">
                    <a:solidFill>
                      <a:srgbClr val="002060"/>
                    </a:solidFill>
                  </a:rPr>
                  <a:t>C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语言</a:t>
                </a:r>
                <a:r>
                  <a:rPr lang="en-US" altLang="zh-CN" dirty="0">
                    <a:solidFill>
                      <a:srgbClr val="002060"/>
                    </a:solidFill>
                  </a:rPr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dirty="0" err="1">
                    <a:solidFill>
                      <a:srgbClr val="002060"/>
                    </a:solidFill>
                  </a:rPr>
                  <a:t>eval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执行字符串中的</a:t>
                </a:r>
                <a:r>
                  <a:rPr lang="en-US" altLang="zh-CN" dirty="0" err="1">
                    <a:solidFill>
                      <a:srgbClr val="002060"/>
                    </a:solidFill>
                  </a:rPr>
                  <a:t>Matlab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命令</a:t>
                </a:r>
                <a:endParaRPr lang="en-US" altLang="zh-CN" dirty="0">
                  <a:solidFill>
                    <a:srgbClr val="002060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altLang="zh-CN" dirty="0">
                    <a:solidFill>
                      <a:srgbClr val="002060"/>
                    </a:solidFill>
                  </a:rPr>
                  <a:t>for</a:t>
                </a:r>
                <a:r>
                  <a:rPr lang="zh-CN" altLang="en-US" dirty="0"/>
                  <a:t>循环语句</a:t>
                </a:r>
                <a:r>
                  <a:rPr lang="zh-CN" altLang="en-US" dirty="0">
                    <a:solidFill>
                      <a:srgbClr val="002060"/>
                    </a:solidFill>
                  </a:rPr>
                  <a:t>，</a:t>
                </a:r>
                <a:r>
                  <a:rPr lang="en-US" altLang="zh-CN" dirty="0">
                    <a:solidFill>
                      <a:srgbClr val="002060"/>
                    </a:solidFill>
                  </a:rPr>
                  <a:t>”:”</a:t>
                </a:r>
                <a:r>
                  <a:rPr lang="zh-CN" altLang="en-US" dirty="0"/>
                  <a:t>形成等差数列的值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1328"/>
                <a:ext cx="8229600" cy="4900000"/>
              </a:xfrm>
              <a:blipFill>
                <a:blip r:embed="rId2"/>
                <a:stretch>
                  <a:fillRect t="-1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黄金分割比</a:t>
            </a:r>
            <a:r>
              <a:rPr lang="en-US" altLang="zh-CN">
                <a:effectLst/>
              </a:rPr>
              <a:t>(6)</a:t>
            </a:r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632665" y="5082212"/>
            <a:ext cx="3491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</a:t>
            </a:r>
            <a:r>
              <a:rPr lang="zh-CN" altLang="en-US" sz="2000" dirty="0"/>
              <a:t>类似于</a:t>
            </a:r>
            <a:r>
              <a:rPr lang="en-US" altLang="zh-CN" sz="2000" dirty="0"/>
              <a:t>C</a:t>
            </a:r>
            <a:r>
              <a:rPr lang="zh-CN" altLang="en-US" sz="2000" dirty="0"/>
              <a:t>语言中的</a:t>
            </a:r>
            <a:r>
              <a:rPr lang="en-US" altLang="zh-CN" sz="2000" dirty="0"/>
              <a:t>system)</a:t>
            </a:r>
            <a:endParaRPr lang="zh-CN" altLang="en-US" sz="2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415175" y="1628800"/>
                <a:ext cx="3045257" cy="1309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/>
                          <a:sym typeface="Symbol"/>
                        </a:rPr>
                        <m:t>𝜙</m:t>
                      </m:r>
                      <m:r>
                        <a:rPr lang="en-US" altLang="zh-CN" sz="2200" b="0" i="1" smtClean="0">
                          <a:latin typeface="Cambria Math"/>
                          <a:sym typeface="Symbol"/>
                        </a:rPr>
                        <m:t>=1+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/>
                              <a:sym typeface="Symbol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smtClean="0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latin typeface="Cambria Math"/>
                                  <a:sym typeface="Symbol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200" b="0" i="1" smtClean="0">
                                      <a:latin typeface="Cambria Math"/>
                                      <a:sym typeface="Symbol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200" b="0" i="1" smtClean="0">
                                      <a:latin typeface="Cambria Math"/>
                                      <a:sym typeface="Symbol"/>
                                    </a:rPr>
                                    <m:t>1+</m:t>
                                  </m:r>
                                  <m:r>
                                    <a:rPr lang="en-US" altLang="zh-CN" sz="2200" b="0" i="1" smtClean="0">
                                      <a:latin typeface="Cambria Math"/>
                                      <a:ea typeface="Cambria Math"/>
                                      <a:sym typeface="Symbol"/>
                                    </a:rPr>
                                    <m:t>⋯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220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175" y="1628800"/>
                <a:ext cx="3045257" cy="13096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603651" y="3535664"/>
                <a:ext cx="1704697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latin typeface="Cambria Math"/>
                              <a:sym typeface="Symbol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200" b="0" i="1" spc="-500" smtClean="0">
                              <a:latin typeface="Cambria Math"/>
                              <a:sym typeface="Symbol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pc="-500" smtClean="0">
                          <a:latin typeface="Cambria Math"/>
                          <a:sym typeface="Symbol"/>
                        </a:rPr>
                        <m:t>=1+</m:t>
                      </m:r>
                      <m:r>
                        <a:rPr lang="en-US" altLang="zh-CN" sz="2200" b="0" i="1" smtClean="0">
                          <a:latin typeface="Cambria Math"/>
                          <a:sym typeface="Symbol"/>
                        </a:rPr>
                        <m:t>1/1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651" y="3535664"/>
                <a:ext cx="1704697" cy="430887"/>
              </a:xfrm>
              <a:prstGeom prst="rect">
                <a:avLst/>
              </a:prstGeom>
              <a:blipFill>
                <a:blip r:embed="rId4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577672" y="3455880"/>
                <a:ext cx="3517181" cy="6624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  <a:sym typeface="Symbol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sym typeface="Symbol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sym typeface="Symbol"/>
                          </a:rPr>
                          <m:t>+1</m:t>
                        </m:r>
                      </m:sub>
                    </m:sSub>
                    <m:r>
                      <a:rPr lang="en-US" altLang="zh-CN" sz="2400" i="1" spc="-400">
                        <a:latin typeface="Cambria Math"/>
                        <a:sym typeface="Symbol"/>
                      </a:rPr>
                      <m:t>=</m:t>
                    </m:r>
                    <m:r>
                      <a:rPr lang="en-US" altLang="zh-CN" sz="2400" b="0" i="1" spc="-400" smtClean="0">
                        <a:latin typeface="Cambria Math"/>
                        <a:sym typeface="Symbol"/>
                      </a:rPr>
                      <m:t>1+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  <a:sym typeface="Symbol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spc="-500">
                                <a:latin typeface="Cambria Math"/>
                                <a:sym typeface="Symbol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sym typeface="Symbol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400" i="1" spc="-500">
                                <a:latin typeface="Cambria Math"/>
                                <a:sym typeface="Symbol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latin typeface="Cambria Math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spc="-500">
                                <a:latin typeface="Cambria Math"/>
                                <a:sym typeface="Symbol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sym typeface="Symbol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400" i="1" spc="-500">
                                <a:latin typeface="Cambria Math"/>
                                <a:sym typeface="Symbol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spc="-500">
                                <a:latin typeface="Cambria Math"/>
                                <a:sym typeface="Symbol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672" y="3455880"/>
                <a:ext cx="3517181" cy="662489"/>
              </a:xfrm>
              <a:prstGeom prst="rect">
                <a:avLst/>
              </a:prstGeom>
              <a:blipFill>
                <a:blip r:embed="rId5"/>
                <a:stretch>
                  <a:fillRect l="-27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4054432" y="3491858"/>
                <a:ext cx="1781770" cy="627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ym typeface="Symbol"/>
                  </a:rPr>
                  <a:t>, </a:t>
                </a:r>
                <a:r>
                  <a:rPr lang="zh-CN" altLang="en-US" sz="2400" dirty="0">
                    <a:sym typeface="Symbol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  <a:sym typeface="Symbol"/>
                          </a:rPr>
                          <m:t>𝜙</m:t>
                        </m:r>
                      </m:e>
                      <m:sub>
                        <m:r>
                          <a:rPr lang="en-US" altLang="zh-CN" sz="2400" b="0" i="1" spc="-500" smtClean="0">
                            <a:latin typeface="Cambria Math"/>
                            <a:sym typeface="Symbol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pc="-400" smtClean="0">
                        <a:latin typeface="Cambria Math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spc="-500">
                                <a:latin typeface="Cambria Math"/>
                                <a:sym typeface="Symbol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400" i="1" spc="-500">
                                <a:latin typeface="Cambria Math"/>
                                <a:sym typeface="Symbol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/>
                  <a:t>,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432" y="3491858"/>
                <a:ext cx="1781770" cy="627159"/>
              </a:xfrm>
              <a:prstGeom prst="rect">
                <a:avLst/>
              </a:prstGeom>
              <a:blipFill>
                <a:blip r:embed="rId6"/>
                <a:stretch>
                  <a:fillRect l="-5137" t="-4854" r="-4795" b="-6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89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r>
              <a:rPr lang="zh-CN" altLang="en-US" dirty="0"/>
              <a:t>斐波那契序列 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chemeClr val="accent3">
                    <a:lumMod val="50000"/>
                  </a:schemeClr>
                </a:solidFill>
              </a:rPr>
              <a:t>Leonardo P. Fibonacci</a:t>
            </a:r>
            <a:r>
              <a:rPr lang="zh-CN" altLang="en-US" sz="2000" dirty="0">
                <a:solidFill>
                  <a:schemeClr val="accent3">
                    <a:lumMod val="50000"/>
                  </a:schemeClr>
                </a:solidFill>
              </a:rPr>
              <a:t>与他的兔子问题</a:t>
            </a:r>
            <a:r>
              <a:rPr lang="en-US" altLang="zh-CN" sz="2000" dirty="0"/>
              <a:t>)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=1, f</a:t>
            </a:r>
            <a:r>
              <a:rPr lang="en-US" altLang="zh-CN" baseline="-25000" dirty="0"/>
              <a:t>2</a:t>
            </a:r>
            <a:r>
              <a:rPr lang="en-US" altLang="zh-CN" dirty="0"/>
              <a:t>=2, 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n</a:t>
            </a:r>
            <a:r>
              <a:rPr lang="en-US" altLang="zh-CN" dirty="0"/>
              <a:t>=f</a:t>
            </a:r>
            <a:r>
              <a:rPr lang="en-US" altLang="zh-CN" baseline="-25000" dirty="0"/>
              <a:t>n-1</a:t>
            </a:r>
            <a:r>
              <a:rPr lang="en-US" altLang="zh-CN" dirty="0"/>
              <a:t>+f</a:t>
            </a:r>
            <a:r>
              <a:rPr lang="en-US" altLang="zh-CN" baseline="-25000" dirty="0"/>
              <a:t>n-2</a:t>
            </a:r>
          </a:p>
          <a:p>
            <a:pPr lvl="1">
              <a:spcBef>
                <a:spcPts val="400"/>
              </a:spcBef>
            </a:pPr>
            <a:r>
              <a:rPr lang="zh-CN" altLang="en-US" dirty="0"/>
              <a:t>第一个函数</a:t>
            </a:r>
            <a:r>
              <a:rPr lang="en-US" altLang="zh-CN" dirty="0" err="1"/>
              <a:t>fibonacci.m</a:t>
            </a:r>
            <a:r>
              <a:rPr lang="zh-CN" altLang="en-US" dirty="0"/>
              <a:t>，计算出</a:t>
            </a:r>
            <a:r>
              <a:rPr lang="zh-CN" altLang="en-US" dirty="0">
                <a:solidFill>
                  <a:srgbClr val="1818FF"/>
                </a:solidFill>
              </a:rPr>
              <a:t>前</a:t>
            </a:r>
            <a:r>
              <a:rPr lang="en-US" altLang="zh-CN" dirty="0">
                <a:solidFill>
                  <a:srgbClr val="1818FF"/>
                </a:solidFill>
              </a:rPr>
              <a:t>n</a:t>
            </a:r>
            <a:r>
              <a:rPr lang="zh-CN" altLang="en-US" dirty="0">
                <a:solidFill>
                  <a:srgbClr val="1818FF"/>
                </a:solidFill>
              </a:rPr>
              <a:t>个</a:t>
            </a:r>
            <a:r>
              <a:rPr lang="zh-CN" altLang="en-US" dirty="0"/>
              <a:t>斐波那契数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>
                <a:solidFill>
                  <a:srgbClr val="002060"/>
                </a:solidFill>
              </a:rPr>
              <a:t>生成全零向量函数</a:t>
            </a:r>
            <a:r>
              <a:rPr lang="en-US" altLang="zh-CN" dirty="0">
                <a:solidFill>
                  <a:srgbClr val="002060"/>
                </a:solidFill>
              </a:rPr>
              <a:t>: zeros</a:t>
            </a:r>
          </a:p>
          <a:p>
            <a:pPr lvl="1">
              <a:spcBef>
                <a:spcPts val="400"/>
              </a:spcBef>
            </a:pPr>
            <a:r>
              <a:rPr lang="zh-CN" altLang="en-US" dirty="0"/>
              <a:t>第二个函数</a:t>
            </a:r>
            <a:r>
              <a:rPr lang="en-US" altLang="zh-CN" dirty="0" err="1"/>
              <a:t>fibnum.m</a:t>
            </a:r>
            <a:r>
              <a:rPr lang="zh-CN" altLang="en-US" dirty="0"/>
              <a:t>，输出</a:t>
            </a:r>
            <a:r>
              <a:rPr lang="zh-CN" altLang="en-US" dirty="0">
                <a:solidFill>
                  <a:srgbClr val="FF0000"/>
                </a:solidFill>
              </a:rPr>
              <a:t>第</a:t>
            </a:r>
            <a:r>
              <a:rPr lang="en-US" altLang="zh-CN" dirty="0"/>
              <a:t>n</a:t>
            </a:r>
            <a:r>
              <a:rPr lang="zh-CN" altLang="en-US" dirty="0"/>
              <a:t>个斐波那契数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recursive(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递归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):</a:t>
            </a:r>
            <a:r>
              <a:rPr lang="en-US" altLang="zh-CN" dirty="0">
                <a:solidFill>
                  <a:srgbClr val="002060"/>
                </a:solidFill>
              </a:rPr>
              <a:t>   </a:t>
            </a:r>
            <a:r>
              <a:rPr lang="zh-CN" altLang="en-US" dirty="0">
                <a:solidFill>
                  <a:srgbClr val="002060"/>
                </a:solidFill>
              </a:rPr>
              <a:t>递归函数形式简洁、但运行</a:t>
            </a:r>
            <a:r>
              <a:rPr lang="zh-CN" altLang="en-US" dirty="0">
                <a:solidFill>
                  <a:srgbClr val="C00000"/>
                </a:solidFill>
              </a:rPr>
              <a:t>开销大</a:t>
            </a:r>
            <a:r>
              <a:rPr lang="en-US" altLang="zh-CN" dirty="0">
                <a:solidFill>
                  <a:srgbClr val="C00000"/>
                </a:solidFill>
              </a:rPr>
              <a:t>!</a:t>
            </a:r>
          </a:p>
          <a:p>
            <a:pPr lvl="1">
              <a:spcBef>
                <a:spcPts val="400"/>
              </a:spcBef>
            </a:pPr>
            <a:r>
              <a:rPr lang="zh-CN" altLang="en-US" dirty="0">
                <a:solidFill>
                  <a:srgbClr val="002060"/>
                </a:solidFill>
              </a:rPr>
              <a:t>计时命令：</a:t>
            </a:r>
            <a:r>
              <a:rPr lang="en-US" altLang="zh-CN" dirty="0">
                <a:solidFill>
                  <a:srgbClr val="002060"/>
                </a:solidFill>
              </a:rPr>
              <a:t>tic, toc</a:t>
            </a:r>
          </a:p>
          <a:p>
            <a:pPr lvl="1">
              <a:spcBef>
                <a:spcPts val="400"/>
              </a:spcBef>
            </a:pP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zh-CN" altLang="en-US" dirty="0"/>
              <a:t>相邻斐波那契数之比 </a:t>
            </a:r>
            <a:r>
              <a:rPr lang="en-US" altLang="zh-CN" dirty="0"/>
              <a:t>~ </a:t>
            </a:r>
            <a:r>
              <a:rPr lang="zh-CN" altLang="en-US" dirty="0"/>
              <a:t>截断的连分数 </a:t>
            </a:r>
            <a:r>
              <a:rPr lang="en-US" altLang="zh-CN" dirty="0"/>
              <a:t>~ </a:t>
            </a:r>
            <a:r>
              <a:rPr lang="zh-CN" altLang="en-US" dirty="0"/>
              <a:t>黄金分割比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ffectLst/>
              </a:rPr>
              <a:t>斐波那契数</a:t>
            </a:r>
            <a:endParaRPr lang="zh-CN" altLang="en-US"/>
          </a:p>
        </p:txBody>
      </p: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4881681" y="2756689"/>
            <a:ext cx="3866688" cy="43088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/>
              <a:t>&gt;&gt; f = zeros (n, 1)</a:t>
            </a:r>
          </a:p>
        </p:txBody>
      </p:sp>
      <p:sp>
        <p:nvSpPr>
          <p:cNvPr id="10" name="Text Box 39"/>
          <p:cNvSpPr txBox="1">
            <a:spLocks noChangeArrowheads="1"/>
          </p:cNvSpPr>
          <p:nvPr/>
        </p:nvSpPr>
        <p:spPr bwMode="auto">
          <a:xfrm>
            <a:off x="4881680" y="4005064"/>
            <a:ext cx="4160719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tic, </a:t>
            </a:r>
            <a:r>
              <a:rPr lang="en-US" altLang="zh-CN" sz="2200" dirty="0" err="1"/>
              <a:t>fibnum</a:t>
            </a:r>
            <a:r>
              <a:rPr lang="en-US" altLang="zh-CN" sz="2200" dirty="0"/>
              <a:t>(35), toc</a:t>
            </a:r>
          </a:p>
          <a:p>
            <a:pPr eaLnBrk="1" hangingPunct="1"/>
            <a:r>
              <a:rPr lang="en-US" altLang="zh-CN" sz="2200" dirty="0"/>
              <a:t>&gt;&gt; tic, f=</a:t>
            </a:r>
            <a:r>
              <a:rPr lang="en-US" altLang="zh-CN" sz="2200" dirty="0" err="1"/>
              <a:t>fibonacci</a:t>
            </a:r>
            <a:r>
              <a:rPr lang="en-US" altLang="zh-CN" sz="2200" dirty="0"/>
              <a:t>(35); f(35), toc</a:t>
            </a:r>
          </a:p>
        </p:txBody>
      </p:sp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1306240" y="5206056"/>
            <a:ext cx="2880320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f = </a:t>
            </a:r>
            <a:r>
              <a:rPr lang="en-US" altLang="zh-CN" sz="2200" dirty="0" err="1"/>
              <a:t>fibonacci</a:t>
            </a:r>
            <a:r>
              <a:rPr lang="en-US" altLang="zh-CN" sz="2200" dirty="0"/>
              <a:t>(40);</a:t>
            </a:r>
          </a:p>
          <a:p>
            <a:pPr eaLnBrk="1" hangingPunct="1"/>
            <a:r>
              <a:rPr lang="en-US" altLang="zh-CN" sz="2200" dirty="0"/>
              <a:t>&gt;&gt; f (2:40) ./ f (1:39)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335560" y="4377084"/>
            <a:ext cx="2304256" cy="40011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试试</a:t>
            </a:r>
            <a:r>
              <a:rPr lang="en-US" sz="2000" dirty="0" err="1"/>
              <a:t>fibnum</a:t>
            </a:r>
            <a:r>
              <a:rPr lang="en-US" sz="2000" dirty="0"/>
              <a:t>(60)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6" name="矩形 5"/>
          <p:cNvSpPr/>
          <p:nvPr/>
        </p:nvSpPr>
        <p:spPr>
          <a:xfrm>
            <a:off x="204912" y="5218756"/>
            <a:ext cx="10081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002060"/>
                </a:solidFill>
              </a:rPr>
              <a:t>逐项运算符</a:t>
            </a:r>
            <a:r>
              <a:rPr lang="en-US" altLang="zh-CN" sz="2000"/>
              <a:t>./</a:t>
            </a:r>
            <a:endParaRPr lang="en-US" sz="2000"/>
          </a:p>
        </p:txBody>
      </p:sp>
      <p:sp>
        <p:nvSpPr>
          <p:cNvPr id="7" name="TextBox 6"/>
          <p:cNvSpPr txBox="1"/>
          <p:nvPr/>
        </p:nvSpPr>
        <p:spPr>
          <a:xfrm>
            <a:off x="4339084" y="5203800"/>
            <a:ext cx="223224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300"/>
              <a:t>“</a:t>
            </a:r>
            <a:r>
              <a:rPr lang="zh-CN" altLang="en-US" sz="2300"/>
              <a:t>神奇</a:t>
            </a:r>
            <a:r>
              <a:rPr lang="en-US" altLang="zh-CN" sz="2300"/>
              <a:t>”</a:t>
            </a:r>
            <a:r>
              <a:rPr lang="zh-CN" altLang="en-US" sz="2300"/>
              <a:t>的通式</a:t>
            </a:r>
            <a:endParaRPr lang="en-US" sz="230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600" y="5565376"/>
            <a:ext cx="42100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57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5" grpId="0" animBg="1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r>
              <a:rPr lang="zh-CN" altLang="en-US" dirty="0"/>
              <a:t>原理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zh-CN" altLang="en-US" dirty="0"/>
              <a:t>平面上精心策划的点集合、无限的随机生成点的过程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en-US" altLang="zh-CN" dirty="0">
                <a:solidFill>
                  <a:srgbClr val="002060"/>
                </a:solidFill>
              </a:rPr>
              <a:t>                </a:t>
            </a:r>
            <a:r>
              <a:rPr lang="en-US" altLang="zh-CN" dirty="0"/>
              <a:t>, </a:t>
            </a:r>
            <a:r>
              <a:rPr lang="zh-CN" altLang="en-US" dirty="0"/>
              <a:t>有</a:t>
            </a:r>
            <a:r>
              <a:rPr lang="en-US" altLang="zh-CN" dirty="0"/>
              <a:t>4</a:t>
            </a:r>
            <a:r>
              <a:rPr lang="zh-CN" altLang="en-US" dirty="0"/>
              <a:t>种变换</a:t>
            </a:r>
            <a:r>
              <a:rPr lang="en-US" altLang="zh-CN" dirty="0"/>
              <a:t>, </a:t>
            </a: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种是</a:t>
            </a:r>
            <a:endParaRPr lang="en-US" altLang="zh-CN" dirty="0"/>
          </a:p>
          <a:p>
            <a:pPr lvl="1">
              <a:spcBef>
                <a:spcPts val="1800"/>
              </a:spcBef>
            </a:pPr>
            <a:r>
              <a:rPr lang="zh-CN" altLang="en-US" dirty="0"/>
              <a:t>每次随机地应用</a:t>
            </a:r>
            <a:r>
              <a:rPr lang="en-US" altLang="zh-CN" dirty="0"/>
              <a:t>4</a:t>
            </a:r>
            <a:r>
              <a:rPr lang="zh-CN" altLang="en-US" dirty="0"/>
              <a:t>种变换中的一种，生成新的点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zh-CN" altLang="en-US" dirty="0"/>
              <a:t>无限生长程序</a:t>
            </a:r>
            <a:r>
              <a:rPr lang="en-US" altLang="zh-CN" dirty="0"/>
              <a:t>: fern</a:t>
            </a:r>
          </a:p>
          <a:p>
            <a:pPr lvl="1">
              <a:spcBef>
                <a:spcPts val="400"/>
              </a:spcBef>
            </a:pPr>
            <a:r>
              <a:rPr lang="zh-CN" altLang="en-US" dirty="0"/>
              <a:t>含</a:t>
            </a:r>
            <a:r>
              <a:rPr lang="en-US" altLang="zh-CN" dirty="0"/>
              <a:t>n</a:t>
            </a:r>
            <a:r>
              <a:rPr lang="zh-CN" altLang="en-US" dirty="0"/>
              <a:t>个点的函数</a:t>
            </a:r>
            <a:r>
              <a:rPr lang="en-US" altLang="zh-CN" dirty="0"/>
              <a:t>: </a:t>
            </a:r>
            <a:r>
              <a:rPr lang="en-US" altLang="zh-CN" dirty="0" err="1"/>
              <a:t>finitefern</a:t>
            </a:r>
            <a:endParaRPr lang="en-US" altLang="zh-CN" dirty="0"/>
          </a:p>
          <a:p>
            <a:r>
              <a:rPr lang="en-US" altLang="zh-CN" dirty="0" err="1"/>
              <a:t>Matlab</a:t>
            </a:r>
            <a:r>
              <a:rPr lang="zh-CN" altLang="en-US" dirty="0"/>
              <a:t>命令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zh-CN" altLang="en-US" dirty="0"/>
              <a:t>程序中含较复杂的绘图命令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zh-CN" altLang="en-US" dirty="0">
                <a:solidFill>
                  <a:srgbClr val="002060"/>
                </a:solidFill>
              </a:rPr>
              <a:t>定义矩阵</a:t>
            </a:r>
            <a:r>
              <a:rPr lang="en-US" altLang="zh-CN" dirty="0">
                <a:solidFill>
                  <a:srgbClr val="002060"/>
                </a:solidFill>
              </a:rPr>
              <a:t>: ‘</a:t>
            </a:r>
            <a:r>
              <a:rPr lang="en-US" altLang="zh-CN" b="1" dirty="0">
                <a:solidFill>
                  <a:srgbClr val="002060"/>
                </a:solidFill>
              </a:rPr>
              <a:t>;</a:t>
            </a:r>
            <a:r>
              <a:rPr lang="en-US" altLang="zh-CN" dirty="0">
                <a:solidFill>
                  <a:srgbClr val="002060"/>
                </a:solidFill>
              </a:rPr>
              <a:t>’  while</a:t>
            </a:r>
            <a:r>
              <a:rPr lang="zh-CN" altLang="en-US" dirty="0">
                <a:solidFill>
                  <a:srgbClr val="002060"/>
                </a:solidFill>
              </a:rPr>
              <a:t>语句</a:t>
            </a:r>
            <a:endParaRPr lang="en-US" altLang="zh-CN" dirty="0">
              <a:solidFill>
                <a:srgbClr val="002060"/>
              </a:solidFill>
            </a:endParaRPr>
          </a:p>
          <a:p>
            <a:pPr lvl="1">
              <a:spcBef>
                <a:spcPts val="400"/>
              </a:spcBef>
            </a:pPr>
            <a:r>
              <a:rPr lang="en-US" altLang="zh-CN" dirty="0">
                <a:solidFill>
                  <a:srgbClr val="002060"/>
                </a:solidFill>
              </a:rPr>
              <a:t>rand</a:t>
            </a:r>
            <a:r>
              <a:rPr lang="zh-CN" altLang="en-US" dirty="0">
                <a:solidFill>
                  <a:srgbClr val="002060"/>
                </a:solidFill>
              </a:rPr>
              <a:t>命令生成</a:t>
            </a:r>
            <a:r>
              <a:rPr lang="en-US" altLang="zh-CN" dirty="0">
                <a:solidFill>
                  <a:srgbClr val="002060"/>
                </a:solidFill>
              </a:rPr>
              <a:t>0~1</a:t>
            </a:r>
            <a:r>
              <a:rPr lang="zh-CN" altLang="en-US" dirty="0">
                <a:solidFill>
                  <a:srgbClr val="002060"/>
                </a:solidFill>
              </a:rPr>
              <a:t>之间均匀随机数</a:t>
            </a:r>
            <a:endParaRPr lang="en-US" altLang="zh-CN" dirty="0">
              <a:solidFill>
                <a:srgbClr val="002060"/>
              </a:solidFill>
            </a:endParaRPr>
          </a:p>
          <a:p>
            <a:pPr lvl="1">
              <a:spcBef>
                <a:spcPts val="400"/>
              </a:spcBef>
            </a:pPr>
            <a:r>
              <a:rPr lang="zh-CN" altLang="en-US" dirty="0">
                <a:solidFill>
                  <a:srgbClr val="002060"/>
                </a:solidFill>
              </a:rPr>
              <a:t>用</a:t>
            </a:r>
            <a:r>
              <a:rPr lang="en-US" altLang="zh-CN" dirty="0" err="1">
                <a:solidFill>
                  <a:srgbClr val="C00000"/>
                </a:solidFill>
              </a:rPr>
              <a:t>imread</a:t>
            </a:r>
            <a:r>
              <a:rPr lang="en-US" altLang="zh-CN" dirty="0">
                <a:solidFill>
                  <a:srgbClr val="002060"/>
                </a:solidFill>
              </a:rPr>
              <a:t>, </a:t>
            </a:r>
            <a:r>
              <a:rPr lang="en-US" altLang="zh-CN" dirty="0">
                <a:solidFill>
                  <a:srgbClr val="C00000"/>
                </a:solidFill>
              </a:rPr>
              <a:t>image</a:t>
            </a:r>
            <a:r>
              <a:rPr lang="zh-CN" altLang="en-US" dirty="0">
                <a:solidFill>
                  <a:srgbClr val="002060"/>
                </a:solidFill>
              </a:rPr>
              <a:t>可看图片</a:t>
            </a:r>
            <a:endParaRPr lang="en-US" altLang="zh-CN" dirty="0">
              <a:solidFill>
                <a:srgbClr val="00206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ffectLst/>
              </a:rPr>
              <a:t>分形蕨</a:t>
            </a:r>
            <a:endParaRPr lang="zh-CN" altLang="en-US"/>
          </a:p>
        </p:txBody>
      </p: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4983281" y="3312992"/>
            <a:ext cx="3866688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fern</a:t>
            </a:r>
          </a:p>
          <a:p>
            <a:pPr eaLnBrk="1" hangingPunct="1"/>
            <a:r>
              <a:rPr lang="en-US" altLang="zh-CN" sz="2200" dirty="0"/>
              <a:t>&gt;&gt; </a:t>
            </a:r>
            <a:r>
              <a:rPr lang="en-US" altLang="zh-CN" sz="2200" dirty="0" err="1"/>
              <a:t>finitefern</a:t>
            </a:r>
            <a:r>
              <a:rPr lang="en-US" altLang="zh-CN" sz="2200" dirty="0"/>
              <a:t>(100000)</a:t>
            </a:r>
          </a:p>
        </p:txBody>
      </p:sp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4983282" y="4459759"/>
            <a:ext cx="3866688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/>
              <a:t>&gt;&gt; A1=[.85 .04 ; -.04 .85];</a:t>
            </a:r>
          </a:p>
          <a:p>
            <a:pPr eaLnBrk="1" hangingPunct="1"/>
            <a:r>
              <a:rPr lang="en-US" altLang="zh-CN" sz="2200"/>
              <a:t>&gt;&gt; r = rand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047376" y="2352648"/>
                <a:ext cx="1754005" cy="4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300" b="1" i="1" smtClean="0">
                          <a:latin typeface="Cambria Math"/>
                          <a:sym typeface="Symbol"/>
                        </a:rPr>
                        <m:t>𝒙</m:t>
                      </m:r>
                      <m:r>
                        <a:rPr lang="en-US" altLang="zh-CN" sz="2300" i="1" smtClean="0">
                          <a:latin typeface="Cambria Math"/>
                          <a:ea typeface="Cambria Math"/>
                          <a:sym typeface="Symbol"/>
                        </a:rPr>
                        <m:t>→</m:t>
                      </m:r>
                      <m:r>
                        <a:rPr lang="en-US" altLang="zh-CN" sz="2300" b="1" i="1" smtClean="0">
                          <a:latin typeface="Cambria Math"/>
                          <a:ea typeface="Cambria Math"/>
                          <a:sym typeface="Symbol"/>
                        </a:rPr>
                        <m:t>𝑨𝒙</m:t>
                      </m:r>
                      <m:r>
                        <a:rPr lang="en-US" altLang="zh-CN" sz="2300" b="0" i="1" smtClean="0">
                          <a:latin typeface="Cambria Math"/>
                          <a:ea typeface="Cambria Math"/>
                          <a:sym typeface="Symbol"/>
                        </a:rPr>
                        <m:t>+</m:t>
                      </m:r>
                      <m:r>
                        <a:rPr lang="en-US" altLang="zh-CN" sz="2300" b="1" i="1" smtClean="0">
                          <a:latin typeface="Cambria Math"/>
                          <a:ea typeface="Cambria Math"/>
                          <a:sym typeface="Symbol"/>
                        </a:rPr>
                        <m:t>𝒃</m:t>
                      </m:r>
                    </m:oMath>
                  </m:oMathPara>
                </a14:m>
                <a:endParaRPr lang="zh-CN" altLang="en-US" sz="2300" b="1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376" y="2352648"/>
                <a:ext cx="1754005" cy="44627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334314" y="2263224"/>
                <a:ext cx="3820725" cy="6637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smtClean="0">
                          <a:latin typeface="Cambria Math"/>
                          <a:ea typeface="Cambria Math"/>
                          <a:sym typeface="Symbol"/>
                        </a:rPr>
                        <m:t>𝑨</m:t>
                      </m:r>
                      <m:r>
                        <a:rPr lang="en-US" altLang="zh-CN" sz="2200" b="0" i="1" smtClean="0">
                          <a:latin typeface="Cambria Math"/>
                          <a:ea typeface="Cambria Math"/>
                          <a:sym typeface="Symbo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/>
                              <a:sym typeface="Symbol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  <a:ea typeface="Cambria Math"/>
                                  <a:sym typeface="Symbol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200" b="0" i="1" smtClean="0">
                                    <a:latin typeface="Cambria Math"/>
                                    <a:ea typeface="Cambria Math"/>
                                    <a:sym typeface="Symbol"/>
                                  </a:rPr>
                                  <m:t>0</m:t>
                                </m:r>
                                <m:r>
                                  <a:rPr lang="en-US" altLang="zh-CN" sz="2200" b="0" i="1" smtClean="0">
                                    <a:latin typeface="Cambria Math"/>
                                    <a:ea typeface="Cambria Math"/>
                                    <a:sym typeface="Symbol"/>
                                  </a:rPr>
                                  <m:t>.85</m:t>
                                </m:r>
                              </m:e>
                              <m:e>
                                <m:r>
                                  <a:rPr lang="en-US" altLang="zh-CN" sz="2200" b="0" i="1" smtClean="0">
                                    <a:latin typeface="Cambria Math"/>
                                    <a:ea typeface="Cambria Math"/>
                                    <a:sym typeface="Symbol"/>
                                  </a:rPr>
                                  <m:t>0.04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/>
                                    <a:ea typeface="Cambria Math"/>
                                    <a:sym typeface="Symbol"/>
                                  </a:rPr>
                                  <m:t>−0.04</m:t>
                                </m:r>
                              </m:e>
                              <m:e>
                                <m:r>
                                  <a:rPr lang="en-US" altLang="zh-CN" sz="2200" b="0" i="1" smtClean="0">
                                    <a:latin typeface="Cambria Math"/>
                                    <a:ea typeface="Cambria Math"/>
                                    <a:sym typeface="Symbol"/>
                                  </a:rPr>
                                  <m:t>0.85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200" b="0" i="0" smtClean="0">
                          <a:latin typeface="Cambria Math"/>
                          <a:ea typeface="Cambria Math"/>
                          <a:sym typeface="Symbol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/>
                          <a:ea typeface="Cambria Math"/>
                          <a:sym typeface="Symbol"/>
                        </a:rPr>
                        <m:t>b</m:t>
                      </m:r>
                      <m:r>
                        <a:rPr lang="en-US" altLang="zh-CN" sz="2200" b="0" i="0" smtClean="0">
                          <a:latin typeface="Cambria Math"/>
                          <a:ea typeface="Cambria Math"/>
                          <a:sym typeface="Symbo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/>
                              <a:sym typeface="Symbol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/>
                                  <a:sym typeface="Symbol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200" b="0" i="1" smtClean="0">
                                    <a:latin typeface="Cambria Math"/>
                                    <a:ea typeface="Cambria Math"/>
                                    <a:sym typeface="Symbol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/>
                                    <a:ea typeface="Cambria Math"/>
                                    <a:sym typeface="Symbol"/>
                                  </a:rPr>
                                  <m:t>1.6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314" y="2263224"/>
                <a:ext cx="3820725" cy="66377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4983282" y="5761832"/>
            <a:ext cx="3866688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F= </a:t>
            </a:r>
            <a:r>
              <a:rPr lang="en-US" altLang="zh-CN" sz="2200" dirty="0" err="1"/>
              <a:t>imread</a:t>
            </a:r>
            <a:r>
              <a:rPr lang="en-US" altLang="zh-CN" sz="2200" dirty="0"/>
              <a:t>('fern.png');</a:t>
            </a:r>
          </a:p>
          <a:p>
            <a:pPr eaLnBrk="1" hangingPunct="1"/>
            <a:r>
              <a:rPr lang="en-US" altLang="zh-CN" sz="2200" dirty="0"/>
              <a:t>&gt;&gt; image(F)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260648"/>
            <a:ext cx="2560637" cy="192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26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r>
              <a:rPr lang="zh-CN" altLang="en-US" dirty="0"/>
              <a:t>特殊的矩阵 </a:t>
            </a:r>
            <a:r>
              <a:rPr lang="en-US" altLang="zh-CN" dirty="0"/>
              <a:t>~ magic</a:t>
            </a:r>
            <a:r>
              <a:rPr lang="zh-CN" altLang="en-US" dirty="0"/>
              <a:t>命令</a:t>
            </a:r>
            <a:endParaRPr lang="en-US" altLang="zh-CN" dirty="0"/>
          </a:p>
          <a:p>
            <a:pPr lvl="1"/>
            <a:r>
              <a:rPr lang="en-US" altLang="zh-CN" dirty="0"/>
              <a:t>《</a:t>
            </a:r>
            <a:r>
              <a:rPr lang="zh-CN" altLang="en-US" dirty="0"/>
              <a:t>周易</a:t>
            </a:r>
            <a:r>
              <a:rPr lang="en-US" altLang="zh-CN" dirty="0"/>
              <a:t>》</a:t>
            </a:r>
            <a:r>
              <a:rPr lang="zh-CN" altLang="en-US" dirty="0"/>
              <a:t>中</a:t>
            </a:r>
            <a:r>
              <a:rPr lang="en-US" altLang="zh-CN" dirty="0"/>
              <a:t>“</a:t>
            </a:r>
            <a:r>
              <a:rPr lang="zh-CN" altLang="en-US" dirty="0"/>
              <a:t>洛书</a:t>
            </a:r>
            <a:r>
              <a:rPr lang="en-US" altLang="zh-CN" dirty="0"/>
              <a:t>”(3</a:t>
            </a:r>
            <a:r>
              <a:rPr lang="zh-CN" altLang="en-US" dirty="0"/>
              <a:t>阶幻方</a:t>
            </a:r>
            <a:r>
              <a:rPr lang="en-US" altLang="zh-CN" dirty="0"/>
              <a:t>)</a:t>
            </a:r>
            <a:r>
              <a:rPr lang="zh-CN" altLang="en-US" dirty="0"/>
              <a:t>的传说</a:t>
            </a:r>
            <a:endParaRPr lang="en-US" altLang="zh-CN" dirty="0"/>
          </a:p>
          <a:p>
            <a:pPr lvl="1"/>
            <a:r>
              <a:rPr lang="zh-CN" altLang="en-US" dirty="0"/>
              <a:t>行</a:t>
            </a:r>
            <a:r>
              <a:rPr lang="en-US" altLang="zh-CN" dirty="0"/>
              <a:t>, </a:t>
            </a:r>
            <a:r>
              <a:rPr lang="zh-CN" altLang="en-US" dirty="0"/>
              <a:t>列</a:t>
            </a:r>
            <a:r>
              <a:rPr lang="en-US" altLang="zh-CN" dirty="0"/>
              <a:t>, </a:t>
            </a:r>
            <a:r>
              <a:rPr lang="zh-CN" altLang="en-US" dirty="0"/>
              <a:t>正</a:t>
            </a:r>
            <a:r>
              <a:rPr lang="en-US" altLang="zh-CN" dirty="0"/>
              <a:t>/</a:t>
            </a:r>
            <a:r>
              <a:rPr lang="zh-CN" altLang="en-US" dirty="0"/>
              <a:t>反对角线元素之和均相等</a:t>
            </a:r>
            <a:endParaRPr lang="en-US" altLang="zh-CN" dirty="0"/>
          </a:p>
          <a:p>
            <a:r>
              <a:rPr lang="en-US" altLang="zh-CN" dirty="0" err="1"/>
              <a:t>Matlab</a:t>
            </a:r>
            <a:r>
              <a:rPr lang="zh-CN" altLang="en-US" dirty="0"/>
              <a:t>命令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zh-CN" altLang="en-US" dirty="0">
                <a:solidFill>
                  <a:srgbClr val="002060"/>
                </a:solidFill>
              </a:rPr>
              <a:t>验证</a:t>
            </a:r>
            <a:r>
              <a:rPr lang="en-US" altLang="zh-CN" dirty="0">
                <a:solidFill>
                  <a:srgbClr val="002060"/>
                </a:solidFill>
              </a:rPr>
              <a:t>magic(3)</a:t>
            </a:r>
            <a:r>
              <a:rPr lang="zh-CN" altLang="en-US" dirty="0">
                <a:solidFill>
                  <a:srgbClr val="002060"/>
                </a:solidFill>
              </a:rPr>
              <a:t>是幻方</a:t>
            </a:r>
            <a:endParaRPr lang="en-US" altLang="zh-CN" dirty="0">
              <a:solidFill>
                <a:srgbClr val="002060"/>
              </a:solidFill>
            </a:endParaRPr>
          </a:p>
          <a:p>
            <a:pPr lvl="1">
              <a:spcBef>
                <a:spcPts val="400"/>
              </a:spcBef>
            </a:pPr>
            <a:r>
              <a:rPr lang="zh-CN" altLang="en-US" dirty="0"/>
              <a:t>这些和等于多少</a:t>
            </a:r>
            <a:r>
              <a:rPr lang="en-US" altLang="zh-CN" dirty="0"/>
              <a:t>?</a:t>
            </a:r>
          </a:p>
          <a:p>
            <a:pPr lvl="1">
              <a:spcBef>
                <a:spcPts val="400"/>
              </a:spcBef>
            </a:pPr>
            <a:r>
              <a:rPr lang="zh-CN" altLang="en-US" dirty="0"/>
              <a:t>三阶幻方矩阵有哪几种</a:t>
            </a:r>
            <a:r>
              <a:rPr lang="en-US" altLang="zh-CN" dirty="0"/>
              <a:t>?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幻方 </a:t>
            </a:r>
            <a:r>
              <a:rPr lang="en-US" altLang="zh-CN"/>
              <a:t>(1)</a:t>
            </a:r>
            <a:endParaRPr lang="zh-CN" altLang="en-US"/>
          </a:p>
        </p:txBody>
      </p: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4983281" y="2852936"/>
            <a:ext cx="3866688" cy="1785104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A = magic(3)</a:t>
            </a:r>
          </a:p>
          <a:p>
            <a:pPr eaLnBrk="1" hangingPunct="1"/>
            <a:r>
              <a:rPr lang="en-US" altLang="zh-CN" sz="2200" dirty="0"/>
              <a:t>&gt;&gt; sum(A)</a:t>
            </a:r>
          </a:p>
          <a:p>
            <a:pPr eaLnBrk="1" hangingPunct="1"/>
            <a:r>
              <a:rPr lang="en-US" altLang="zh-CN" sz="2200" dirty="0"/>
              <a:t>&gt;&gt; sum(A')'</a:t>
            </a:r>
          </a:p>
          <a:p>
            <a:pPr eaLnBrk="1" hangingPunct="1"/>
            <a:r>
              <a:rPr lang="en-US" altLang="zh-CN" sz="2200" dirty="0"/>
              <a:t>&gt;&gt; sum(</a:t>
            </a:r>
            <a:r>
              <a:rPr lang="en-US" altLang="zh-CN" sz="2200" dirty="0" err="1"/>
              <a:t>diag</a:t>
            </a:r>
            <a:r>
              <a:rPr lang="en-US" altLang="zh-CN" sz="2200" dirty="0"/>
              <a:t>(A))</a:t>
            </a:r>
          </a:p>
          <a:p>
            <a:pPr eaLnBrk="1" hangingPunct="1"/>
            <a:r>
              <a:rPr lang="en-US" altLang="zh-CN" sz="2200" dirty="0"/>
              <a:t>&gt;&gt; sum (</a:t>
            </a:r>
            <a:r>
              <a:rPr lang="en-US" altLang="zh-CN" sz="2200" dirty="0" err="1"/>
              <a:t>diag</a:t>
            </a:r>
            <a:r>
              <a:rPr lang="en-US" altLang="zh-CN" sz="2200" dirty="0"/>
              <a:t>( </a:t>
            </a:r>
            <a:r>
              <a:rPr lang="en-US" altLang="zh-CN" sz="2200" dirty="0" err="1"/>
              <a:t>flipud</a:t>
            </a:r>
            <a:r>
              <a:rPr lang="en-US" altLang="zh-CN" sz="2200" dirty="0"/>
              <a:t>(A)))</a:t>
            </a:r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1009700" y="4424412"/>
            <a:ext cx="3666934" cy="144655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for k = 0:3</a:t>
            </a:r>
          </a:p>
          <a:p>
            <a:pPr eaLnBrk="1" hangingPunct="1"/>
            <a:r>
              <a:rPr lang="en-US" altLang="zh-CN" sz="2200" dirty="0"/>
              <a:t>     rot90(A, k)</a:t>
            </a:r>
          </a:p>
          <a:p>
            <a:pPr eaLnBrk="1" hangingPunct="1"/>
            <a:r>
              <a:rPr lang="en-US" altLang="zh-CN" sz="2200" dirty="0"/>
              <a:t>     rot90(A', k)</a:t>
            </a:r>
          </a:p>
          <a:p>
            <a:pPr eaLnBrk="1" hangingPunct="1"/>
            <a:r>
              <a:rPr lang="en-US" altLang="zh-CN" sz="2200" dirty="0"/>
              <a:t>end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122" name="Picture 2" descr="http://www.net95.net/upload/ls1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700309"/>
            <a:ext cx="1872208" cy="187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4991348" y="5106748"/>
            <a:ext cx="3600400" cy="1107996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</a:t>
            </a:r>
            <a:r>
              <a:rPr lang="en-US" altLang="zh-CN" sz="2200" dirty="0" err="1"/>
              <a:t>det</a:t>
            </a:r>
            <a:r>
              <a:rPr lang="en-US" altLang="zh-CN" sz="2200" dirty="0"/>
              <a:t>(A)</a:t>
            </a:r>
          </a:p>
          <a:p>
            <a:pPr eaLnBrk="1" hangingPunct="1"/>
            <a:r>
              <a:rPr lang="en-US" altLang="zh-CN" sz="2200" dirty="0"/>
              <a:t>&gt;&gt; format rat</a:t>
            </a:r>
          </a:p>
          <a:p>
            <a:pPr eaLnBrk="1" hangingPunct="1"/>
            <a:r>
              <a:rPr lang="en-US" altLang="zh-CN" sz="2200" dirty="0"/>
              <a:t>&gt;&gt; X= </a:t>
            </a:r>
            <a:r>
              <a:rPr lang="en-US" altLang="zh-CN" sz="2200" dirty="0" err="1"/>
              <a:t>inv</a:t>
            </a:r>
            <a:r>
              <a:rPr lang="en-US" altLang="zh-CN" sz="2200" dirty="0"/>
              <a:t>(A)</a:t>
            </a:r>
          </a:p>
        </p:txBody>
      </p:sp>
      <p:sp>
        <p:nvSpPr>
          <p:cNvPr id="6" name="矩形 5"/>
          <p:cNvSpPr/>
          <p:nvPr/>
        </p:nvSpPr>
        <p:spPr>
          <a:xfrm>
            <a:off x="3212772" y="4809589"/>
            <a:ext cx="1463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02060"/>
                </a:solidFill>
              </a:rPr>
              <a:t>% </a:t>
            </a:r>
            <a:r>
              <a:rPr lang="zh-CN" altLang="en-US" sz="2000">
                <a:solidFill>
                  <a:srgbClr val="002060"/>
                </a:solidFill>
              </a:rPr>
              <a:t>旋转矩阵</a:t>
            </a:r>
            <a:endParaRPr lang="en-US" sz="2000"/>
          </a:p>
        </p:txBody>
      </p:sp>
      <p:sp>
        <p:nvSpPr>
          <p:cNvPr id="7" name="矩形 6"/>
          <p:cNvSpPr/>
          <p:nvPr/>
        </p:nvSpPr>
        <p:spPr>
          <a:xfrm>
            <a:off x="4830535" y="4681855"/>
            <a:ext cx="4283969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2300" dirty="0"/>
              <a:t>矩阵的行列式</a:t>
            </a:r>
            <a:r>
              <a:rPr lang="en-US" altLang="zh-CN" sz="2300" dirty="0"/>
              <a:t>/</a:t>
            </a:r>
            <a:r>
              <a:rPr lang="zh-CN" altLang="en-US" sz="2300" dirty="0"/>
              <a:t>逆矩阵</a:t>
            </a:r>
            <a:endParaRPr lang="en-US" altLang="zh-CN" sz="2300" dirty="0"/>
          </a:p>
        </p:txBody>
      </p:sp>
    </p:spTree>
    <p:extLst>
      <p:ext uri="{BB962C8B-B14F-4D97-AF65-F5344CB8AC3E}">
        <p14:creationId xmlns:p14="http://schemas.microsoft.com/office/powerpoint/2010/main" val="75420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1" grpId="0" animBg="1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r>
              <a:rPr lang="zh-CN" altLang="en-US" dirty="0"/>
              <a:t>三阶幻方</a:t>
            </a:r>
            <a:endParaRPr lang="en-US" altLang="zh-CN" dirty="0"/>
          </a:p>
          <a:p>
            <a:pPr lvl="1"/>
            <a:r>
              <a:rPr lang="zh-CN" altLang="en-US" dirty="0"/>
              <a:t>看看矩阵的范数、</a:t>
            </a:r>
            <a:br>
              <a:rPr lang="en-US" altLang="zh-CN" dirty="0"/>
            </a:br>
            <a:r>
              <a:rPr lang="zh-CN" altLang="en-US" dirty="0"/>
              <a:t>特征值</a:t>
            </a:r>
            <a:endParaRPr lang="en-US" altLang="zh-CN" dirty="0"/>
          </a:p>
          <a:p>
            <a:r>
              <a:rPr lang="zh-CN" altLang="en-US" dirty="0"/>
              <a:t>更高阶幻方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en-US" altLang="zh-CN" dirty="0"/>
              <a:t>Albrecht Durer</a:t>
            </a:r>
            <a:r>
              <a:rPr lang="zh-CN" altLang="en-US" dirty="0"/>
              <a:t>的</a:t>
            </a:r>
            <a:r>
              <a:rPr lang="zh-CN" altLang="zh-CN" dirty="0"/>
              <a:t>版画</a:t>
            </a:r>
            <a:r>
              <a:rPr lang="en-US" altLang="zh-CN" dirty="0" err="1"/>
              <a:t>Melancolia</a:t>
            </a:r>
            <a:r>
              <a:rPr lang="en-US" altLang="zh-CN" dirty="0"/>
              <a:t> II</a:t>
            </a:r>
            <a:endParaRPr lang="en-US" altLang="zh-CN" dirty="0">
              <a:solidFill>
                <a:srgbClr val="002060"/>
              </a:solidFill>
            </a:endParaRPr>
          </a:p>
          <a:p>
            <a:pPr lvl="1">
              <a:spcBef>
                <a:spcPts val="400"/>
              </a:spcBef>
            </a:pPr>
            <a:r>
              <a:rPr lang="en-US" altLang="zh-CN" sz="2200" dirty="0">
                <a:solidFill>
                  <a:srgbClr val="002060"/>
                </a:solidFill>
              </a:rPr>
              <a:t>4</a:t>
            </a:r>
            <a:r>
              <a:rPr lang="zh-CN" altLang="en-US" sz="2200" dirty="0">
                <a:solidFill>
                  <a:srgbClr val="002060"/>
                </a:solidFill>
              </a:rPr>
              <a:t>阶幻方有</a:t>
            </a:r>
            <a:r>
              <a:rPr lang="en-US" altLang="zh-CN" sz="2200" dirty="0">
                <a:solidFill>
                  <a:srgbClr val="002060"/>
                </a:solidFill>
              </a:rPr>
              <a:t>880</a:t>
            </a:r>
            <a:r>
              <a:rPr lang="zh-CN" altLang="en-US" sz="2200" dirty="0">
                <a:solidFill>
                  <a:srgbClr val="002060"/>
                </a:solidFill>
              </a:rPr>
              <a:t>个</a:t>
            </a:r>
            <a:r>
              <a:rPr lang="zh-CN" altLang="en-US" dirty="0">
                <a:solidFill>
                  <a:srgbClr val="002060"/>
                </a:solidFill>
              </a:rPr>
              <a:t> </a:t>
            </a:r>
            <a:r>
              <a:rPr lang="en-US" altLang="zh-CN" sz="2000" dirty="0"/>
              <a:t>(</a:t>
            </a:r>
            <a:r>
              <a:rPr lang="en-US" altLang="zh-CN" sz="2200" dirty="0"/>
              <a:t>5</a:t>
            </a:r>
            <a:r>
              <a:rPr lang="zh-CN" altLang="en-US" sz="2200" dirty="0"/>
              <a:t>阶</a:t>
            </a:r>
            <a:r>
              <a:rPr lang="en-US" altLang="zh-CN" sz="2200" dirty="0"/>
              <a:t>~</a:t>
            </a:r>
            <a:r>
              <a:rPr lang="en-US" altLang="zh-CN" sz="2200" dirty="0">
                <a:solidFill>
                  <a:srgbClr val="C00000"/>
                </a:solidFill>
              </a:rPr>
              <a:t>275305224</a:t>
            </a:r>
            <a:r>
              <a:rPr lang="zh-CN" altLang="en-US" sz="2200" dirty="0">
                <a:solidFill>
                  <a:srgbClr val="C00000"/>
                </a:solidFill>
              </a:rPr>
              <a:t>个</a:t>
            </a:r>
            <a:r>
              <a:rPr lang="en-US" altLang="zh-CN" sz="2200" dirty="0">
                <a:solidFill>
                  <a:srgbClr val="C00000"/>
                </a:solidFill>
              </a:rPr>
              <a:t>!</a:t>
            </a:r>
            <a:r>
              <a:rPr lang="en-US" altLang="zh-CN" sz="2000" dirty="0"/>
              <a:t>)</a:t>
            </a:r>
            <a:endParaRPr lang="en-US" altLang="zh-CN" dirty="0"/>
          </a:p>
          <a:p>
            <a:pPr lvl="1">
              <a:spcBef>
                <a:spcPts val="400"/>
              </a:spcBef>
            </a:pPr>
            <a:r>
              <a:rPr lang="zh-CN" altLang="en-US" dirty="0">
                <a:solidFill>
                  <a:srgbClr val="002060"/>
                </a:solidFill>
              </a:rPr>
              <a:t>矩阵的秩</a:t>
            </a:r>
            <a:endParaRPr lang="en-US" altLang="zh-CN" dirty="0">
              <a:solidFill>
                <a:srgbClr val="002060"/>
              </a:solidFill>
            </a:endParaRPr>
          </a:p>
          <a:p>
            <a:pPr lvl="1">
              <a:spcBef>
                <a:spcPts val="400"/>
              </a:spcBef>
            </a:pPr>
            <a:r>
              <a:rPr lang="zh-CN" altLang="en-US" dirty="0">
                <a:solidFill>
                  <a:srgbClr val="002060"/>
                </a:solidFill>
              </a:rPr>
              <a:t>生成幻方的算法</a:t>
            </a:r>
            <a:endParaRPr lang="en-US" altLang="zh-CN" dirty="0">
              <a:solidFill>
                <a:srgbClr val="002060"/>
              </a:solidFill>
            </a:endParaRPr>
          </a:p>
          <a:p>
            <a:pPr lvl="1">
              <a:spcBef>
                <a:spcPts val="400"/>
              </a:spcBef>
            </a:pPr>
            <a:endParaRPr lang="en-US" altLang="zh-CN" dirty="0">
              <a:solidFill>
                <a:srgbClr val="002060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dirty="0">
                <a:solidFill>
                  <a:srgbClr val="002060"/>
                </a:solidFill>
              </a:rPr>
              <a:t>幻方矩阵的三维表面图</a:t>
            </a:r>
            <a:endParaRPr lang="en-US" altLang="zh-CN" dirty="0">
              <a:solidFill>
                <a:srgbClr val="002060"/>
              </a:solidFill>
            </a:endParaRPr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幻方 </a:t>
            </a:r>
            <a:r>
              <a:rPr lang="en-US" altLang="zh-CN"/>
              <a:t>(2)</a:t>
            </a:r>
            <a:endParaRPr lang="zh-CN" altLang="en-US"/>
          </a:p>
        </p:txBody>
      </p: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6054671" y="2780928"/>
            <a:ext cx="2981825" cy="144655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load </a:t>
            </a:r>
            <a:r>
              <a:rPr lang="en-US" altLang="zh-CN" sz="2200" dirty="0" err="1"/>
              <a:t>durer</a:t>
            </a:r>
            <a:endParaRPr lang="en-US" altLang="zh-CN" sz="2200" dirty="0"/>
          </a:p>
          <a:p>
            <a:pPr eaLnBrk="1" hangingPunct="1"/>
            <a:r>
              <a:rPr lang="en-US" altLang="zh-CN" sz="2200" dirty="0"/>
              <a:t>&gt;&gt; image(X)</a:t>
            </a:r>
          </a:p>
          <a:p>
            <a:pPr eaLnBrk="1" hangingPunct="1"/>
            <a:r>
              <a:rPr lang="en-US" altLang="zh-CN" sz="2200" dirty="0"/>
              <a:t>&gt;&gt; </a:t>
            </a:r>
            <a:r>
              <a:rPr lang="en-US" altLang="zh-CN" sz="2200" dirty="0" err="1"/>
              <a:t>colormap</a:t>
            </a:r>
            <a:r>
              <a:rPr lang="en-US" altLang="zh-CN" sz="2200" dirty="0"/>
              <a:t>(map)</a:t>
            </a:r>
          </a:p>
          <a:p>
            <a:pPr eaLnBrk="1" hangingPunct="1"/>
            <a:r>
              <a:rPr lang="en-US" altLang="zh-CN" sz="2200" dirty="0"/>
              <a:t>&gt;&gt; axis image</a:t>
            </a:r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3565241" y="3977531"/>
            <a:ext cx="2181006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/>
              <a:t>&gt;&gt; inv(A)</a:t>
            </a:r>
          </a:p>
          <a:p>
            <a:pPr eaLnBrk="1" hangingPunct="1"/>
            <a:r>
              <a:rPr lang="en-US" altLang="zh-CN" sz="2200"/>
              <a:t>&gt;&gt;</a:t>
            </a:r>
            <a:r>
              <a:rPr lang="zh-CN" altLang="en-US" sz="2200"/>
              <a:t> </a:t>
            </a:r>
            <a:r>
              <a:rPr lang="en-US" altLang="zh-CN" sz="2200"/>
              <a:t>rank(A)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9" t="7201" r="17221" b="13203"/>
          <a:stretch/>
        </p:blipFill>
        <p:spPr bwMode="auto">
          <a:xfrm>
            <a:off x="6990774" y="692696"/>
            <a:ext cx="1973714" cy="187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771800" y="2933452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(</a:t>
            </a:r>
            <a:r>
              <a:rPr lang="zh-CN" altLang="en-US"/>
              <a:t>丢勒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0" name="Text Box 39"/>
          <p:cNvSpPr txBox="1">
            <a:spLocks noChangeArrowheads="1"/>
          </p:cNvSpPr>
          <p:nvPr/>
        </p:nvSpPr>
        <p:spPr bwMode="auto">
          <a:xfrm>
            <a:off x="3692658" y="1998787"/>
            <a:ext cx="2704818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/>
              <a:t>&gt;&gt; norm(A)</a:t>
            </a:r>
          </a:p>
          <a:p>
            <a:pPr eaLnBrk="1" hangingPunct="1"/>
            <a:r>
              <a:rPr lang="en-US" altLang="zh-CN" sz="2200"/>
              <a:t>&gt;&gt; eig(A)</a:t>
            </a:r>
          </a:p>
        </p:txBody>
      </p:sp>
      <p:sp>
        <p:nvSpPr>
          <p:cNvPr id="13" name="Text Box 39"/>
          <p:cNvSpPr txBox="1">
            <a:spLocks noChangeArrowheads="1"/>
          </p:cNvSpPr>
          <p:nvPr/>
        </p:nvSpPr>
        <p:spPr bwMode="auto">
          <a:xfrm>
            <a:off x="1187624" y="4746972"/>
            <a:ext cx="2505034" cy="43088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/>
              <a:t>&gt;&gt; edit magic.m</a:t>
            </a:r>
          </a:p>
        </p:txBody>
      </p:sp>
      <p:sp>
        <p:nvSpPr>
          <p:cNvPr id="14" name="Text Box 39"/>
          <p:cNvSpPr txBox="1">
            <a:spLocks noChangeArrowheads="1"/>
          </p:cNvSpPr>
          <p:nvPr/>
        </p:nvSpPr>
        <p:spPr bwMode="auto">
          <a:xfrm>
            <a:off x="1835696" y="5589240"/>
            <a:ext cx="3613746" cy="76944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rgbClr val="C00000"/>
                </a:solidFill>
              </a:rPr>
              <a:t>surf</a:t>
            </a:r>
            <a:r>
              <a:rPr lang="en-US" altLang="zh-CN" sz="2200" dirty="0"/>
              <a:t>(magic(n));</a:t>
            </a:r>
          </a:p>
          <a:p>
            <a:pPr eaLnBrk="1" hangingPunct="1"/>
            <a:r>
              <a:rPr lang="en-US" altLang="zh-CN" sz="2200" dirty="0"/>
              <a:t>axis off;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059832" y="1274851"/>
            <a:ext cx="3653254" cy="4129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36000" tIns="21600" rIns="36000" bIns="21600" rtlCol="0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阶幻方的最大特征值是？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937008" y="2869686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(.mat</a:t>
            </a:r>
            <a:r>
              <a:rPr lang="zh-CN" altLang="en-US" sz="1600" dirty="0">
                <a:solidFill>
                  <a:srgbClr val="FF0000"/>
                </a:solidFill>
              </a:rPr>
              <a:t>文件</a:t>
            </a:r>
            <a:r>
              <a:rPr lang="en-US" altLang="zh-CN" sz="1600" dirty="0">
                <a:solidFill>
                  <a:srgbClr val="FF0000"/>
                </a:solidFill>
              </a:rPr>
              <a:t>)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8185" t="3442" r="7393" b="3438"/>
          <a:stretch/>
        </p:blipFill>
        <p:spPr>
          <a:xfrm>
            <a:off x="5812178" y="4445132"/>
            <a:ext cx="3222864" cy="212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5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4" grpId="0"/>
      <p:bldP spid="13" grpId="0" animBg="1"/>
      <p:bldP spid="14" grpId="0" animBg="1"/>
      <p:bldP spid="15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1268760"/>
            <a:ext cx="8892480" cy="5472608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zh-CN" altLang="en-US" sz="2200" dirty="0"/>
              <a:t>常数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pi, </a:t>
            </a:r>
            <a:r>
              <a:rPr lang="en-US" altLang="zh-CN" sz="2200" dirty="0" err="1">
                <a:solidFill>
                  <a:srgbClr val="1818FF"/>
                </a:solidFill>
              </a:rPr>
              <a:t>i</a:t>
            </a:r>
            <a:r>
              <a:rPr lang="en-US" altLang="zh-CN" sz="2200" dirty="0">
                <a:solidFill>
                  <a:srgbClr val="1818FF"/>
                </a:solidFill>
              </a:rPr>
              <a:t>, j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算术运算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+, -, *, /, ^, .*, ./, .^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逻辑关系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==, ~=, &gt;, &gt;=, &lt;, &lt;=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逻辑运算</a:t>
            </a:r>
            <a:r>
              <a:rPr lang="en-US" altLang="zh-CN" sz="2200" dirty="0"/>
              <a:t>: &amp;, |, ~, </a:t>
            </a:r>
            <a:r>
              <a:rPr lang="en-US" altLang="zh-CN" sz="2200" dirty="0">
                <a:solidFill>
                  <a:srgbClr val="1818FF"/>
                </a:solidFill>
              </a:rPr>
              <a:t>&amp;&amp;, ||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帮助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help, doc, </a:t>
            </a:r>
            <a:r>
              <a:rPr lang="en-US" altLang="zh-CN" sz="2200" dirty="0" err="1">
                <a:solidFill>
                  <a:srgbClr val="1818FF"/>
                </a:solidFill>
              </a:rPr>
              <a:t>lookfor</a:t>
            </a:r>
            <a:r>
              <a:rPr lang="en-US" altLang="zh-CN" sz="2200" dirty="0">
                <a:solidFill>
                  <a:srgbClr val="1818FF"/>
                </a:solidFill>
              </a:rPr>
              <a:t>, demo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输出</a:t>
            </a:r>
            <a:r>
              <a:rPr lang="en-US" altLang="zh-CN" sz="2200" dirty="0"/>
              <a:t>: </a:t>
            </a:r>
            <a:r>
              <a:rPr lang="en-US" altLang="zh-CN" sz="2200" dirty="0" err="1">
                <a:solidFill>
                  <a:srgbClr val="1818FF"/>
                </a:solidFill>
              </a:rPr>
              <a:t>disp</a:t>
            </a:r>
            <a:r>
              <a:rPr lang="en-US" altLang="zh-CN" sz="2200" dirty="0"/>
              <a:t>,</a:t>
            </a:r>
            <a:r>
              <a:rPr lang="en-US" altLang="zh-CN" sz="2200" dirty="0">
                <a:solidFill>
                  <a:srgbClr val="1818FF"/>
                </a:solidFill>
              </a:rPr>
              <a:t> </a:t>
            </a:r>
            <a:r>
              <a:rPr lang="en-US" altLang="zh-CN" sz="2200" dirty="0" err="1">
                <a:solidFill>
                  <a:srgbClr val="1818FF"/>
                </a:solidFill>
              </a:rPr>
              <a:t>sprintf</a:t>
            </a:r>
            <a:r>
              <a:rPr lang="en-US" altLang="zh-CN" sz="2200" dirty="0"/>
              <a:t>,</a:t>
            </a:r>
            <a:r>
              <a:rPr lang="en-US" altLang="zh-CN" sz="2200" dirty="0">
                <a:solidFill>
                  <a:srgbClr val="1818FF"/>
                </a:solidFill>
              </a:rPr>
              <a:t> ; </a:t>
            </a:r>
            <a:r>
              <a:rPr lang="en-US" altLang="zh-CN" sz="2200" dirty="0"/>
              <a:t>, </a:t>
            </a:r>
            <a:r>
              <a:rPr lang="en-US" altLang="zh-CN" sz="2200" dirty="0">
                <a:solidFill>
                  <a:srgbClr val="1818FF"/>
                </a:solidFill>
              </a:rPr>
              <a:t>format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初等函数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sin, cos, tan, </a:t>
            </a:r>
            <a:r>
              <a:rPr lang="en-US" altLang="zh-CN" sz="2200" dirty="0" err="1">
                <a:solidFill>
                  <a:srgbClr val="1818FF"/>
                </a:solidFill>
              </a:rPr>
              <a:t>sinh</a:t>
            </a:r>
            <a:r>
              <a:rPr lang="en-US" altLang="zh-CN" sz="2200" dirty="0">
                <a:solidFill>
                  <a:srgbClr val="1818FF"/>
                </a:solidFill>
              </a:rPr>
              <a:t>, </a:t>
            </a:r>
            <a:r>
              <a:rPr lang="en-US" altLang="zh-CN" sz="2200" dirty="0" err="1">
                <a:solidFill>
                  <a:srgbClr val="1818FF"/>
                </a:solidFill>
              </a:rPr>
              <a:t>asin</a:t>
            </a:r>
            <a:r>
              <a:rPr lang="en-US" altLang="zh-CN" sz="2200" dirty="0">
                <a:solidFill>
                  <a:srgbClr val="1818FF"/>
                </a:solidFill>
              </a:rPr>
              <a:t>, </a:t>
            </a:r>
            <a:r>
              <a:rPr lang="en-US" altLang="zh-CN" sz="2200" dirty="0" err="1">
                <a:solidFill>
                  <a:srgbClr val="1818FF"/>
                </a:solidFill>
              </a:rPr>
              <a:t>exp</a:t>
            </a:r>
            <a:r>
              <a:rPr lang="en-US" altLang="zh-CN" sz="2200" dirty="0">
                <a:solidFill>
                  <a:srgbClr val="1818FF"/>
                </a:solidFill>
              </a:rPr>
              <a:t>, log, log10, </a:t>
            </a:r>
            <a:r>
              <a:rPr lang="en-US" altLang="zh-CN" sz="2200" dirty="0" err="1">
                <a:solidFill>
                  <a:srgbClr val="1818FF"/>
                </a:solidFill>
              </a:rPr>
              <a:t>sqrt</a:t>
            </a:r>
            <a:r>
              <a:rPr lang="en-US" altLang="zh-CN" sz="2200" dirty="0"/>
              <a:t> 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变量记录</a:t>
            </a:r>
            <a:r>
              <a:rPr lang="en-US" altLang="zh-CN" sz="2200" dirty="0"/>
              <a:t>: </a:t>
            </a:r>
            <a:r>
              <a:rPr lang="en-US" altLang="zh-CN" sz="2200" dirty="0" err="1">
                <a:solidFill>
                  <a:srgbClr val="1818FF"/>
                </a:solidFill>
              </a:rPr>
              <a:t>whos</a:t>
            </a:r>
            <a:r>
              <a:rPr lang="en-US" altLang="zh-CN" sz="2200" dirty="0">
                <a:solidFill>
                  <a:srgbClr val="1818FF"/>
                </a:solidFill>
              </a:rPr>
              <a:t>, clear, save, load, </a:t>
            </a:r>
            <a:r>
              <a:rPr lang="en-US" altLang="zh-CN" sz="2200" dirty="0" err="1">
                <a:solidFill>
                  <a:srgbClr val="1818FF"/>
                </a:solidFill>
              </a:rPr>
              <a:t>ans</a:t>
            </a:r>
            <a:r>
              <a:rPr lang="en-US" altLang="zh-CN" sz="2200" dirty="0">
                <a:solidFill>
                  <a:srgbClr val="1818FF"/>
                </a:solidFill>
              </a:rPr>
              <a:t>, diary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向量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[..., ...], [...; ...], length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矩阵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[..., ...; ..., ...],ones, </a:t>
            </a:r>
            <a:r>
              <a:rPr lang="en-US" altLang="zh-CN" sz="2200" dirty="0" err="1">
                <a:solidFill>
                  <a:srgbClr val="1818FF"/>
                </a:solidFill>
              </a:rPr>
              <a:t>zeros</a:t>
            </a:r>
            <a:r>
              <a:rPr lang="en-US" altLang="zh-CN" sz="2200" dirty="0">
                <a:solidFill>
                  <a:srgbClr val="1818FF"/>
                </a:solidFill>
              </a:rPr>
              <a:t>, eye, rand, size, </a:t>
            </a:r>
            <a:r>
              <a:rPr lang="en-US" altLang="zh-CN" sz="2200" dirty="0" err="1">
                <a:solidFill>
                  <a:srgbClr val="1818FF"/>
                </a:solidFill>
              </a:rPr>
              <a:t>diag</a:t>
            </a:r>
            <a:r>
              <a:rPr lang="en-US" altLang="zh-CN" sz="2200" dirty="0">
                <a:solidFill>
                  <a:srgbClr val="1818FF"/>
                </a:solidFill>
              </a:rPr>
              <a:t>, </a:t>
            </a:r>
            <a:r>
              <a:rPr lang="en-US" altLang="zh-CN" sz="2200" dirty="0" err="1">
                <a:solidFill>
                  <a:srgbClr val="1818FF"/>
                </a:solidFill>
              </a:rPr>
              <a:t>tril</a:t>
            </a:r>
            <a:r>
              <a:rPr lang="en-US" altLang="zh-CN" sz="2200" dirty="0">
                <a:solidFill>
                  <a:srgbClr val="1818FF"/>
                </a:solidFill>
              </a:rPr>
              <a:t>, </a:t>
            </a:r>
            <a:r>
              <a:rPr lang="en-US" altLang="zh-CN" sz="2200" dirty="0" err="1">
                <a:solidFill>
                  <a:srgbClr val="1818FF"/>
                </a:solidFill>
              </a:rPr>
              <a:t>triu</a:t>
            </a:r>
            <a:endParaRPr lang="en-US" altLang="zh-CN" sz="2200" dirty="0">
              <a:solidFill>
                <a:srgbClr val="1818FF"/>
              </a:solidFill>
            </a:endParaRPr>
          </a:p>
          <a:p>
            <a:pPr>
              <a:spcBef>
                <a:spcPts val="200"/>
              </a:spcBef>
            </a:pPr>
            <a:r>
              <a:rPr lang="zh-CN" altLang="en-US" sz="2200" dirty="0"/>
              <a:t>绘图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plot, subplot, </a:t>
            </a:r>
            <a:r>
              <a:rPr lang="en-US" altLang="zh-CN" sz="2200" dirty="0" err="1">
                <a:solidFill>
                  <a:srgbClr val="1818FF"/>
                </a:solidFill>
              </a:rPr>
              <a:t>loglog</a:t>
            </a:r>
            <a:r>
              <a:rPr lang="en-US" altLang="zh-CN" sz="2200" dirty="0">
                <a:solidFill>
                  <a:srgbClr val="1818FF"/>
                </a:solidFill>
              </a:rPr>
              <a:t>, </a:t>
            </a:r>
            <a:r>
              <a:rPr lang="en-US" altLang="zh-CN" sz="2200" dirty="0" err="1">
                <a:solidFill>
                  <a:srgbClr val="1818FF"/>
                </a:solidFill>
              </a:rPr>
              <a:t>ezplot</a:t>
            </a:r>
            <a:r>
              <a:rPr lang="en-US" altLang="zh-CN" sz="2200" dirty="0">
                <a:solidFill>
                  <a:srgbClr val="1818FF"/>
                </a:solidFill>
              </a:rPr>
              <a:t>, hold, plot3, figure, close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文件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edit, type, </a:t>
            </a:r>
            <a:r>
              <a:rPr lang="en-US" altLang="zh-CN" sz="2200" dirty="0" err="1">
                <a:solidFill>
                  <a:srgbClr val="1818FF"/>
                </a:solidFill>
              </a:rPr>
              <a:t>ls</a:t>
            </a:r>
            <a:r>
              <a:rPr lang="en-US" altLang="zh-CN" sz="2200" dirty="0">
                <a:solidFill>
                  <a:srgbClr val="1818FF"/>
                </a:solidFill>
              </a:rPr>
              <a:t>, path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编程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function, if, for, while, end, @</a:t>
            </a:r>
          </a:p>
          <a:p>
            <a:pPr>
              <a:spcBef>
                <a:spcPts val="200"/>
              </a:spcBef>
            </a:pPr>
            <a:r>
              <a:rPr lang="zh-CN" altLang="en-US" sz="2200" dirty="0"/>
              <a:t>退出</a:t>
            </a:r>
            <a:r>
              <a:rPr lang="en-US" altLang="zh-CN" sz="2200" dirty="0"/>
              <a:t>: </a:t>
            </a:r>
            <a:r>
              <a:rPr lang="en-US" altLang="zh-CN" sz="2200" dirty="0">
                <a:solidFill>
                  <a:srgbClr val="1818FF"/>
                </a:solidFill>
              </a:rPr>
              <a:t>  exit</a:t>
            </a:r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一些常用的</a:t>
            </a:r>
            <a:r>
              <a:rPr lang="en-US" altLang="zh-CN"/>
              <a:t>matlab</a:t>
            </a:r>
            <a:r>
              <a:rPr lang="zh-CN" altLang="en-US"/>
              <a:t>命令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B20F6B-50DA-4DA5-9454-A1999905029D}"/>
              </a:ext>
            </a:extLst>
          </p:cNvPr>
          <p:cNvSpPr txBox="1"/>
          <p:nvPr/>
        </p:nvSpPr>
        <p:spPr>
          <a:xfrm>
            <a:off x="4596536" y="6009979"/>
            <a:ext cx="42038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为达到高的运行效率，尽量用向量、矩阵运算，而不是用标量的</a:t>
            </a:r>
            <a:r>
              <a:rPr lang="en-US" altLang="zh-CN" sz="2000" dirty="0"/>
              <a:t>for</a:t>
            </a:r>
            <a:r>
              <a:rPr lang="zh-CN" altLang="en-US" sz="2000" dirty="0"/>
              <a:t>循环</a:t>
            </a:r>
          </a:p>
        </p:txBody>
      </p:sp>
    </p:spTree>
    <p:extLst>
      <p:ext uri="{BB962C8B-B14F-4D97-AF65-F5344CB8AC3E}">
        <p14:creationId xmlns:p14="http://schemas.microsoft.com/office/powerpoint/2010/main" val="49809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浮点数与舍入误差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39750" y="1700213"/>
                <a:ext cx="8353425" cy="4824412"/>
              </a:xfrm>
            </p:spPr>
            <p:txBody>
              <a:bodyPr/>
              <a:lstStyle/>
              <a:p>
                <a:pPr eaLnBrk="1" hangingPunct="1"/>
                <a:r>
                  <a:rPr lang="zh-CN" altLang="en-US" sz="2800" dirty="0"/>
                  <a:t>数的表示造成误差</a:t>
                </a:r>
                <a:endParaRPr lang="en-US" altLang="zh-CN" sz="2800" dirty="0"/>
              </a:p>
              <a:p>
                <a:pPr lvl="1"/>
                <a:r>
                  <a:rPr lang="zh-CN" altLang="en-US" sz="2400" dirty="0">
                    <a:solidFill>
                      <a:srgbClr val="C00000"/>
                    </a:solidFill>
                    <a:latin typeface="宋体" charset="-122"/>
                  </a:rPr>
                  <a:t>定理</a:t>
                </a:r>
                <a:r>
                  <a:rPr lang="en-US" altLang="zh-CN" sz="2400" dirty="0">
                    <a:solidFill>
                      <a:srgbClr val="C00000"/>
                    </a:solidFill>
                  </a:rPr>
                  <a:t>1</a:t>
                </a:r>
                <a:r>
                  <a:rPr lang="en-US" altLang="zh-CN" sz="2400" dirty="0">
                    <a:latin typeface="宋体" charset="-122"/>
                  </a:rPr>
                  <a:t>:</a:t>
                </a:r>
                <a:r>
                  <a:rPr lang="zh-CN" altLang="zh-CN" sz="2400" dirty="0"/>
                  <a:t>用浮点数</a:t>
                </a:r>
                <a14:m>
                  <m:oMath xmlns:m="http://schemas.openxmlformats.org/officeDocument/2006/math">
                    <m:r>
                      <a:rPr lang="es-ES" altLang="zh-CN" sz="2400" b="0" i="1">
                        <a:latin typeface="Cambria Math"/>
                      </a:rPr>
                      <m:t>𝑓𝑙</m:t>
                    </m:r>
                    <m:r>
                      <a:rPr lang="es-ES" altLang="zh-CN" sz="2400" b="0">
                        <a:latin typeface="Cambria Math"/>
                      </a:rPr>
                      <m:t>(</m:t>
                    </m:r>
                    <m:r>
                      <a:rPr lang="en-US" altLang="zh-CN" sz="2400" b="0" i="1">
                        <a:latin typeface="Cambria Math"/>
                      </a:rPr>
                      <m:t>𝑥</m:t>
                    </m:r>
                    <m:r>
                      <a:rPr lang="en-US" altLang="zh-CN" sz="2400" b="0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/>
                  <a:t>近似</a:t>
                </a:r>
                <a:r>
                  <a:rPr lang="zh-CN" altLang="zh-CN" sz="2400" dirty="0"/>
                  <a:t>表示实数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latin typeface="Cambria Math"/>
                      </a:rPr>
                      <m:t>𝑥</m:t>
                    </m:r>
                  </m:oMath>
                </a14:m>
                <a:r>
                  <a:rPr lang="zh-CN" altLang="zh-CN" sz="2400" dirty="0"/>
                  <a:t>，其相对误差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/>
                              </a:rPr>
                              <m:t>fl</m:t>
                            </m:r>
                            <m:r>
                              <a:rPr lang="en-US" altLang="zh-CN" sz="2400" i="1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/>
                              </a:rPr>
                              <m:t>)−</m:t>
                            </m:r>
                            <m:r>
                              <a:rPr lang="en-US" altLang="zh-CN" sz="2400" i="1"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US" altLang="zh-CN" sz="240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altLang="zh-CN" sz="2400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altLang="zh-CN" sz="2400">
                            <a:latin typeface="Cambria Math"/>
                          </a:rPr>
                          <m:t>mach</m:t>
                        </m:r>
                      </m:sub>
                    </m:sSub>
                    <m:r>
                      <a:rPr lang="es-ES" altLang="zh-CN" sz="2400">
                        <a:latin typeface="Cambria Math"/>
                      </a:rPr>
                      <m:t> </m:t>
                    </m:r>
                  </m:oMath>
                </a14:m>
                <a:endParaRPr lang="en-US" altLang="zh-CN" sz="2400" b="1" dirty="0">
                  <a:latin typeface="宋体" charset="-122"/>
                </a:endParaRPr>
              </a:p>
              <a:p>
                <a:pPr lvl="1"/>
                <a:r>
                  <a:rPr lang="zh-CN" altLang="en-US" sz="2400" dirty="0">
                    <a:latin typeface="Arial Unicode MS" pitchFamily="34" charset="-122"/>
                  </a:rPr>
                  <a:t>例</a:t>
                </a:r>
                <a:r>
                  <a:rPr lang="en-US" altLang="zh-CN" sz="2400" dirty="0">
                    <a:latin typeface="Arial Unicode MS" pitchFamily="34" charset="-122"/>
                  </a:rPr>
                  <a:t>:</a:t>
                </a:r>
                <a:r>
                  <a:rPr lang="en-US" altLang="zh-CN" sz="2400" dirty="0"/>
                  <a:t> t = 0.1</a:t>
                </a:r>
                <a:endParaRPr lang="en-US" altLang="zh-CN" sz="2400" dirty="0">
                  <a:latin typeface="Arial Unicode MS" pitchFamily="34" charset="-122"/>
                </a:endParaRPr>
              </a:p>
              <a:p>
                <a:pPr eaLnBrk="1" hangingPunct="1"/>
                <a:endParaRPr lang="en-US" altLang="zh-CN" sz="2800" dirty="0">
                  <a:latin typeface="Arial Unicode MS" pitchFamily="34" charset="-122"/>
                </a:endParaRPr>
              </a:p>
              <a:p>
                <a:pPr eaLnBrk="1" hangingPunct="1"/>
                <a:endParaRPr lang="en-US" altLang="zh-CN" sz="2800" dirty="0">
                  <a:latin typeface="Arial Unicode MS" pitchFamily="34" charset="-122"/>
                </a:endParaRPr>
              </a:p>
              <a:p>
                <a:pPr lvl="1"/>
                <a:endParaRPr lang="en-US" altLang="zh-CN" sz="2400" dirty="0"/>
              </a:p>
              <a:p>
                <a:pPr lvl="1"/>
                <a:r>
                  <a:rPr lang="zh-CN" altLang="en-US" sz="2400" dirty="0"/>
                  <a:t>十个</a:t>
                </a:r>
                <a:r>
                  <a:rPr lang="en-US" altLang="zh-CN" sz="2400" dirty="0"/>
                  <a:t>0.1</a:t>
                </a:r>
                <a:r>
                  <a:rPr lang="zh-CN" altLang="en-US" sz="2400" dirty="0"/>
                  <a:t>相加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/>
                      </a:rPr>
                      <m:t>≠</m:t>
                    </m:r>
                  </m:oMath>
                </a14:m>
                <a:r>
                  <a:rPr lang="en-US" altLang="zh-CN" sz="2400" dirty="0"/>
                  <a:t>1 </a:t>
                </a:r>
                <a:r>
                  <a:rPr lang="en-US" altLang="zh-CN" sz="2000" dirty="0"/>
                  <a:t>(</a:t>
                </a:r>
                <a:r>
                  <a:rPr lang="en-US" altLang="zh-CN" sz="2000" u="sng" dirty="0"/>
                  <a:t>3ff</a:t>
                </a:r>
                <a:r>
                  <a:rPr lang="en-US" altLang="zh-CN" sz="2000" dirty="0"/>
                  <a:t>0000000000000)</a:t>
                </a:r>
                <a:endParaRPr lang="en-US" altLang="zh-CN" sz="2400" dirty="0"/>
              </a:p>
              <a:p>
                <a:pPr lvl="1"/>
                <a:r>
                  <a:rPr lang="en-US" altLang="zh-CN" sz="2400" dirty="0"/>
                  <a:t>0.3/0.1</a:t>
                </a:r>
                <a:r>
                  <a:rPr lang="zh-CN" altLang="en-US" sz="2400" dirty="0"/>
                  <a:t>成为</a:t>
                </a:r>
                <a:r>
                  <a:rPr lang="en-US" altLang="zh-CN" sz="2400" dirty="0"/>
                  <a:t>4007ffffffffffff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zh-CN" altLang="en-US" sz="2400" dirty="0"/>
                  <a:t>评估机器精度的程序</a:t>
                </a:r>
                <a:endParaRPr lang="en-US" altLang="zh-CN" sz="2400" dirty="0"/>
              </a:p>
              <a:p>
                <a:pPr eaLnBrk="1" hangingPunct="1"/>
                <a:endParaRPr lang="zh-CN" altLang="en-US" sz="2800" b="1" dirty="0"/>
              </a:p>
            </p:txBody>
          </p:sp>
        </mc:Choice>
        <mc:Fallback xmlns="">
          <p:sp>
            <p:nvSpPr>
              <p:cNvPr id="2355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9750" y="1700213"/>
                <a:ext cx="8353425" cy="4824412"/>
              </a:xfrm>
              <a:blipFill rotWithShape="0">
                <a:blip r:embed="rId2"/>
                <a:stretch>
                  <a:fillRect t="-2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9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200" y="3599152"/>
            <a:ext cx="4660011" cy="621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673" y="3778942"/>
            <a:ext cx="1970695" cy="381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868144" y="382180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,</a:t>
            </a:r>
            <a:endParaRPr lang="zh-CN" altLang="en-US"/>
          </a:p>
        </p:txBody>
      </p:sp>
      <p:pic>
        <p:nvPicPr>
          <p:cNvPr id="4101" name="Picture 5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259319"/>
            <a:ext cx="4376544" cy="525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259319"/>
            <a:ext cx="4152519" cy="525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499992" y="439983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,</a:t>
            </a:r>
            <a:endParaRPr lang="zh-CN" altLang="en-US"/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4983281" y="3140968"/>
            <a:ext cx="3866688" cy="43088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</a:t>
            </a:r>
            <a:r>
              <a:rPr lang="en-US" altLang="zh-CN" sz="2200" dirty="0">
                <a:solidFill>
                  <a:srgbClr val="1818FF"/>
                </a:solidFill>
              </a:rPr>
              <a:t>format hex</a:t>
            </a:r>
            <a:r>
              <a:rPr lang="en-US" altLang="zh-CN" sz="2200" dirty="0"/>
              <a:t>; t</a:t>
            </a:r>
          </a:p>
        </p:txBody>
      </p:sp>
      <p:sp>
        <p:nvSpPr>
          <p:cNvPr id="13" name="Text Box 39"/>
          <p:cNvSpPr txBox="1">
            <a:spLocks noChangeArrowheads="1"/>
          </p:cNvSpPr>
          <p:nvPr/>
        </p:nvSpPr>
        <p:spPr bwMode="auto">
          <a:xfrm>
            <a:off x="6156176" y="5006786"/>
            <a:ext cx="2693792" cy="144655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a = 4/3</a:t>
            </a:r>
          </a:p>
          <a:p>
            <a:pPr eaLnBrk="1" hangingPunct="1"/>
            <a:r>
              <a:rPr lang="en-US" altLang="zh-CN" sz="2200" dirty="0"/>
              <a:t>&gt;&gt; b = a - 1</a:t>
            </a:r>
          </a:p>
          <a:p>
            <a:pPr eaLnBrk="1" hangingPunct="1"/>
            <a:r>
              <a:rPr lang="en-US" altLang="zh-CN" sz="2200" dirty="0"/>
              <a:t>&gt;&gt; c = 3*b</a:t>
            </a:r>
          </a:p>
          <a:p>
            <a:pPr eaLnBrk="1" hangingPunct="1"/>
            <a:r>
              <a:rPr lang="en-US" altLang="zh-CN" sz="2200" dirty="0"/>
              <a:t>&gt;&gt; e = 1 -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1654" y="2679303"/>
            <a:ext cx="4904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= eps/2</a:t>
            </a:r>
            <a:r>
              <a:rPr lang="en-US" altLang="zh-CN" sz="2400" dirty="0">
                <a:sym typeface="Symbol"/>
              </a:rPr>
              <a:t></a:t>
            </a:r>
            <a:r>
              <a:rPr lang="es-ES" altLang="zh-CN" sz="2400" dirty="0">
                <a:solidFill>
                  <a:schemeClr val="dk1"/>
                </a:solidFill>
              </a:rPr>
              <a:t> 1.110</a:t>
            </a:r>
            <a:r>
              <a:rPr lang="es-ES" altLang="zh-CN" sz="2400" dirty="0">
                <a:solidFill>
                  <a:schemeClr val="dk1"/>
                </a:solidFill>
                <a:sym typeface="Symbol"/>
              </a:rPr>
              <a:t></a:t>
            </a:r>
            <a:r>
              <a:rPr lang="es-ES" altLang="zh-CN" sz="2400" dirty="0">
                <a:solidFill>
                  <a:schemeClr val="dk1"/>
                </a:solidFill>
              </a:rPr>
              <a:t>10</a:t>
            </a:r>
            <a:r>
              <a:rPr lang="es-ES" altLang="zh-CN" sz="2400" baseline="30000" dirty="0">
                <a:solidFill>
                  <a:schemeClr val="dk1"/>
                </a:solidFill>
              </a:rPr>
              <a:t>-16</a:t>
            </a:r>
            <a:r>
              <a:rPr lang="es-ES" altLang="zh-CN" sz="2400" dirty="0">
                <a:solidFill>
                  <a:schemeClr val="dk1"/>
                </a:solidFill>
              </a:rPr>
              <a:t>   </a:t>
            </a:r>
            <a:r>
              <a:rPr lang="es-ES" altLang="zh-CN" dirty="0">
                <a:solidFill>
                  <a:schemeClr val="dk1"/>
                </a:solidFill>
              </a:rPr>
              <a:t>(double</a:t>
            </a:r>
            <a:r>
              <a:rPr lang="zh-CN" altLang="en-US" dirty="0">
                <a:solidFill>
                  <a:schemeClr val="dk1"/>
                </a:solidFill>
              </a:rPr>
              <a:t>型</a:t>
            </a:r>
            <a:r>
              <a:rPr lang="es-ES" altLang="zh-CN" dirty="0">
                <a:solidFill>
                  <a:schemeClr val="dk1"/>
                </a:solidFill>
              </a:rPr>
              <a:t>)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17</a:t>
            </a:fld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021979" y="5635259"/>
            <a:ext cx="54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21067" y="559896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+1023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608941" y="5635259"/>
            <a:ext cx="15024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75061" y="559480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尾数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f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4130224" y="6093296"/>
            <a:ext cx="18722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BE4C871-B64A-414B-95B0-D09B7DF41E03}"/>
                  </a:ext>
                </a:extLst>
              </p:cNvPr>
              <p:cNvSpPr/>
              <p:nvPr/>
            </p:nvSpPr>
            <p:spPr>
              <a:xfrm>
                <a:off x="171589" y="3540716"/>
                <a:ext cx="790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CN" dirty="0"/>
                  <a:t>=52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BE4C871-B64A-414B-95B0-D09B7DF41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89" y="3540716"/>
                <a:ext cx="790216" cy="369332"/>
              </a:xfrm>
              <a:prstGeom prst="rect">
                <a:avLst/>
              </a:prstGeom>
              <a:blipFill>
                <a:blip r:embed="rId7"/>
                <a:stretch>
                  <a:fillRect t="-8333" r="-6154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82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 animBg="1"/>
      <p:bldP spid="13" grpId="0" animBg="1"/>
      <p:bldP spid="14" grpId="0"/>
      <p:bldP spid="7" grpId="0"/>
      <p:bldP spid="21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Matlab</a:t>
            </a:r>
            <a:r>
              <a:rPr lang="zh-CN" altLang="en-US" dirty="0"/>
              <a:t>用浮点数表示整数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浮点整数</a:t>
            </a:r>
            <a:r>
              <a:rPr lang="zh-CN" altLang="en-US" dirty="0"/>
              <a:t>，只要</a:t>
            </a:r>
            <a:r>
              <a:rPr lang="en-US" altLang="zh-CN" dirty="0"/>
              <a:t>”</a:t>
            </a:r>
            <a:r>
              <a:rPr lang="zh-CN" altLang="en-US" dirty="0"/>
              <a:t>结果数的位数不太多</a:t>
            </a:r>
            <a:r>
              <a:rPr lang="en-US" altLang="zh-CN" dirty="0"/>
              <a:t>”</a:t>
            </a:r>
            <a:r>
              <a:rPr lang="zh-CN" altLang="en-US" dirty="0"/>
              <a:t>，其运算没有误差</a:t>
            </a:r>
            <a:endParaRPr lang="en-US" altLang="zh-CN" dirty="0"/>
          </a:p>
          <a:p>
            <a:pPr lvl="1"/>
            <a:r>
              <a:rPr lang="zh-CN" altLang="en-US" dirty="0"/>
              <a:t>加减乘除</a:t>
            </a:r>
            <a:r>
              <a:rPr lang="en-US" altLang="zh-CN" dirty="0"/>
              <a:t>/</a:t>
            </a:r>
            <a:r>
              <a:rPr lang="zh-CN" altLang="en-US" dirty="0"/>
              <a:t>平方根结果可能还是整数</a:t>
            </a:r>
            <a:endParaRPr lang="en-US" altLang="zh-CN" dirty="0"/>
          </a:p>
          <a:p>
            <a:r>
              <a:rPr lang="zh-CN" altLang="en-US" sz="2400" dirty="0">
                <a:solidFill>
                  <a:srgbClr val="002060"/>
                </a:solidFill>
              </a:rPr>
              <a:t>命令</a:t>
            </a:r>
            <a:r>
              <a:rPr lang="en-US" altLang="zh-CN" sz="2400" dirty="0">
                <a:solidFill>
                  <a:srgbClr val="002060"/>
                </a:solidFill>
              </a:rPr>
              <a:t>[F, E]=log2(x)</a:t>
            </a:r>
            <a:r>
              <a:rPr lang="zh-CN" altLang="en-US" sz="2400" dirty="0">
                <a:solidFill>
                  <a:srgbClr val="002060"/>
                </a:solidFill>
              </a:rPr>
              <a:t>得一个数</a:t>
            </a:r>
            <a:r>
              <a:rPr lang="en-US" altLang="zh-CN" sz="2400" dirty="0">
                <a:solidFill>
                  <a:srgbClr val="002060"/>
                </a:solidFill>
              </a:rPr>
              <a:t>x</a:t>
            </a:r>
            <a:r>
              <a:rPr lang="zh-CN" altLang="en-US" sz="2400" dirty="0">
                <a:solidFill>
                  <a:srgbClr val="002060"/>
                </a:solidFill>
              </a:rPr>
              <a:t>的二进制表示的指数与尾数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dirty="0"/>
              <a:t>由于舍入误差，奇异矩阵在计算时可能并不奇异</a:t>
            </a:r>
            <a:endParaRPr lang="en-US" altLang="zh-CN" dirty="0"/>
          </a:p>
          <a:p>
            <a:pPr lvl="1"/>
            <a:r>
              <a:rPr lang="zh-CN" altLang="en-US" dirty="0"/>
              <a:t>见</a:t>
            </a:r>
            <a:r>
              <a:rPr lang="en-US" altLang="zh-CN" dirty="0"/>
              <a:t>NCM</a:t>
            </a:r>
            <a:r>
              <a:rPr lang="zh-CN" altLang="en-US" dirty="0"/>
              <a:t>书</a:t>
            </a:r>
            <a:r>
              <a:rPr lang="en-US" altLang="zh-CN" dirty="0"/>
              <a:t>§1.7</a:t>
            </a:r>
            <a:r>
              <a:rPr lang="zh-CN" altLang="en-US" dirty="0"/>
              <a:t>的例子</a:t>
            </a:r>
            <a:r>
              <a:rPr lang="en-US" altLang="zh-CN" dirty="0"/>
              <a:t>, ( </a:t>
            </a:r>
            <a:r>
              <a:rPr lang="en-US" altLang="zh-CN" dirty="0" err="1">
                <a:solidFill>
                  <a:srgbClr val="1818FF"/>
                </a:solidFill>
              </a:rPr>
              <a:t>inv</a:t>
            </a:r>
            <a:r>
              <a:rPr lang="en-US" altLang="zh-CN" dirty="0">
                <a:solidFill>
                  <a:srgbClr val="1818FF"/>
                </a:solidFill>
              </a:rPr>
              <a:t>(magic(4))</a:t>
            </a:r>
            <a:r>
              <a:rPr lang="en-US" altLang="zh-CN" dirty="0"/>
              <a:t> )</a:t>
            </a:r>
          </a:p>
          <a:p>
            <a:pPr>
              <a:spcBef>
                <a:spcPts val="1200"/>
              </a:spcBef>
            </a:pPr>
            <a:r>
              <a:rPr lang="zh-CN" altLang="en-US" dirty="0"/>
              <a:t>一个特殊的</a:t>
            </a:r>
            <a:r>
              <a:rPr lang="en-US" altLang="zh-CN" dirty="0"/>
              <a:t>7</a:t>
            </a:r>
            <a:r>
              <a:rPr lang="zh-CN" altLang="en-US" dirty="0"/>
              <a:t>次多项式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Matlab</a:t>
            </a:r>
            <a:r>
              <a:rPr lang="zh-CN" altLang="en-US" dirty="0"/>
              <a:t>中相关现象</a:t>
            </a: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683568" y="4623627"/>
            <a:ext cx="7848872" cy="1107996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x = 0.988: .0001: 1.012;</a:t>
            </a:r>
          </a:p>
          <a:p>
            <a:pPr eaLnBrk="1" hangingPunct="1"/>
            <a:r>
              <a:rPr lang="en-US" altLang="zh-CN" sz="2200" dirty="0"/>
              <a:t>&gt;&gt; y= x.^7- 7*x.^6+ 21*x.^5- 35*x.^4+ 35*x.^3- 21*x.^2+ 7*x-1;</a:t>
            </a:r>
          </a:p>
          <a:p>
            <a:pPr eaLnBrk="1" hangingPunct="1"/>
            <a:r>
              <a:rPr lang="en-US" altLang="zh-CN" sz="2200" dirty="0"/>
              <a:t>&gt;&gt; plot (x, y)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5782918" y="4347959"/>
            <a:ext cx="877314" cy="65367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60232" y="413887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(x-1)</a:t>
            </a:r>
            <a:r>
              <a:rPr lang="en-US" altLang="zh-CN" sz="2400" baseline="30000" dirty="0"/>
              <a:t>7</a:t>
            </a:r>
            <a:endParaRPr lang="zh-CN" altLang="en-US" sz="2400" baseline="300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3EAF-B667-42C7-BC3D-A8A1A2F1A4C9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54353" y="1556792"/>
            <a:ext cx="42484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尾数</a:t>
            </a:r>
            <a:r>
              <a:rPr lang="en-US" altLang="zh-CN" sz="2000" dirty="0"/>
              <a:t>52</a:t>
            </a:r>
            <a:r>
              <a:rPr lang="zh-CN" altLang="en-US" sz="2000" dirty="0"/>
              <a:t>位</a:t>
            </a:r>
            <a:r>
              <a:rPr lang="en-US" altLang="zh-CN" sz="2000" dirty="0"/>
              <a:t>, </a:t>
            </a:r>
            <a:r>
              <a:rPr lang="zh-CN" altLang="en-US" sz="2000" dirty="0"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latin typeface="Times New Roman" pitchFamily="18" charset="0"/>
              </a:rPr>
              <a:t>2</a:t>
            </a:r>
            <a:r>
              <a:rPr lang="en-US" altLang="zh-CN" sz="2000" baseline="30000" dirty="0">
                <a:latin typeface="Times New Roman" pitchFamily="18" charset="0"/>
              </a:rPr>
              <a:t>53</a:t>
            </a:r>
            <a:r>
              <a:rPr lang="zh-CN" altLang="en-US" sz="2000" dirty="0">
                <a:latin typeface="Times New Roman" pitchFamily="18" charset="0"/>
              </a:rPr>
              <a:t>的整数必可精确表示</a:t>
            </a:r>
            <a:endParaRPr lang="zh-CN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187624" y="5776730"/>
            <a:ext cx="3312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rgbClr val="FF0000"/>
                </a:solidFill>
              </a:rPr>
              <a:t>发生了严重的</a:t>
            </a:r>
            <a:r>
              <a:rPr lang="zh-CN" altLang="en-US" sz="2200" u="sng" dirty="0">
                <a:solidFill>
                  <a:srgbClr val="FF0000"/>
                </a:solidFill>
              </a:rPr>
              <a:t>抵消现象</a:t>
            </a:r>
            <a:r>
              <a:rPr lang="zh-CN" altLang="en-US" sz="2200" dirty="0">
                <a:solidFill>
                  <a:srgbClr val="FF0000"/>
                </a:solidFill>
              </a:rPr>
              <a:t> </a:t>
            </a:r>
            <a:r>
              <a:rPr lang="en-US" altLang="zh-CN" sz="2200" dirty="0">
                <a:solidFill>
                  <a:srgbClr val="FF0000"/>
                </a:solidFill>
              </a:rPr>
              <a:t>?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8529" y="1269297"/>
            <a:ext cx="1187724" cy="31250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18000" tIns="32400" rIns="18000" bIns="18000" rtlCol="0">
            <a:spAutoFit/>
          </a:bodyPr>
          <a:lstStyle/>
          <a:p>
            <a:pPr>
              <a:lnSpc>
                <a:spcPts val="2000"/>
              </a:lnSpc>
              <a:spcBef>
                <a:spcPts val="200"/>
              </a:spcBef>
            </a:pPr>
            <a:r>
              <a:rPr lang="en-US" altLang="zh-CN">
                <a:solidFill>
                  <a:srgbClr val="1818FF"/>
                </a:solidFill>
              </a:rPr>
              <a:t>~9.0</a:t>
            </a:r>
            <a:r>
              <a:rPr lang="en-US" altLang="zh-CN">
                <a:solidFill>
                  <a:srgbClr val="1818FF"/>
                </a:solidFill>
                <a:sym typeface="Symbol"/>
              </a:rPr>
              <a:t>10</a:t>
            </a:r>
            <a:r>
              <a:rPr lang="en-US" altLang="zh-CN" baseline="30000">
                <a:solidFill>
                  <a:srgbClr val="1818FF"/>
                </a:solidFill>
                <a:sym typeface="Symbol"/>
              </a:rPr>
              <a:t>15</a:t>
            </a:r>
            <a:endParaRPr lang="en-US" baseline="30000">
              <a:solidFill>
                <a:srgbClr val="1818FF"/>
              </a:solidFill>
            </a:endParaRPr>
          </a:p>
        </p:txBody>
      </p:sp>
      <p:sp>
        <p:nvSpPr>
          <p:cNvPr id="14" name="Text Box 39"/>
          <p:cNvSpPr txBox="1">
            <a:spLocks noChangeArrowheads="1"/>
          </p:cNvSpPr>
          <p:nvPr/>
        </p:nvSpPr>
        <p:spPr bwMode="auto">
          <a:xfrm>
            <a:off x="4484335" y="5811076"/>
            <a:ext cx="4528697" cy="430887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/>
              <a:t>&gt;&gt; hold on; y2=(x-1).^7; plot(x, y2)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">
                <a:extLst>
                  <a:ext uri="{FF2B5EF4-FFF2-40B4-BE49-F238E27FC236}">
                    <a16:creationId xmlns:a16="http://schemas.microsoft.com/office/drawing/2014/main" id="{C0126EB3-4773-4284-9490-1BA7CA808803}"/>
                  </a:ext>
                </a:extLst>
              </p:cNvPr>
              <p:cNvSpPr txBox="1"/>
              <p:nvPr/>
            </p:nvSpPr>
            <p:spPr>
              <a:xfrm>
                <a:off x="4710148" y="730432"/>
                <a:ext cx="3528392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zh-CN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+⋯+</m:t>
                          </m:r>
                          <m:f>
                            <m:fPr>
                              <m:ctrlPr>
                                <a:rPr lang="zh-CN" altLang="zh-CN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zh-CN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zh-CN" altLang="zh-CN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">
                <a:extLst>
                  <a:ext uri="{FF2B5EF4-FFF2-40B4-BE49-F238E27FC236}">
                    <a16:creationId xmlns:a16="http://schemas.microsoft.com/office/drawing/2014/main" id="{C0126EB3-4773-4284-9490-1BA7CA808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148" y="730432"/>
                <a:ext cx="3528392" cy="714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48A1646-7192-4CCD-8CCD-B13E7B5EFA5C}"/>
              </a:ext>
            </a:extLst>
          </p:cNvPr>
          <p:cNvSpPr txBox="1"/>
          <p:nvPr/>
        </p:nvSpPr>
        <p:spPr>
          <a:xfrm>
            <a:off x="6541472" y="2413567"/>
            <a:ext cx="1846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</a:t>
            </a:r>
            <a:r>
              <a:rPr lang="zh-CN" altLang="en-US" dirty="0"/>
              <a:t>反过来用</a:t>
            </a:r>
            <a:r>
              <a:rPr lang="en-US" altLang="zh-CN" dirty="0">
                <a:solidFill>
                  <a:srgbClr val="1818FF"/>
                </a:solidFill>
              </a:rPr>
              <a:t>pow2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521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4" grpId="0" animBg="1"/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>
        <a:ln w="25400" cmpd="sng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6421</TotalTime>
  <Words>1910</Words>
  <Application>Microsoft Office PowerPoint</Application>
  <PresentationFormat>全屏显示(4:3)</PresentationFormat>
  <Paragraphs>335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 Unicode MS</vt:lpstr>
      <vt:lpstr>黑体</vt:lpstr>
      <vt:lpstr>楷体</vt:lpstr>
      <vt:lpstr>宋体</vt:lpstr>
      <vt:lpstr>Arial</vt:lpstr>
      <vt:lpstr>Calibri</vt:lpstr>
      <vt:lpstr>Cambria Math</vt:lpstr>
      <vt:lpstr>Lucida Sans Unicode</vt:lpstr>
      <vt:lpstr>Symbol</vt:lpstr>
      <vt:lpstr>Times New Roman</vt:lpstr>
      <vt:lpstr>Verdana</vt:lpstr>
      <vt:lpstr>Wingdings 2</vt:lpstr>
      <vt:lpstr>Wingdings 3</vt:lpstr>
      <vt:lpstr>聚合</vt:lpstr>
      <vt:lpstr>Matlab入门与练习</vt:lpstr>
      <vt:lpstr>MATLAB简介(1)</vt:lpstr>
      <vt:lpstr>MATLAB简介(2)</vt:lpstr>
      <vt:lpstr>MATLAB简介(3)</vt:lpstr>
      <vt:lpstr>MATLAB简介(4)</vt:lpstr>
      <vt:lpstr>黄金分割比(1)</vt:lpstr>
      <vt:lpstr>黄金分割比(2)</vt:lpstr>
      <vt:lpstr>黄金分割比(3)</vt:lpstr>
      <vt:lpstr>黄金分割比(4)</vt:lpstr>
      <vt:lpstr>黄金分割比(5)</vt:lpstr>
      <vt:lpstr>黄金分割比(6)</vt:lpstr>
      <vt:lpstr>斐波那契数</vt:lpstr>
      <vt:lpstr>分形蕨</vt:lpstr>
      <vt:lpstr>幻方 (1)</vt:lpstr>
      <vt:lpstr>幻方 (2)</vt:lpstr>
      <vt:lpstr>一些常用的matlab命令</vt:lpstr>
      <vt:lpstr>浮点数与舍入误差</vt:lpstr>
      <vt:lpstr>Matlab中相关现象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高等数值算法与应用</dc:title>
  <dc:creator>yyt</dc:creator>
  <cp:lastModifiedBy>Wenjian Yu</cp:lastModifiedBy>
  <cp:revision>402</cp:revision>
  <dcterms:created xsi:type="dcterms:W3CDTF">2011-08-26T02:43:03Z</dcterms:created>
  <dcterms:modified xsi:type="dcterms:W3CDTF">2024-03-20T01:06:20Z</dcterms:modified>
</cp:coreProperties>
</file>