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8"/>
  </p:notesMasterIdLst>
  <p:handoutMasterIdLst>
    <p:handoutMasterId r:id="rId9"/>
  </p:handout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7099300" cy="10234613"/>
  <p:defaultTextStyle>
    <a:defPPr>
      <a:defRPr lang="en-US"/>
    </a:defPPr>
    <a:lvl1pPr algn="ctr" rtl="0" fontAlgn="base"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ctr" rtl="0" fontAlgn="base"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ctr" rtl="0" fontAlgn="base"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ctr" rtl="0" fontAlgn="base"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ctr" rtl="0" fontAlgn="base"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  <a:srgbClr val="FF00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52" autoAdjust="0"/>
    <p:restoredTop sz="98957" autoAdjust="0"/>
  </p:normalViewPr>
  <p:slideViewPr>
    <p:cSldViewPr>
      <p:cViewPr varScale="1">
        <p:scale>
          <a:sx n="89" d="100"/>
          <a:sy n="89" d="100"/>
        </p:scale>
        <p:origin x="1172" y="4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6630" tIns="43315" rIns="86630" bIns="43315" numCol="1" anchor="t" anchorCtr="0" compatLnSpc="1">
            <a:prstTxWarp prst="textNoShape">
              <a:avLst/>
            </a:prstTxWarp>
          </a:bodyPr>
          <a:lstStyle>
            <a:lvl1pPr algn="l" defTabSz="865188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6630" tIns="43315" rIns="86630" bIns="43315" numCol="1" anchor="t" anchorCtr="0" compatLnSpc="1">
            <a:prstTxWarp prst="textNoShape">
              <a:avLst/>
            </a:prstTxWarp>
          </a:bodyPr>
          <a:lstStyle>
            <a:lvl1pPr algn="r" defTabSz="865188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39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6630" tIns="43315" rIns="86630" bIns="43315" numCol="1" anchor="b" anchorCtr="0" compatLnSpc="1">
            <a:prstTxWarp prst="textNoShape">
              <a:avLst/>
            </a:prstTxWarp>
          </a:bodyPr>
          <a:lstStyle>
            <a:lvl1pPr algn="l" defTabSz="865188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39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6630" tIns="43315" rIns="86630" bIns="43315" numCol="1" anchor="b" anchorCtr="0" compatLnSpc="1">
            <a:prstTxWarp prst="textNoShape">
              <a:avLst/>
            </a:prstTxWarp>
          </a:bodyPr>
          <a:lstStyle>
            <a:lvl1pPr algn="r" defTabSz="865188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43BAA32A-BC46-4C9D-A567-A20D12250F0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02940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6630" tIns="43315" rIns="86630" bIns="43315" numCol="1" anchor="t" anchorCtr="0" compatLnSpc="1">
            <a:prstTxWarp prst="textNoShape">
              <a:avLst/>
            </a:prstTxWarp>
          </a:bodyPr>
          <a:lstStyle>
            <a:lvl1pPr algn="l" defTabSz="865188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6630" tIns="43315" rIns="86630" bIns="43315" numCol="1" anchor="t" anchorCtr="0" compatLnSpc="1">
            <a:prstTxWarp prst="textNoShape">
              <a:avLst/>
            </a:prstTxWarp>
          </a:bodyPr>
          <a:lstStyle>
            <a:lvl1pPr algn="r" defTabSz="865188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6512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03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6630" tIns="43315" rIns="86630" bIns="433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1003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6630" tIns="43315" rIns="86630" bIns="43315" numCol="1" anchor="b" anchorCtr="0" compatLnSpc="1">
            <a:prstTxWarp prst="textNoShape">
              <a:avLst/>
            </a:prstTxWarp>
          </a:bodyPr>
          <a:lstStyle>
            <a:lvl1pPr algn="l" defTabSz="865188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03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6630" tIns="43315" rIns="86630" bIns="43315" numCol="1" anchor="b" anchorCtr="0" compatLnSpc="1">
            <a:prstTxWarp prst="textNoShape">
              <a:avLst/>
            </a:prstTxWarp>
          </a:bodyPr>
          <a:lstStyle>
            <a:lvl1pPr algn="r" defTabSz="865188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4ED88A93-8EA3-411C-90B8-CD69020B7DE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5293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hidden">
          <a:xfrm>
            <a:off x="0" y="0"/>
            <a:ext cx="3505200" cy="6858000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ct val="0"/>
              </a:spcBef>
            </a:pPr>
            <a:endParaRPr lang="zh-CN" altLang="en-US" sz="2400">
              <a:latin typeface="Times New Roman" pitchFamily="18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hidden">
          <a:xfrm>
            <a:off x="1716088" y="1690688"/>
            <a:ext cx="7427912" cy="253365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>
              <a:spcBef>
                <a:spcPct val="0"/>
              </a:spcBef>
            </a:pPr>
            <a:endParaRPr lang="zh-CN" altLang="en-US" sz="2400">
              <a:latin typeface="Times New Roman" pitchFamily="18" charset="0"/>
            </a:endParaRPr>
          </a:p>
        </p:txBody>
      </p:sp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0" y="1066800"/>
            <a:ext cx="2867025" cy="3157538"/>
            <a:chOff x="0" y="672"/>
            <a:chExt cx="1806" cy="1989"/>
          </a:xfrm>
        </p:grpSpPr>
        <p:sp>
          <p:nvSpPr>
            <p:cNvPr id="7" name="Rectangle 6"/>
            <p:cNvSpPr>
              <a:spLocks noChangeArrowheads="1"/>
            </p:cNvSpPr>
            <p:nvPr userDrawn="1"/>
          </p:nvSpPr>
          <p:spPr bwMode="auto">
            <a:xfrm>
              <a:off x="361" y="2257"/>
              <a:ext cx="363" cy="40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>
                <a:latin typeface="Times New Roman" pitchFamily="18" charset="0"/>
              </a:endParaRPr>
            </a:p>
          </p:txBody>
        </p:sp>
        <p:sp>
          <p:nvSpPr>
            <p:cNvPr id="8" name="Rectangle 7"/>
            <p:cNvSpPr>
              <a:spLocks noChangeArrowheads="1"/>
            </p:cNvSpPr>
            <p:nvPr userDrawn="1"/>
          </p:nvSpPr>
          <p:spPr bwMode="auto">
            <a:xfrm>
              <a:off x="1081" y="1065"/>
              <a:ext cx="362" cy="405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>
                <a:latin typeface="Times New Roman" pitchFamily="18" charset="0"/>
              </a:endParaRPr>
            </a:p>
          </p:txBody>
        </p:sp>
        <p:sp>
          <p:nvSpPr>
            <p:cNvPr id="9" name="Rectangle 8"/>
            <p:cNvSpPr>
              <a:spLocks noChangeArrowheads="1"/>
            </p:cNvSpPr>
            <p:nvPr userDrawn="1"/>
          </p:nvSpPr>
          <p:spPr bwMode="auto">
            <a:xfrm>
              <a:off x="1437" y="672"/>
              <a:ext cx="369" cy="40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>
                <a:latin typeface="Times New Roman" pitchFamily="18" charset="0"/>
              </a:endParaRPr>
            </a:p>
          </p:txBody>
        </p:sp>
        <p:sp>
          <p:nvSpPr>
            <p:cNvPr id="10" name="Rectangle 9"/>
            <p:cNvSpPr>
              <a:spLocks noChangeArrowheads="1"/>
            </p:cNvSpPr>
            <p:nvPr userDrawn="1"/>
          </p:nvSpPr>
          <p:spPr bwMode="auto">
            <a:xfrm>
              <a:off x="719" y="2257"/>
              <a:ext cx="368" cy="40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>
                <a:latin typeface="Times New Roman" pitchFamily="18" charset="0"/>
              </a:endParaRPr>
            </a:p>
          </p:txBody>
        </p:sp>
        <p:sp>
          <p:nvSpPr>
            <p:cNvPr id="11" name="Rectangle 10"/>
            <p:cNvSpPr>
              <a:spLocks noChangeArrowheads="1"/>
            </p:cNvSpPr>
            <p:nvPr userDrawn="1"/>
          </p:nvSpPr>
          <p:spPr bwMode="auto">
            <a:xfrm>
              <a:off x="1437" y="1065"/>
              <a:ext cx="369" cy="4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>
                <a:latin typeface="Times New Roman" pitchFamily="18" charset="0"/>
              </a:endParaRPr>
            </a:p>
          </p:txBody>
        </p:sp>
        <p:sp>
          <p:nvSpPr>
            <p:cNvPr id="12" name="Rectangle 11"/>
            <p:cNvSpPr>
              <a:spLocks noChangeArrowheads="1"/>
            </p:cNvSpPr>
            <p:nvPr userDrawn="1"/>
          </p:nvSpPr>
          <p:spPr bwMode="auto">
            <a:xfrm>
              <a:off x="719" y="1464"/>
              <a:ext cx="368" cy="39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>
                <a:latin typeface="Times New Roman" pitchFamily="18" charset="0"/>
              </a:endParaRPr>
            </a:p>
          </p:txBody>
        </p:sp>
        <p:sp>
          <p:nvSpPr>
            <p:cNvPr id="13" name="Rectangle 12"/>
            <p:cNvSpPr>
              <a:spLocks noChangeArrowheads="1"/>
            </p:cNvSpPr>
            <p:nvPr userDrawn="1"/>
          </p:nvSpPr>
          <p:spPr bwMode="auto">
            <a:xfrm>
              <a:off x="0" y="1464"/>
              <a:ext cx="367" cy="39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>
                <a:latin typeface="Times New Roman" pitchFamily="18" charset="0"/>
              </a:endParaRPr>
            </a:p>
          </p:txBody>
        </p:sp>
        <p:sp>
          <p:nvSpPr>
            <p:cNvPr id="14" name="Rectangle 13"/>
            <p:cNvSpPr>
              <a:spLocks noChangeArrowheads="1"/>
            </p:cNvSpPr>
            <p:nvPr userDrawn="1"/>
          </p:nvSpPr>
          <p:spPr bwMode="auto">
            <a:xfrm>
              <a:off x="1081" y="1464"/>
              <a:ext cx="362" cy="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>
                <a:latin typeface="Times New Roman" pitchFamily="18" charset="0"/>
              </a:endParaRPr>
            </a:p>
          </p:txBody>
        </p:sp>
        <p:sp>
          <p:nvSpPr>
            <p:cNvPr id="15" name="Rectangle 14"/>
            <p:cNvSpPr>
              <a:spLocks noChangeArrowheads="1"/>
            </p:cNvSpPr>
            <p:nvPr userDrawn="1"/>
          </p:nvSpPr>
          <p:spPr bwMode="auto">
            <a:xfrm>
              <a:off x="361" y="1857"/>
              <a:ext cx="363" cy="406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>
                <a:latin typeface="Times New Roman" pitchFamily="18" charset="0"/>
              </a:endParaRPr>
            </a:p>
          </p:txBody>
        </p:sp>
        <p:sp>
          <p:nvSpPr>
            <p:cNvPr id="16" name="Rectangle 15"/>
            <p:cNvSpPr>
              <a:spLocks noChangeArrowheads="1"/>
            </p:cNvSpPr>
            <p:nvPr userDrawn="1"/>
          </p:nvSpPr>
          <p:spPr bwMode="auto">
            <a:xfrm>
              <a:off x="719" y="1857"/>
              <a:ext cx="368" cy="40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>
                <a:latin typeface="Times New Roman" pitchFamily="18" charset="0"/>
              </a:endParaRPr>
            </a:p>
          </p:txBody>
        </p:sp>
      </p:grpSp>
      <p:sp>
        <p:nvSpPr>
          <p:cNvPr id="718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718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17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zh-CN" altLang="en-US"/>
              <a:t>2006-2-22</a:t>
            </a:r>
            <a:endParaRPr lang="en-US" altLang="zh-CN"/>
          </a:p>
        </p:txBody>
      </p:sp>
      <p:sp>
        <p:nvSpPr>
          <p:cNvPr id="18" name="Rectangle 1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zh-CN" altLang="en-US"/>
              <a:t>Wenjian Yu</a:t>
            </a:r>
            <a:endParaRPr lang="en-US" altLang="zh-CN"/>
          </a:p>
        </p:txBody>
      </p:sp>
      <p:sp>
        <p:nvSpPr>
          <p:cNvPr id="19" name="Rectangle 1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88FF7C-A5E6-41F4-839D-B2E27FB6678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0253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Wenjian Yu</a:t>
            </a: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561450-1B81-493B-8A99-47089B58FB7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429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Wenjian Yu</a:t>
            </a: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BF7A7B-9623-4B61-9ABF-14FE3C0B739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2806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Wenjian Yu</a:t>
            </a: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4C71A5-5A2D-464F-8756-13DE40EF06C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9195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Wenjian Yu</a:t>
            </a: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565BCF-8C47-4252-9E24-7658801F2B1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2161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Wenjian Yu</a:t>
            </a: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7656CB-A927-4842-A3B0-89C0318949E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8043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Wenjian Yu</a:t>
            </a: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7F8BBB-58CA-4051-A93A-8BD1F03A382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5160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Wenjian Yu</a:t>
            </a: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42542B-1541-42A7-ADCF-76F31AC94C3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9870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Wenjian Yu</a:t>
            </a: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3194AD-413D-4232-B1DA-C874EEE078E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0764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Wenjian Yu</a:t>
            </a: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EC69E2-206F-4778-AD8E-B926B493E5E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1407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Wenjian Yu</a:t>
            </a: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E8898A-0449-4D5A-86CB-CB2B56AC3D4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56652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457200"/>
            <a:ext cx="82296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Wenjian Yu</a:t>
            </a: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F0484A-94B2-4116-9912-14FFFFC8AD2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5505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11913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1">
                <a:ea typeface="宋体" pitchFamily="2" charset="-122"/>
              </a:defRPr>
            </a:lvl1pPr>
          </a:lstStyle>
          <a:p>
            <a:pPr>
              <a:defRPr/>
            </a:pPr>
            <a:r>
              <a:rPr lang="zh-CN" altLang="en-US"/>
              <a:t>Wenjian Yu</a:t>
            </a:r>
            <a:endParaRPr lang="en-US" altLang="zh-CN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1913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latin typeface="Arial Black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86DE3167-5834-4B1D-9D6B-27925A77C5A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zh-CN" altLang="en-US" sz="240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6160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873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 b="1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1"/>
            <a:ext cx="6019800" cy="745976"/>
          </a:xfrm>
        </p:spPr>
        <p:txBody>
          <a:bodyPr/>
          <a:lstStyle/>
          <a:p>
            <a:pPr eaLnBrk="1" hangingPunct="1"/>
            <a:r>
              <a:rPr lang="en-US" altLang="zh-CN" sz="4200" dirty="0" smtClean="0"/>
              <a:t>2026</a:t>
            </a:r>
            <a:r>
              <a:rPr lang="zh-CN" altLang="en-US" sz="4200" dirty="0" smtClean="0"/>
              <a:t>年春季</a:t>
            </a:r>
            <a:r>
              <a:rPr lang="zh-CN" altLang="en-US" sz="4200" dirty="0"/>
              <a:t>学期</a:t>
            </a:r>
            <a:endParaRPr lang="en-US" altLang="zh-CN" sz="4200" dirty="0"/>
          </a:p>
        </p:txBody>
      </p:sp>
      <p:sp>
        <p:nvSpPr>
          <p:cNvPr id="5" name="文本框 4"/>
          <p:cNvSpPr txBox="1"/>
          <p:nvPr/>
        </p:nvSpPr>
        <p:spPr>
          <a:xfrm>
            <a:off x="3275856" y="1916832"/>
            <a:ext cx="5868144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6200" dirty="0">
                <a:solidFill>
                  <a:schemeClr val="bg1"/>
                </a:solidFill>
                <a:latin typeface="+mn-ea"/>
                <a:ea typeface="+mn-ea"/>
              </a:rPr>
              <a:t>数值分析编程</a:t>
            </a:r>
            <a:r>
              <a:rPr lang="en-US" altLang="zh-CN" sz="6200" dirty="0">
                <a:solidFill>
                  <a:schemeClr val="bg1"/>
                </a:solidFill>
                <a:latin typeface="+mn-ea"/>
                <a:ea typeface="+mn-ea"/>
              </a:rPr>
              <a:t/>
            </a:r>
            <a:br>
              <a:rPr lang="en-US" altLang="zh-CN" sz="6200" dirty="0">
                <a:solidFill>
                  <a:schemeClr val="bg1"/>
                </a:solidFill>
                <a:latin typeface="+mn-ea"/>
                <a:ea typeface="+mn-ea"/>
              </a:rPr>
            </a:br>
            <a:r>
              <a:rPr lang="zh-CN" altLang="en-US" sz="6200" dirty="0">
                <a:solidFill>
                  <a:schemeClr val="bg1"/>
                </a:solidFill>
                <a:latin typeface="+mn-ea"/>
                <a:ea typeface="+mn-ea"/>
              </a:rPr>
              <a:t>实验题与要求</a:t>
            </a:r>
            <a:endParaRPr lang="zh-CN" altLang="en-US" sz="6200" dirty="0">
              <a:solidFill>
                <a:schemeClr val="bg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实验目的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zh-CN" altLang="en-US" dirty="0"/>
              <a:t>不是真正要解决某个实际问题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zh-CN" altLang="en-US" dirty="0"/>
              <a:t>练习课程中涉及到的知识和技术</a:t>
            </a:r>
            <a:endParaRPr lang="en-US" altLang="zh-CN" dirty="0"/>
          </a:p>
          <a:p>
            <a:pPr>
              <a:spcBef>
                <a:spcPts val="1200"/>
              </a:spcBef>
            </a:pPr>
            <a:r>
              <a:rPr lang="zh-CN" altLang="en-US" dirty="0"/>
              <a:t>不是为了训练程序设计技巧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zh-CN" altLang="en-US" dirty="0"/>
              <a:t>体会并理解算法实验过程及结果分析</a:t>
            </a:r>
            <a:endParaRPr lang="en-US" altLang="zh-CN" dirty="0"/>
          </a:p>
          <a:p>
            <a:pPr>
              <a:spcBef>
                <a:spcPts val="1200"/>
              </a:spcBef>
            </a:pPr>
            <a:r>
              <a:rPr lang="zh-CN" altLang="en-US" dirty="0"/>
              <a:t>不要只为了分数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zh-CN" altLang="en-US" dirty="0"/>
              <a:t>体会其中的乐趣</a:t>
            </a:r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D561450-1B81-493B-8A99-47089B58FB73}" type="slidenum">
              <a:rPr lang="zh-CN" altLang="en-US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5466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题目选择和分数计算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688160"/>
          </a:xfrm>
        </p:spPr>
        <p:txBody>
          <a:bodyPr/>
          <a:lstStyle/>
          <a:p>
            <a:r>
              <a:rPr lang="zh-CN" altLang="en-US" sz="2800" dirty="0"/>
              <a:t>实验一：第一章上机题</a:t>
            </a:r>
            <a:r>
              <a:rPr lang="en-US" altLang="zh-CN" sz="2800" dirty="0"/>
              <a:t>1</a:t>
            </a:r>
            <a:r>
              <a:rPr lang="zh-CN" altLang="en-US" sz="2800" dirty="0"/>
              <a:t>、</a:t>
            </a:r>
            <a:r>
              <a:rPr lang="en-US" altLang="zh-CN" sz="2800" dirty="0"/>
              <a:t>3</a:t>
            </a:r>
          </a:p>
          <a:p>
            <a:r>
              <a:rPr lang="zh-CN" altLang="en-US" sz="2800" dirty="0"/>
              <a:t>实验二：第二章上机题</a:t>
            </a:r>
            <a:r>
              <a:rPr lang="en-US" altLang="zh-CN" sz="2800" dirty="0"/>
              <a:t>2</a:t>
            </a:r>
            <a:r>
              <a:rPr lang="zh-CN" altLang="en-US" sz="2800" dirty="0"/>
              <a:t>、</a:t>
            </a:r>
            <a:r>
              <a:rPr lang="en-US" altLang="zh-CN" sz="2800" dirty="0"/>
              <a:t>3</a:t>
            </a:r>
          </a:p>
          <a:p>
            <a:r>
              <a:rPr lang="zh-CN" altLang="en-US" sz="2800" dirty="0"/>
              <a:t>实验三：第三章上机题</a:t>
            </a:r>
            <a:r>
              <a:rPr lang="en-US" altLang="zh-CN" sz="2800" dirty="0"/>
              <a:t>6</a:t>
            </a:r>
          </a:p>
          <a:p>
            <a:r>
              <a:rPr lang="zh-CN" altLang="en-US" sz="2800" dirty="0"/>
              <a:t>实验四：第四章上机题</a:t>
            </a:r>
            <a:r>
              <a:rPr lang="en-US" altLang="zh-CN" sz="2800" dirty="0"/>
              <a:t>2</a:t>
            </a:r>
          </a:p>
          <a:p>
            <a:r>
              <a:rPr lang="zh-CN" altLang="en-US" sz="2800" dirty="0"/>
              <a:t>实验五：第五章上机题</a:t>
            </a:r>
            <a:r>
              <a:rPr lang="en-US" altLang="zh-CN" sz="2800" dirty="0"/>
              <a:t>1</a:t>
            </a:r>
            <a:r>
              <a:rPr lang="zh-CN" altLang="en-US" sz="2800" dirty="0"/>
              <a:t>、</a:t>
            </a:r>
            <a:r>
              <a:rPr lang="en-US" altLang="zh-CN" sz="2800" dirty="0"/>
              <a:t>3</a:t>
            </a:r>
            <a:r>
              <a:rPr lang="zh-CN" altLang="en-US" sz="2800" dirty="0"/>
              <a:t>、</a:t>
            </a:r>
            <a:r>
              <a:rPr lang="en-US" altLang="zh-CN" sz="2800" dirty="0"/>
              <a:t>4</a:t>
            </a:r>
          </a:p>
          <a:p>
            <a:r>
              <a:rPr lang="zh-CN" altLang="en-US" sz="2800" dirty="0"/>
              <a:t>实验六：第六章上机题</a:t>
            </a:r>
            <a:r>
              <a:rPr lang="en-US" altLang="zh-CN" sz="2800" dirty="0"/>
              <a:t>3</a:t>
            </a:r>
            <a:r>
              <a:rPr lang="zh-CN" altLang="en-US" sz="2800" dirty="0"/>
              <a:t>、</a:t>
            </a:r>
            <a:r>
              <a:rPr lang="en-US" altLang="zh-CN" sz="2800" dirty="0"/>
              <a:t>8</a:t>
            </a:r>
          </a:p>
          <a:p>
            <a:r>
              <a:rPr lang="zh-CN" altLang="en-US" sz="2800" dirty="0"/>
              <a:t>实验七：第七章上机题</a:t>
            </a:r>
            <a:r>
              <a:rPr lang="en-US" altLang="zh-CN" sz="2800" dirty="0"/>
              <a:t>4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D561450-1B81-493B-8A99-47089B58FB73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6" name="右大括号 5"/>
          <p:cNvSpPr/>
          <p:nvPr/>
        </p:nvSpPr>
        <p:spPr bwMode="auto">
          <a:xfrm>
            <a:off x="5652120" y="2204864"/>
            <a:ext cx="648072" cy="3168352"/>
          </a:xfrm>
          <a:prstGeom prst="righ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323066" y="3527430"/>
            <a:ext cx="23637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选做</a:t>
            </a:r>
            <a:r>
              <a:rPr lang="en-US" altLang="zh-CN" sz="2800" dirty="0"/>
              <a:t>4</a:t>
            </a:r>
            <a:r>
              <a:rPr lang="zh-CN" altLang="en-US" sz="2800" dirty="0"/>
              <a:t>次实验！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53C37F8-EE21-4D3F-B7E9-6E97A07DE474}"/>
              </a:ext>
            </a:extLst>
          </p:cNvPr>
          <p:cNvSpPr/>
          <p:nvPr/>
        </p:nvSpPr>
        <p:spPr>
          <a:xfrm>
            <a:off x="760551" y="5805264"/>
            <a:ext cx="46907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编程实验题目(以此为准).</a:t>
            </a:r>
            <a:r>
              <a:rPr lang="zh-CN" altLang="en-US" sz="2800" dirty="0">
                <a:solidFill>
                  <a:srgbClr val="FF0000"/>
                </a:solidFill>
              </a:rPr>
              <a:t>pdf</a:t>
            </a:r>
          </a:p>
        </p:txBody>
      </p:sp>
    </p:spTree>
    <p:extLst>
      <p:ext uri="{BB962C8B-B14F-4D97-AF65-F5344CB8AC3E}">
        <p14:creationId xmlns:p14="http://schemas.microsoft.com/office/powerpoint/2010/main" val="3638130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实验要求和检查标准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28800"/>
            <a:ext cx="8579296" cy="4038600"/>
          </a:xfrm>
        </p:spPr>
        <p:txBody>
          <a:bodyPr/>
          <a:lstStyle/>
          <a:p>
            <a:r>
              <a:rPr lang="zh-CN" altLang="en-US" dirty="0"/>
              <a:t>建议用</a:t>
            </a:r>
            <a:r>
              <a:rPr lang="en-US" altLang="zh-CN" dirty="0" err="1"/>
              <a:t>Matlab</a:t>
            </a:r>
            <a:r>
              <a:rPr lang="zh-CN" altLang="en-US" dirty="0"/>
              <a:t>编写，</a:t>
            </a:r>
            <a:r>
              <a:rPr lang="zh-CN" altLang="en-US" dirty="0" smtClean="0"/>
              <a:t>可用</a:t>
            </a:r>
            <a:r>
              <a:rPr lang="en-US" altLang="zh-CN" dirty="0" smtClean="0"/>
              <a:t>Python/C/C</a:t>
            </a:r>
            <a:r>
              <a:rPr lang="en-US" altLang="zh-CN" dirty="0"/>
              <a:t>++/Julia</a:t>
            </a:r>
            <a:endParaRPr lang="en-US" altLang="zh-CN" dirty="0"/>
          </a:p>
          <a:p>
            <a:r>
              <a:rPr lang="zh-CN" altLang="en-US" dirty="0"/>
              <a:t>要求：</a:t>
            </a:r>
            <a:endParaRPr lang="en-US" altLang="zh-CN" dirty="0"/>
          </a:p>
          <a:p>
            <a:pPr lvl="1"/>
            <a:r>
              <a:rPr lang="zh-CN" altLang="en-US" dirty="0"/>
              <a:t>自己编写主要算法程序</a:t>
            </a:r>
            <a:r>
              <a:rPr lang="en-US" altLang="zh-CN" dirty="0"/>
              <a:t>, </a:t>
            </a:r>
            <a:r>
              <a:rPr lang="zh-CN" altLang="en-US" dirty="0"/>
              <a:t>而不是调用内部函数（</a:t>
            </a:r>
            <a:r>
              <a:rPr lang="zh-CN" altLang="en-US" sz="2400" dirty="0"/>
              <a:t>即第</a:t>
            </a:r>
            <a:r>
              <a:rPr lang="en-US" altLang="zh-CN" sz="2400" dirty="0"/>
              <a:t>3</a:t>
            </a:r>
            <a:r>
              <a:rPr lang="zh-CN" altLang="en-US" sz="2400" dirty="0"/>
              <a:t>章的乔莱斯基分解不能用</a:t>
            </a:r>
            <a:r>
              <a:rPr lang="en-US" altLang="zh-CN" sz="2400" dirty="0" err="1"/>
              <a:t>chol</a:t>
            </a:r>
            <a:r>
              <a:rPr lang="zh-CN" altLang="en-US" sz="2400" dirty="0"/>
              <a:t>，第</a:t>
            </a:r>
            <a:r>
              <a:rPr lang="en-US" altLang="zh-CN" sz="2400" dirty="0"/>
              <a:t>6</a:t>
            </a:r>
            <a:r>
              <a:rPr lang="zh-CN" altLang="en-US" sz="2400" dirty="0"/>
              <a:t>章的多项式拟合不能用</a:t>
            </a:r>
            <a:r>
              <a:rPr lang="en-US" altLang="zh-CN" sz="2400" dirty="0" err="1"/>
              <a:t>polyfit</a:t>
            </a:r>
            <a:r>
              <a:rPr lang="zh-CN" altLang="en-US" sz="2400" dirty="0"/>
              <a:t>，样条插值不能用</a:t>
            </a:r>
            <a:r>
              <a:rPr lang="en-US" altLang="zh-CN" sz="2400" dirty="0"/>
              <a:t>spline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提供源程序上交，保证能编译和运行</a:t>
            </a:r>
            <a:endParaRPr lang="en-US" altLang="zh-CN" dirty="0"/>
          </a:p>
          <a:p>
            <a:pPr lvl="1"/>
            <a:r>
              <a:rPr lang="zh-CN" altLang="en-US" dirty="0"/>
              <a:t>注意代码规范，并保留适当的注释</a:t>
            </a:r>
            <a:endParaRPr lang="en-US" altLang="zh-CN" dirty="0"/>
          </a:p>
          <a:p>
            <a:pPr lvl="1"/>
            <a:r>
              <a:rPr lang="zh-CN" altLang="en-US" dirty="0"/>
              <a:t>总结并提交</a:t>
            </a:r>
            <a:r>
              <a:rPr lang="zh-CN" altLang="en-US" u="sng" dirty="0"/>
              <a:t>电子版实验报告</a:t>
            </a:r>
            <a:endParaRPr lang="en-US" altLang="zh-CN" dirty="0"/>
          </a:p>
          <a:p>
            <a:pPr lvl="1"/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D561450-1B81-493B-8A99-47089B58FB73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3ED426-8E78-4EC3-99F9-5745FA6671F3}"/>
              </a:ext>
            </a:extLst>
          </p:cNvPr>
          <p:cNvSpPr/>
          <p:nvPr/>
        </p:nvSpPr>
        <p:spPr>
          <a:xfrm>
            <a:off x="6732240" y="2373313"/>
            <a:ext cx="21852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https://julialang.org/</a:t>
            </a:r>
          </a:p>
        </p:txBody>
      </p:sp>
    </p:spTree>
    <p:extLst>
      <p:ext uri="{BB962C8B-B14F-4D97-AF65-F5344CB8AC3E}">
        <p14:creationId xmlns:p14="http://schemas.microsoft.com/office/powerpoint/2010/main" val="1243025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实验报告要求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每次实验一个报告</a:t>
            </a:r>
            <a:r>
              <a:rPr lang="en-US" altLang="zh-CN" dirty="0"/>
              <a:t>(pdf</a:t>
            </a:r>
            <a:r>
              <a:rPr lang="zh-CN" altLang="en-US" dirty="0"/>
              <a:t>格式文件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标题同相应章的标题</a:t>
            </a:r>
            <a:endParaRPr lang="en-US" altLang="zh-CN" dirty="0"/>
          </a:p>
          <a:p>
            <a:pPr lvl="1"/>
            <a:r>
              <a:rPr lang="zh-CN" altLang="en-US" dirty="0"/>
              <a:t>每题的解题思路，用什么方法</a:t>
            </a:r>
            <a:r>
              <a:rPr lang="en-US" altLang="zh-CN" dirty="0"/>
              <a:t>(</a:t>
            </a:r>
            <a:r>
              <a:rPr lang="zh-CN" altLang="en-US" dirty="0"/>
              <a:t>算法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每题的实验结果（关键代码、输出、图等）</a:t>
            </a:r>
            <a:endParaRPr lang="en-US" altLang="zh-CN" dirty="0"/>
          </a:p>
          <a:p>
            <a:pPr lvl="1"/>
            <a:r>
              <a:rPr lang="zh-CN" altLang="en-US" dirty="0"/>
              <a:t>实验结果分析</a:t>
            </a:r>
            <a:r>
              <a:rPr lang="en-US" altLang="zh-CN" dirty="0"/>
              <a:t>/</a:t>
            </a:r>
            <a:r>
              <a:rPr lang="zh-CN" altLang="en-US" dirty="0"/>
              <a:t>结论（也欢迎写心得体会）</a:t>
            </a:r>
            <a:endParaRPr lang="en-US" altLang="zh-CN" dirty="0"/>
          </a:p>
          <a:p>
            <a:pPr marL="57150" indent="0">
              <a:buNone/>
            </a:pPr>
            <a:r>
              <a:rPr lang="zh-CN" alt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附上完整程序源代码及运行方法说明</a:t>
            </a:r>
            <a:endParaRPr lang="en-US" altLang="zh-CN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r>
              <a:rPr lang="zh-CN" altLang="en-US" dirty="0"/>
              <a:t>在网络学堂上提交</a:t>
            </a:r>
            <a:r>
              <a:rPr lang="en-US" altLang="zh-CN" dirty="0"/>
              <a:t>(</a:t>
            </a:r>
            <a:r>
              <a:rPr lang="zh-CN" altLang="en-US" dirty="0"/>
              <a:t>只设一个接收点</a:t>
            </a:r>
            <a:r>
              <a:rPr lang="en-US" altLang="zh-CN" dirty="0"/>
              <a:t>, </a:t>
            </a:r>
            <a:r>
              <a:rPr lang="zh-CN" altLang="en-US" dirty="0"/>
              <a:t>全部打包提交</a:t>
            </a:r>
            <a:r>
              <a:rPr lang="en-US" altLang="zh-CN" dirty="0"/>
              <a:t>)</a:t>
            </a:r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D561450-1B81-493B-8A99-47089B58FB73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5468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提交与助教检查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提交实验验收的截止日期</a:t>
            </a:r>
            <a:endParaRPr lang="en-US" altLang="zh-CN" dirty="0"/>
          </a:p>
          <a:p>
            <a:pPr lvl="1"/>
            <a:r>
              <a:rPr lang="zh-CN" altLang="en-US" dirty="0"/>
              <a:t>第</a:t>
            </a:r>
            <a:r>
              <a:rPr lang="en-US" altLang="zh-CN" dirty="0"/>
              <a:t>15</a:t>
            </a:r>
            <a:r>
              <a:rPr lang="zh-CN" altLang="en-US" dirty="0"/>
              <a:t>周的</a:t>
            </a:r>
            <a:r>
              <a:rPr lang="zh-CN" altLang="en-US" b="1" u="sng" dirty="0"/>
              <a:t>周六</a:t>
            </a:r>
            <a:r>
              <a:rPr lang="zh-CN" altLang="en-US" dirty="0" smtClean="0"/>
              <a:t>（</a:t>
            </a:r>
            <a:r>
              <a:rPr lang="en-US" altLang="zh-CN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6</a:t>
            </a:r>
            <a:r>
              <a:rPr lang="zh-CN" altLang="en-US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月</a:t>
            </a:r>
            <a:r>
              <a:rPr lang="en-US" altLang="zh-CN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6</a:t>
            </a:r>
            <a:r>
              <a:rPr lang="zh-CN" altLang="en-US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日</a:t>
            </a:r>
            <a:r>
              <a:rPr lang="zh-CN" altLang="en-US" dirty="0"/>
              <a:t>）截止提交。</a:t>
            </a:r>
            <a:endParaRPr lang="en-US" altLang="zh-CN" dirty="0"/>
          </a:p>
          <a:p>
            <a:pPr lvl="1"/>
            <a:r>
              <a:rPr lang="zh-CN" altLang="en-US" dirty="0"/>
              <a:t>之后的提交视为延期提交（扣分）。</a:t>
            </a:r>
            <a:endParaRPr lang="en-US" altLang="zh-CN" dirty="0"/>
          </a:p>
          <a:p>
            <a:r>
              <a:rPr lang="zh-CN" altLang="en-US" dirty="0"/>
              <a:t>助教收到提交后，如果有</a:t>
            </a:r>
            <a:r>
              <a:rPr lang="zh-CN" altLang="en-US" dirty="0" smtClean="0"/>
              <a:t>疑问会</a:t>
            </a:r>
            <a:r>
              <a:rPr lang="zh-CN" altLang="en-US" u="sng" dirty="0"/>
              <a:t>约同学当面</a:t>
            </a:r>
            <a:r>
              <a:rPr lang="zh-CN" altLang="en-US" dirty="0"/>
              <a:t>检验程序以决定给分。</a:t>
            </a:r>
            <a:endParaRPr lang="en-US" altLang="zh-CN" dirty="0"/>
          </a:p>
          <a:p>
            <a:pPr lvl="1"/>
            <a:r>
              <a:rPr lang="zh-CN" altLang="en-US" dirty="0"/>
              <a:t>地点</a:t>
            </a:r>
            <a:r>
              <a:rPr lang="en-US" altLang="zh-CN" dirty="0"/>
              <a:t>: </a:t>
            </a:r>
            <a:r>
              <a:rPr lang="zh-CN" altLang="en-US" dirty="0"/>
              <a:t>待定</a:t>
            </a:r>
            <a:endParaRPr lang="en-US" altLang="zh-CN" dirty="0"/>
          </a:p>
          <a:p>
            <a:pPr lvl="1"/>
            <a:r>
              <a:rPr lang="zh-CN" altLang="en-US" dirty="0"/>
              <a:t>时间</a:t>
            </a:r>
            <a:r>
              <a:rPr lang="en-US" altLang="zh-CN" dirty="0"/>
              <a:t>: </a:t>
            </a:r>
            <a:r>
              <a:rPr lang="zh-CN" altLang="en-US" dirty="0"/>
              <a:t>待定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D561450-1B81-493B-8A99-47089B58FB73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7236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Pixel1">
  <a:themeElements>
    <a:clrScheme name="Pixel1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1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</a:spDef>
    <a:ln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Pixel1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1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1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1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1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1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1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1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1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1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1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1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5187</TotalTime>
  <Words>362</Words>
  <Application>Microsoft Office PowerPoint</Application>
  <PresentationFormat>全屏显示(4:3)</PresentationFormat>
  <Paragraphs>47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宋体</vt:lpstr>
      <vt:lpstr>Arial</vt:lpstr>
      <vt:lpstr>Arial Black</vt:lpstr>
      <vt:lpstr>Times New Roman</vt:lpstr>
      <vt:lpstr>Wingdings</vt:lpstr>
      <vt:lpstr>Pixel1</vt:lpstr>
      <vt:lpstr>PowerPoint 演示文稿</vt:lpstr>
      <vt:lpstr>实验目的</vt:lpstr>
      <vt:lpstr>题目选择和分数计算</vt:lpstr>
      <vt:lpstr>实验要求和检查标准</vt:lpstr>
      <vt:lpstr>实验报告要求</vt:lpstr>
      <vt:lpstr>提交与助教检查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ywj</dc:creator>
  <cp:lastModifiedBy>yu-wj</cp:lastModifiedBy>
  <cp:revision>452</cp:revision>
  <dcterms:created xsi:type="dcterms:W3CDTF">1601-01-01T00:00:00Z</dcterms:created>
  <dcterms:modified xsi:type="dcterms:W3CDTF">2026-02-26T13:50:28Z</dcterms:modified>
</cp:coreProperties>
</file>