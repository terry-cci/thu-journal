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48" r:id="rId1"/>
    <p:sldMasterId id="2147483664" r:id="rId3"/>
    <p:sldMasterId id="2147483676" r:id="rId4"/>
  </p:sldMasterIdLst>
  <p:notesMasterIdLst>
    <p:notesMasterId r:id="rId6"/>
  </p:notesMasterIdLst>
  <p:handoutMasterIdLst>
    <p:handoutMasterId r:id="rId87"/>
  </p:handoutMasterIdLst>
  <p:sldIdLst>
    <p:sldId id="257" r:id="rId5"/>
    <p:sldId id="1772" r:id="rId7"/>
    <p:sldId id="1787" r:id="rId8"/>
    <p:sldId id="1898" r:id="rId9"/>
    <p:sldId id="1804" r:id="rId10"/>
    <p:sldId id="1899" r:id="rId11"/>
    <p:sldId id="1805" r:id="rId12"/>
    <p:sldId id="1806" r:id="rId13"/>
    <p:sldId id="1807" r:id="rId14"/>
    <p:sldId id="1808" r:id="rId15"/>
    <p:sldId id="1809" r:id="rId16"/>
    <p:sldId id="1810" r:id="rId17"/>
    <p:sldId id="1816" r:id="rId18"/>
    <p:sldId id="1817" r:id="rId19"/>
    <p:sldId id="1818" r:id="rId20"/>
    <p:sldId id="1890" r:id="rId21"/>
    <p:sldId id="1888" r:id="rId22"/>
    <p:sldId id="1811" r:id="rId23"/>
    <p:sldId id="1812" r:id="rId24"/>
    <p:sldId id="1815" r:id="rId25"/>
    <p:sldId id="1889" r:id="rId26"/>
    <p:sldId id="1813" r:id="rId27"/>
    <p:sldId id="1814" r:id="rId28"/>
    <p:sldId id="1819" r:id="rId29"/>
    <p:sldId id="1820" r:id="rId30"/>
    <p:sldId id="1821" r:id="rId31"/>
    <p:sldId id="1822" r:id="rId32"/>
    <p:sldId id="1823" r:id="rId33"/>
    <p:sldId id="1824" r:id="rId34"/>
    <p:sldId id="1825" r:id="rId35"/>
    <p:sldId id="1826" r:id="rId36"/>
    <p:sldId id="1827" r:id="rId37"/>
    <p:sldId id="1828" r:id="rId38"/>
    <p:sldId id="1829" r:id="rId39"/>
    <p:sldId id="1830" r:id="rId40"/>
    <p:sldId id="1831" r:id="rId41"/>
    <p:sldId id="1832" r:id="rId42"/>
    <p:sldId id="1833" r:id="rId43"/>
    <p:sldId id="1834" r:id="rId44"/>
    <p:sldId id="1835" r:id="rId45"/>
    <p:sldId id="1839" r:id="rId46"/>
    <p:sldId id="1836" r:id="rId47"/>
    <p:sldId id="1837" r:id="rId48"/>
    <p:sldId id="1840" r:id="rId49"/>
    <p:sldId id="1841" r:id="rId50"/>
    <p:sldId id="1842" r:id="rId51"/>
    <p:sldId id="1843" r:id="rId52"/>
    <p:sldId id="1844" r:id="rId53"/>
    <p:sldId id="1838" r:id="rId54"/>
    <p:sldId id="1845" r:id="rId55"/>
    <p:sldId id="1846" r:id="rId56"/>
    <p:sldId id="1847" r:id="rId57"/>
    <p:sldId id="1848" r:id="rId58"/>
    <p:sldId id="1849" r:id="rId59"/>
    <p:sldId id="1850" r:id="rId60"/>
    <p:sldId id="1851" r:id="rId61"/>
    <p:sldId id="1852" r:id="rId62"/>
    <p:sldId id="1853" r:id="rId63"/>
    <p:sldId id="1856" r:id="rId64"/>
    <p:sldId id="1854" r:id="rId65"/>
    <p:sldId id="1855" r:id="rId66"/>
    <p:sldId id="1857" r:id="rId67"/>
    <p:sldId id="1858" r:id="rId68"/>
    <p:sldId id="1860" r:id="rId69"/>
    <p:sldId id="1861" r:id="rId70"/>
    <p:sldId id="1862" r:id="rId71"/>
    <p:sldId id="1863" r:id="rId72"/>
    <p:sldId id="1864" r:id="rId73"/>
    <p:sldId id="1865" r:id="rId74"/>
    <p:sldId id="1866" r:id="rId75"/>
    <p:sldId id="1891" r:id="rId76"/>
    <p:sldId id="1892" r:id="rId77"/>
    <p:sldId id="1895" r:id="rId78"/>
    <p:sldId id="1871" r:id="rId79"/>
    <p:sldId id="1896" r:id="rId80"/>
    <p:sldId id="1897" r:id="rId81"/>
    <p:sldId id="1876" r:id="rId82"/>
    <p:sldId id="1877" r:id="rId83"/>
    <p:sldId id="1878" r:id="rId84"/>
    <p:sldId id="1885" r:id="rId85"/>
    <p:sldId id="1779" r:id="rId86"/>
  </p:sldIdLst>
  <p:sldSz cx="9144000" cy="6858000" type="screen4x3"/>
  <p:notesSz cx="6864350" cy="9150350"/>
  <p:embeddedFontLst>
    <p:embeddedFont>
      <p:font typeface="Noto Serif" panose="02020600060500090200" pitchFamily="18" charset="0"/>
      <p:regular r:id="rId92"/>
    </p:embeddedFont>
  </p:embeddedFont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umimoji="1" kern="1200">
        <a:solidFill>
          <a:schemeClr val="tx2"/>
        </a:solidFill>
        <a:latin typeface="Arial Black" panose="020B0A04020102020204" pitchFamily="34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kern="1200">
        <a:solidFill>
          <a:schemeClr val="tx2"/>
        </a:solidFill>
        <a:latin typeface="Arial Black" panose="020B0A04020102020204" pitchFamily="34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kern="1200">
        <a:solidFill>
          <a:schemeClr val="tx2"/>
        </a:solidFill>
        <a:latin typeface="Arial Black" panose="020B0A04020102020204" pitchFamily="34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kern="1200">
        <a:solidFill>
          <a:schemeClr val="tx2"/>
        </a:solidFill>
        <a:latin typeface="Arial Black" panose="020B0A04020102020204" pitchFamily="34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kern="1200">
        <a:solidFill>
          <a:schemeClr val="tx2"/>
        </a:solidFill>
        <a:latin typeface="Arial Black" panose="020B0A040201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kern="1200">
        <a:solidFill>
          <a:schemeClr val="tx2"/>
        </a:solidFill>
        <a:latin typeface="Arial Black" panose="020B0A0402010202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kern="1200">
        <a:solidFill>
          <a:schemeClr val="tx2"/>
        </a:solidFill>
        <a:latin typeface="Arial Black" panose="020B0A0402010202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kern="1200">
        <a:solidFill>
          <a:schemeClr val="tx2"/>
        </a:solidFill>
        <a:latin typeface="Arial Black" panose="020B0A0402010202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kern="1200">
        <a:solidFill>
          <a:schemeClr val="tx2"/>
        </a:solidFill>
        <a:latin typeface="Arial Black" panose="020B0A040201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441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甜 万呆" initials="甜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FF00"/>
    <a:srgbClr val="FFFFCC"/>
    <a:srgbClr val="FF3399"/>
    <a:srgbClr val="009900"/>
    <a:srgbClr val="DDDDDD"/>
    <a:srgbClr val="CC3300"/>
    <a:srgbClr val="00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80" autoAdjust="0"/>
    <p:restoredTop sz="95130" autoAdjust="0"/>
  </p:normalViewPr>
  <p:slideViewPr>
    <p:cSldViewPr showGuides="1">
      <p:cViewPr varScale="1">
        <p:scale>
          <a:sx n="93" d="100"/>
          <a:sy n="93" d="100"/>
        </p:scale>
        <p:origin x="1080" y="208"/>
      </p:cViewPr>
      <p:guideLst>
        <p:guide orient="horz" pos="2134"/>
        <p:guide pos="44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394"/>
    </p:cViewPr>
  </p:sorterViewPr>
  <p:notesViewPr>
    <p:cSldViewPr>
      <p:cViewPr varScale="1">
        <p:scale>
          <a:sx n="53" d="100"/>
          <a:sy n="53" d="100"/>
        </p:scale>
        <p:origin x="1416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2" Type="http://schemas.openxmlformats.org/officeDocument/2006/relationships/font" Target="fonts/font1.fntdata"/><Relationship Id="rId91" Type="http://schemas.openxmlformats.org/officeDocument/2006/relationships/commentAuthors" Target="commentAuthors.xml"/><Relationship Id="rId90" Type="http://schemas.openxmlformats.org/officeDocument/2006/relationships/tableStyles" Target="tableStyles.xml"/><Relationship Id="rId9" Type="http://schemas.openxmlformats.org/officeDocument/2006/relationships/slide" Target="slides/slide4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handoutMaster" Target="handoutMasters/handoutMaster1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04" tIns="45752" rIns="91504" bIns="45752" numCol="1" anchor="t" anchorCtr="0" compatLnSpc="1"/>
          <a:lstStyle>
            <a:lvl1pPr algn="l" eaLnBrk="0" hangingPunct="0">
              <a:defRPr kumimoji="0" sz="1200">
                <a:solidFill>
                  <a:schemeClr val="tx1"/>
                </a:solidFill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31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9375" y="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04" tIns="45752" rIns="91504" bIns="45752" numCol="1" anchor="t" anchorCtr="0" compatLnSpc="1"/>
          <a:lstStyle>
            <a:lvl1pPr algn="r" eaLnBrk="0" hangingPunct="0">
              <a:defRPr kumimoji="0" sz="1200">
                <a:solidFill>
                  <a:schemeClr val="tx1"/>
                </a:solidFill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1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9315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04" tIns="45752" rIns="91504" bIns="45752" numCol="1" anchor="b" anchorCtr="0" compatLnSpc="1"/>
          <a:lstStyle>
            <a:lvl1pPr algn="l" eaLnBrk="0" hangingPunct="0">
              <a:defRPr kumimoji="0" sz="1200">
                <a:solidFill>
                  <a:schemeClr val="tx1"/>
                </a:solidFill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1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9375" y="869315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04" tIns="45752" rIns="91504" bIns="45752" numCol="1" anchor="b" anchorCtr="0" compatLnSpc="1"/>
          <a:lstStyle>
            <a:lvl1pPr algn="r" eaLnBrk="0" hangingPunct="0">
              <a:defRPr kumimoji="0" sz="12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</a:lstStyle>
          <a:p>
            <a:fld id="{4C20A849-58BD-41FD-84FE-EAA73EA2963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04" tIns="45752" rIns="91504" bIns="45752" numCol="1" anchor="t" anchorCtr="0" compatLnSpc="1"/>
          <a:lstStyle>
            <a:lvl1pPr algn="l" eaLnBrk="0" hangingPunct="0">
              <a:defRPr kumimoji="0"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9375" y="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04" tIns="45752" rIns="91504" bIns="45752" numCol="1" anchor="t" anchorCtr="0" compatLnSpc="1"/>
          <a:lstStyle>
            <a:lvl1pPr algn="r" eaLnBrk="0" hangingPunct="0">
              <a:defRPr kumimoji="0"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8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685800"/>
            <a:ext cx="4575175" cy="3432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52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988" y="4346575"/>
            <a:ext cx="5032375" cy="411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04" tIns="45752" rIns="91504" bIns="45752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52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9315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04" tIns="45752" rIns="91504" bIns="45752" numCol="1" anchor="b" anchorCtr="0" compatLnSpc="1"/>
          <a:lstStyle>
            <a:lvl1pPr algn="l" eaLnBrk="0" hangingPunct="0">
              <a:defRPr kumimoji="0"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9375" y="869315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04" tIns="45752" rIns="91504" bIns="45752" numCol="1" anchor="b" anchorCtr="0" compatLnSpc="1"/>
          <a:lstStyle>
            <a:lvl1pPr algn="r" eaLnBrk="0" hangingPunct="0">
              <a:defRPr kumimoji="0" sz="12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fld id="{E01CE721-1908-47F4-8475-FC2E7F4ABF01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B786B2-4779-4052-90F4-16138186502D}" type="slidenum">
              <a:rPr kumimoji="0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图片来源</a:t>
            </a:r>
            <a:r>
              <a:rPr lang="en-US" altLang="zh-CN"/>
              <a:t> https://www.researchgate.net/figure/Unchanging-elds-of-UDP-IPv6-packet_fig1_225257610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CE721-1908-47F4-8475-FC2E7F4ABF0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18CA39-5BEB-4903-B44D-C1CA4BBE4EC1}" type="slidenum">
              <a:rPr lang="zh-CN" altLang="en-US" smtClean="0"/>
            </a:fld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AAACF3-4F25-449C-94DA-65EA54174A1D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974497-5F3C-4B4E-B69C-6A615D6A0F1F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99DC41-69C6-40B8-B7BF-BC416715052D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E77BF-A1CB-49EA-94A5-1C3C0B1FB08D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4327FA-5AA8-4DFB-928E-7D314154D978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C293B-D76A-44FB-9784-698ACB846CA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E80DE5-0DB6-4CB1-AAAC-AD315962A8E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Click icon to add picture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D16DBB-0003-4271-9C27-A58E073E2DE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8B914D-9EDC-4C15-8206-B7A29B261F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CD06CF-E629-41D9-940B-FD7C0AEA6F3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76400"/>
            <a:ext cx="3810000" cy="4724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724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AFA1862-CAC9-4E92-9746-A38148EB057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685800" y="1676400"/>
            <a:ext cx="7772400" cy="4724400"/>
          </a:xfrm>
        </p:spPr>
        <p:txBody>
          <a:bodyPr/>
          <a:lstStyle/>
          <a:p>
            <a:pPr lvl="0"/>
            <a:r>
              <a:rPr lang="en-US" altLang="zh-CN" noProof="0"/>
              <a:t>Click icon to add table</a:t>
            </a:r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C7B1C1-DD83-4EA8-AE0B-3768119ADC1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76400"/>
            <a:ext cx="3810000" cy="4724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76400"/>
            <a:ext cx="3810000" cy="2286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2286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FBCD17C-6943-4BC3-8666-F05E5B5327E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7772400" cy="2286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2286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11ACCC9-A26B-4C37-B4B3-5624B8D1147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fld id="{D1FF24D6-7B3F-414D-95E9-597178AB0C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fld id="{D86F5FFE-2A6D-49F4-AB21-AE9401E701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fld id="{AB0BE2B3-BAA4-4FC5-8330-7153F30272C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fld id="{36F27127-4C73-4D11-91E6-2DF16110C14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fld id="{A4014709-819F-4560-8D6D-CA29AF1230D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fld id="{C7010AEB-5793-4ED3-8FF2-7C6761513EA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fld id="{A9FCEC89-8E76-412D-B151-D9218F68D94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fld id="{DA167421-454A-476C-8A2C-7C86444B415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fld id="{1CE0B93D-A51A-4352-9A63-805DFD0B4C6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fld id="{D81D905E-71DE-48E8-8A17-574B9F09A9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 eaLnBrk="0" hangingPunct="0">
              <a:defRPr>
                <a:latin typeface="Comic Sans MS" panose="030F0902030302020204" pitchFamily="66" charset="0"/>
                <a:ea typeface="宋体" pitchFamily="2" charset="-122"/>
              </a:defRPr>
            </a:lvl1pPr>
          </a:lstStyle>
          <a:p>
            <a:fld id="{CC4F636F-3A8A-4E1C-BF7F-2342C9651C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75" y="836712"/>
            <a:ext cx="276225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4675"/>
            <a:ext cx="9144000" cy="33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36274"/>
            <a:ext cx="792087" cy="1420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44624"/>
            <a:ext cx="7546435" cy="720080"/>
          </a:xfrm>
        </p:spPr>
        <p:txBody>
          <a:bodyPr/>
          <a:lstStyle>
            <a:lvl1pPr algn="l">
              <a:lnSpc>
                <a:spcPct val="150000"/>
              </a:lnSpc>
              <a:defRPr sz="4000" baseline="0">
                <a:solidFill>
                  <a:srgbClr val="002060"/>
                </a:solidFill>
                <a:latin typeface="Comic Sans MS" panose="030F0902030302020204" pitchFamily="66" charset="0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0864" y="1628800"/>
            <a:ext cx="8229600" cy="4525963"/>
          </a:xfrm>
        </p:spPr>
        <p:txBody>
          <a:bodyPr/>
          <a:lstStyle>
            <a:lvl1pPr>
              <a:lnSpc>
                <a:spcPct val="150000"/>
              </a:lnSpc>
              <a:defRPr sz="2800" baseline="0">
                <a:latin typeface="Noto Serif" panose="02020600060500090200" pitchFamily="18" charset="0"/>
                <a:ea typeface="微软雅黑" pitchFamily="34" charset="-122"/>
              </a:defRPr>
            </a:lvl1pPr>
            <a:lvl2pPr>
              <a:lnSpc>
                <a:spcPct val="150000"/>
              </a:lnSpc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erif" panose="02020600060500090200" pitchFamily="18" charset="0"/>
                <a:ea typeface="微软雅黑" pitchFamily="34" charset="-122"/>
              </a:defRPr>
            </a:lvl2pPr>
            <a:lvl3pPr>
              <a:lnSpc>
                <a:spcPct val="150000"/>
              </a:lnSpc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erif" panose="02020600060500090200" pitchFamily="18" charset="0"/>
                <a:ea typeface="微软雅黑" pitchFamily="34" charset="-122"/>
              </a:defRPr>
            </a:lvl3pPr>
            <a:lvl4pPr>
              <a:lnSpc>
                <a:spcPct val="150000"/>
              </a:lnSpc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erif" panose="02020600060500090200" pitchFamily="18" charset="0"/>
                <a:ea typeface="微软雅黑" pitchFamily="34" charset="-122"/>
              </a:defRPr>
            </a:lvl4pPr>
            <a:lvl5pPr>
              <a:lnSpc>
                <a:spcPct val="150000"/>
              </a:lnSpc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erif" panose="02020600060500090200" pitchFamily="18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251520" y="836712"/>
            <a:ext cx="8640960" cy="0"/>
          </a:xfrm>
          <a:prstGeom prst="line">
            <a:avLst/>
          </a:prstGeom>
          <a:ln w="3175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49598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95B738-F9F3-4D98-A035-4308FFD8619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3827CF-10F8-406F-B565-454C2CCDEC17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AC9A7-1989-49BE-B9EF-576E9B1338B4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CB13E-03C5-4D39-97AA-86C7A873A9AE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2A3E8-B8FD-4F35-997E-22EDA316EFD0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B3454-4D73-4F57-B796-4244350AA1F1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D0B3B-119E-46B0-913E-C9B9D76AC980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285FE-7D4F-4A90-9D11-A1E9A6B3AB92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AB7F7-70A7-4CC4-864A-A55BD73FF79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126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26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500" y="6413500"/>
            <a:ext cx="28956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清华大学研究生课程</a:t>
            </a:r>
            <a:endParaRPr lang="zh-CN" altLang="en-US"/>
          </a:p>
        </p:txBody>
      </p:sp>
      <p:sp>
        <p:nvSpPr>
          <p:cNvPr id="4126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01013" y="6413500"/>
            <a:ext cx="674687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90204" pitchFamily="34" charset="0"/>
              </a:defRPr>
            </a:lvl1pPr>
          </a:lstStyle>
          <a:p>
            <a:fld id="{2619B351-F9D4-43DC-9F66-A540E789C3C4}" type="slidenum">
              <a:rPr lang="zh-CN" altLang="en-US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902030302020204" pitchFamily="66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902030302020204" pitchFamily="66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902030302020204" pitchFamily="66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902030302020204" pitchFamily="66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902030302020204" pitchFamily="66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902030302020204" pitchFamily="66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902030302020204" pitchFamily="66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902030302020204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ZapfDingbats" pitchFamily="82" charset="2"/>
        <a:buChar char="r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ZapfDingbats" pitchFamily="82" charset="2"/>
        <a:buChar char="m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503050405090304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pitchFamily="18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defTabSz="457200" eaLnBrk="1" hangingPunct="1">
              <a:defRPr sz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defTabSz="457200" eaLnBrk="1" hangingPunct="1">
              <a:defRPr sz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defTabSz="457200" eaLnBrk="1" hangingPunct="1">
              <a:defRPr sz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</a:defRPr>
            </a:lvl1pPr>
          </a:lstStyle>
          <a:p>
            <a:fld id="{E947FF3E-80A7-410A-8E0F-9575ED013D02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fld id="{9788FA87-C8A9-478F-B9B6-3E88B2B0F0F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rgbClr val="404040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rgbClr val="595959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rgbClr val="595959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rgbClr val="595959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rgbClr val="595959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5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6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6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7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8.jpe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509120"/>
            <a:ext cx="6400800" cy="1944687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140000"/>
              </a:lnSpc>
              <a:spcAft>
                <a:spcPts val="0"/>
              </a:spcAft>
              <a:defRPr/>
            </a:pPr>
            <a:r>
              <a:rPr lang="zh-CN" altLang="en-US" sz="2800" dirty="0"/>
              <a:t>路由器实验团队</a:t>
            </a:r>
            <a:endParaRPr lang="en-US" altLang="zh-CN" sz="2800" dirty="0"/>
          </a:p>
          <a:p>
            <a:pPr eaLnBrk="1" fontAlgn="auto" hangingPunct="1">
              <a:lnSpc>
                <a:spcPct val="140000"/>
              </a:lnSpc>
              <a:spcAft>
                <a:spcPts val="0"/>
              </a:spcAft>
              <a:defRPr/>
            </a:pPr>
            <a:r>
              <a:rPr lang="en-US" altLang="zh-CN" sz="2200" dirty="0">
                <a:solidFill>
                  <a:srgbClr val="0070C0"/>
                </a:solidFill>
              </a:rPr>
              <a:t>2025 </a:t>
            </a:r>
            <a:r>
              <a:rPr lang="zh-CN" altLang="en-US" sz="2200" dirty="0">
                <a:solidFill>
                  <a:srgbClr val="0070C0"/>
                </a:solidFill>
              </a:rPr>
              <a:t>年</a:t>
            </a:r>
            <a:r>
              <a:rPr lang="en-US" altLang="zh-CN" sz="2200" dirty="0">
                <a:solidFill>
                  <a:srgbClr val="0070C0"/>
                </a:solidFill>
              </a:rPr>
              <a:t> 12 </a:t>
            </a:r>
            <a:r>
              <a:rPr lang="zh-CN" altLang="en-US" sz="2200" dirty="0">
                <a:solidFill>
                  <a:srgbClr val="0070C0"/>
                </a:solidFill>
              </a:rPr>
              <a:t>月</a:t>
            </a:r>
            <a:endParaRPr lang="zh-CN" altLang="en-US" sz="2200" dirty="0">
              <a:solidFill>
                <a:srgbClr val="0070C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2348880"/>
            <a:ext cx="91440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软件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实验第二次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实验课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359532" y="1430778"/>
            <a:ext cx="200060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445738" y="972241"/>
            <a:ext cx="0" cy="867797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504" y="829678"/>
            <a:ext cx="17235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solidFill>
                  <a:srgbClr val="0F1249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  <a:endParaRPr lang="zh-CN" altLang="en-US" sz="3000" b="1" dirty="0">
              <a:solidFill>
                <a:srgbClr val="0F12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9936" y="1484784"/>
            <a:ext cx="1326005" cy="369332"/>
          </a:xfrm>
          <a:prstGeom prst="rect">
            <a:avLst/>
          </a:prstGeom>
          <a:solidFill>
            <a:srgbClr val="0F1249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Contents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AutoShape 25" descr="http://t11.baidu.com/it/u=820289293,911816528&amp;fm=59"/>
          <p:cNvSpPr>
            <a:spLocks noChangeAspect="1" noChangeArrowheads="1"/>
          </p:cNvSpPr>
          <p:nvPr/>
        </p:nvSpPr>
        <p:spPr bwMode="auto">
          <a:xfrm>
            <a:off x="544783" y="89700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691680" y="2348880"/>
          <a:ext cx="6408712" cy="3203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712"/>
              </a:tblGrid>
              <a:tr h="585063">
                <a:tc>
                  <a:txBody>
                    <a:bodyPr/>
                    <a:lstStyle/>
                    <a:p>
                      <a:pPr marL="457200" marR="0" indent="-45720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3200" b="1" dirty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数据链路层协议</a:t>
                      </a:r>
                      <a:r>
                        <a:rPr lang="zh-CN" altLang="en-US" sz="3200" b="1" dirty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可视化</a:t>
                      </a:r>
                      <a:endParaRPr lang="zh-CN" altLang="en-US" sz="3200" b="1" dirty="0">
                        <a:solidFill>
                          <a:srgbClr val="00206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b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85063">
                <a:tc>
                  <a:txBody>
                    <a:bodyPr/>
                    <a:lstStyle/>
                    <a:p>
                      <a:pPr marL="457200" marR="0" indent="-45720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3200" b="1" dirty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编程作业</a:t>
                      </a:r>
                      <a:endParaRPr lang="zh-CN" altLang="en-US" sz="3200" b="1" dirty="0">
                        <a:solidFill>
                          <a:srgbClr val="00206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b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85063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en-US" altLang="zh-CN" sz="3200" b="1" dirty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OSPF </a:t>
                      </a:r>
                      <a:r>
                        <a:rPr lang="zh-CN" altLang="en-US" sz="3200" b="1" dirty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协议</a:t>
                      </a:r>
                      <a:endParaRPr lang="zh-CN" altLang="en-US" sz="3200" b="1" dirty="0">
                        <a:solidFill>
                          <a:srgbClr val="00206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b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85063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3200" b="1" dirty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可靠传输</a:t>
                      </a:r>
                      <a:r>
                        <a:rPr lang="zh-CN" altLang="en-US" sz="3200" b="1" dirty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协议</a:t>
                      </a:r>
                      <a:endParaRPr lang="zh-CN" altLang="en-US" sz="3200" b="1" dirty="0">
                        <a:solidFill>
                          <a:srgbClr val="00206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b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85063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3200" b="1" dirty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其余实验协议</a:t>
                      </a:r>
                      <a:r>
                        <a:rPr lang="zh-CN" altLang="en-US" sz="3200" b="1" dirty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选项</a:t>
                      </a:r>
                      <a:endParaRPr lang="zh-CN" altLang="en-US" sz="3200" b="1" dirty="0">
                        <a:solidFill>
                          <a:srgbClr val="00206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b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itchFamily="34" charset="-122"/>
                <a:sym typeface="+mn-ea"/>
              </a:rPr>
              <a:t>数据链路层协议可视化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教学团队开发了数据链路层协议可视化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网站：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https://lab.cs.tsinghua.edu.cn/data-link-protocols/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涵盖了教材上的六个数据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链路层协议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你可以：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对协议代码单步执行，观察它内部变量的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变化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自定义有效载荷，组装成分组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发送给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数据链路层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结合教材，理解各种特殊情况下协议是如何处理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的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0A47B1-09D9-4943-9628-ADAE68CC06D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软件实验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sz="2400" dirty="0">
                <a:solidFill>
                  <a:schemeClr val="tx1"/>
                </a:solidFill>
              </a:rPr>
              <a:t>实验前请更新代码仓库</a:t>
            </a:r>
            <a:endParaRPr lang="zh-CN" altLang="en-US" sz="2400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第一阶段：编程作业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截止时间：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2025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年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12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月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7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日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校历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12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周周日）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晚上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 10 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点整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（UTC+8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2000" b="1" dirty="0">
              <a:solidFill>
                <a:schemeClr val="tx1"/>
              </a:solidFill>
              <a:sym typeface="+mn-ea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请在截止时间前完成代码提交、在线评测并标记最终结果</a:t>
            </a:r>
            <a:endParaRPr lang="zh-CN" altLang="en-US" sz="2000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第二阶段：真机评测（单人）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截止时间：</a:t>
            </a:r>
            <a:r>
              <a:rPr lang="en-US" altLang="zh-CN" sz="2000" dirty="0">
                <a:solidFill>
                  <a:schemeClr val="tx1"/>
                </a:solidFill>
              </a:rPr>
              <a:t>2026 </a:t>
            </a:r>
            <a:r>
              <a:rPr lang="zh-CN" altLang="en-US" sz="2000" dirty="0">
                <a:solidFill>
                  <a:schemeClr val="tx1"/>
                </a:solidFill>
              </a:rPr>
              <a:t>年</a:t>
            </a:r>
            <a:r>
              <a:rPr lang="en-US" altLang="zh-CN" sz="2000" dirty="0">
                <a:solidFill>
                  <a:schemeClr val="tx1"/>
                </a:solidFill>
              </a:rPr>
              <a:t> 1 </a:t>
            </a:r>
            <a:r>
              <a:rPr lang="zh-CN" altLang="en-US" sz="2000" dirty="0">
                <a:solidFill>
                  <a:schemeClr val="tx1"/>
                </a:solidFill>
              </a:rPr>
              <a:t>月</a:t>
            </a:r>
            <a:r>
              <a:rPr lang="en-US" altLang="zh-CN" sz="2000" dirty="0">
                <a:solidFill>
                  <a:schemeClr val="tx1"/>
                </a:solidFill>
              </a:rPr>
              <a:t> 4 </a:t>
            </a:r>
            <a:r>
              <a:rPr lang="zh-CN" altLang="en-US" sz="2000" dirty="0">
                <a:solidFill>
                  <a:schemeClr val="tx1"/>
                </a:solidFill>
              </a:rPr>
              <a:t>日（校历第</a:t>
            </a:r>
            <a:r>
              <a:rPr lang="en-US" altLang="zh-CN" sz="2000" dirty="0">
                <a:solidFill>
                  <a:schemeClr val="tx1"/>
                </a:solidFill>
              </a:rPr>
              <a:t> 16 </a:t>
            </a:r>
            <a:r>
              <a:rPr lang="zh-CN" altLang="en-US" sz="2000" dirty="0">
                <a:solidFill>
                  <a:schemeClr val="tx1"/>
                </a:solidFill>
              </a:rPr>
              <a:t>周周日）</a:t>
            </a:r>
            <a:r>
              <a:rPr lang="en-US" altLang="zh-CN" sz="2000" dirty="0">
                <a:solidFill>
                  <a:schemeClr val="tx1"/>
                </a:solidFill>
              </a:rPr>
              <a:t> 22:00:00 UTC+8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编程作业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eui64</a:t>
            </a:r>
            <a:r>
              <a:rPr lang="zh-CN" altLang="en-US"/>
              <a:t>：从</a:t>
            </a:r>
            <a:r>
              <a:rPr lang="en-US" altLang="zh-CN"/>
              <a:t> MAC </a:t>
            </a:r>
            <a:r>
              <a:rPr lang="zh-CN" altLang="en-US"/>
              <a:t>地址生成</a:t>
            </a:r>
            <a:r>
              <a:rPr lang="en-US" altLang="zh-CN"/>
              <a:t> IPv6 Link Local </a:t>
            </a:r>
            <a:r>
              <a:rPr lang="zh-CN" altLang="en-US"/>
              <a:t>地址</a:t>
            </a:r>
            <a:endParaRPr lang="zh-CN" altLang="en-US"/>
          </a:p>
          <a:p>
            <a:r>
              <a:rPr lang="en-US" altLang="zh-CN"/>
              <a:t>internet-checksum</a:t>
            </a:r>
            <a:r>
              <a:rPr lang="zh-CN" altLang="en-US"/>
              <a:t>：生成和校验</a:t>
            </a:r>
            <a:r>
              <a:rPr lang="en-US" altLang="zh-CN"/>
              <a:t> Internet </a:t>
            </a:r>
            <a:r>
              <a:rPr lang="zh-CN" altLang="en-US"/>
              <a:t>校验和</a:t>
            </a:r>
            <a:endParaRPr lang="zh-CN" altLang="en-US"/>
          </a:p>
          <a:p>
            <a:r>
              <a:rPr lang="en-US" altLang="zh-CN"/>
              <a:t>lookup</a:t>
            </a:r>
            <a:r>
              <a:rPr lang="zh-CN" altLang="en-US"/>
              <a:t>：路由表更新、</a:t>
            </a:r>
            <a:r>
              <a:rPr lang="zh-CN" altLang="en-US"/>
              <a:t>删除和</a:t>
            </a:r>
            <a:r>
              <a:rPr lang="zh-CN" altLang="en-US"/>
              <a:t>查询</a:t>
            </a:r>
            <a:endParaRPr lang="zh-CN" altLang="en-US"/>
          </a:p>
          <a:p>
            <a:r>
              <a:rPr lang="en-US" altLang="zh-CN"/>
              <a:t>protocol-ospf/protocol</a:t>
            </a:r>
            <a:r>
              <a:rPr lang="zh-CN" altLang="en-US"/>
              <a:t>：</a:t>
            </a:r>
            <a:r>
              <a:rPr lang="en-US" altLang="zh-CN"/>
              <a:t>OSPF/</a:t>
            </a:r>
            <a:r>
              <a:rPr lang="en-US" altLang="zh-CN"/>
              <a:t>RIPng </a:t>
            </a:r>
            <a:r>
              <a:rPr lang="zh-CN" altLang="en-US"/>
              <a:t>协议的</a:t>
            </a:r>
            <a:r>
              <a:rPr lang="zh-CN" altLang="en-US"/>
              <a:t>复杂二进制数据</a:t>
            </a:r>
            <a:r>
              <a:rPr lang="zh-CN" altLang="en-US"/>
              <a:t>处理</a:t>
            </a:r>
            <a:endParaRPr lang="zh-CN" altLang="en-US"/>
          </a:p>
          <a:p>
            <a:r>
              <a:rPr lang="zh-CN" altLang="en-US"/>
              <a:t>核心：如何用</a:t>
            </a:r>
            <a:r>
              <a:rPr lang="en-US" altLang="zh-CN"/>
              <a:t> C/C++ </a:t>
            </a:r>
            <a:r>
              <a:rPr lang="zh-CN" altLang="en-US"/>
              <a:t>代码处理网络上的</a:t>
            </a:r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编程</a:t>
            </a:r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每个</a:t>
            </a:r>
            <a:r>
              <a:rPr lang="zh-CN" altLang="en-US" dirty="0">
                <a:solidFill>
                  <a:schemeClr val="tx1"/>
                </a:solidFill>
              </a:rPr>
              <a:t>题目</a:t>
            </a:r>
            <a:r>
              <a:rPr lang="en-US" dirty="0">
                <a:solidFill>
                  <a:schemeClr val="tx1"/>
                </a:solidFill>
              </a:rPr>
              <a:t>目录下的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</a:rPr>
              <a:t>README.md</a:t>
            </a:r>
            <a:r>
              <a:rPr lang="zh-CN" altLang="en-US" dirty="0">
                <a:solidFill>
                  <a:schemeClr val="tx1"/>
                </a:solidFill>
              </a:rPr>
              <a:t> 描述了题目的要求和实现方法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代码（包括头文件）中的注释也需要阅读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不支持 </a:t>
            </a:r>
            <a:r>
              <a:rPr lang="en-US" altLang="zh-CN" dirty="0">
                <a:solidFill>
                  <a:schemeClr val="tx1"/>
                </a:solidFill>
              </a:rPr>
              <a:t>Windows</a:t>
            </a:r>
            <a:r>
              <a:rPr lang="zh-CN" altLang="en-US" dirty="0">
                <a:solidFill>
                  <a:schemeClr val="tx1"/>
                </a:solidFill>
              </a:rPr>
              <a:t>，请用 </a:t>
            </a:r>
            <a:r>
              <a:rPr lang="en-US" altLang="zh-CN" dirty="0">
                <a:solidFill>
                  <a:schemeClr val="tx1"/>
                </a:solidFill>
              </a:rPr>
              <a:t>WSL</a:t>
            </a:r>
            <a:r>
              <a:rPr lang="zh-CN" altLang="en-US" dirty="0">
                <a:solidFill>
                  <a:schemeClr val="tx1"/>
                </a:solidFill>
              </a:rPr>
              <a:t>（建议 </a:t>
            </a:r>
            <a:r>
              <a:rPr lang="en-US" altLang="zh-CN" dirty="0">
                <a:solidFill>
                  <a:schemeClr val="tx1"/>
                </a:solidFill>
              </a:rPr>
              <a:t>WSL2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注意如何读写预定义的结构化数据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注意题目中提示的各个结构体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0A47B1-09D9-4943-9628-ADAE68CC06D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IPv6 </a:t>
            </a:r>
            <a:r>
              <a:rPr lang="zh-CN" altLang="en-US"/>
              <a:t>地址对应的结构体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45" y="1628775"/>
            <a:ext cx="4311650" cy="4526280"/>
          </a:xfrm>
        </p:spPr>
        <p:txBody>
          <a:bodyPr/>
          <a:p>
            <a:r>
              <a:rPr lang="en-US"/>
              <a:t>IPv6 </a:t>
            </a:r>
            <a:r>
              <a:rPr lang="zh-CN" altLang="en-US"/>
              <a:t>地址是</a:t>
            </a:r>
            <a:r>
              <a:rPr lang="en-US" altLang="zh-CN"/>
              <a:t> 16 </a:t>
            </a:r>
            <a:r>
              <a:rPr lang="zh-CN" altLang="en-US"/>
              <a:t>个</a:t>
            </a:r>
            <a:r>
              <a:rPr lang="zh-CN" altLang="en-US"/>
              <a:t>字节</a:t>
            </a:r>
            <a:endParaRPr lang="zh-CN" altLang="en-US"/>
          </a:p>
          <a:p>
            <a:r>
              <a:rPr lang="zh-CN" altLang="en-US"/>
              <a:t>用</a:t>
            </a:r>
            <a:r>
              <a:rPr lang="en-US" altLang="zh-CN"/>
              <a:t> struct in6_addr </a:t>
            </a:r>
            <a:r>
              <a:rPr lang="zh-CN" altLang="en-US"/>
              <a:t>结构体</a:t>
            </a:r>
            <a:r>
              <a:rPr lang="zh-CN" altLang="en-US"/>
              <a:t>表示</a:t>
            </a:r>
            <a:endParaRPr lang="zh-CN" altLang="en-US"/>
          </a:p>
          <a:p>
            <a:r>
              <a:rPr lang="zh-CN" altLang="en-US"/>
              <a:t>地址的内容通过访问它的</a:t>
            </a:r>
            <a:r>
              <a:rPr lang="en-US" altLang="zh-CN"/>
              <a:t> s6_addr </a:t>
            </a:r>
            <a:r>
              <a:rPr lang="zh-CN" altLang="en-US"/>
              <a:t>字段</a:t>
            </a:r>
            <a:r>
              <a:rPr lang="zh-CN" altLang="en-US"/>
              <a:t>实现：</a:t>
            </a:r>
            <a:endParaRPr lang="zh-CN" altLang="en-US"/>
          </a:p>
          <a:p>
            <a:pPr lvl="1"/>
            <a:r>
              <a:rPr lang="en-US" altLang="zh-CN"/>
              <a:t>uint8_t [16] </a:t>
            </a:r>
            <a:r>
              <a:rPr lang="zh-CN" altLang="en-US"/>
              <a:t>数组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9655" y="1706880"/>
            <a:ext cx="4051935" cy="3846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MAC </a:t>
            </a:r>
            <a:r>
              <a:rPr lang="zh-CN" altLang="en-US"/>
              <a:t>地址对应的</a:t>
            </a:r>
            <a:r>
              <a:rPr lang="zh-CN" altLang="en-US"/>
              <a:t>结构体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MAC </a:t>
            </a:r>
            <a:r>
              <a:rPr lang="zh-CN" altLang="en-US"/>
              <a:t>地址是</a:t>
            </a:r>
            <a:r>
              <a:rPr lang="en-US" altLang="zh-CN"/>
              <a:t> 6 </a:t>
            </a:r>
            <a:r>
              <a:rPr lang="zh-CN" altLang="en-US"/>
              <a:t>个</a:t>
            </a:r>
            <a:r>
              <a:rPr lang="zh-CN" altLang="en-US"/>
              <a:t>字节</a:t>
            </a:r>
            <a:endParaRPr lang="zh-CN" altLang="en-US"/>
          </a:p>
          <a:p>
            <a:r>
              <a:rPr lang="zh-CN" altLang="en-US"/>
              <a:t>用结构体</a:t>
            </a:r>
            <a:r>
              <a:rPr lang="en-US" altLang="zh-CN"/>
              <a:t> ether_addr </a:t>
            </a:r>
            <a:r>
              <a:rPr lang="zh-CN" altLang="en-US"/>
              <a:t>表示</a:t>
            </a:r>
            <a:endParaRPr lang="zh-CN" altLang="en-US"/>
          </a:p>
          <a:p>
            <a:r>
              <a:rPr lang="zh-CN" altLang="en-US"/>
              <a:t>结构体</a:t>
            </a:r>
            <a:r>
              <a:rPr lang="en-US" altLang="zh-CN"/>
              <a:t> vs </a:t>
            </a:r>
            <a:r>
              <a:rPr lang="zh-CN" altLang="en-US"/>
              <a:t>数组</a:t>
            </a:r>
            <a:endParaRPr lang="zh-CN" altLang="en-US"/>
          </a:p>
          <a:p>
            <a:pPr lvl="1"/>
            <a:r>
              <a:rPr lang="zh-CN" altLang="en-US"/>
              <a:t>结构体传参是按值</a:t>
            </a:r>
            <a:endParaRPr lang="zh-CN" altLang="en-US"/>
          </a:p>
          <a:p>
            <a:pPr lvl="1"/>
            <a:r>
              <a:rPr lang="zh-CN" altLang="en-US"/>
              <a:t>数组传参是按</a:t>
            </a:r>
            <a:r>
              <a:rPr lang="zh-CN" altLang="en-US"/>
              <a:t>引用</a:t>
            </a:r>
            <a:endParaRPr lang="zh-CN" altLang="en-US"/>
          </a:p>
          <a:p>
            <a:pPr lvl="0"/>
            <a:r>
              <a:rPr lang="zh-CN" altLang="en-US"/>
              <a:t>用</a:t>
            </a:r>
            <a:r>
              <a:rPr lang="en-US" altLang="zh-CN"/>
              <a:t> ether_addr_octet </a:t>
            </a:r>
            <a:r>
              <a:rPr lang="zh-CN" altLang="en-US"/>
              <a:t>成员访问</a:t>
            </a:r>
            <a:r>
              <a:rPr lang="en-US" altLang="zh-CN"/>
              <a:t> MAC </a:t>
            </a:r>
            <a:r>
              <a:rPr lang="zh-CN" altLang="en-US"/>
              <a:t>地址的</a:t>
            </a:r>
            <a:r>
              <a:rPr lang="zh-CN" altLang="en-US"/>
              <a:t>内容</a:t>
            </a:r>
            <a:endParaRPr lang="zh-CN" altLang="en-US"/>
          </a:p>
          <a:p>
            <a:pPr lvl="1"/>
            <a:r>
              <a:rPr lang="en-US" altLang="zh-CN"/>
              <a:t>uint8_t [6] </a:t>
            </a:r>
            <a:r>
              <a:rPr lang="zh-CN" altLang="en-US"/>
              <a:t>数组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1430" y="3068955"/>
            <a:ext cx="3935095" cy="12198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IPv6 </a:t>
            </a:r>
            <a:r>
              <a:rPr lang="zh-CN" altLang="en-US"/>
              <a:t>头部对应的</a:t>
            </a:r>
            <a:r>
              <a:rPr lang="zh-CN" altLang="en-US"/>
              <a:t>结构体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45" y="1628775"/>
            <a:ext cx="4193540" cy="4526280"/>
          </a:xfrm>
        </p:spPr>
        <p:txBody>
          <a:bodyPr/>
          <a:p>
            <a:r>
              <a:rPr lang="en-US"/>
              <a:t>IPv6 </a:t>
            </a:r>
            <a:r>
              <a:rPr lang="zh-CN" altLang="en-US"/>
              <a:t>头部共</a:t>
            </a:r>
            <a:r>
              <a:rPr lang="en-US" altLang="zh-CN"/>
              <a:t> 40 </a:t>
            </a:r>
            <a:r>
              <a:rPr lang="zh-CN" altLang="en-US"/>
              <a:t>字节</a:t>
            </a:r>
            <a:endParaRPr lang="zh-CN" altLang="en-US"/>
          </a:p>
          <a:p>
            <a:r>
              <a:rPr lang="zh-CN" altLang="en-US"/>
              <a:t>用</a:t>
            </a:r>
            <a:r>
              <a:rPr lang="en-US" altLang="zh-CN"/>
              <a:t> ip6_hdr </a:t>
            </a:r>
            <a:r>
              <a:rPr lang="zh-CN" altLang="en-US"/>
              <a:t>结构体</a:t>
            </a:r>
            <a:r>
              <a:rPr lang="zh-CN" altLang="en-US"/>
              <a:t>表示</a:t>
            </a:r>
            <a:endParaRPr lang="zh-CN" altLang="en-US"/>
          </a:p>
          <a:p>
            <a:r>
              <a:rPr lang="zh-CN" altLang="en-US"/>
              <a:t>常用字段：</a:t>
            </a:r>
            <a:endParaRPr lang="zh-CN" altLang="en-US"/>
          </a:p>
          <a:p>
            <a:pPr lvl="1"/>
            <a:r>
              <a:rPr lang="en-US" altLang="zh-CN"/>
              <a:t>ip6_plen: Payload Length</a:t>
            </a:r>
            <a:endParaRPr lang="en-US" altLang="zh-CN"/>
          </a:p>
          <a:p>
            <a:pPr lvl="1"/>
            <a:r>
              <a:rPr lang="en-US" altLang="zh-CN"/>
              <a:t>ip6_nxt: Next Header</a:t>
            </a:r>
            <a:endParaRPr lang="en-US" altLang="zh-CN"/>
          </a:p>
          <a:p>
            <a:pPr lvl="1"/>
            <a:r>
              <a:rPr lang="en-US" altLang="zh-CN"/>
              <a:t>ip6_hlim: Hop Limit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4385" y="1485265"/>
            <a:ext cx="4450080" cy="4798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IPv6 </a:t>
            </a:r>
            <a:r>
              <a:rPr lang="zh-CN" altLang="en-US"/>
              <a:t>头部对应的</a:t>
            </a:r>
            <a:r>
              <a:rPr lang="zh-CN" altLang="en-US"/>
              <a:t>结构体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45" y="1628775"/>
            <a:ext cx="4193540" cy="4526280"/>
          </a:xfrm>
        </p:spPr>
        <p:txBody>
          <a:bodyPr/>
          <a:p>
            <a:r>
              <a:rPr lang="en-US"/>
              <a:t>__packed__ </a:t>
            </a:r>
            <a:r>
              <a:rPr lang="zh-CN" altLang="en-US"/>
              <a:t>标记</a:t>
            </a:r>
            <a:endParaRPr lang="zh-CN" altLang="en-US"/>
          </a:p>
          <a:p>
            <a:pPr lvl="1"/>
            <a:r>
              <a:rPr lang="zh-CN" altLang="en-US"/>
              <a:t>表示成员之间不添加额外的空间用于</a:t>
            </a:r>
            <a:r>
              <a:rPr lang="zh-CN" altLang="en-US"/>
              <a:t>对齐</a:t>
            </a:r>
            <a:endParaRPr lang="zh-CN" altLang="en-US"/>
          </a:p>
          <a:p>
            <a:pPr lvl="1"/>
            <a:r>
              <a:rPr lang="zh-CN" altLang="en-US"/>
              <a:t>常见于二进制数据</a:t>
            </a:r>
            <a:r>
              <a:rPr lang="zh-CN" altLang="en-US"/>
              <a:t>处理</a:t>
            </a:r>
            <a:endParaRPr lang="zh-CN" altLang="en-US"/>
          </a:p>
          <a:p>
            <a:pPr lvl="0"/>
            <a:r>
              <a:rPr lang="zh-CN" altLang="en-US"/>
              <a:t>注意</a:t>
            </a:r>
            <a:r>
              <a:rPr lang="zh-CN" altLang="en-US"/>
              <a:t>字节序！</a:t>
            </a:r>
            <a:endParaRPr lang="zh-CN" altLang="en-US"/>
          </a:p>
          <a:p>
            <a:pPr lvl="1"/>
            <a:r>
              <a:rPr lang="en-US" altLang="zh-CN"/>
              <a:t>htonl/ntohl/htons/ntohs </a:t>
            </a:r>
            <a:r>
              <a:rPr lang="zh-CN" altLang="en-US"/>
              <a:t>进行</a:t>
            </a:r>
            <a:r>
              <a:rPr lang="zh-CN" altLang="en-US"/>
              <a:t>字节序转换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4385" y="1485265"/>
            <a:ext cx="4450080" cy="4798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UDP </a:t>
            </a:r>
            <a:r>
              <a:rPr lang="zh-CN" altLang="en-US"/>
              <a:t>头部对应的</a:t>
            </a:r>
            <a:r>
              <a:rPr lang="zh-CN" altLang="en-US"/>
              <a:t>结构体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45" y="1628775"/>
            <a:ext cx="4297680" cy="4526280"/>
          </a:xfrm>
        </p:spPr>
        <p:txBody>
          <a:bodyPr/>
          <a:p>
            <a:r>
              <a:rPr lang="en-US"/>
              <a:t>UDP </a:t>
            </a:r>
            <a:r>
              <a:rPr lang="zh-CN" altLang="en-US"/>
              <a:t>头部用</a:t>
            </a:r>
            <a:r>
              <a:rPr lang="en-US" altLang="zh-CN"/>
              <a:t> udphdr </a:t>
            </a:r>
            <a:r>
              <a:rPr lang="zh-CN" altLang="en-US"/>
              <a:t>结构体</a:t>
            </a:r>
            <a:endParaRPr lang="zh-CN" altLang="en-US"/>
          </a:p>
          <a:p>
            <a:r>
              <a:rPr lang="zh-CN" altLang="en-US"/>
              <a:t>注意端序</a:t>
            </a:r>
            <a:r>
              <a:rPr lang="en-US" altLang="zh-CN"/>
              <a:t> htons/ntohs</a:t>
            </a:r>
            <a:endParaRPr lang="en-US" altLang="zh-CN"/>
          </a:p>
          <a:p>
            <a:r>
              <a:rPr lang="en-US" altLang="zh-CN"/>
              <a:t>UDP </a:t>
            </a:r>
            <a:r>
              <a:rPr lang="zh-CN" altLang="en-US"/>
              <a:t>头部通常放在</a:t>
            </a:r>
            <a:r>
              <a:rPr lang="en-US" altLang="zh-CN"/>
              <a:t> IPv6 </a:t>
            </a:r>
            <a:r>
              <a:rPr lang="zh-CN" altLang="en-US"/>
              <a:t>头部后面；</a:t>
            </a:r>
            <a:r>
              <a:rPr lang="en-US" altLang="zh-CN"/>
              <a:t>UDP </a:t>
            </a:r>
            <a:r>
              <a:rPr lang="zh-CN" altLang="en-US"/>
              <a:t>头部后面跟随着</a:t>
            </a:r>
            <a:r>
              <a:rPr lang="zh-CN" altLang="en-US"/>
              <a:t>有效载荷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0" y="1917065"/>
            <a:ext cx="4244975" cy="21348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945" y="4098290"/>
            <a:ext cx="3181350" cy="23863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ICMPv6 </a:t>
            </a:r>
            <a:r>
              <a:rPr lang="zh-CN" altLang="en-US"/>
              <a:t>头部对应的</a:t>
            </a:r>
            <a:r>
              <a:rPr lang="zh-CN" altLang="en-US"/>
              <a:t>结构体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45" y="1628775"/>
            <a:ext cx="4147185" cy="4526280"/>
          </a:xfrm>
        </p:spPr>
        <p:txBody>
          <a:bodyPr/>
          <a:p>
            <a:r>
              <a:rPr lang="en-US"/>
              <a:t>ICMPv6 </a:t>
            </a:r>
            <a:r>
              <a:rPr lang="zh-CN" altLang="en-US"/>
              <a:t>头部根据类型不同，涉及到</a:t>
            </a:r>
            <a:r>
              <a:rPr lang="zh-CN" altLang="en-US"/>
              <a:t>的字段也不同</a:t>
            </a:r>
            <a:endParaRPr lang="zh-CN" altLang="en-US"/>
          </a:p>
          <a:p>
            <a:r>
              <a:rPr lang="en-US" altLang="zh-CN"/>
              <a:t>icmp6_hdr </a:t>
            </a:r>
            <a:r>
              <a:rPr lang="zh-CN" altLang="en-US"/>
              <a:t>结构体记录了公共</a:t>
            </a:r>
            <a:r>
              <a:rPr lang="zh-CN" altLang="en-US"/>
              <a:t>部分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0245" y="2611755"/>
            <a:ext cx="4481195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OSPF </a:t>
            </a:r>
            <a:r>
              <a:rPr lang="zh-CN" altLang="en-US"/>
              <a:t>头部对应的</a:t>
            </a:r>
            <a:r>
              <a:rPr lang="zh-CN" altLang="en-US"/>
              <a:t>结构体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Linux </a:t>
            </a:r>
            <a:r>
              <a:rPr lang="zh-CN" altLang="en-US"/>
              <a:t>没有</a:t>
            </a:r>
            <a:r>
              <a:rPr lang="zh-CN" altLang="en-US"/>
              <a:t>提供，因此实验框架自己实现了</a:t>
            </a:r>
            <a:r>
              <a:rPr lang="zh-CN" altLang="en-US"/>
              <a:t>一个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4740" y="2348865"/>
            <a:ext cx="4326890" cy="44564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RIPng </a:t>
            </a:r>
            <a:r>
              <a:rPr lang="zh-CN" altLang="en-US"/>
              <a:t>头部对应的</a:t>
            </a:r>
            <a:r>
              <a:rPr lang="zh-CN" altLang="en-US"/>
              <a:t>结构体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45" y="1628775"/>
            <a:ext cx="4093210" cy="4526280"/>
          </a:xfrm>
        </p:spPr>
        <p:txBody>
          <a:bodyPr/>
          <a:p>
            <a:r>
              <a:rPr lang="en-US"/>
              <a:t>Linux </a:t>
            </a:r>
            <a:r>
              <a:rPr lang="zh-CN" altLang="en-US"/>
              <a:t>没有</a:t>
            </a:r>
            <a:r>
              <a:rPr lang="zh-CN" altLang="en-US"/>
              <a:t>提供，因此实验框架自己实现了</a:t>
            </a:r>
            <a:r>
              <a:rPr lang="zh-CN" altLang="en-US"/>
              <a:t>一个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0290" y="980440"/>
            <a:ext cx="4033520" cy="57219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字节序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网络字节序</a:t>
            </a:r>
            <a:r>
              <a:rPr lang="en-US" altLang="zh-CN"/>
              <a:t>：</a:t>
            </a:r>
            <a:r>
              <a:rPr lang="zh-CN" altLang="en-US"/>
              <a:t>固定使用大端序</a:t>
            </a:r>
            <a:r>
              <a:rPr lang="en-US" altLang="zh-CN"/>
              <a:t> (Big-endian)</a:t>
            </a:r>
            <a:endParaRPr lang="en-US" altLang="zh-CN"/>
          </a:p>
          <a:p>
            <a:r>
              <a:rPr lang="zh-CN" altLang="en-US"/>
              <a:t>主机字节序</a:t>
            </a:r>
            <a:r>
              <a:rPr lang="en-US" altLang="zh-CN"/>
              <a:t>：</a:t>
            </a:r>
            <a:r>
              <a:rPr lang="zh-CN" altLang="en-US"/>
              <a:t>当前计算机</a:t>
            </a:r>
            <a:r>
              <a:rPr lang="en-US" altLang="zh-CN"/>
              <a:t> CPU </a:t>
            </a:r>
            <a:r>
              <a:rPr lang="zh-CN" altLang="en-US"/>
              <a:t>存储多字节数据的顺序</a:t>
            </a:r>
            <a:r>
              <a:rPr lang="en-US" altLang="zh-CN"/>
              <a:t>，</a:t>
            </a:r>
            <a:r>
              <a:rPr lang="zh-CN" altLang="en-US"/>
              <a:t>每台计算机可能不同</a:t>
            </a:r>
            <a:r>
              <a:rPr lang="en-US" altLang="zh-CN"/>
              <a:t>（</a:t>
            </a:r>
            <a:r>
              <a:rPr lang="zh-CN" altLang="en-US"/>
              <a:t>和</a:t>
            </a:r>
            <a:r>
              <a:rPr lang="en-US" altLang="zh-CN"/>
              <a:t> CPU </a:t>
            </a:r>
            <a:r>
              <a:rPr lang="zh-CN" altLang="en-US"/>
              <a:t>架构有关</a:t>
            </a:r>
            <a:r>
              <a:rPr lang="en-US" altLang="zh-CN"/>
              <a:t>）</a:t>
            </a:r>
            <a:endParaRPr lang="en-US" altLang="zh-CN"/>
          </a:p>
          <a:p>
            <a:r>
              <a:rPr lang="zh-CN" altLang="en-US"/>
              <a:t>大端序</a:t>
            </a:r>
            <a:r>
              <a:rPr lang="en-US" altLang="zh-CN"/>
              <a:t>：</a:t>
            </a:r>
            <a:r>
              <a:rPr lang="zh-CN" altLang="en-US"/>
              <a:t>高位字节存储在低</a:t>
            </a:r>
            <a:r>
              <a:rPr lang="zh-CN" altLang="en-US"/>
              <a:t>地址</a:t>
            </a:r>
            <a:endParaRPr lang="zh-CN" altLang="en-US"/>
          </a:p>
          <a:p>
            <a:r>
              <a:rPr lang="zh-CN" altLang="en-US"/>
              <a:t>小端序</a:t>
            </a:r>
            <a:r>
              <a:rPr lang="en-US" altLang="zh-CN"/>
              <a:t>：</a:t>
            </a:r>
            <a:r>
              <a:rPr lang="zh-CN" altLang="en-US"/>
              <a:t>低位字节存储在</a:t>
            </a:r>
            <a:r>
              <a:rPr lang="zh-CN" altLang="en-US"/>
              <a:t>低地址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5229225"/>
            <a:ext cx="6172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结构体命名</a:t>
            </a:r>
            <a:r>
              <a:rPr lang="zh-CN" altLang="en-US"/>
              <a:t>约定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在代码中，会出现采用不同命名规则的</a:t>
            </a:r>
            <a:r>
              <a:rPr lang="zh-CN" altLang="en-US"/>
              <a:t>结构体</a:t>
            </a:r>
            <a:endParaRPr lang="zh-CN" altLang="en-US"/>
          </a:p>
          <a:p>
            <a:r>
              <a:rPr lang="en-US" altLang="zh-CN"/>
              <a:t>snake_case</a:t>
            </a:r>
            <a:r>
              <a:rPr lang="zh-CN" altLang="en-US"/>
              <a:t>：网络字节序，或者字节序</a:t>
            </a:r>
            <a:r>
              <a:rPr lang="zh-CN" altLang="en-US"/>
              <a:t>无关</a:t>
            </a:r>
            <a:endParaRPr lang="zh-CN" altLang="en-US"/>
          </a:p>
          <a:p>
            <a:r>
              <a:rPr lang="en-US" altLang="zh-CN"/>
              <a:t>CamelCase</a:t>
            </a:r>
            <a:r>
              <a:rPr lang="zh-CN" altLang="en-US"/>
              <a:t>：主机</a:t>
            </a:r>
            <a:r>
              <a:rPr lang="zh-CN" altLang="en-US"/>
              <a:t>字节序</a:t>
            </a:r>
            <a:endParaRPr lang="zh-CN" altLang="en-US"/>
          </a:p>
          <a:p>
            <a:r>
              <a:rPr lang="zh-CN" altLang="en-US"/>
              <a:t>编写</a:t>
            </a:r>
            <a:r>
              <a:rPr lang="zh-CN" altLang="en-US"/>
              <a:t>作业代码时需要</a:t>
            </a:r>
            <a:r>
              <a:rPr lang="zh-CN" altLang="en-US"/>
              <a:t>格外注意字节序的</a:t>
            </a:r>
            <a:r>
              <a:rPr lang="zh-CN" altLang="en-US"/>
              <a:t>转换</a:t>
            </a:r>
            <a:endParaRPr lang="zh-CN" altLang="en-US"/>
          </a:p>
          <a:p>
            <a:r>
              <a:rPr lang="zh-CN" altLang="en-US"/>
              <a:t>例子：</a:t>
            </a:r>
            <a:endParaRPr lang="zh-CN" altLang="en-US"/>
          </a:p>
          <a:p>
            <a:pPr lvl="1"/>
            <a:r>
              <a:rPr lang="en-US" altLang="zh-CN"/>
              <a:t>RouterLsa/RouterLsaEntry</a:t>
            </a:r>
            <a:r>
              <a:rPr lang="zh-CN" altLang="en-US"/>
              <a:t>：主机</a:t>
            </a:r>
            <a:r>
              <a:rPr lang="zh-CN" altLang="en-US"/>
              <a:t>字节序</a:t>
            </a:r>
            <a:endParaRPr lang="zh-CN" altLang="en-US"/>
          </a:p>
          <a:p>
            <a:pPr lvl="1"/>
            <a:r>
              <a:rPr lang="en-US" altLang="zh-CN"/>
              <a:t>ospf_router_lsa/ospf_router_lsa_entry</a:t>
            </a:r>
            <a:r>
              <a:rPr lang="zh-CN" altLang="en-US"/>
              <a:t>：网络</a:t>
            </a:r>
            <a:r>
              <a:rPr lang="zh-CN" altLang="en-US"/>
              <a:t>字节序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Internet Checksum 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323850" y="1628775"/>
            <a:ext cx="4970780" cy="48672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输入一个完整的</a:t>
            </a:r>
            <a:r>
              <a:rPr kumimoji="0" lang="en-US" altLang="zh-CN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 IPv6 packet</a:t>
            </a:r>
            <a:r>
              <a:rPr kumimoji="0" lang="zh-CN" altLang="en-US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：</a:t>
            </a:r>
            <a:endParaRPr kumimoji="0" lang="zh-CN" altLang="en-US" sz="2400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8001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en-US" altLang="zh-CN" sz="2055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IPv6 </a:t>
            </a:r>
            <a:r>
              <a:rPr kumimoji="0" lang="zh-CN" altLang="en-US" sz="2055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头部</a:t>
            </a:r>
            <a:endParaRPr kumimoji="0" lang="zh-CN" altLang="en-US" sz="2055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8001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en-US" altLang="zh-CN" sz="2055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UDP/ICMPv6 </a:t>
            </a:r>
            <a:r>
              <a:rPr kumimoji="0" lang="zh-CN" altLang="en-US" sz="2055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头部</a:t>
            </a:r>
            <a:endParaRPr kumimoji="0" lang="zh-CN" altLang="en-US" sz="2055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8001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 sz="2055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（可能的）有效</a:t>
            </a:r>
            <a:r>
              <a:rPr kumimoji="0" lang="zh-CN" altLang="en-US" sz="2055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载荷</a:t>
            </a:r>
            <a:endParaRPr kumimoji="0" lang="zh-CN" altLang="en-US" sz="2055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342900" lvl="0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 sz="2395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计算和验证</a:t>
            </a:r>
            <a:r>
              <a:rPr kumimoji="0" lang="en-US" altLang="zh-CN" sz="2395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 UDP/ICMPv6 </a:t>
            </a:r>
            <a:r>
              <a:rPr kumimoji="0" lang="zh-CN" altLang="en-US" sz="2395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头部中的</a:t>
            </a:r>
            <a:r>
              <a:rPr kumimoji="0" lang="en-US" altLang="zh-CN" sz="2395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 </a:t>
            </a:r>
            <a:r>
              <a:rPr kumimoji="0" lang="en-US" altLang="zh-CN" sz="2395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Checksum</a:t>
            </a:r>
            <a:endParaRPr kumimoji="0" lang="en-US" altLang="zh-CN" sz="2395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342900" lvl="0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 sz="2395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如何计算？</a:t>
            </a:r>
            <a:endParaRPr kumimoji="0" lang="zh-CN" altLang="en-US" sz="2395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8001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 sz="205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是直接拿整个</a:t>
            </a:r>
            <a:r>
              <a:rPr kumimoji="0" lang="en-US" altLang="zh-CN" sz="205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 IPv6 </a:t>
            </a:r>
            <a:r>
              <a:rPr kumimoji="0" lang="zh-CN" altLang="en-US" sz="205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分组计算</a:t>
            </a:r>
            <a:r>
              <a:rPr kumimoji="0" lang="zh-CN" altLang="en-US" sz="205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吗？</a:t>
            </a:r>
            <a:endParaRPr kumimoji="0" lang="zh-CN" altLang="en-US" sz="2050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8001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 sz="205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不是！</a:t>
            </a:r>
            <a:endParaRPr kumimoji="0" lang="zh-CN" altLang="en-US" sz="2050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890" y="2348865"/>
            <a:ext cx="2713355" cy="203517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5723890" y="4364990"/>
            <a:ext cx="2713355" cy="1080135"/>
          </a:xfrm>
          <a:prstGeom prst="rect">
            <a:avLst/>
          </a:prstGeom>
          <a:ln w="25400" cap="flat" cmpd="sng"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Payload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Internet Checksum 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323850" y="1125220"/>
            <a:ext cx="8215630" cy="48672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IPv6 Pseudo Header 组装</a:t>
            </a:r>
            <a:endParaRPr kumimoji="0" lang="zh-CN" altLang="en-US" sz="2400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800100" lvl="2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由于 IPv6 头部没有校验和</a:t>
            </a:r>
            <a:endParaRPr kumimoji="0" lang="zh-CN" altLang="en-US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800100" lvl="2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UDP/ICMPv6 校验和是必需的</a:t>
            </a:r>
            <a:endParaRPr kumimoji="0" lang="zh-CN" altLang="en-US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800100" lvl="2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需要校验</a:t>
            </a:r>
            <a:r>
              <a:rPr kumimoji="0" lang="en-US" altLang="zh-CN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 IPv6 </a:t>
            </a:r>
            <a:r>
              <a:rPr kumimoji="0" lang="zh-CN" altLang="en-US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头部的</a:t>
            </a:r>
            <a:r>
              <a:rPr kumimoji="0" lang="zh-CN" altLang="en-US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部分字段</a:t>
            </a:r>
            <a:endParaRPr kumimoji="0" lang="zh-CN" altLang="en-US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342900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构造右图的伪</a:t>
            </a:r>
            <a:r>
              <a:rPr kumimoji="0" lang="zh-CN" altLang="en-US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头部</a:t>
            </a:r>
            <a:endParaRPr kumimoji="0" lang="zh-CN" altLang="en-US" sz="2400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800100" lvl="2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 sz="18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注意 UDP Length 的端序</a:t>
            </a:r>
            <a:endParaRPr kumimoji="0" lang="zh-CN" altLang="en-US" sz="1800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800100" lvl="2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 sz="18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先 ntohs，转为 32 位后再 htonl</a:t>
            </a:r>
            <a:endParaRPr kumimoji="0" lang="zh-CN" altLang="en-US" sz="1800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342900" indent="-342900" algn="l">
              <a:lnSpc>
                <a:spcPct val="150000"/>
              </a:lnSpc>
              <a:spcBef>
                <a:spcPct val="20000"/>
              </a:spcBef>
              <a:buClrTx/>
              <a:buSzTx/>
            </a:pPr>
            <a:r>
              <a:rPr kumimoji="0" lang="zh-CN" altLang="en-US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伪头部之后拼接 UDP/ICMPv6 头部和载荷</a:t>
            </a:r>
            <a:r>
              <a:rPr kumimoji="0" lang="en-US" altLang="zh-CN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，</a:t>
            </a:r>
            <a:r>
              <a:rPr kumimoji="0" lang="zh-CN" altLang="en-US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进行校验和计算</a:t>
            </a:r>
            <a:r>
              <a:rPr kumimoji="0" lang="en-US" altLang="zh-CN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：</a:t>
            </a:r>
            <a:r>
              <a:rPr kumimoji="0" lang="zh-CN" altLang="en-US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每</a:t>
            </a:r>
            <a:r>
              <a:rPr kumimoji="0" lang="en-US" altLang="zh-CN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 16 </a:t>
            </a:r>
            <a:r>
              <a:rPr kumimoji="0" lang="zh-CN" altLang="en-US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个二进制位为一组，视作一个大端序的整数</a:t>
            </a:r>
            <a:r>
              <a:rPr kumimoji="0" lang="en-US" altLang="zh-CN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，</a:t>
            </a:r>
            <a:r>
              <a:rPr kumimoji="0" lang="zh-CN" altLang="en-US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将所有</a:t>
            </a:r>
            <a:r>
              <a:rPr kumimoji="0" lang="en-US" altLang="zh-CN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 16 </a:t>
            </a:r>
            <a:r>
              <a:rPr kumimoji="0" lang="zh-CN" altLang="en-US" sz="240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</a:rPr>
              <a:t>位的整数相加</a:t>
            </a:r>
            <a:endParaRPr kumimoji="0" lang="zh-CN" altLang="en-US" sz="2400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  <a:p>
            <a:pPr marL="457200" lvl="1" indent="0" algn="l">
              <a:lnSpc>
                <a:spcPct val="150000"/>
              </a:lnSpc>
              <a:spcBef>
                <a:spcPct val="20000"/>
              </a:spcBef>
              <a:buClrTx/>
              <a:buSzTx/>
              <a:buNone/>
            </a:pPr>
            <a:endParaRPr kumimoji="0" lang="zh-CN" altLang="en-US" sz="2055" dirty="0">
              <a:solidFill>
                <a:srgbClr val="404040"/>
              </a:solidFill>
              <a:latin typeface="Noto Serif" panose="02020600060500090200" pitchFamily="18" charset="0"/>
              <a:ea typeface="微软雅黑" pitchFamily="34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18062"/>
          <a:stretch>
            <a:fillRect/>
          </a:stretch>
        </p:blipFill>
        <p:spPr>
          <a:xfrm>
            <a:off x="4860290" y="3140710"/>
            <a:ext cx="3764915" cy="19596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890" y="1052830"/>
            <a:ext cx="2713355" cy="20351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Internet Checksum 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45" y="1087120"/>
            <a:ext cx="4819015" cy="5067935"/>
          </a:xfrm>
        </p:spPr>
        <p:txBody>
          <a:bodyPr/>
          <a:p>
            <a:r>
              <a:rPr lang="en-US" sz="2400"/>
              <a:t>如何</a:t>
            </a:r>
            <a:r>
              <a:rPr lang="zh-CN" altLang="en-US" sz="2400"/>
              <a:t>把一串二进制数据</a:t>
            </a:r>
            <a:r>
              <a:rPr lang="en-US" sz="2400"/>
              <a:t>拆分成 </a:t>
            </a:r>
            <a:r>
              <a:rPr lang="zh-CN" altLang="en-US" sz="2400"/>
              <a:t>若干个</a:t>
            </a:r>
            <a:r>
              <a:rPr lang="en-US" altLang="zh-CN" sz="2400"/>
              <a:t> </a:t>
            </a:r>
            <a:r>
              <a:rPr lang="en-US" sz="2400"/>
              <a:t>16 位整数</a:t>
            </a:r>
            <a:r>
              <a:rPr lang="zh-CN" altLang="en-US" sz="2400"/>
              <a:t>？</a:t>
            </a:r>
            <a:endParaRPr lang="en-US" sz="2400"/>
          </a:p>
          <a:p>
            <a:pPr lvl="1"/>
            <a:r>
              <a:rPr lang="en-US" sz="2000"/>
              <a:t>连续的两个字节合成一个</a:t>
            </a:r>
            <a:endParaRPr lang="en-US" sz="2000"/>
          </a:p>
          <a:p>
            <a:pPr lvl="1"/>
            <a:r>
              <a:rPr lang="en-US" sz="2000"/>
              <a:t>(Data[2*i] &lt;&lt; 8) + Data[2*i+1]</a:t>
            </a:r>
            <a:endParaRPr lang="en-US" sz="2000"/>
          </a:p>
          <a:p>
            <a:pPr lvl="1"/>
            <a:r>
              <a:rPr lang="en-US" sz="2000"/>
              <a:t>奇数</a:t>
            </a:r>
            <a:r>
              <a:rPr lang="zh-CN" altLang="en-US" sz="2000"/>
              <a:t>个字节</a:t>
            </a:r>
            <a:r>
              <a:rPr lang="en-US" sz="2000"/>
              <a:t>的情况：最后补 0</a:t>
            </a:r>
            <a:endParaRPr lang="en-US" sz="2000"/>
          </a:p>
          <a:p>
            <a:r>
              <a:rPr lang="en-US" sz="2400"/>
              <a:t>如何求和</a:t>
            </a:r>
            <a:endParaRPr lang="en-US" sz="2400"/>
          </a:p>
          <a:p>
            <a:pPr lvl="1"/>
            <a:r>
              <a:rPr lang="en-US" sz="2000"/>
              <a:t>按顺序求和</a:t>
            </a:r>
            <a:endParaRPr lang="en-US" sz="2000"/>
          </a:p>
          <a:p>
            <a:pPr lvl="1"/>
            <a:r>
              <a:rPr lang="en-US" sz="2000"/>
              <a:t>把高于 16 位的部分挪到低位相加</a:t>
            </a:r>
            <a:endParaRPr lang="en-US" sz="2000"/>
          </a:p>
          <a:p>
            <a:pPr lvl="1"/>
            <a:r>
              <a:rPr lang="zh-CN" altLang="en-US" sz="2000"/>
              <a:t>如果</a:t>
            </a:r>
            <a:r>
              <a:rPr lang="en-US" sz="2000"/>
              <a:t>一次不够，</a:t>
            </a:r>
            <a:r>
              <a:rPr lang="zh-CN" altLang="en-US" sz="2000"/>
              <a:t>则</a:t>
            </a:r>
            <a:r>
              <a:rPr lang="en-US" sz="2000"/>
              <a:t>循环直到高于 16 位的部分为 0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48" y="2060383"/>
            <a:ext cx="4175342" cy="37259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Internet Checksum 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45" y="1087120"/>
            <a:ext cx="4819015" cy="5067935"/>
          </a:xfrm>
        </p:spPr>
        <p:txBody>
          <a:bodyPr/>
          <a:p>
            <a:r>
              <a:rPr lang="zh-CN" altLang="en-US"/>
              <a:t>检验校验和</a:t>
            </a:r>
            <a:r>
              <a:rPr lang="en-US"/>
              <a:t>时，直接判断</a:t>
            </a:r>
            <a:r>
              <a:rPr lang="zh-CN" altLang="en-US"/>
              <a:t>求和</a:t>
            </a:r>
            <a:r>
              <a:rPr lang="en-US"/>
              <a:t>结果是否等于 0xFFFF</a:t>
            </a:r>
            <a:endParaRPr lang="en-US"/>
          </a:p>
          <a:p>
            <a:r>
              <a:rPr lang="en-US"/>
              <a:t>计算</a:t>
            </a:r>
            <a:r>
              <a:rPr lang="zh-CN" altLang="en-US"/>
              <a:t>校验和</a:t>
            </a:r>
            <a:r>
              <a:rPr lang="en-US"/>
              <a:t>时</a:t>
            </a:r>
            <a:endParaRPr lang="en-US"/>
          </a:p>
          <a:p>
            <a:pPr lvl="1"/>
            <a:r>
              <a:rPr lang="en-US"/>
              <a:t>先把 checksum 设为 0</a:t>
            </a:r>
            <a:endParaRPr lang="en-US"/>
          </a:p>
          <a:p>
            <a:pPr lvl="1"/>
            <a:r>
              <a:rPr lang="zh-CN" altLang="en-US"/>
              <a:t>按照前面描述的步骤</a:t>
            </a:r>
            <a:r>
              <a:rPr lang="en-US"/>
              <a:t>求和，结果</a:t>
            </a:r>
            <a:r>
              <a:rPr lang="zh-CN" altLang="en-US"/>
              <a:t>按位</a:t>
            </a:r>
            <a:r>
              <a:rPr lang="en-US"/>
              <a:t>取反，</a:t>
            </a:r>
            <a:r>
              <a:rPr lang="zh-CN" altLang="en-US"/>
              <a:t>以大端序</a:t>
            </a:r>
            <a:r>
              <a:rPr lang="en-US"/>
              <a:t>填入校验和</a:t>
            </a:r>
            <a:r>
              <a:rPr lang="zh-CN" altLang="en-US"/>
              <a:t>字段</a:t>
            </a:r>
            <a:endParaRPr lang="en-US"/>
          </a:p>
          <a:p>
            <a:pPr lvl="0"/>
            <a:r>
              <a:rPr lang="en-US" sz="3200"/>
              <a:t>注意端序</a:t>
            </a:r>
            <a:endParaRPr lang="en-US" sz="3200"/>
          </a:p>
          <a:p>
            <a:endParaRPr lang="en-US" sz="3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48" y="2060383"/>
            <a:ext cx="4175342" cy="372591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Internet Checksum 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45" y="1087120"/>
            <a:ext cx="8405495" cy="5067935"/>
          </a:xfrm>
        </p:spPr>
        <p:txBody>
          <a:bodyPr/>
          <a:p>
            <a:r>
              <a:rPr lang="zh-CN" altLang="en-US" sz="2800"/>
              <a:t>对</a:t>
            </a:r>
            <a:r>
              <a:rPr lang="en-US" altLang="zh-CN" sz="2800"/>
              <a:t> 16 </a:t>
            </a:r>
            <a:r>
              <a:rPr lang="zh-CN" altLang="en-US" sz="2800"/>
              <a:t>位整数求和这一步，可能得到所有</a:t>
            </a:r>
            <a:r>
              <a:rPr lang="en-US" altLang="zh-CN" sz="2800"/>
              <a:t> 16 </a:t>
            </a:r>
            <a:r>
              <a:rPr lang="zh-CN" altLang="en-US" sz="2800"/>
              <a:t>位整数</a:t>
            </a:r>
            <a:r>
              <a:rPr lang="zh-CN" altLang="en-US" sz="2800"/>
              <a:t>吗？</a:t>
            </a:r>
            <a:endParaRPr lang="zh-CN" altLang="en-US" sz="2800"/>
          </a:p>
          <a:p>
            <a:r>
              <a:rPr lang="zh-CN" altLang="en-US"/>
              <a:t>规则：</a:t>
            </a:r>
            <a:endParaRPr lang="zh-CN" altLang="en-US"/>
          </a:p>
          <a:p>
            <a:pPr lvl="1"/>
            <a:r>
              <a:rPr lang="en-US">
                <a:sym typeface="+mn-ea"/>
              </a:rPr>
              <a:t>把高于 16 位的部分挪到低位相加</a:t>
            </a:r>
            <a:endParaRPr lang="en-US"/>
          </a:p>
          <a:p>
            <a:pPr lvl="0"/>
            <a:r>
              <a:rPr lang="zh-CN" altLang="en-US"/>
              <a:t>求和结果一定不等于零：只要溢出了，就一定会至少挪一个</a:t>
            </a:r>
            <a:r>
              <a:rPr lang="en-US" altLang="zh-CN"/>
              <a:t> 1 </a:t>
            </a:r>
            <a:r>
              <a:rPr lang="zh-CN" altLang="en-US"/>
              <a:t>到</a:t>
            </a:r>
            <a:r>
              <a:rPr lang="zh-CN" altLang="en-US"/>
              <a:t>低位</a:t>
            </a:r>
            <a:endParaRPr lang="zh-CN" altLang="en-US"/>
          </a:p>
          <a:p>
            <a:pPr lvl="0"/>
            <a:r>
              <a:rPr lang="zh-CN" altLang="en-US"/>
              <a:t>而校验和等于求和结果取反：</a:t>
            </a:r>
            <a:r>
              <a:rPr lang="zh-CN" altLang="en-US"/>
              <a:t>校验和不等于</a:t>
            </a:r>
            <a:r>
              <a:rPr lang="en-US" altLang="zh-CN"/>
              <a:t> 0xFFFF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Internet Checksum 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484655"/>
            <a:ext cx="8229600" cy="4525963"/>
          </a:xfrm>
        </p:spPr>
        <p:txBody>
          <a:bodyPr/>
          <a:p>
            <a:r>
              <a:rPr lang="zh-CN" altLang="en-US" sz="2400"/>
              <a:t>因此</a:t>
            </a:r>
            <a:r>
              <a:rPr lang="en-US" sz="2400"/>
              <a:t>按照上面的计算方法计算出来的，校验和取值范围是 0x0000-0xFFFE</a:t>
            </a:r>
            <a:endParaRPr lang="en-US" sz="2400"/>
          </a:p>
          <a:p>
            <a:r>
              <a:rPr lang="en-US" sz="2400"/>
              <a:t>UDP 的特殊处理</a:t>
            </a:r>
            <a:endParaRPr lang="en-US" sz="2400"/>
          </a:p>
          <a:p>
            <a:pPr lvl="1"/>
            <a:r>
              <a:rPr lang="en-US" sz="2000"/>
              <a:t>IPv4 中，UDP 的校验和计算是可选的，因此 0x0000 表示没有计算校验和，0xFFFF 对应了原来的 0x0000，校验和取值范围是 0x0000-0xFFFF</a:t>
            </a:r>
            <a:endParaRPr lang="en-US" sz="2000"/>
          </a:p>
          <a:p>
            <a:pPr lvl="1"/>
            <a:r>
              <a:rPr lang="en-US" sz="2000"/>
              <a:t>IPv6 中，UDP 的校验和计算是必需的，因此校验和取值范围是 0x0001-0xFFFF，不允许 0x0000</a:t>
            </a:r>
            <a:endParaRPr 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Internet Checksum 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45" y="1095375"/>
            <a:ext cx="8229600" cy="5059680"/>
          </a:xfrm>
        </p:spPr>
        <p:txBody>
          <a:bodyPr/>
          <a:p>
            <a:r>
              <a:rPr lang="en-US" sz="2400"/>
              <a:t>对自己严格，对他人宽松</a:t>
            </a:r>
            <a:r>
              <a:rPr lang="zh-CN" altLang="en-US" sz="2400"/>
              <a:t>（严以律己，</a:t>
            </a:r>
            <a:r>
              <a:rPr lang="zh-CN" altLang="en-US" sz="2400"/>
              <a:t>宽以待人）</a:t>
            </a:r>
            <a:endParaRPr lang="en-US" sz="2400"/>
          </a:p>
          <a:p>
            <a:r>
              <a:rPr lang="en-US" sz="2400"/>
              <a:t>接收</a:t>
            </a:r>
            <a:endParaRPr lang="en-US" sz="2400"/>
          </a:p>
          <a:p>
            <a:pPr lvl="1"/>
            <a:r>
              <a:rPr lang="en-US" sz="2000"/>
              <a:t>ICMPv6 进行校验时，只要求和结果等于 0xFFFF 即可</a:t>
            </a:r>
            <a:endParaRPr lang="en-US" sz="2000"/>
          </a:p>
          <a:p>
            <a:pPr lvl="1"/>
            <a:r>
              <a:rPr lang="en-US" sz="2000"/>
              <a:t>UDPv6 进行校验时，求和结果等于 0xFFFF，并且校验和不等于 0x0000</a:t>
            </a:r>
            <a:endParaRPr lang="en-US" sz="2000"/>
          </a:p>
          <a:p>
            <a:r>
              <a:rPr lang="en-US" sz="2400"/>
              <a:t>发送</a:t>
            </a:r>
            <a:endParaRPr lang="en-US" sz="2400"/>
          </a:p>
          <a:p>
            <a:pPr lvl="1"/>
            <a:r>
              <a:rPr lang="en-US" sz="2000"/>
              <a:t>ICMPv6 计算校验和的时候，当校验和计算结果是 0x0000，就应当写入 0x0000，而不是错误的 0xFFFF</a:t>
            </a:r>
            <a:endParaRPr lang="en-US" sz="2000"/>
          </a:p>
          <a:p>
            <a:pPr lvl="1"/>
            <a:r>
              <a:rPr lang="en-US" sz="2000"/>
              <a:t>UDPv6 计算校验和的时候，当校验和计算结果是 0x0000，就应当写入 0xFFFF，而不是错误的 0x0000</a:t>
            </a:r>
            <a:endParaRPr lang="en-US" sz="2000"/>
          </a:p>
          <a:p>
            <a:endParaRPr 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路由协议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路由协议</a:t>
            </a:r>
            <a:r>
              <a:rPr lang="zh-CN" altLang="en-US"/>
              <a:t>回顾：</a:t>
            </a:r>
            <a:endParaRPr lang="zh-CN" altLang="en-US"/>
          </a:p>
          <a:p>
            <a:pPr lvl="1"/>
            <a:r>
              <a:rPr lang="zh-CN" altLang="en-US"/>
              <a:t>若干个路由器通过网线连接成了</a:t>
            </a:r>
            <a:r>
              <a:rPr lang="zh-CN" altLang="en-US"/>
              <a:t>网络</a:t>
            </a:r>
            <a:endParaRPr lang="zh-CN" altLang="en-US"/>
          </a:p>
          <a:p>
            <a:pPr lvl="1"/>
            <a:r>
              <a:rPr lang="zh-CN" altLang="en-US"/>
              <a:t>初始状态下，每个路由器只能和邻居</a:t>
            </a:r>
            <a:r>
              <a:rPr lang="zh-CN" altLang="en-US"/>
              <a:t>通信</a:t>
            </a:r>
            <a:endParaRPr lang="zh-CN" altLang="en-US"/>
          </a:p>
          <a:p>
            <a:pPr lvl="1"/>
            <a:r>
              <a:rPr lang="zh-CN" altLang="en-US"/>
              <a:t>运行路由协议后：所有路由器之间</a:t>
            </a:r>
            <a:r>
              <a:rPr lang="zh-CN" altLang="en-US"/>
              <a:t>互相通信</a:t>
            </a:r>
            <a:endParaRPr lang="zh-CN" altLang="en-US"/>
          </a:p>
          <a:p>
            <a:pPr lvl="0"/>
            <a:r>
              <a:rPr lang="zh-CN" altLang="en-US"/>
              <a:t>路由协议分类</a:t>
            </a:r>
            <a:endParaRPr lang="zh-CN" altLang="en-US"/>
          </a:p>
          <a:p>
            <a:pPr lvl="1"/>
            <a:r>
              <a:rPr lang="zh-CN" altLang="en-US"/>
              <a:t>链路状态路由协议：</a:t>
            </a:r>
            <a:r>
              <a:rPr lang="en-US" altLang="zh-CN"/>
              <a:t>OSPF</a:t>
            </a:r>
            <a:endParaRPr lang="en-US" altLang="zh-CN"/>
          </a:p>
          <a:p>
            <a:pPr lvl="1"/>
            <a:r>
              <a:rPr lang="zh-CN" altLang="en-US"/>
              <a:t>距离向量路由协议：</a:t>
            </a:r>
            <a:r>
              <a:rPr lang="en-US" altLang="zh-CN"/>
              <a:t>RIPng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</a:t>
            </a:r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小</a:t>
            </a:r>
            <a:r>
              <a:rPr lang="en-US" altLang="zh-CN"/>
              <a:t> A </a:t>
            </a:r>
            <a:r>
              <a:rPr lang="zh-CN" altLang="en-US"/>
              <a:t>搬家到了一个新</a:t>
            </a:r>
            <a:r>
              <a:rPr lang="zh-CN" altLang="en-US"/>
              <a:t>城市</a:t>
            </a:r>
            <a:endParaRPr lang="zh-CN" altLang="en-US"/>
          </a:p>
          <a:p>
            <a:r>
              <a:rPr lang="zh-CN" altLang="en-US"/>
              <a:t>人生地不熟，如何了解附近的</a:t>
            </a:r>
            <a:r>
              <a:rPr lang="zh-CN" altLang="en-US"/>
              <a:t>情况？</a:t>
            </a:r>
            <a:endParaRPr lang="zh-CN" altLang="en-US"/>
          </a:p>
          <a:p>
            <a:r>
              <a:rPr lang="zh-CN" altLang="en-US"/>
              <a:t>下载一个地图</a:t>
            </a:r>
            <a:r>
              <a:rPr lang="en-US" altLang="zh-CN"/>
              <a:t> App</a:t>
            </a:r>
            <a:r>
              <a:rPr lang="zh-CN" altLang="en-US"/>
              <a:t>，</a:t>
            </a:r>
            <a:r>
              <a:rPr lang="zh-CN" altLang="en-US"/>
              <a:t>或者买一份纸质</a:t>
            </a:r>
            <a:r>
              <a:rPr lang="zh-CN" altLang="en-US"/>
              <a:t>地图</a:t>
            </a:r>
            <a:endParaRPr lang="zh-CN" altLang="en-US"/>
          </a:p>
          <a:p>
            <a:r>
              <a:rPr lang="zh-CN" altLang="en-US"/>
              <a:t>地图包括</a:t>
            </a:r>
            <a:r>
              <a:rPr lang="zh-CN" altLang="en-US"/>
              <a:t>什么信息：</a:t>
            </a:r>
            <a:endParaRPr lang="zh-CN" altLang="en-US"/>
          </a:p>
          <a:p>
            <a:pPr lvl="1"/>
            <a:r>
              <a:rPr lang="zh-CN" altLang="en-US" sz="2400"/>
              <a:t>我在哪</a:t>
            </a:r>
            <a:endParaRPr lang="zh-CN" altLang="en-US" sz="2400"/>
          </a:p>
          <a:p>
            <a:pPr lvl="1"/>
            <a:r>
              <a:rPr lang="zh-CN" altLang="en-US" sz="2400"/>
              <a:t>有哪些地方</a:t>
            </a:r>
            <a:r>
              <a:rPr lang="zh-CN" altLang="en-US" sz="2400"/>
              <a:t>可以去</a:t>
            </a:r>
            <a:endParaRPr lang="zh-CN" altLang="en-US" sz="2400"/>
          </a:p>
          <a:p>
            <a:pPr lvl="1"/>
            <a:r>
              <a:rPr lang="zh-CN" altLang="en-US" sz="2400"/>
              <a:t>我要去</a:t>
            </a:r>
            <a:r>
              <a:rPr lang="zh-CN" altLang="en-US" sz="2400"/>
              <a:t>某个地方，可以怎么走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</a:t>
            </a:r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假如小</a:t>
            </a:r>
            <a:r>
              <a:rPr lang="en-US" altLang="zh-CN"/>
              <a:t> A </a:t>
            </a:r>
            <a:r>
              <a:rPr lang="zh-CN" altLang="en-US"/>
              <a:t>只能和邻居</a:t>
            </a:r>
            <a:r>
              <a:rPr lang="zh-CN" altLang="en-US"/>
              <a:t>交流</a:t>
            </a:r>
            <a:endParaRPr lang="zh-CN" altLang="en-US"/>
          </a:p>
          <a:p>
            <a:pPr lvl="1"/>
            <a:r>
              <a:rPr lang="zh-CN" altLang="en-US"/>
              <a:t>可以画出一个</a:t>
            </a:r>
            <a:r>
              <a:rPr lang="zh-CN" altLang="en-US"/>
              <a:t>只有自己和邻居的地图，更远的就</a:t>
            </a:r>
            <a:r>
              <a:rPr lang="zh-CN" altLang="en-US"/>
              <a:t>不知道了</a:t>
            </a:r>
            <a:endParaRPr lang="zh-CN" altLang="en-US"/>
          </a:p>
          <a:p>
            <a:r>
              <a:rPr lang="zh-CN" altLang="en-US"/>
              <a:t>小</a:t>
            </a:r>
            <a:r>
              <a:rPr lang="en-US" altLang="zh-CN"/>
              <a:t> A </a:t>
            </a:r>
            <a:r>
              <a:rPr lang="zh-CN" altLang="en-US"/>
              <a:t>如何获取完整</a:t>
            </a:r>
            <a:r>
              <a:rPr lang="zh-CN" altLang="en-US"/>
              <a:t>的地图？</a:t>
            </a:r>
            <a:endParaRPr lang="zh-CN" altLang="en-US"/>
          </a:p>
          <a:p>
            <a:pPr lvl="1"/>
            <a:r>
              <a:rPr lang="zh-CN" altLang="en-US"/>
              <a:t>找邻居要一份</a:t>
            </a:r>
            <a:r>
              <a:rPr lang="zh-CN" altLang="en-US"/>
              <a:t>地图</a:t>
            </a:r>
            <a:endParaRPr lang="zh-CN" altLang="en-US"/>
          </a:p>
          <a:p>
            <a:pPr lvl="1"/>
            <a:r>
              <a:rPr lang="zh-CN" altLang="en-US"/>
              <a:t>把自己家的地址标记到</a:t>
            </a:r>
            <a:r>
              <a:rPr lang="zh-CN" altLang="en-US"/>
              <a:t>地图上</a:t>
            </a:r>
            <a:endParaRPr lang="zh-CN" altLang="en-US"/>
          </a:p>
          <a:p>
            <a:pPr lvl="1"/>
            <a:r>
              <a:rPr lang="zh-CN" altLang="en-US"/>
              <a:t>同时告诉邻居，把自己家的地址添加到</a:t>
            </a:r>
            <a:r>
              <a:rPr lang="zh-CN" altLang="en-US"/>
              <a:t>地图上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</a:t>
            </a:r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340510"/>
            <a:ext cx="8229600" cy="4525963"/>
          </a:xfrm>
        </p:spPr>
        <p:txBody>
          <a:bodyPr/>
          <a:p>
            <a:r>
              <a:rPr lang="zh-CN" altLang="en-US"/>
              <a:t>假如小</a:t>
            </a:r>
            <a:r>
              <a:rPr lang="en-US" altLang="zh-CN"/>
              <a:t> A </a:t>
            </a:r>
            <a:r>
              <a:rPr lang="zh-CN" altLang="en-US"/>
              <a:t>的邻居是小</a:t>
            </a:r>
            <a:r>
              <a:rPr lang="en-US" altLang="zh-CN"/>
              <a:t> </a:t>
            </a:r>
            <a:r>
              <a:rPr lang="en-US" altLang="zh-CN"/>
              <a:t>B</a:t>
            </a:r>
            <a:endParaRPr lang="en-US" altLang="zh-CN"/>
          </a:p>
          <a:p>
            <a:r>
              <a:rPr lang="zh-CN" altLang="en-US"/>
              <a:t>小</a:t>
            </a:r>
            <a:r>
              <a:rPr lang="en-US" altLang="zh-CN"/>
              <a:t> B </a:t>
            </a:r>
            <a:r>
              <a:rPr lang="zh-CN" altLang="en-US"/>
              <a:t>有一份地图，记录了</a:t>
            </a:r>
            <a:r>
              <a:rPr lang="en-US" altLang="zh-CN"/>
              <a:t> B C D </a:t>
            </a:r>
            <a:r>
              <a:rPr lang="zh-CN" altLang="en-US"/>
              <a:t>的连接</a:t>
            </a:r>
            <a:r>
              <a:rPr lang="zh-CN" altLang="en-US"/>
              <a:t>关系</a:t>
            </a:r>
            <a:endParaRPr lang="zh-CN" altLang="en-US"/>
          </a:p>
          <a:p>
            <a:r>
              <a:rPr lang="zh-CN" altLang="en-US"/>
              <a:t>现在小</a:t>
            </a:r>
            <a:r>
              <a:rPr lang="en-US" altLang="zh-CN"/>
              <a:t> A </a:t>
            </a:r>
            <a:r>
              <a:rPr lang="zh-CN" altLang="en-US"/>
              <a:t>要</a:t>
            </a:r>
            <a:r>
              <a:rPr lang="zh-CN" altLang="en-US"/>
              <a:t>搬进来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403985" y="371665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83710" y="371665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83710" y="544512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75780" y="371665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5" idx="3"/>
            <a:endCxn id="7" idx="1"/>
          </p:cNvCxnSpPr>
          <p:nvPr/>
        </p:nvCxnSpPr>
        <p:spPr>
          <a:xfrm>
            <a:off x="2915920" y="4220845"/>
            <a:ext cx="1367790" cy="0"/>
          </a:xfrm>
          <a:prstGeom prst="straightConnector1">
            <a:avLst/>
          </a:prstGeom>
          <a:ln w="12700" cap="flat" cmpd="sng">
            <a:solidFill>
              <a:schemeClr val="accent1">
                <a:shade val="50000"/>
              </a:schemeClr>
            </a:solidFill>
            <a:prstDash val="sysDot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  <a:endCxn id="8" idx="0"/>
          </p:cNvCxnSpPr>
          <p:nvPr/>
        </p:nvCxnSpPr>
        <p:spPr>
          <a:xfrm>
            <a:off x="5039995" y="4725035"/>
            <a:ext cx="0" cy="7200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3"/>
            <a:endCxn id="9" idx="1"/>
          </p:cNvCxnSpPr>
          <p:nvPr/>
        </p:nvCxnSpPr>
        <p:spPr>
          <a:xfrm>
            <a:off x="5795645" y="4220845"/>
            <a:ext cx="108013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</a:t>
            </a:r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小</a:t>
            </a:r>
            <a:r>
              <a:rPr lang="en-US" altLang="zh-CN"/>
              <a:t> B </a:t>
            </a:r>
            <a:r>
              <a:rPr lang="zh-CN" altLang="en-US"/>
              <a:t>告诉小</a:t>
            </a:r>
            <a:r>
              <a:rPr lang="en-US" altLang="zh-CN"/>
              <a:t> A</a:t>
            </a:r>
            <a:r>
              <a:rPr lang="zh-CN" altLang="en-US"/>
              <a:t>，自己的地图长</a:t>
            </a:r>
            <a:r>
              <a:rPr lang="zh-CN" altLang="en-US"/>
              <a:t>这个样子：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55240" y="299656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55240" y="472503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147310" y="299656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7" idx="2"/>
            <a:endCxn id="8" idx="0"/>
          </p:cNvCxnSpPr>
          <p:nvPr/>
        </p:nvCxnSpPr>
        <p:spPr>
          <a:xfrm>
            <a:off x="3311525" y="4004945"/>
            <a:ext cx="0" cy="7200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3"/>
            <a:endCxn id="9" idx="1"/>
          </p:cNvCxnSpPr>
          <p:nvPr/>
        </p:nvCxnSpPr>
        <p:spPr>
          <a:xfrm>
            <a:off x="4067175" y="3500755"/>
            <a:ext cx="108013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</a:t>
            </a:r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小</a:t>
            </a:r>
            <a:r>
              <a:rPr lang="en-US" altLang="zh-CN"/>
              <a:t> A </a:t>
            </a:r>
            <a:r>
              <a:rPr lang="zh-CN" altLang="en-US"/>
              <a:t>和小</a:t>
            </a:r>
            <a:r>
              <a:rPr lang="en-US" altLang="zh-CN"/>
              <a:t> B </a:t>
            </a:r>
            <a:r>
              <a:rPr lang="zh-CN" altLang="en-US"/>
              <a:t>是邻居，小</a:t>
            </a:r>
            <a:r>
              <a:rPr lang="en-US" altLang="zh-CN"/>
              <a:t> A </a:t>
            </a:r>
            <a:r>
              <a:rPr lang="zh-CN" altLang="en-US"/>
              <a:t>自己的地图</a:t>
            </a:r>
            <a:r>
              <a:rPr lang="zh-CN" altLang="en-US"/>
              <a:t>是这个样子：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268220" y="371665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47945" y="371665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5" idx="3"/>
            <a:endCxn id="7" idx="1"/>
          </p:cNvCxnSpPr>
          <p:nvPr/>
        </p:nvCxnSpPr>
        <p:spPr>
          <a:xfrm>
            <a:off x="3780155" y="4220845"/>
            <a:ext cx="1367790" cy="0"/>
          </a:xfrm>
          <a:prstGeom prst="straightConnector1">
            <a:avLst/>
          </a:prstGeom>
          <a:ln w="12700" cap="flat" cmpd="sng">
            <a:solidFill>
              <a:schemeClr val="accent1">
                <a:shade val="50000"/>
              </a:schemeClr>
            </a:solidFill>
            <a:prstDash val="solid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</a:t>
            </a:r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那么小</a:t>
            </a:r>
            <a:r>
              <a:rPr lang="en-US" altLang="zh-CN"/>
              <a:t> A </a:t>
            </a:r>
            <a:r>
              <a:rPr lang="zh-CN" altLang="en-US"/>
              <a:t>要把两份地图拼</a:t>
            </a:r>
            <a:r>
              <a:rPr lang="zh-CN" altLang="en-US"/>
              <a:t>起来</a:t>
            </a:r>
            <a:endParaRPr lang="zh-CN" altLang="en-US"/>
          </a:p>
          <a:p>
            <a:r>
              <a:rPr lang="zh-CN" altLang="en-US"/>
              <a:t>左边是小</a:t>
            </a:r>
            <a:r>
              <a:rPr lang="en-US" altLang="zh-CN"/>
              <a:t> A </a:t>
            </a:r>
            <a:r>
              <a:rPr lang="zh-CN" altLang="en-US"/>
              <a:t>自己绘制的，右边是小</a:t>
            </a:r>
            <a:r>
              <a:rPr lang="en-US" altLang="zh-CN"/>
              <a:t> B </a:t>
            </a:r>
            <a:r>
              <a:rPr lang="zh-CN" altLang="en-US"/>
              <a:t>给小</a:t>
            </a:r>
            <a:r>
              <a:rPr lang="en-US" altLang="zh-CN"/>
              <a:t> A </a:t>
            </a:r>
            <a:r>
              <a:rPr lang="zh-CN" altLang="en-US"/>
              <a:t>的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79705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059430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5" idx="3"/>
            <a:endCxn id="7" idx="1"/>
          </p:cNvCxnSpPr>
          <p:nvPr/>
        </p:nvCxnSpPr>
        <p:spPr>
          <a:xfrm>
            <a:off x="1691640" y="4076700"/>
            <a:ext cx="1367790" cy="0"/>
          </a:xfrm>
          <a:prstGeom prst="straightConnector1">
            <a:avLst/>
          </a:prstGeom>
          <a:ln w="12700" cap="flat" cmpd="sng">
            <a:solidFill>
              <a:schemeClr val="accent1">
                <a:shade val="50000"/>
              </a:schemeClr>
            </a:solidFill>
            <a:prstDash val="solid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932045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32045" y="530098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524115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6" idx="2"/>
            <a:endCxn id="8" idx="0"/>
          </p:cNvCxnSpPr>
          <p:nvPr/>
        </p:nvCxnSpPr>
        <p:spPr>
          <a:xfrm>
            <a:off x="5688330" y="4580890"/>
            <a:ext cx="0" cy="7200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3"/>
            <a:endCxn id="9" idx="1"/>
          </p:cNvCxnSpPr>
          <p:nvPr/>
        </p:nvCxnSpPr>
        <p:spPr>
          <a:xfrm>
            <a:off x="6443980" y="4076700"/>
            <a:ext cx="108013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</a:t>
            </a:r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那么小</a:t>
            </a:r>
            <a:r>
              <a:rPr lang="en-US" altLang="zh-CN"/>
              <a:t> A </a:t>
            </a:r>
            <a:r>
              <a:rPr lang="zh-CN" altLang="en-US"/>
              <a:t>就得到了完整的</a:t>
            </a:r>
            <a:r>
              <a:rPr lang="zh-CN" altLang="en-US"/>
              <a:t>地图：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8040" y="328485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07765" y="328485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07765" y="501332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99835" y="328485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5" idx="3"/>
            <a:endCxn id="7" idx="1"/>
          </p:cNvCxnSpPr>
          <p:nvPr/>
        </p:nvCxnSpPr>
        <p:spPr>
          <a:xfrm>
            <a:off x="2339975" y="3789045"/>
            <a:ext cx="1367790" cy="0"/>
          </a:xfrm>
          <a:prstGeom prst="straightConnector1">
            <a:avLst/>
          </a:prstGeom>
          <a:ln w="12700" cap="flat" cmpd="sng">
            <a:solidFill>
              <a:schemeClr val="accent1">
                <a:shade val="50000"/>
              </a:schemeClr>
            </a:solidFill>
            <a:prstDash val="solid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  <a:endCxn id="8" idx="0"/>
          </p:cNvCxnSpPr>
          <p:nvPr/>
        </p:nvCxnSpPr>
        <p:spPr>
          <a:xfrm>
            <a:off x="4464050" y="4293235"/>
            <a:ext cx="0" cy="7200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3"/>
            <a:endCxn id="9" idx="1"/>
          </p:cNvCxnSpPr>
          <p:nvPr/>
        </p:nvCxnSpPr>
        <p:spPr>
          <a:xfrm>
            <a:off x="5219700" y="3789045"/>
            <a:ext cx="108013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</a:t>
            </a:r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小</a:t>
            </a:r>
            <a:r>
              <a:rPr lang="en-US" altLang="zh-CN"/>
              <a:t> A </a:t>
            </a:r>
            <a:r>
              <a:rPr lang="zh-CN" altLang="en-US"/>
              <a:t>再把完整的地图告诉小</a:t>
            </a:r>
            <a:r>
              <a:rPr lang="en-US" altLang="zh-CN"/>
              <a:t> </a:t>
            </a:r>
            <a:r>
              <a:rPr lang="en-US" altLang="zh-CN"/>
              <a:t>B</a:t>
            </a:r>
            <a:endParaRPr lang="en-US" altLang="zh-CN"/>
          </a:p>
          <a:p>
            <a:r>
              <a:rPr lang="zh-CN" altLang="en-US"/>
              <a:t>小</a:t>
            </a:r>
            <a:r>
              <a:rPr lang="en-US" altLang="zh-CN"/>
              <a:t> B </a:t>
            </a:r>
            <a:r>
              <a:rPr lang="zh-CN" altLang="en-US"/>
              <a:t>告诉小</a:t>
            </a:r>
            <a:r>
              <a:rPr lang="en-US" altLang="zh-CN"/>
              <a:t> C </a:t>
            </a:r>
            <a:r>
              <a:rPr lang="zh-CN" altLang="en-US"/>
              <a:t>和小</a:t>
            </a:r>
            <a:r>
              <a:rPr lang="en-US" altLang="zh-CN"/>
              <a:t> </a:t>
            </a:r>
            <a:r>
              <a:rPr lang="en-US" altLang="zh-CN"/>
              <a:t>D</a:t>
            </a:r>
            <a:endParaRPr lang="en-US" altLang="zh-CN"/>
          </a:p>
          <a:p>
            <a:r>
              <a:rPr lang="zh-CN" altLang="en-US"/>
              <a:t>这样所有人都获得了最新的</a:t>
            </a:r>
            <a:r>
              <a:rPr lang="zh-CN" altLang="en-US"/>
              <a:t>完整地图</a:t>
            </a:r>
            <a:endParaRPr lang="zh-CN" altLang="en-US"/>
          </a:p>
          <a:p>
            <a:r>
              <a:rPr lang="zh-CN" altLang="en-US"/>
              <a:t>那么这个地图</a:t>
            </a:r>
            <a:r>
              <a:rPr lang="zh-CN" altLang="en-US"/>
              <a:t>怎么表示呢？</a:t>
            </a:r>
            <a:endParaRPr lang="zh-CN" altLang="en-US"/>
          </a:p>
          <a:p>
            <a:pPr lvl="1"/>
            <a:r>
              <a:rPr lang="zh-CN" altLang="en-US"/>
              <a:t>结点（路由器）</a:t>
            </a:r>
            <a:r>
              <a:rPr lang="en-US" altLang="zh-CN"/>
              <a:t> + </a:t>
            </a:r>
            <a:r>
              <a:rPr lang="zh-CN" altLang="en-US"/>
              <a:t>边（连接</a:t>
            </a:r>
            <a:r>
              <a:rPr lang="zh-CN" altLang="en-US"/>
              <a:t>关系）</a:t>
            </a:r>
            <a:endParaRPr lang="zh-CN" altLang="en-US"/>
          </a:p>
          <a:p>
            <a:pPr lvl="1"/>
            <a:r>
              <a:rPr lang="zh-CN" altLang="en-US"/>
              <a:t>邻接</a:t>
            </a:r>
            <a:r>
              <a:rPr lang="zh-CN" altLang="en-US"/>
              <a:t>表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</a:t>
            </a:r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367180"/>
            <a:ext cx="8229600" cy="4525963"/>
          </a:xfrm>
        </p:spPr>
        <p:txBody>
          <a:bodyPr/>
          <a:p>
            <a:r>
              <a:rPr lang="zh-CN" altLang="en-US"/>
              <a:t>小</a:t>
            </a:r>
            <a:r>
              <a:rPr lang="en-US" altLang="zh-CN"/>
              <a:t> A </a:t>
            </a:r>
            <a:r>
              <a:rPr lang="zh-CN" altLang="en-US"/>
              <a:t>表示自己的初始</a:t>
            </a:r>
            <a:r>
              <a:rPr lang="zh-CN" altLang="en-US"/>
              <a:t>地图：</a:t>
            </a:r>
            <a:endParaRPr lang="zh-CN" altLang="en-US"/>
          </a:p>
          <a:p>
            <a:pPr lvl="1"/>
            <a:r>
              <a:rPr lang="zh-CN" altLang="en-US"/>
              <a:t>路由器</a:t>
            </a:r>
            <a:r>
              <a:rPr lang="en-US" altLang="zh-CN"/>
              <a:t> A</a:t>
            </a:r>
            <a:r>
              <a:rPr lang="zh-CN" altLang="en-US"/>
              <a:t>，邻居包括：路由器</a:t>
            </a:r>
            <a:r>
              <a:rPr lang="en-US" altLang="zh-CN"/>
              <a:t> </a:t>
            </a:r>
            <a:r>
              <a:rPr lang="en-US" altLang="zh-CN"/>
              <a:t>B</a:t>
            </a:r>
            <a:endParaRPr lang="en-US" altLang="zh-CN"/>
          </a:p>
          <a:p>
            <a:pPr lvl="1"/>
            <a:r>
              <a:rPr lang="zh-CN" altLang="en-US"/>
              <a:t>路由器</a:t>
            </a:r>
            <a:r>
              <a:rPr lang="en-US" altLang="zh-CN"/>
              <a:t> B</a:t>
            </a:r>
            <a:r>
              <a:rPr lang="zh-CN" altLang="en-US"/>
              <a:t>，邻居包括：路由器</a:t>
            </a:r>
            <a:r>
              <a:rPr lang="en-US" altLang="zh-CN"/>
              <a:t> 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555875" y="486918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35600" y="486918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5" idx="3"/>
            <a:endCxn id="7" idx="1"/>
          </p:cNvCxnSpPr>
          <p:nvPr/>
        </p:nvCxnSpPr>
        <p:spPr>
          <a:xfrm>
            <a:off x="4067810" y="5373370"/>
            <a:ext cx="1367790" cy="0"/>
          </a:xfrm>
          <a:prstGeom prst="straightConnector1">
            <a:avLst/>
          </a:prstGeom>
          <a:ln w="12700" cap="flat" cmpd="sng">
            <a:solidFill>
              <a:schemeClr val="accent1">
                <a:shade val="50000"/>
              </a:schemeClr>
            </a:solidFill>
            <a:prstDash val="solid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</a:t>
            </a:r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196365"/>
            <a:ext cx="8229600" cy="4525963"/>
          </a:xfrm>
        </p:spPr>
        <p:txBody>
          <a:bodyPr/>
          <a:p>
            <a:r>
              <a:rPr lang="zh-CN" altLang="en-US"/>
              <a:t>小</a:t>
            </a:r>
            <a:r>
              <a:rPr lang="en-US" altLang="zh-CN"/>
              <a:t> B </a:t>
            </a:r>
            <a:r>
              <a:rPr lang="zh-CN" altLang="en-US"/>
              <a:t>表示自己和小</a:t>
            </a:r>
            <a:r>
              <a:rPr lang="en-US" altLang="zh-CN"/>
              <a:t> C </a:t>
            </a:r>
            <a:r>
              <a:rPr lang="zh-CN" altLang="en-US"/>
              <a:t>小</a:t>
            </a:r>
            <a:r>
              <a:rPr lang="en-US" altLang="zh-CN"/>
              <a:t> D </a:t>
            </a:r>
            <a:r>
              <a:rPr lang="zh-CN" altLang="en-US"/>
              <a:t>的地图：</a:t>
            </a:r>
            <a:endParaRPr lang="zh-CN" altLang="en-US"/>
          </a:p>
          <a:p>
            <a:pPr lvl="1"/>
            <a:r>
              <a:rPr lang="zh-CN" altLang="en-US"/>
              <a:t>路由器</a:t>
            </a:r>
            <a:r>
              <a:rPr lang="en-US" altLang="zh-CN"/>
              <a:t> B</a:t>
            </a:r>
            <a:r>
              <a:rPr lang="zh-CN" altLang="en-US"/>
              <a:t>，邻居包括：路由器</a:t>
            </a:r>
            <a:r>
              <a:rPr lang="en-US" altLang="zh-CN"/>
              <a:t> C </a:t>
            </a:r>
            <a:r>
              <a:rPr lang="zh-CN" altLang="en-US"/>
              <a:t>和</a:t>
            </a:r>
            <a:r>
              <a:rPr lang="en-US" altLang="zh-CN"/>
              <a:t> </a:t>
            </a:r>
            <a:r>
              <a:rPr lang="en-US" altLang="zh-CN"/>
              <a:t>D</a:t>
            </a:r>
            <a:endParaRPr lang="en-US" altLang="zh-CN"/>
          </a:p>
          <a:p>
            <a:pPr lvl="1"/>
            <a:r>
              <a:rPr lang="zh-CN" altLang="en-US"/>
              <a:t>路由器</a:t>
            </a:r>
            <a:r>
              <a:rPr lang="en-US" altLang="zh-CN"/>
              <a:t> C</a:t>
            </a:r>
            <a:r>
              <a:rPr lang="zh-CN" altLang="en-US"/>
              <a:t>，邻居包括：路由器</a:t>
            </a:r>
            <a:r>
              <a:rPr lang="en-US" altLang="zh-CN"/>
              <a:t> </a:t>
            </a:r>
            <a:r>
              <a:rPr lang="en-US" altLang="zh-CN"/>
              <a:t>B</a:t>
            </a:r>
            <a:endParaRPr lang="en-US" altLang="zh-CN"/>
          </a:p>
          <a:p>
            <a:pPr lvl="1"/>
            <a:r>
              <a:rPr lang="zh-CN" altLang="en-US"/>
              <a:t>路由器</a:t>
            </a:r>
            <a:r>
              <a:rPr lang="en-US" altLang="zh-CN"/>
              <a:t> D</a:t>
            </a:r>
            <a:r>
              <a:rPr lang="zh-CN" altLang="en-US"/>
              <a:t>，邻居包括：路由器</a:t>
            </a:r>
            <a:r>
              <a:rPr lang="en-US" altLang="zh-CN"/>
              <a:t> </a:t>
            </a:r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55240" y="393255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55240" y="566102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147310" y="393255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6" idx="2"/>
            <a:endCxn id="8" idx="0"/>
          </p:cNvCxnSpPr>
          <p:nvPr/>
        </p:nvCxnSpPr>
        <p:spPr>
          <a:xfrm>
            <a:off x="3311525" y="4940935"/>
            <a:ext cx="0" cy="7200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3"/>
            <a:endCxn id="9" idx="1"/>
          </p:cNvCxnSpPr>
          <p:nvPr/>
        </p:nvCxnSpPr>
        <p:spPr>
          <a:xfrm>
            <a:off x="4067175" y="4436745"/>
            <a:ext cx="108013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</a:t>
            </a:r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989" y="1340510"/>
            <a:ext cx="8229600" cy="4525963"/>
          </a:xfrm>
        </p:spPr>
        <p:txBody>
          <a:bodyPr/>
          <a:p>
            <a:r>
              <a:rPr lang="zh-CN" altLang="en-US" sz="2400"/>
              <a:t>小</a:t>
            </a:r>
            <a:r>
              <a:rPr lang="en-US" altLang="zh-CN" sz="2400"/>
              <a:t> A </a:t>
            </a:r>
            <a:r>
              <a:rPr lang="zh-CN" altLang="en-US" sz="2400"/>
              <a:t>自己的初始地图：</a:t>
            </a:r>
            <a:endParaRPr lang="zh-CN" altLang="en-US" sz="2400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A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B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A</a:t>
            </a:r>
            <a:endParaRPr lang="en-US" altLang="zh-CN"/>
          </a:p>
          <a:p>
            <a:r>
              <a:rPr lang="zh-CN" altLang="en-US" sz="2400"/>
              <a:t>小</a:t>
            </a:r>
            <a:r>
              <a:rPr lang="en-US" altLang="zh-CN" sz="2400"/>
              <a:t> B </a:t>
            </a:r>
            <a:r>
              <a:rPr lang="zh-CN" altLang="en-US" sz="2400"/>
              <a:t>给小</a:t>
            </a:r>
            <a:r>
              <a:rPr lang="en-US" altLang="zh-CN" sz="2400"/>
              <a:t> A </a:t>
            </a:r>
            <a:r>
              <a:rPr lang="zh-CN" altLang="en-US" sz="2400"/>
              <a:t>发送的地图：</a:t>
            </a:r>
            <a:endParaRPr lang="zh-CN" altLang="en-US" sz="2400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B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C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D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C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D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>
              <a:sym typeface="+mn-ea"/>
            </a:endParaRPr>
          </a:p>
          <a:p>
            <a:pPr lvl="0"/>
            <a:r>
              <a:rPr lang="zh-CN" altLang="en-US" sz="3200">
                <a:sym typeface="+mn-ea"/>
              </a:rPr>
              <a:t>怎么合并？</a:t>
            </a:r>
            <a:endParaRPr lang="en-US" altLang="zh-CN" sz="3200"/>
          </a:p>
          <a:p>
            <a:endParaRPr lang="en-US" altLang="zh-CN" sz="3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</a:t>
            </a:r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989" y="1340510"/>
            <a:ext cx="8229600" cy="4525963"/>
          </a:xfrm>
        </p:spPr>
        <p:txBody>
          <a:bodyPr/>
          <a:p>
            <a:r>
              <a:rPr lang="zh-CN" altLang="en-US" sz="2400"/>
              <a:t>小</a:t>
            </a:r>
            <a:r>
              <a:rPr lang="en-US" altLang="zh-CN" sz="2400"/>
              <a:t> A </a:t>
            </a:r>
            <a:r>
              <a:rPr lang="zh-CN" altLang="en-US" sz="2400"/>
              <a:t>合并后的</a:t>
            </a:r>
            <a:r>
              <a:rPr lang="zh-CN" altLang="en-US" sz="2400"/>
              <a:t>完整地图：</a:t>
            </a:r>
            <a:endParaRPr lang="zh-CN" altLang="en-US" sz="2400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A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B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chemeClr val="accent5"/>
                </a:solidFill>
                <a:sym typeface="+mn-ea"/>
              </a:rPr>
              <a:t>A</a:t>
            </a:r>
            <a:r>
              <a:rPr lang="zh-CN" altLang="en-US" b="1">
                <a:solidFill>
                  <a:schemeClr val="accent5"/>
                </a:solidFill>
                <a:sym typeface="+mn-ea"/>
              </a:rPr>
              <a:t>、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C 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和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 D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zh-CN" altLang="en-US" sz="2400" strike="sngStrike"/>
              <a:t>小</a:t>
            </a:r>
            <a:r>
              <a:rPr lang="en-US" altLang="zh-CN" sz="2400" strike="sngStrike"/>
              <a:t> B </a:t>
            </a:r>
            <a:r>
              <a:rPr lang="zh-CN" altLang="en-US" sz="2400" strike="sngStrike"/>
              <a:t>给小</a:t>
            </a:r>
            <a:r>
              <a:rPr lang="en-US" altLang="zh-CN" sz="2400" strike="sngStrike"/>
              <a:t> A </a:t>
            </a:r>
            <a:r>
              <a:rPr lang="zh-CN" altLang="en-US" sz="2400" strike="sngStrike"/>
              <a:t>发送的地图：</a:t>
            </a:r>
            <a:endParaRPr lang="zh-CN" altLang="en-US" sz="2400" strike="sngStrike"/>
          </a:p>
          <a:p>
            <a:pPr lvl="1"/>
            <a:r>
              <a:rPr lang="zh-CN" altLang="en-US" strike="sngStrike">
                <a:sym typeface="+mn-ea"/>
              </a:rPr>
              <a:t>路由器</a:t>
            </a:r>
            <a:r>
              <a:rPr lang="en-US" altLang="zh-CN" strike="sngStrike">
                <a:sym typeface="+mn-ea"/>
              </a:rPr>
              <a:t> B</a:t>
            </a:r>
            <a:r>
              <a:rPr lang="zh-CN" altLang="en-US" strike="sngStrike">
                <a:sym typeface="+mn-ea"/>
              </a:rPr>
              <a:t>，邻居包括：路由器</a:t>
            </a:r>
            <a:r>
              <a:rPr lang="en-US" altLang="zh-CN" strike="sngStrike">
                <a:sym typeface="+mn-ea"/>
              </a:rPr>
              <a:t> C </a:t>
            </a:r>
            <a:r>
              <a:rPr lang="zh-CN" altLang="en-US" strike="sngStrike">
                <a:sym typeface="+mn-ea"/>
              </a:rPr>
              <a:t>和</a:t>
            </a:r>
            <a:r>
              <a:rPr lang="en-US" altLang="zh-CN" strike="sngStrike">
                <a:sym typeface="+mn-ea"/>
              </a:rPr>
              <a:t> D</a:t>
            </a:r>
            <a:endParaRPr lang="en-US" altLang="zh-CN" strike="sngStrike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C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D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 sz="3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</a:t>
            </a:r>
            <a:r>
              <a:rPr lang="zh-CN" altLang="en-US"/>
              <a:t>故事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989" y="1196365"/>
            <a:ext cx="8229600" cy="4525963"/>
          </a:xfrm>
        </p:spPr>
        <p:txBody>
          <a:bodyPr/>
          <a:p>
            <a:r>
              <a:rPr lang="zh-CN" altLang="en-US" sz="2400"/>
              <a:t>小</a:t>
            </a:r>
            <a:r>
              <a:rPr lang="en-US" altLang="zh-CN" sz="2400"/>
              <a:t> A </a:t>
            </a:r>
            <a:r>
              <a:rPr lang="zh-CN" altLang="en-US" sz="2400"/>
              <a:t>合并后的</a:t>
            </a:r>
            <a:r>
              <a:rPr lang="zh-CN" altLang="en-US" sz="2400"/>
              <a:t>完整地图：</a:t>
            </a:r>
            <a:endParaRPr lang="zh-CN" altLang="en-US" sz="2400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A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B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chemeClr val="accent5"/>
                </a:solidFill>
                <a:sym typeface="+mn-ea"/>
              </a:rPr>
              <a:t>A</a:t>
            </a:r>
            <a:r>
              <a:rPr lang="zh-CN" altLang="en-US" b="1">
                <a:solidFill>
                  <a:schemeClr val="accent5"/>
                </a:solidFill>
                <a:sym typeface="+mn-ea"/>
              </a:rPr>
              <a:t>、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C 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和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 D</a:t>
            </a:r>
            <a:endParaRPr lang="en-US" altLang="zh-CN" b="1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C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D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 sz="3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31595" y="443674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07130" y="443674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07130" y="580517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83935" y="443674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5" idx="3"/>
            <a:endCxn id="7" idx="1"/>
          </p:cNvCxnSpPr>
          <p:nvPr/>
        </p:nvCxnSpPr>
        <p:spPr>
          <a:xfrm>
            <a:off x="2843530" y="4940935"/>
            <a:ext cx="863600" cy="0"/>
          </a:xfrm>
          <a:prstGeom prst="straightConnector1">
            <a:avLst/>
          </a:prstGeom>
          <a:ln w="12700" cap="flat" cmpd="sng">
            <a:solidFill>
              <a:schemeClr val="accent1">
                <a:shade val="50000"/>
              </a:schemeClr>
            </a:solidFill>
            <a:prstDash val="solid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  <a:endCxn id="8" idx="0"/>
          </p:cNvCxnSpPr>
          <p:nvPr/>
        </p:nvCxnSpPr>
        <p:spPr>
          <a:xfrm>
            <a:off x="4463415" y="5445125"/>
            <a:ext cx="0" cy="36004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3"/>
            <a:endCxn id="9" idx="1"/>
          </p:cNvCxnSpPr>
          <p:nvPr/>
        </p:nvCxnSpPr>
        <p:spPr>
          <a:xfrm>
            <a:off x="5219065" y="4940935"/>
            <a:ext cx="86487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搬家的故事</a:t>
            </a:r>
            <a:r>
              <a:rPr lang="zh-CN" altLang="en-US"/>
              <a:t>小结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“地图”记录了路由器之间的连接关系，用邻接表的形式</a:t>
            </a:r>
            <a:r>
              <a:rPr lang="zh-CN" altLang="en-US"/>
              <a:t>表示</a:t>
            </a:r>
            <a:endParaRPr lang="zh-CN" altLang="en-US"/>
          </a:p>
          <a:p>
            <a:pPr lvl="1"/>
            <a:r>
              <a:rPr lang="zh-CN" altLang="en-US"/>
              <a:t>路由器</a:t>
            </a:r>
            <a:r>
              <a:rPr lang="en-US" altLang="zh-CN"/>
              <a:t> A</a:t>
            </a:r>
            <a:r>
              <a:rPr lang="zh-CN" altLang="en-US"/>
              <a:t>，它的邻居有哪些</a:t>
            </a:r>
            <a:r>
              <a:rPr lang="zh-CN" altLang="en-US"/>
              <a:t>路由器</a:t>
            </a:r>
            <a:endParaRPr lang="zh-CN" altLang="en-US"/>
          </a:p>
          <a:p>
            <a:pPr lvl="1"/>
            <a:r>
              <a:rPr lang="zh-CN" altLang="en-US"/>
              <a:t>更新邻接表的内容，就</a:t>
            </a:r>
            <a:r>
              <a:rPr lang="zh-CN" altLang="en-US"/>
              <a:t>等于实现了地图的合并和</a:t>
            </a:r>
            <a:r>
              <a:rPr lang="zh-CN" altLang="en-US"/>
              <a:t>更新</a:t>
            </a:r>
            <a:endParaRPr lang="zh-CN" altLang="en-US"/>
          </a:p>
          <a:p>
            <a:pPr lvl="0"/>
            <a:r>
              <a:rPr lang="zh-CN" altLang="en-US"/>
              <a:t>除了连接关系，还需要什么</a:t>
            </a:r>
            <a:r>
              <a:rPr lang="zh-CN" altLang="en-US"/>
              <a:t>信息？</a:t>
            </a:r>
            <a:endParaRPr lang="zh-CN" altLang="en-US"/>
          </a:p>
          <a:p>
            <a:pPr lvl="1"/>
            <a:r>
              <a:rPr lang="zh-CN" altLang="en-US"/>
              <a:t>在网络中，除了路由器，还有终端网络</a:t>
            </a:r>
            <a:r>
              <a:rPr lang="zh-CN" altLang="en-US"/>
              <a:t>设备</a:t>
            </a:r>
            <a:endParaRPr lang="zh-CN" altLang="en-US"/>
          </a:p>
          <a:p>
            <a:pPr lvl="1"/>
            <a:r>
              <a:rPr lang="zh-CN" altLang="en-US"/>
              <a:t>需要</a:t>
            </a:r>
            <a:r>
              <a:rPr lang="zh-CN" altLang="en-US"/>
              <a:t>让终端网络设备</a:t>
            </a:r>
            <a:r>
              <a:rPr lang="zh-CN" altLang="en-US"/>
              <a:t>互通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路由协议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假设路由器还连接了用来接入终端设备的</a:t>
            </a:r>
            <a:r>
              <a:rPr lang="zh-CN" altLang="en-US"/>
              <a:t>网络</a:t>
            </a:r>
            <a:endParaRPr lang="zh-CN" altLang="en-US"/>
          </a:p>
          <a:p>
            <a:pPr lvl="1"/>
            <a:r>
              <a:rPr lang="zh-CN" altLang="en-US"/>
              <a:t>终端设备用小写字母</a:t>
            </a:r>
            <a:r>
              <a:rPr lang="zh-CN" altLang="en-US"/>
              <a:t>表示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31595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07130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07130" y="494093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83935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5" idx="3"/>
            <a:endCxn id="7" idx="1"/>
          </p:cNvCxnSpPr>
          <p:nvPr/>
        </p:nvCxnSpPr>
        <p:spPr>
          <a:xfrm>
            <a:off x="2843530" y="4076700"/>
            <a:ext cx="863600" cy="0"/>
          </a:xfrm>
          <a:prstGeom prst="straightConnector1">
            <a:avLst/>
          </a:prstGeom>
          <a:ln w="12700" cap="flat" cmpd="sng">
            <a:solidFill>
              <a:schemeClr val="accent1">
                <a:shade val="50000"/>
              </a:schemeClr>
            </a:solidFill>
            <a:prstDash val="solid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  <a:endCxn id="8" idx="0"/>
          </p:cNvCxnSpPr>
          <p:nvPr/>
        </p:nvCxnSpPr>
        <p:spPr>
          <a:xfrm>
            <a:off x="4463415" y="4580890"/>
            <a:ext cx="0" cy="36004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3"/>
            <a:endCxn id="9" idx="1"/>
          </p:cNvCxnSpPr>
          <p:nvPr/>
        </p:nvCxnSpPr>
        <p:spPr>
          <a:xfrm>
            <a:off x="5219065" y="4076700"/>
            <a:ext cx="86487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14300" y="3140710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14300" y="4004945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14300" y="4927600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Elbow Connector 14"/>
          <p:cNvCxnSpPr>
            <a:stCxn id="6" idx="3"/>
            <a:endCxn id="5" idx="1"/>
          </p:cNvCxnSpPr>
          <p:nvPr/>
        </p:nvCxnSpPr>
        <p:spPr>
          <a:xfrm>
            <a:off x="768985" y="3439795"/>
            <a:ext cx="562610" cy="636905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13" idx="3"/>
          </p:cNvCxnSpPr>
          <p:nvPr/>
        </p:nvCxnSpPr>
        <p:spPr>
          <a:xfrm flipV="1">
            <a:off x="768985" y="4076700"/>
            <a:ext cx="562610" cy="227330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5" idx="1"/>
            <a:endCxn id="14" idx="3"/>
          </p:cNvCxnSpPr>
          <p:nvPr/>
        </p:nvCxnSpPr>
        <p:spPr>
          <a:xfrm rot="10800000" flipV="1">
            <a:off x="768985" y="4076065"/>
            <a:ext cx="562610" cy="1149985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39565" y="6226175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20" idx="0"/>
            <a:endCxn id="8" idx="2"/>
          </p:cNvCxnSpPr>
          <p:nvPr/>
        </p:nvCxnSpPr>
        <p:spPr>
          <a:xfrm flipH="1" flipV="1">
            <a:off x="4463415" y="5949315"/>
            <a:ext cx="3810" cy="27686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12560" y="5085080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e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9" idx="2"/>
            <a:endCxn id="22" idx="0"/>
          </p:cNvCxnSpPr>
          <p:nvPr/>
        </p:nvCxnSpPr>
        <p:spPr>
          <a:xfrm>
            <a:off x="6840220" y="4580890"/>
            <a:ext cx="0" cy="5041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00060" y="3777933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f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5" name="Straight Arrow Connector 24"/>
          <p:cNvCxnSpPr>
            <a:stCxn id="9" idx="3"/>
            <a:endCxn id="24" idx="1"/>
          </p:cNvCxnSpPr>
          <p:nvPr/>
        </p:nvCxnSpPr>
        <p:spPr>
          <a:xfrm>
            <a:off x="7595870" y="4076700"/>
            <a:ext cx="504190" cy="6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路由协议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这些终端设备不会运行</a:t>
            </a:r>
            <a:r>
              <a:rPr lang="zh-CN" altLang="en-US"/>
              <a:t>路由协议</a:t>
            </a:r>
            <a:endParaRPr lang="zh-CN" altLang="en-US"/>
          </a:p>
          <a:p>
            <a:r>
              <a:rPr lang="zh-CN" altLang="en-US"/>
              <a:t>只需要在邻接表的基础上添加</a:t>
            </a:r>
            <a:r>
              <a:rPr lang="zh-CN" altLang="en-US"/>
              <a:t>如下信息：</a:t>
            </a:r>
            <a:endParaRPr lang="zh-CN" altLang="en-US"/>
          </a:p>
          <a:p>
            <a:pPr lvl="1"/>
            <a:r>
              <a:rPr lang="zh-CN" altLang="en-US" sz="2800">
                <a:sym typeface="+mn-ea"/>
              </a:rPr>
              <a:t>路由器</a:t>
            </a:r>
            <a:r>
              <a:rPr lang="en-US" altLang="zh-CN" sz="2800">
                <a:sym typeface="+mn-ea"/>
              </a:rPr>
              <a:t> A </a:t>
            </a:r>
            <a:r>
              <a:rPr lang="zh-CN" altLang="en-US" sz="2800">
                <a:sym typeface="+mn-ea"/>
              </a:rPr>
              <a:t>负责终端</a:t>
            </a:r>
            <a:r>
              <a:rPr lang="en-US" altLang="zh-CN" sz="2800">
                <a:sym typeface="+mn-ea"/>
              </a:rPr>
              <a:t> a b </a:t>
            </a:r>
            <a:r>
              <a:rPr lang="en-US" altLang="zh-CN" sz="2800">
                <a:sym typeface="+mn-ea"/>
              </a:rPr>
              <a:t>c</a:t>
            </a:r>
            <a:endParaRPr lang="en-US" altLang="zh-CN" sz="2800">
              <a:sym typeface="+mn-ea"/>
            </a:endParaRPr>
          </a:p>
          <a:p>
            <a:pPr lvl="1"/>
            <a:r>
              <a:rPr lang="zh-CN" altLang="en-US" sz="2800">
                <a:sym typeface="+mn-ea"/>
              </a:rPr>
              <a:t>路由器</a:t>
            </a:r>
            <a:r>
              <a:rPr lang="en-US" altLang="zh-CN" sz="2800">
                <a:sym typeface="+mn-ea"/>
              </a:rPr>
              <a:t> C </a:t>
            </a:r>
            <a:r>
              <a:rPr lang="zh-CN" altLang="en-US" sz="2800">
                <a:sym typeface="+mn-ea"/>
              </a:rPr>
              <a:t>负责终端</a:t>
            </a:r>
            <a:r>
              <a:rPr lang="en-US" altLang="zh-CN" sz="2800">
                <a:sym typeface="+mn-ea"/>
              </a:rPr>
              <a:t> </a:t>
            </a:r>
            <a:r>
              <a:rPr lang="en-US" altLang="zh-CN" sz="2800">
                <a:sym typeface="+mn-ea"/>
              </a:rPr>
              <a:t>d</a:t>
            </a:r>
            <a:endParaRPr lang="en-US" altLang="zh-CN" sz="2800">
              <a:sym typeface="+mn-ea"/>
            </a:endParaRPr>
          </a:p>
          <a:p>
            <a:pPr lvl="1"/>
            <a:r>
              <a:rPr lang="zh-CN" altLang="en-US" sz="2800">
                <a:sym typeface="+mn-ea"/>
              </a:rPr>
              <a:t>路由器</a:t>
            </a:r>
            <a:r>
              <a:rPr lang="en-US" altLang="zh-CN" sz="2800">
                <a:sym typeface="+mn-ea"/>
              </a:rPr>
              <a:t> D </a:t>
            </a:r>
            <a:r>
              <a:rPr lang="zh-CN" altLang="en-US" sz="2800">
                <a:sym typeface="+mn-ea"/>
              </a:rPr>
              <a:t>负责终端</a:t>
            </a:r>
            <a:r>
              <a:rPr lang="en-US" altLang="zh-CN" sz="2800">
                <a:sym typeface="+mn-ea"/>
              </a:rPr>
              <a:t> e </a:t>
            </a:r>
            <a:r>
              <a:rPr lang="en-US" altLang="zh-CN" sz="2800">
                <a:sym typeface="+mn-ea"/>
              </a:rPr>
              <a:t>f</a:t>
            </a:r>
            <a:endParaRPr lang="en-US" altLang="zh-CN" sz="2800">
              <a:sym typeface="+mn-ea"/>
            </a:endParaRPr>
          </a:p>
          <a:p>
            <a:pPr lvl="0"/>
            <a:r>
              <a:rPr lang="zh-CN" altLang="en-US" sz="3265">
                <a:sym typeface="+mn-ea"/>
              </a:rPr>
              <a:t>就可以实现终端之间的</a:t>
            </a:r>
            <a:r>
              <a:rPr lang="zh-CN" altLang="en-US" sz="3265">
                <a:sym typeface="+mn-ea"/>
              </a:rPr>
              <a:t>互通</a:t>
            </a:r>
            <a:endParaRPr lang="zh-CN" altLang="en-US" sz="3265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路由协议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367180"/>
            <a:ext cx="8229600" cy="4525963"/>
          </a:xfrm>
        </p:spPr>
        <p:txBody>
          <a:bodyPr/>
          <a:p>
            <a:r>
              <a:rPr lang="zh-CN" altLang="en-US" sz="2400"/>
              <a:t>地图加上终端信息：</a:t>
            </a:r>
            <a:endParaRPr lang="zh-CN" altLang="en-US" sz="2400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A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B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D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C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D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A </a:t>
            </a:r>
            <a:r>
              <a:rPr lang="zh-CN" altLang="en-US">
                <a:sym typeface="+mn-ea"/>
              </a:rPr>
              <a:t>负责终端</a:t>
            </a:r>
            <a:r>
              <a:rPr lang="en-US" altLang="zh-CN">
                <a:sym typeface="+mn-ea"/>
              </a:rPr>
              <a:t> a b c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C </a:t>
            </a:r>
            <a:r>
              <a:rPr lang="zh-CN" altLang="en-US">
                <a:sym typeface="+mn-ea"/>
              </a:rPr>
              <a:t>负责终端</a:t>
            </a:r>
            <a:r>
              <a:rPr lang="en-US" altLang="zh-CN">
                <a:sym typeface="+mn-ea"/>
              </a:rPr>
              <a:t> d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D </a:t>
            </a:r>
            <a:r>
              <a:rPr lang="zh-CN" altLang="en-US">
                <a:sym typeface="+mn-ea"/>
              </a:rPr>
              <a:t>负责终端</a:t>
            </a:r>
            <a:r>
              <a:rPr lang="en-US" altLang="zh-CN">
                <a:sym typeface="+mn-ea"/>
              </a:rPr>
              <a:t> e f</a:t>
            </a:r>
            <a:endParaRPr lang="en-US" altLang="zh-CN">
              <a:sym typeface="+mn-ea"/>
            </a:endParaRPr>
          </a:p>
          <a:p>
            <a:pPr lvl="1"/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路由协议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终端设备之间的互通：</a:t>
            </a:r>
            <a:r>
              <a:rPr lang="en-US" altLang="zh-CN"/>
              <a:t>a </a:t>
            </a:r>
            <a:r>
              <a:rPr lang="zh-CN" altLang="en-US"/>
              <a:t>要访问</a:t>
            </a:r>
            <a:r>
              <a:rPr lang="en-US" altLang="zh-CN"/>
              <a:t> </a:t>
            </a:r>
            <a:r>
              <a:rPr lang="en-US" altLang="zh-CN"/>
              <a:t>f</a:t>
            </a:r>
            <a:endParaRPr lang="en-US" altLang="zh-CN"/>
          </a:p>
          <a:p>
            <a:pPr lvl="1"/>
            <a:r>
              <a:rPr lang="en-US" altLang="zh-CN"/>
              <a:t>a </a:t>
            </a:r>
            <a:r>
              <a:rPr lang="zh-CN" altLang="en-US"/>
              <a:t>到</a:t>
            </a:r>
            <a:r>
              <a:rPr lang="en-US" altLang="zh-CN"/>
              <a:t> A</a:t>
            </a:r>
            <a:r>
              <a:rPr lang="zh-CN" altLang="en-US"/>
              <a:t>，</a:t>
            </a:r>
            <a:r>
              <a:rPr lang="en-US" altLang="zh-CN"/>
              <a:t>A </a:t>
            </a:r>
            <a:r>
              <a:rPr lang="zh-CN" altLang="en-US"/>
              <a:t>经过</a:t>
            </a:r>
            <a:r>
              <a:rPr lang="en-US" altLang="zh-CN"/>
              <a:t> B </a:t>
            </a:r>
            <a:r>
              <a:rPr lang="zh-CN" altLang="en-US"/>
              <a:t>到</a:t>
            </a:r>
            <a:r>
              <a:rPr lang="en-US" altLang="zh-CN"/>
              <a:t> D</a:t>
            </a:r>
            <a:r>
              <a:rPr lang="zh-CN" altLang="en-US"/>
              <a:t>，</a:t>
            </a:r>
            <a:r>
              <a:rPr lang="en-US" altLang="zh-CN"/>
              <a:t>D </a:t>
            </a:r>
            <a:r>
              <a:rPr lang="zh-CN" altLang="en-US"/>
              <a:t>到</a:t>
            </a:r>
            <a:r>
              <a:rPr lang="en-US" altLang="zh-CN"/>
              <a:t> </a:t>
            </a:r>
            <a:r>
              <a:rPr lang="en-US" altLang="zh-CN"/>
              <a:t>f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331595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707130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07130" y="494093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83935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17" idx="3"/>
            <a:endCxn id="19" idx="1"/>
          </p:cNvCxnSpPr>
          <p:nvPr/>
        </p:nvCxnSpPr>
        <p:spPr>
          <a:xfrm>
            <a:off x="2843530" y="4076700"/>
            <a:ext cx="863600" cy="0"/>
          </a:xfrm>
          <a:prstGeom prst="straightConnector1">
            <a:avLst/>
          </a:prstGeom>
          <a:ln w="12700" cap="flat" cmpd="sng">
            <a:solidFill>
              <a:schemeClr val="accent1">
                <a:shade val="50000"/>
              </a:schemeClr>
            </a:solidFill>
            <a:prstDash val="solid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9" idx="2"/>
            <a:endCxn id="24" idx="0"/>
          </p:cNvCxnSpPr>
          <p:nvPr/>
        </p:nvCxnSpPr>
        <p:spPr>
          <a:xfrm>
            <a:off x="4463415" y="4580890"/>
            <a:ext cx="0" cy="36004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3"/>
            <a:endCxn id="26" idx="1"/>
          </p:cNvCxnSpPr>
          <p:nvPr/>
        </p:nvCxnSpPr>
        <p:spPr>
          <a:xfrm>
            <a:off x="5219065" y="4076700"/>
            <a:ext cx="86487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4300" y="3140710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14300" y="4004945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14300" y="4927600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3" name="Elbow Connector 32"/>
          <p:cNvCxnSpPr>
            <a:stCxn id="30" idx="3"/>
            <a:endCxn id="17" idx="1"/>
          </p:cNvCxnSpPr>
          <p:nvPr/>
        </p:nvCxnSpPr>
        <p:spPr>
          <a:xfrm>
            <a:off x="768985" y="3439795"/>
            <a:ext cx="562610" cy="636905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31" idx="3"/>
          </p:cNvCxnSpPr>
          <p:nvPr/>
        </p:nvCxnSpPr>
        <p:spPr>
          <a:xfrm flipV="1">
            <a:off x="768985" y="4076700"/>
            <a:ext cx="562610" cy="227330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17" idx="1"/>
            <a:endCxn id="32" idx="3"/>
          </p:cNvCxnSpPr>
          <p:nvPr/>
        </p:nvCxnSpPr>
        <p:spPr>
          <a:xfrm rot="10800000" flipV="1">
            <a:off x="768985" y="4076065"/>
            <a:ext cx="562610" cy="1149985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139565" y="6226175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>
            <a:stCxn id="36" idx="0"/>
            <a:endCxn id="24" idx="2"/>
          </p:cNvCxnSpPr>
          <p:nvPr/>
        </p:nvCxnSpPr>
        <p:spPr>
          <a:xfrm flipH="1" flipV="1">
            <a:off x="4463415" y="5949315"/>
            <a:ext cx="3810" cy="27686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12560" y="5085080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e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>
            <a:stCxn id="26" idx="2"/>
            <a:endCxn id="38" idx="0"/>
          </p:cNvCxnSpPr>
          <p:nvPr/>
        </p:nvCxnSpPr>
        <p:spPr>
          <a:xfrm>
            <a:off x="6840220" y="4580890"/>
            <a:ext cx="0" cy="5041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100060" y="3777933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f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1" name="Straight Arrow Connector 40"/>
          <p:cNvCxnSpPr>
            <a:stCxn id="26" idx="3"/>
            <a:endCxn id="40" idx="1"/>
          </p:cNvCxnSpPr>
          <p:nvPr/>
        </p:nvCxnSpPr>
        <p:spPr>
          <a:xfrm>
            <a:off x="7595870" y="4076700"/>
            <a:ext cx="504190" cy="6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路由协议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终端设备之间的互通：</a:t>
            </a:r>
            <a:r>
              <a:rPr lang="en-US" altLang="zh-CN"/>
              <a:t>a </a:t>
            </a:r>
            <a:r>
              <a:rPr lang="zh-CN" altLang="en-US"/>
              <a:t>要访问</a:t>
            </a:r>
            <a:r>
              <a:rPr lang="en-US" altLang="zh-CN"/>
              <a:t> </a:t>
            </a:r>
            <a:r>
              <a:rPr lang="en-US" altLang="zh-CN"/>
              <a:t>f</a:t>
            </a:r>
            <a:endParaRPr lang="en-US" altLang="zh-CN"/>
          </a:p>
          <a:p>
            <a:pPr lvl="1"/>
            <a:r>
              <a:rPr lang="en-US" altLang="zh-CN"/>
              <a:t>a </a:t>
            </a:r>
            <a:r>
              <a:rPr lang="zh-CN" altLang="en-US"/>
              <a:t>到</a:t>
            </a:r>
            <a:r>
              <a:rPr lang="en-US" altLang="zh-CN"/>
              <a:t> A</a:t>
            </a:r>
            <a:r>
              <a:rPr lang="zh-CN" altLang="en-US"/>
              <a:t>：</a:t>
            </a:r>
            <a:r>
              <a:rPr lang="en-US" altLang="zh-CN"/>
              <a:t>A </a:t>
            </a:r>
            <a:r>
              <a:rPr lang="zh-CN" altLang="en-US"/>
              <a:t>路由器负责终端</a:t>
            </a:r>
            <a:r>
              <a:rPr lang="en-US" altLang="zh-CN"/>
              <a:t> a</a:t>
            </a:r>
            <a:r>
              <a:rPr lang="zh-CN" altLang="en-US"/>
              <a:t>，是终端</a:t>
            </a:r>
            <a:r>
              <a:rPr lang="en-US" altLang="zh-CN"/>
              <a:t> a </a:t>
            </a:r>
            <a:r>
              <a:rPr lang="zh-CN" altLang="en-US"/>
              <a:t>的默认路由</a:t>
            </a:r>
            <a:endParaRPr lang="en-US" altLang="zh-CN"/>
          </a:p>
          <a:p>
            <a:pPr lvl="1"/>
            <a:r>
              <a:rPr lang="en-US" altLang="zh-CN"/>
              <a:t>A </a:t>
            </a:r>
            <a:r>
              <a:rPr lang="zh-CN" altLang="en-US"/>
              <a:t>经过</a:t>
            </a:r>
            <a:r>
              <a:rPr lang="en-US" altLang="zh-CN"/>
              <a:t> B </a:t>
            </a:r>
            <a:r>
              <a:rPr lang="zh-CN" altLang="en-US"/>
              <a:t>到</a:t>
            </a:r>
            <a:r>
              <a:rPr lang="en-US" altLang="zh-CN"/>
              <a:t> D</a:t>
            </a:r>
            <a:r>
              <a:rPr lang="zh-CN" altLang="en-US"/>
              <a:t>：在地图上计算最短路径</a:t>
            </a:r>
            <a:endParaRPr lang="en-US" altLang="zh-CN"/>
          </a:p>
          <a:p>
            <a:pPr lvl="1"/>
            <a:r>
              <a:rPr lang="en-US" altLang="zh-CN"/>
              <a:t>D </a:t>
            </a:r>
            <a:r>
              <a:rPr lang="zh-CN" altLang="en-US"/>
              <a:t>到</a:t>
            </a:r>
            <a:r>
              <a:rPr lang="en-US" altLang="zh-CN"/>
              <a:t> f</a:t>
            </a:r>
            <a:r>
              <a:rPr lang="zh-CN" altLang="en-US"/>
              <a:t>：</a:t>
            </a:r>
            <a:r>
              <a:rPr lang="en-US" altLang="zh-CN"/>
              <a:t>D </a:t>
            </a:r>
            <a:r>
              <a:rPr lang="zh-CN" altLang="en-US"/>
              <a:t>路由器负责终端</a:t>
            </a:r>
            <a:r>
              <a:rPr lang="en-US" altLang="zh-CN"/>
              <a:t> f</a:t>
            </a:r>
            <a:r>
              <a:rPr lang="zh-CN" altLang="en-US"/>
              <a:t>，是终端</a:t>
            </a:r>
            <a:r>
              <a:rPr lang="en-US" altLang="zh-CN"/>
              <a:t> f </a:t>
            </a:r>
            <a:r>
              <a:rPr lang="zh-CN" altLang="en-US"/>
              <a:t>的</a:t>
            </a:r>
            <a:r>
              <a:rPr lang="zh-CN" altLang="en-US"/>
              <a:t>默认路由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300" y="5074603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331595" y="486918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07130" y="486918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83935" y="486918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00060" y="5074603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f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5" idx="3"/>
            <a:endCxn id="6" idx="1"/>
          </p:cNvCxnSpPr>
          <p:nvPr/>
        </p:nvCxnSpPr>
        <p:spPr>
          <a:xfrm>
            <a:off x="768985" y="5373370"/>
            <a:ext cx="56261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  <a:endCxn id="7" idx="1"/>
          </p:cNvCxnSpPr>
          <p:nvPr/>
        </p:nvCxnSpPr>
        <p:spPr>
          <a:xfrm>
            <a:off x="2843530" y="5373370"/>
            <a:ext cx="8636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3"/>
            <a:endCxn id="8" idx="1"/>
          </p:cNvCxnSpPr>
          <p:nvPr/>
        </p:nvCxnSpPr>
        <p:spPr>
          <a:xfrm>
            <a:off x="5219065" y="5373370"/>
            <a:ext cx="86487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1"/>
          </p:cNvCxnSpPr>
          <p:nvPr/>
        </p:nvCxnSpPr>
        <p:spPr>
          <a:xfrm>
            <a:off x="7595870" y="5373370"/>
            <a:ext cx="50419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路由表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268755"/>
            <a:ext cx="8229600" cy="4525963"/>
          </a:xfrm>
        </p:spPr>
        <p:txBody>
          <a:bodyPr/>
          <a:p>
            <a:r>
              <a:rPr lang="zh-CN" altLang="en-US" sz="2400"/>
              <a:t>根据已知信息：</a:t>
            </a:r>
            <a:endParaRPr lang="zh-CN" altLang="en-US" sz="2400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A</a:t>
            </a:r>
            <a:r>
              <a:rPr lang="zh-CN" altLang="en-US">
                <a:sym typeface="+mn-ea"/>
              </a:rPr>
              <a:t>，负责终端</a:t>
            </a:r>
            <a:r>
              <a:rPr lang="en-US" altLang="zh-CN">
                <a:sym typeface="+mn-ea"/>
              </a:rPr>
              <a:t> a b c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B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D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C</a:t>
            </a:r>
            <a:r>
              <a:rPr lang="zh-CN" altLang="en-US">
                <a:sym typeface="+mn-ea"/>
              </a:rPr>
              <a:t>，负责终端</a:t>
            </a:r>
            <a:r>
              <a:rPr lang="en-US" altLang="zh-CN">
                <a:sym typeface="+mn-ea"/>
              </a:rPr>
              <a:t> d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路由器</a:t>
            </a:r>
            <a:r>
              <a:rPr lang="en-US" altLang="zh-CN">
                <a:sym typeface="+mn-ea"/>
              </a:rPr>
              <a:t> D</a:t>
            </a:r>
            <a:r>
              <a:rPr lang="zh-CN" altLang="en-US">
                <a:sym typeface="+mn-ea"/>
              </a:rPr>
              <a:t>，负责终端</a:t>
            </a:r>
            <a:r>
              <a:rPr lang="en-US" altLang="zh-CN">
                <a:sym typeface="+mn-ea"/>
              </a:rPr>
              <a:t> e f</a:t>
            </a:r>
            <a:r>
              <a:rPr lang="zh-CN" altLang="en-US">
                <a:sym typeface="+mn-ea"/>
              </a:rPr>
              <a:t>，邻居包括：路由器</a:t>
            </a:r>
            <a:r>
              <a:rPr lang="en-US" altLang="zh-CN">
                <a:sym typeface="+mn-ea"/>
              </a:rPr>
              <a:t> B</a:t>
            </a:r>
            <a:endParaRPr lang="en-US" altLang="zh-CN">
              <a:sym typeface="+mn-ea"/>
            </a:endParaRPr>
          </a:p>
          <a:p>
            <a:pPr lvl="0"/>
            <a:r>
              <a:rPr lang="zh-CN" altLang="en-US" sz="2400">
                <a:sym typeface="+mn-ea"/>
              </a:rPr>
              <a:t>如何计算路由表？</a:t>
            </a:r>
            <a:endParaRPr lang="zh-CN" altLang="en-US" sz="2400">
              <a:sym typeface="+mn-ea"/>
            </a:endParaRPr>
          </a:p>
          <a:p>
            <a:pPr lvl="1"/>
            <a:r>
              <a:rPr lang="zh-CN" altLang="en-US" sz="2055">
                <a:sym typeface="+mn-ea"/>
              </a:rPr>
              <a:t>第一步：根据连接关系生成图</a:t>
            </a:r>
            <a:endParaRPr lang="zh-CN" altLang="en-US" sz="2055">
              <a:sym typeface="+mn-ea"/>
            </a:endParaRPr>
          </a:p>
          <a:p>
            <a:pPr lvl="1"/>
            <a:r>
              <a:rPr lang="zh-CN" altLang="en-US" sz="2055">
                <a:sym typeface="+mn-ea"/>
              </a:rPr>
              <a:t>第二步：计算出</a:t>
            </a:r>
            <a:r>
              <a:rPr lang="zh-CN" altLang="en-US" sz="2055">
                <a:sym typeface="+mn-ea"/>
              </a:rPr>
              <a:t>当前路由器到</a:t>
            </a:r>
            <a:r>
              <a:rPr lang="zh-CN" altLang="en-US" sz="2055">
                <a:sym typeface="+mn-ea"/>
              </a:rPr>
              <a:t>每个路由器的最短路径</a:t>
            </a:r>
            <a:endParaRPr lang="zh-CN" altLang="en-US" sz="2055">
              <a:sym typeface="+mn-ea"/>
            </a:endParaRPr>
          </a:p>
          <a:p>
            <a:pPr lvl="1"/>
            <a:r>
              <a:rPr lang="zh-CN" altLang="en-US" sz="2055">
                <a:sym typeface="+mn-ea"/>
              </a:rPr>
              <a:t>第三步：计算出当前路由器到每个终端的最短路径</a:t>
            </a:r>
            <a:endParaRPr lang="en-US" altLang="zh-CN" sz="2055">
              <a:sym typeface="+mn-ea"/>
            </a:endParaRPr>
          </a:p>
          <a:p>
            <a:endParaRPr lang="en-US" altLang="zh-CN" sz="240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路由表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052855"/>
            <a:ext cx="8229600" cy="4525963"/>
          </a:xfrm>
        </p:spPr>
        <p:txBody>
          <a:bodyPr/>
          <a:p>
            <a:r>
              <a:rPr lang="zh-CN" altLang="en-US" sz="2000"/>
              <a:t>当前路由器是</a:t>
            </a:r>
            <a:r>
              <a:rPr lang="en-US" altLang="zh-CN" sz="2000"/>
              <a:t> A</a:t>
            </a:r>
            <a:r>
              <a:rPr lang="zh-CN" altLang="en-US" sz="2000"/>
              <a:t>，已知：</a:t>
            </a:r>
            <a:endParaRPr lang="zh-CN" altLang="en-US" sz="2000"/>
          </a:p>
          <a:p>
            <a:pPr lvl="1"/>
            <a:r>
              <a:rPr lang="zh-CN" altLang="en-US" sz="2000">
                <a:sym typeface="+mn-ea"/>
              </a:rPr>
              <a:t>路由器</a:t>
            </a:r>
            <a:r>
              <a:rPr lang="en-US" altLang="zh-CN" sz="2000">
                <a:sym typeface="+mn-ea"/>
              </a:rPr>
              <a:t> A</a:t>
            </a:r>
            <a:r>
              <a:rPr lang="zh-CN" altLang="en-US" sz="2000">
                <a:sym typeface="+mn-ea"/>
              </a:rPr>
              <a:t>，邻居包括：路由器</a:t>
            </a:r>
            <a:r>
              <a:rPr lang="en-US" altLang="zh-CN" sz="2000">
                <a:sym typeface="+mn-ea"/>
              </a:rPr>
              <a:t> B</a:t>
            </a:r>
            <a:endParaRPr lang="en-US" altLang="zh-CN" sz="2000"/>
          </a:p>
          <a:p>
            <a:pPr lvl="1"/>
            <a:r>
              <a:rPr lang="zh-CN" altLang="en-US" sz="2000">
                <a:sym typeface="+mn-ea"/>
              </a:rPr>
              <a:t>路由器</a:t>
            </a:r>
            <a:r>
              <a:rPr lang="en-US" altLang="zh-CN" sz="2000">
                <a:sym typeface="+mn-ea"/>
              </a:rPr>
              <a:t> B</a:t>
            </a:r>
            <a:r>
              <a:rPr lang="zh-CN" altLang="en-US" sz="2000">
                <a:sym typeface="+mn-ea"/>
              </a:rPr>
              <a:t>，邻居包括：路由器</a:t>
            </a:r>
            <a:r>
              <a:rPr lang="en-US" altLang="zh-CN" sz="2000">
                <a:sym typeface="+mn-ea"/>
              </a:rPr>
              <a:t> 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A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C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D</a:t>
            </a:r>
            <a:endParaRPr lang="en-US" altLang="zh-CN" sz="2000">
              <a:solidFill>
                <a:schemeClr val="tx1"/>
              </a:solidFill>
            </a:endParaRPr>
          </a:p>
          <a:p>
            <a:pPr lvl="1"/>
            <a:r>
              <a:rPr lang="zh-CN" altLang="en-US" sz="2000">
                <a:sym typeface="+mn-ea"/>
              </a:rPr>
              <a:t>路由器</a:t>
            </a:r>
            <a:r>
              <a:rPr lang="en-US" altLang="zh-CN" sz="2000">
                <a:sym typeface="+mn-ea"/>
              </a:rPr>
              <a:t> C</a:t>
            </a:r>
            <a:r>
              <a:rPr lang="zh-CN" altLang="en-US" sz="2000">
                <a:sym typeface="+mn-ea"/>
              </a:rPr>
              <a:t>，邻居包括：路由器</a:t>
            </a:r>
            <a:r>
              <a:rPr lang="en-US" altLang="zh-CN" sz="2000">
                <a:sym typeface="+mn-ea"/>
              </a:rPr>
              <a:t> B</a:t>
            </a:r>
            <a:endParaRPr lang="en-US" altLang="zh-CN" sz="2000"/>
          </a:p>
          <a:p>
            <a:pPr lvl="1"/>
            <a:r>
              <a:rPr lang="zh-CN" altLang="en-US" sz="2000">
                <a:sym typeface="+mn-ea"/>
              </a:rPr>
              <a:t>路由器</a:t>
            </a:r>
            <a:r>
              <a:rPr lang="en-US" altLang="zh-CN" sz="2000">
                <a:sym typeface="+mn-ea"/>
              </a:rPr>
              <a:t> D</a:t>
            </a:r>
            <a:r>
              <a:rPr lang="zh-CN" altLang="en-US" sz="2000">
                <a:sym typeface="+mn-ea"/>
              </a:rPr>
              <a:t>，邻居包括：路由器</a:t>
            </a:r>
            <a:r>
              <a:rPr lang="en-US" altLang="zh-CN" sz="2000">
                <a:sym typeface="+mn-ea"/>
              </a:rPr>
              <a:t> B</a:t>
            </a:r>
            <a:endParaRPr lang="en-US" altLang="zh-CN" sz="2000">
              <a:sym typeface="+mn-ea"/>
            </a:endParaRPr>
          </a:p>
          <a:p>
            <a:r>
              <a:rPr lang="zh-CN" altLang="en-US" sz="2000"/>
              <a:t>构建图：</a:t>
            </a:r>
            <a:endParaRPr lang="zh-CN" alt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31595" y="443674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07130" y="443674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07130" y="580517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83935" y="443674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5" idx="3"/>
            <a:endCxn id="7" idx="1"/>
          </p:cNvCxnSpPr>
          <p:nvPr/>
        </p:nvCxnSpPr>
        <p:spPr>
          <a:xfrm>
            <a:off x="2843530" y="4940935"/>
            <a:ext cx="863600" cy="0"/>
          </a:xfrm>
          <a:prstGeom prst="straightConnector1">
            <a:avLst/>
          </a:prstGeom>
          <a:ln w="12700" cap="flat" cmpd="sng">
            <a:solidFill>
              <a:schemeClr val="accent1">
                <a:shade val="50000"/>
              </a:schemeClr>
            </a:solidFill>
            <a:prstDash val="solid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  <a:endCxn id="8" idx="0"/>
          </p:cNvCxnSpPr>
          <p:nvPr/>
        </p:nvCxnSpPr>
        <p:spPr>
          <a:xfrm>
            <a:off x="4463415" y="5445125"/>
            <a:ext cx="0" cy="36004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3"/>
            <a:endCxn id="9" idx="1"/>
          </p:cNvCxnSpPr>
          <p:nvPr/>
        </p:nvCxnSpPr>
        <p:spPr>
          <a:xfrm>
            <a:off x="5219065" y="4940935"/>
            <a:ext cx="86487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路由表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918870"/>
            <a:ext cx="8229600" cy="4525963"/>
          </a:xfrm>
        </p:spPr>
        <p:txBody>
          <a:bodyPr/>
          <a:p>
            <a:r>
              <a:rPr lang="zh-CN" altLang="en-US" sz="2400"/>
              <a:t>以</a:t>
            </a:r>
            <a:r>
              <a:rPr lang="en-US" altLang="zh-CN" sz="2400"/>
              <a:t> A </a:t>
            </a:r>
            <a:r>
              <a:rPr lang="zh-CN" altLang="en-US" sz="2400"/>
              <a:t>为源结点，计算单源最短路径：</a:t>
            </a:r>
            <a:endParaRPr lang="zh-CN" altLang="en-US" sz="2400"/>
          </a:p>
          <a:p>
            <a:pPr lvl="1"/>
            <a:r>
              <a:rPr lang="zh-CN" altLang="en-US" sz="1800"/>
              <a:t>到</a:t>
            </a:r>
            <a:r>
              <a:rPr lang="en-US" altLang="zh-CN" sz="1800"/>
              <a:t> B</a:t>
            </a:r>
            <a:r>
              <a:rPr lang="zh-CN" altLang="en-US" sz="1800"/>
              <a:t>：</a:t>
            </a:r>
            <a:r>
              <a:rPr lang="en-US" altLang="zh-CN" sz="1800"/>
              <a:t>A -&gt; B</a:t>
            </a:r>
            <a:endParaRPr lang="en-US" altLang="zh-CN" sz="1800"/>
          </a:p>
          <a:p>
            <a:pPr lvl="1"/>
            <a:r>
              <a:rPr lang="zh-CN" altLang="en-US" sz="1800"/>
              <a:t>到</a:t>
            </a:r>
            <a:r>
              <a:rPr lang="en-US" altLang="zh-CN" sz="1800"/>
              <a:t> C</a:t>
            </a:r>
            <a:r>
              <a:rPr lang="zh-CN" altLang="en-US" sz="1800"/>
              <a:t>：</a:t>
            </a:r>
            <a:r>
              <a:rPr lang="en-US" altLang="zh-CN" sz="1800"/>
              <a:t>A -&gt; B -&gt; C</a:t>
            </a:r>
            <a:endParaRPr lang="en-US" altLang="zh-CN" sz="1800"/>
          </a:p>
          <a:p>
            <a:pPr lvl="1"/>
            <a:r>
              <a:rPr lang="zh-CN" altLang="en-US" sz="1800"/>
              <a:t>到</a:t>
            </a:r>
            <a:r>
              <a:rPr lang="en-US" altLang="zh-CN" sz="1800"/>
              <a:t> D</a:t>
            </a:r>
            <a:r>
              <a:rPr lang="zh-CN" altLang="en-US" sz="1800"/>
              <a:t>：</a:t>
            </a:r>
            <a:r>
              <a:rPr lang="en-US" altLang="zh-CN" sz="1800"/>
              <a:t>A -&gt; B -&gt; D</a:t>
            </a:r>
            <a:endParaRPr lang="en-US" altLang="zh-CN" sz="1800"/>
          </a:p>
          <a:p>
            <a:pPr lvl="0"/>
            <a:r>
              <a:rPr lang="zh-CN" altLang="en-US" sz="2100"/>
              <a:t>对应的</a:t>
            </a:r>
            <a:r>
              <a:rPr lang="zh-CN" altLang="en-US" sz="2100"/>
              <a:t>路由表：</a:t>
            </a:r>
            <a:endParaRPr lang="zh-CN" altLang="en-US" sz="2100"/>
          </a:p>
          <a:p>
            <a:pPr lvl="1"/>
            <a:r>
              <a:rPr lang="en-US" altLang="zh-CN" sz="1800"/>
              <a:t>to B: </a:t>
            </a:r>
            <a:r>
              <a:rPr lang="zh-CN" altLang="en-US" sz="1800"/>
              <a:t>直连</a:t>
            </a:r>
            <a:r>
              <a:rPr lang="zh-CN" altLang="en-US" sz="1800"/>
              <a:t>路由</a:t>
            </a:r>
            <a:endParaRPr lang="zh-CN" altLang="en-US" sz="1800"/>
          </a:p>
          <a:p>
            <a:pPr lvl="1"/>
            <a:r>
              <a:rPr lang="en-US" altLang="zh-CN" sz="1800"/>
              <a:t>to C/D: via B</a:t>
            </a:r>
            <a:endParaRPr lang="en-US" altLang="zh-CN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31595" y="443674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07130" y="443674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07130" y="580517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83935" y="443674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5" idx="3"/>
            <a:endCxn id="7" idx="1"/>
          </p:cNvCxnSpPr>
          <p:nvPr/>
        </p:nvCxnSpPr>
        <p:spPr>
          <a:xfrm>
            <a:off x="2843530" y="4940935"/>
            <a:ext cx="863600" cy="0"/>
          </a:xfrm>
          <a:prstGeom prst="straightConnector1">
            <a:avLst/>
          </a:prstGeom>
          <a:ln w="12700" cap="flat" cmpd="sng">
            <a:solidFill>
              <a:schemeClr val="accent1">
                <a:shade val="50000"/>
              </a:schemeClr>
            </a:solidFill>
            <a:prstDash val="solid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  <a:endCxn id="8" idx="0"/>
          </p:cNvCxnSpPr>
          <p:nvPr/>
        </p:nvCxnSpPr>
        <p:spPr>
          <a:xfrm>
            <a:off x="4463415" y="5445125"/>
            <a:ext cx="0" cy="36004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3"/>
            <a:endCxn id="9" idx="1"/>
          </p:cNvCxnSpPr>
          <p:nvPr/>
        </p:nvCxnSpPr>
        <p:spPr>
          <a:xfrm>
            <a:off x="5219065" y="4940935"/>
            <a:ext cx="86487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路由表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624" y="1231925"/>
            <a:ext cx="8229600" cy="4525963"/>
          </a:xfrm>
        </p:spPr>
        <p:txBody>
          <a:bodyPr/>
          <a:p>
            <a:r>
              <a:rPr lang="zh-CN" altLang="en-US"/>
              <a:t>把终端考虑进来，</a:t>
            </a:r>
            <a:r>
              <a:rPr lang="en-US" altLang="zh-CN"/>
              <a:t>A </a:t>
            </a:r>
            <a:r>
              <a:rPr lang="zh-CN" altLang="en-US"/>
              <a:t>的</a:t>
            </a:r>
            <a:r>
              <a:rPr lang="zh-CN" altLang="en-US"/>
              <a:t>路由表：</a:t>
            </a:r>
            <a:endParaRPr lang="zh-CN" altLang="en-US"/>
          </a:p>
          <a:p>
            <a:pPr lvl="1"/>
            <a:r>
              <a:rPr lang="en-US" altLang="zh-CN"/>
              <a:t>to a/b/c: </a:t>
            </a:r>
            <a:r>
              <a:rPr lang="zh-CN" altLang="en-US"/>
              <a:t>直连</a:t>
            </a:r>
            <a:r>
              <a:rPr lang="zh-CN" altLang="en-US"/>
              <a:t>路由</a:t>
            </a:r>
            <a:endParaRPr lang="zh-CN" altLang="en-US"/>
          </a:p>
          <a:p>
            <a:pPr lvl="1"/>
            <a:r>
              <a:rPr lang="en-US" altLang="zh-CN"/>
              <a:t>to d/e/f: via B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31595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707130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07130" y="494093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83935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5" idx="3"/>
            <a:endCxn id="6" idx="1"/>
          </p:cNvCxnSpPr>
          <p:nvPr/>
        </p:nvCxnSpPr>
        <p:spPr>
          <a:xfrm>
            <a:off x="2843530" y="4076700"/>
            <a:ext cx="863600" cy="0"/>
          </a:xfrm>
          <a:prstGeom prst="straightConnector1">
            <a:avLst/>
          </a:prstGeom>
          <a:ln w="12700" cap="flat" cmpd="sng">
            <a:solidFill>
              <a:schemeClr val="accent1">
                <a:shade val="50000"/>
              </a:schemeClr>
            </a:solidFill>
            <a:prstDash val="solid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2"/>
            <a:endCxn id="7" idx="0"/>
          </p:cNvCxnSpPr>
          <p:nvPr/>
        </p:nvCxnSpPr>
        <p:spPr>
          <a:xfrm>
            <a:off x="4463415" y="4580890"/>
            <a:ext cx="0" cy="36004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  <a:endCxn id="8" idx="1"/>
          </p:cNvCxnSpPr>
          <p:nvPr/>
        </p:nvCxnSpPr>
        <p:spPr>
          <a:xfrm>
            <a:off x="5219065" y="4076700"/>
            <a:ext cx="86487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4300" y="3140710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14300" y="4004945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14300" y="4927600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4" name="Elbow Connector 13"/>
          <p:cNvCxnSpPr>
            <a:stCxn id="30" idx="3"/>
            <a:endCxn id="5" idx="1"/>
          </p:cNvCxnSpPr>
          <p:nvPr/>
        </p:nvCxnSpPr>
        <p:spPr>
          <a:xfrm>
            <a:off x="768985" y="3439795"/>
            <a:ext cx="562610" cy="636905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2" idx="3"/>
          </p:cNvCxnSpPr>
          <p:nvPr/>
        </p:nvCxnSpPr>
        <p:spPr>
          <a:xfrm flipV="1">
            <a:off x="768985" y="4076700"/>
            <a:ext cx="562610" cy="227330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5" idx="1"/>
            <a:endCxn id="13" idx="3"/>
          </p:cNvCxnSpPr>
          <p:nvPr/>
        </p:nvCxnSpPr>
        <p:spPr>
          <a:xfrm rot="10800000" flipV="1">
            <a:off x="768985" y="4076065"/>
            <a:ext cx="562610" cy="1149985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39565" y="6226175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8" idx="0"/>
            <a:endCxn id="7" idx="2"/>
          </p:cNvCxnSpPr>
          <p:nvPr/>
        </p:nvCxnSpPr>
        <p:spPr>
          <a:xfrm flipH="1" flipV="1">
            <a:off x="4463415" y="5949315"/>
            <a:ext cx="3810" cy="27686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12560" y="5085080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e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8" idx="2"/>
            <a:endCxn id="21" idx="0"/>
          </p:cNvCxnSpPr>
          <p:nvPr/>
        </p:nvCxnSpPr>
        <p:spPr>
          <a:xfrm>
            <a:off x="6840220" y="4580890"/>
            <a:ext cx="0" cy="5041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00060" y="3777933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f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5" name="Straight Arrow Connector 24"/>
          <p:cNvCxnSpPr>
            <a:stCxn id="8" idx="3"/>
            <a:endCxn id="23" idx="1"/>
          </p:cNvCxnSpPr>
          <p:nvPr/>
        </p:nvCxnSpPr>
        <p:spPr>
          <a:xfrm>
            <a:off x="7595870" y="4076700"/>
            <a:ext cx="504190" cy="6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路由表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624" y="1231925"/>
            <a:ext cx="8229600" cy="4525963"/>
          </a:xfrm>
        </p:spPr>
        <p:txBody>
          <a:bodyPr/>
          <a:p>
            <a:r>
              <a:rPr lang="zh-CN" altLang="en-US"/>
              <a:t>最终</a:t>
            </a:r>
            <a:r>
              <a:rPr lang="en-US" altLang="zh-CN"/>
              <a:t> A </a:t>
            </a:r>
            <a:r>
              <a:rPr lang="zh-CN" altLang="en-US"/>
              <a:t>的</a:t>
            </a:r>
            <a:r>
              <a:rPr lang="zh-CN" altLang="en-US"/>
              <a:t>路由表：</a:t>
            </a:r>
            <a:endParaRPr lang="zh-CN" altLang="en-US"/>
          </a:p>
          <a:p>
            <a:pPr lvl="1"/>
            <a:r>
              <a:rPr lang="en-US" altLang="zh-CN"/>
              <a:t>to a/b/c/B: </a:t>
            </a:r>
            <a:r>
              <a:rPr lang="zh-CN" altLang="en-US"/>
              <a:t>直连</a:t>
            </a:r>
            <a:r>
              <a:rPr lang="zh-CN" altLang="en-US"/>
              <a:t>路由</a:t>
            </a:r>
            <a:endParaRPr lang="zh-CN" altLang="en-US"/>
          </a:p>
          <a:p>
            <a:pPr lvl="1"/>
            <a:r>
              <a:rPr lang="en-US" altLang="zh-CN"/>
              <a:t>to d/e/f/C/D: via B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31595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707130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07130" y="4940935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83935" y="3572510"/>
            <a:ext cx="1511935" cy="1008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5" idx="3"/>
            <a:endCxn id="6" idx="1"/>
          </p:cNvCxnSpPr>
          <p:nvPr/>
        </p:nvCxnSpPr>
        <p:spPr>
          <a:xfrm>
            <a:off x="2843530" y="4076700"/>
            <a:ext cx="863600" cy="0"/>
          </a:xfrm>
          <a:prstGeom prst="straightConnector1">
            <a:avLst/>
          </a:prstGeom>
          <a:ln w="12700" cap="flat" cmpd="sng">
            <a:solidFill>
              <a:schemeClr val="accent1">
                <a:shade val="50000"/>
              </a:schemeClr>
            </a:solidFill>
            <a:prstDash val="solid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2"/>
            <a:endCxn id="7" idx="0"/>
          </p:cNvCxnSpPr>
          <p:nvPr/>
        </p:nvCxnSpPr>
        <p:spPr>
          <a:xfrm>
            <a:off x="4463415" y="4580890"/>
            <a:ext cx="0" cy="36004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  <a:endCxn id="8" idx="1"/>
          </p:cNvCxnSpPr>
          <p:nvPr/>
        </p:nvCxnSpPr>
        <p:spPr>
          <a:xfrm>
            <a:off x="5219065" y="4076700"/>
            <a:ext cx="86487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4300" y="3140710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14300" y="4004945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14300" y="4927600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4" name="Elbow Connector 13"/>
          <p:cNvCxnSpPr>
            <a:stCxn id="30" idx="3"/>
            <a:endCxn id="5" idx="1"/>
          </p:cNvCxnSpPr>
          <p:nvPr/>
        </p:nvCxnSpPr>
        <p:spPr>
          <a:xfrm>
            <a:off x="768985" y="3439795"/>
            <a:ext cx="562610" cy="636905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2" idx="3"/>
          </p:cNvCxnSpPr>
          <p:nvPr/>
        </p:nvCxnSpPr>
        <p:spPr>
          <a:xfrm flipV="1">
            <a:off x="768985" y="4076700"/>
            <a:ext cx="562610" cy="227330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5" idx="1"/>
            <a:endCxn id="13" idx="3"/>
          </p:cNvCxnSpPr>
          <p:nvPr/>
        </p:nvCxnSpPr>
        <p:spPr>
          <a:xfrm rot="10800000" flipV="1">
            <a:off x="768985" y="4076065"/>
            <a:ext cx="562610" cy="1149985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39565" y="6226175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8" idx="0"/>
            <a:endCxn id="7" idx="2"/>
          </p:cNvCxnSpPr>
          <p:nvPr/>
        </p:nvCxnSpPr>
        <p:spPr>
          <a:xfrm flipH="1" flipV="1">
            <a:off x="4463415" y="5949315"/>
            <a:ext cx="3810" cy="27686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12560" y="5085080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e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8" idx="2"/>
            <a:endCxn id="21" idx="0"/>
          </p:cNvCxnSpPr>
          <p:nvPr/>
        </p:nvCxnSpPr>
        <p:spPr>
          <a:xfrm>
            <a:off x="6840220" y="4580890"/>
            <a:ext cx="0" cy="5041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00060" y="3777933"/>
            <a:ext cx="654685" cy="597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f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5" name="Straight Arrow Connector 24"/>
          <p:cNvCxnSpPr>
            <a:stCxn id="8" idx="3"/>
            <a:endCxn id="23" idx="1"/>
          </p:cNvCxnSpPr>
          <p:nvPr/>
        </p:nvCxnSpPr>
        <p:spPr>
          <a:xfrm>
            <a:off x="7595870" y="4076700"/>
            <a:ext cx="504190" cy="6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链路状态路由协议</a:t>
            </a:r>
            <a:r>
              <a:rPr lang="zh-CN" altLang="en-US"/>
              <a:t>小结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回顾一下每个路由器</a:t>
            </a:r>
            <a:r>
              <a:rPr lang="zh-CN" altLang="en-US"/>
              <a:t>需要做什么：</a:t>
            </a:r>
            <a:endParaRPr lang="zh-CN" altLang="en-US"/>
          </a:p>
          <a:p>
            <a:pPr lvl="1"/>
            <a:r>
              <a:rPr lang="zh-CN" altLang="en-US"/>
              <a:t>维护自己的</a:t>
            </a:r>
            <a:r>
              <a:rPr lang="zh-CN" altLang="en-US"/>
              <a:t>邻居状态：我是</a:t>
            </a:r>
            <a:r>
              <a:rPr lang="en-US" altLang="zh-CN"/>
              <a:t> A</a:t>
            </a:r>
            <a:r>
              <a:rPr lang="zh-CN" altLang="en-US"/>
              <a:t>，我连接了</a:t>
            </a:r>
            <a:r>
              <a:rPr lang="en-US" altLang="zh-CN"/>
              <a:t> B </a:t>
            </a:r>
            <a:r>
              <a:rPr lang="zh-CN" altLang="en-US"/>
              <a:t>路由器</a:t>
            </a:r>
            <a:endParaRPr lang="zh-CN" altLang="en-US"/>
          </a:p>
          <a:p>
            <a:pPr lvl="1"/>
            <a:r>
              <a:rPr lang="zh-CN" altLang="en-US"/>
              <a:t>记录自己负责哪些终端：我是</a:t>
            </a:r>
            <a:r>
              <a:rPr lang="en-US" altLang="zh-CN"/>
              <a:t> A</a:t>
            </a:r>
            <a:r>
              <a:rPr lang="zh-CN" altLang="en-US"/>
              <a:t>，我负责终端</a:t>
            </a:r>
            <a:r>
              <a:rPr lang="en-US" altLang="zh-CN"/>
              <a:t> a b </a:t>
            </a:r>
            <a:r>
              <a:rPr lang="en-US" altLang="zh-CN"/>
              <a:t>c</a:t>
            </a:r>
            <a:endParaRPr lang="en-US" altLang="zh-CN"/>
          </a:p>
          <a:p>
            <a:pPr lvl="1"/>
            <a:r>
              <a:rPr lang="zh-CN" altLang="en-US"/>
              <a:t>和邻居路由器交换信息，计算出</a:t>
            </a:r>
            <a:r>
              <a:rPr lang="zh-CN" altLang="en-US"/>
              <a:t>路由表</a:t>
            </a:r>
            <a:endParaRPr lang="zh-CN" altLang="en-US"/>
          </a:p>
          <a:p>
            <a:pPr lvl="0"/>
            <a:r>
              <a:rPr lang="zh-CN" altLang="en-US" sz="2800"/>
              <a:t>前面两者就是链路状态</a:t>
            </a:r>
            <a:endParaRPr lang="zh-CN" altLang="en-US" sz="2800"/>
          </a:p>
          <a:p>
            <a:pPr lvl="0"/>
            <a:r>
              <a:rPr lang="zh-CN" altLang="en-US" sz="2800"/>
              <a:t>根据链路状态计算路由表</a:t>
            </a:r>
            <a:endParaRPr lang="zh-CN" altLang="en-US" sz="2800"/>
          </a:p>
          <a:p>
            <a:pPr lvl="0"/>
            <a:r>
              <a:rPr lang="zh-CN" altLang="en-US" sz="2800"/>
              <a:t>就是链路状态路由协议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OSPF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OSPF </a:t>
            </a:r>
            <a:r>
              <a:rPr lang="zh-CN" altLang="en-US"/>
              <a:t>就是一个链路状态</a:t>
            </a:r>
            <a:r>
              <a:rPr lang="zh-CN" altLang="en-US"/>
              <a:t>路由协议</a:t>
            </a:r>
            <a:endParaRPr lang="zh-CN" altLang="en-US"/>
          </a:p>
          <a:p>
            <a:r>
              <a:rPr lang="zh-CN" altLang="en-US"/>
              <a:t>如何表示路由器之间的连接</a:t>
            </a:r>
            <a:r>
              <a:rPr lang="zh-CN" altLang="en-US"/>
              <a:t>关系？</a:t>
            </a:r>
            <a:endParaRPr lang="zh-CN" altLang="en-US"/>
          </a:p>
          <a:p>
            <a:pPr lvl="0"/>
            <a:r>
              <a:rPr lang="zh-CN" altLang="en-US"/>
              <a:t>路由器</a:t>
            </a:r>
            <a:r>
              <a:rPr lang="en-US" altLang="zh-CN"/>
              <a:t> A </a:t>
            </a:r>
            <a:r>
              <a:rPr lang="zh-CN" altLang="en-US"/>
              <a:t>宣告一项</a:t>
            </a:r>
            <a:r>
              <a:rPr lang="en-US" altLang="zh-CN"/>
              <a:t> Router LSA</a:t>
            </a:r>
            <a:r>
              <a:rPr lang="zh-CN" altLang="en-US"/>
              <a:t>：</a:t>
            </a:r>
            <a:endParaRPr lang="zh-CN" altLang="en-US"/>
          </a:p>
          <a:p>
            <a:pPr lvl="1"/>
            <a:r>
              <a:rPr lang="zh-CN" altLang="en-US"/>
              <a:t>我是路由器</a:t>
            </a:r>
            <a:r>
              <a:rPr lang="en-US" altLang="zh-CN"/>
              <a:t> A</a:t>
            </a:r>
            <a:r>
              <a:rPr lang="zh-CN" altLang="en-US"/>
              <a:t>，我的邻居有</a:t>
            </a:r>
            <a:r>
              <a:rPr lang="en-US" altLang="zh-CN"/>
              <a:t> </a:t>
            </a:r>
            <a:r>
              <a:rPr lang="en-US" altLang="zh-CN"/>
              <a:t>B</a:t>
            </a:r>
            <a:endParaRPr lang="en-US" altLang="zh-CN"/>
          </a:p>
          <a:p>
            <a:pPr lvl="0"/>
            <a:r>
              <a:rPr lang="zh-CN" altLang="en-US"/>
              <a:t>路由器</a:t>
            </a:r>
            <a:r>
              <a:rPr lang="en-US" altLang="zh-CN"/>
              <a:t> B </a:t>
            </a:r>
            <a:r>
              <a:rPr lang="zh-CN" altLang="en-US"/>
              <a:t>宣告一项</a:t>
            </a:r>
            <a:r>
              <a:rPr lang="en-US" altLang="zh-CN"/>
              <a:t> Router LSA</a:t>
            </a:r>
            <a:r>
              <a:rPr lang="zh-CN" altLang="en-US"/>
              <a:t>：</a:t>
            </a:r>
            <a:endParaRPr lang="zh-CN" altLang="en-US"/>
          </a:p>
          <a:p>
            <a:pPr lvl="1"/>
            <a:r>
              <a:rPr lang="zh-CN" altLang="en-US"/>
              <a:t>我是路由器</a:t>
            </a:r>
            <a:r>
              <a:rPr lang="en-US" altLang="zh-CN"/>
              <a:t> B</a:t>
            </a:r>
            <a:r>
              <a:rPr lang="zh-CN" altLang="en-US"/>
              <a:t>，我的邻居有</a:t>
            </a:r>
            <a:r>
              <a:rPr lang="en-US" altLang="zh-CN"/>
              <a:t> A C D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OSPF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如何表示路由器下属的终端</a:t>
            </a:r>
            <a:r>
              <a:rPr lang="zh-CN" altLang="en-US"/>
              <a:t>设备？</a:t>
            </a:r>
            <a:endParaRPr lang="zh-CN" altLang="en-US"/>
          </a:p>
          <a:p>
            <a:r>
              <a:rPr lang="zh-CN" altLang="en-US"/>
              <a:t>在网络中，每个网络的终端设备都会划分到某个地址段中</a:t>
            </a:r>
            <a:endParaRPr lang="zh-CN" altLang="en-US"/>
          </a:p>
          <a:p>
            <a:pPr lvl="1"/>
            <a:r>
              <a:rPr lang="zh-CN" altLang="en-US"/>
              <a:t>例如</a:t>
            </a:r>
            <a:r>
              <a:rPr lang="en-US" altLang="zh-CN"/>
              <a:t> a/b/c </a:t>
            </a:r>
            <a:r>
              <a:rPr lang="zh-CN" altLang="en-US"/>
              <a:t>在</a:t>
            </a:r>
            <a:r>
              <a:rPr lang="en-US" altLang="zh-CN"/>
              <a:t> fd00::1:0/112</a:t>
            </a:r>
            <a:r>
              <a:rPr lang="zh-CN" altLang="en-US"/>
              <a:t>，</a:t>
            </a:r>
            <a:r>
              <a:rPr lang="en-US" altLang="zh-CN"/>
              <a:t>d </a:t>
            </a:r>
            <a:r>
              <a:rPr lang="zh-CN" altLang="en-US"/>
              <a:t>在</a:t>
            </a:r>
            <a:r>
              <a:rPr lang="en-US" altLang="zh-CN"/>
              <a:t> fd00::2:0/112</a:t>
            </a:r>
            <a:endParaRPr lang="en-US" altLang="zh-CN"/>
          </a:p>
          <a:p>
            <a:pPr lvl="0"/>
            <a:r>
              <a:rPr lang="zh-CN" altLang="en-US"/>
              <a:t>路由器</a:t>
            </a:r>
            <a:r>
              <a:rPr lang="en-US" altLang="zh-CN"/>
              <a:t> A </a:t>
            </a:r>
            <a:r>
              <a:rPr lang="zh-CN" altLang="en-US"/>
              <a:t>宣告一项</a:t>
            </a:r>
            <a:r>
              <a:rPr lang="en-US" altLang="zh-CN"/>
              <a:t> Intra Area Prefix LSA</a:t>
            </a:r>
            <a:r>
              <a:rPr lang="zh-CN" altLang="en-US"/>
              <a:t>：</a:t>
            </a:r>
            <a:endParaRPr lang="zh-CN" altLang="en-US"/>
          </a:p>
          <a:p>
            <a:pPr lvl="1"/>
            <a:r>
              <a:rPr lang="zh-CN" altLang="en-US"/>
              <a:t>我是路由器</a:t>
            </a:r>
            <a:r>
              <a:rPr lang="en-US" altLang="zh-CN"/>
              <a:t> A</a:t>
            </a:r>
            <a:r>
              <a:rPr lang="zh-CN" altLang="en-US"/>
              <a:t>，我连接了</a:t>
            </a:r>
            <a:r>
              <a:rPr lang="en-US" altLang="zh-CN"/>
              <a:t> fd00::1:0/112 </a:t>
            </a:r>
            <a:r>
              <a:rPr lang="zh-CN" altLang="en-US"/>
              <a:t>网段</a:t>
            </a:r>
            <a:endParaRPr lang="zh-CN" altLang="en-US"/>
          </a:p>
          <a:p>
            <a:pPr lvl="0"/>
            <a:r>
              <a:rPr lang="zh-CN" altLang="en-US"/>
              <a:t>这些</a:t>
            </a:r>
            <a:r>
              <a:rPr lang="en-US" altLang="zh-CN"/>
              <a:t> LSA </a:t>
            </a:r>
            <a:r>
              <a:rPr lang="zh-CN" altLang="en-US"/>
              <a:t>共同构成了</a:t>
            </a:r>
            <a:r>
              <a:rPr lang="zh-CN" altLang="en-US"/>
              <a:t>链路状态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OSPF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针对链路状态路由协议的元素，</a:t>
            </a:r>
            <a:r>
              <a:rPr lang="en-US" altLang="zh-CN"/>
              <a:t>OSPF </a:t>
            </a:r>
            <a:r>
              <a:rPr lang="zh-CN" altLang="en-US"/>
              <a:t>都有对应的实现</a:t>
            </a:r>
            <a:r>
              <a:rPr lang="en-US" altLang="zh-CN"/>
              <a:t>，</a:t>
            </a:r>
            <a:r>
              <a:rPr lang="zh-CN" altLang="en-US"/>
              <a:t>即不同类型的</a:t>
            </a:r>
            <a:r>
              <a:rPr lang="en-US" altLang="zh-CN"/>
              <a:t> LSA</a:t>
            </a:r>
            <a:endParaRPr lang="zh-CN" altLang="en-US"/>
          </a:p>
          <a:p>
            <a:r>
              <a:rPr lang="zh-CN" altLang="en-US"/>
              <a:t>但理论和实际仍然有一些</a:t>
            </a:r>
            <a:r>
              <a:rPr lang="zh-CN" altLang="en-US"/>
              <a:t>距离：</a:t>
            </a:r>
            <a:endParaRPr lang="zh-CN" altLang="en-US"/>
          </a:p>
          <a:p>
            <a:pPr lvl="1"/>
            <a:r>
              <a:rPr lang="zh-CN" altLang="en-US"/>
              <a:t>如何发现邻居？</a:t>
            </a:r>
            <a:r>
              <a:rPr lang="en-US" altLang="zh-CN"/>
              <a:t>OSPF Hello</a:t>
            </a:r>
            <a:endParaRPr lang="zh-CN" altLang="en-US"/>
          </a:p>
          <a:p>
            <a:pPr lvl="1"/>
            <a:r>
              <a:rPr lang="zh-CN" altLang="en-US"/>
              <a:t>如何和邻居交换和更新链路状态？</a:t>
            </a:r>
            <a:r>
              <a:rPr lang="en-US" altLang="zh-CN"/>
              <a:t>OSPF LSDB </a:t>
            </a:r>
            <a:r>
              <a:rPr lang="zh-CN" altLang="en-US"/>
              <a:t>同步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OSPF Hell</a:t>
            </a:r>
            <a:r>
              <a:rPr lang="en-US"/>
              <a:t>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如何发现邻居</a:t>
            </a:r>
            <a:r>
              <a:rPr lang="zh-CN" altLang="en-US"/>
              <a:t>路由器？</a:t>
            </a:r>
            <a:endParaRPr lang="zh-CN" altLang="en-US"/>
          </a:p>
          <a:p>
            <a:r>
              <a:rPr lang="zh-CN" altLang="en-US"/>
              <a:t>定时往链路上发送</a:t>
            </a:r>
            <a:r>
              <a:rPr lang="en-US" altLang="zh-CN"/>
              <a:t> OSPF Hello </a:t>
            </a:r>
            <a:r>
              <a:rPr lang="zh-CN" altLang="en-US"/>
              <a:t>消息</a:t>
            </a:r>
            <a:endParaRPr lang="zh-CN" altLang="en-US"/>
          </a:p>
          <a:p>
            <a:r>
              <a:rPr lang="zh-CN" altLang="en-US"/>
              <a:t>如果收到了别人发送的</a:t>
            </a:r>
            <a:r>
              <a:rPr lang="en-US" altLang="zh-CN"/>
              <a:t> OSPF Hello </a:t>
            </a:r>
            <a:r>
              <a:rPr lang="zh-CN" altLang="en-US"/>
              <a:t>消息，说明出现了</a:t>
            </a:r>
            <a:r>
              <a:rPr lang="zh-CN" altLang="en-US"/>
              <a:t>邻居</a:t>
            </a:r>
            <a:endParaRPr lang="zh-CN" altLang="en-US"/>
          </a:p>
          <a:p>
            <a:r>
              <a:rPr lang="zh-CN" altLang="en-US"/>
              <a:t>为了可靠性：</a:t>
            </a:r>
            <a:r>
              <a:rPr lang="en-US" altLang="zh-CN"/>
              <a:t>OSPF Hello </a:t>
            </a:r>
            <a:r>
              <a:rPr lang="zh-CN" altLang="en-US"/>
              <a:t>消息会附带已发现的邻居的</a:t>
            </a:r>
            <a:r>
              <a:rPr lang="zh-CN" altLang="en-US"/>
              <a:t>列表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OSPF Hell</a:t>
            </a:r>
            <a:r>
              <a:rPr lang="en-US"/>
              <a:t>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268755"/>
            <a:ext cx="8229600" cy="4525963"/>
          </a:xfrm>
        </p:spPr>
        <p:txBody>
          <a:bodyPr/>
          <a:p>
            <a:r>
              <a:rPr lang="zh-CN" altLang="en-US"/>
              <a:t>例子：</a:t>
            </a:r>
            <a:endParaRPr lang="zh-CN" altLang="en-US"/>
          </a:p>
          <a:p>
            <a:pPr lvl="1"/>
            <a:r>
              <a:rPr lang="en-US" altLang="zh-CN"/>
              <a:t>A </a:t>
            </a:r>
            <a:r>
              <a:rPr lang="zh-CN" altLang="en-US"/>
              <a:t>发送</a:t>
            </a:r>
            <a:r>
              <a:rPr lang="en-US" altLang="zh-CN"/>
              <a:t> OSPF Hello</a:t>
            </a:r>
            <a:r>
              <a:rPr lang="zh-CN" altLang="en-US"/>
              <a:t>，没有已知的</a:t>
            </a:r>
            <a:r>
              <a:rPr lang="zh-CN" altLang="en-US"/>
              <a:t>邻居</a:t>
            </a:r>
            <a:endParaRPr lang="zh-CN" altLang="en-US"/>
          </a:p>
          <a:p>
            <a:pPr lvl="1"/>
            <a:r>
              <a:rPr lang="en-US" altLang="zh-CN"/>
              <a:t>B </a:t>
            </a:r>
            <a:r>
              <a:rPr lang="zh-CN" altLang="en-US"/>
              <a:t>发送</a:t>
            </a:r>
            <a:r>
              <a:rPr lang="en-US" altLang="zh-CN"/>
              <a:t> OSPF Hello</a:t>
            </a:r>
            <a:r>
              <a:rPr lang="zh-CN" altLang="en-US"/>
              <a:t>，没有已知的</a:t>
            </a:r>
            <a:r>
              <a:rPr lang="zh-CN" altLang="en-US"/>
              <a:t>邻居</a:t>
            </a:r>
            <a:endParaRPr lang="zh-CN" altLang="en-US"/>
          </a:p>
          <a:p>
            <a:pPr lvl="1"/>
            <a:r>
              <a:rPr lang="en-US" altLang="zh-CN"/>
              <a:t>A </a:t>
            </a:r>
            <a:r>
              <a:rPr lang="zh-CN" altLang="en-US"/>
              <a:t>收到</a:t>
            </a:r>
            <a:r>
              <a:rPr lang="en-US" altLang="zh-CN"/>
              <a:t> B </a:t>
            </a:r>
            <a:r>
              <a:rPr lang="zh-CN" altLang="en-US"/>
              <a:t>发送的</a:t>
            </a:r>
            <a:r>
              <a:rPr lang="en-US" altLang="zh-CN"/>
              <a:t> OSPF </a:t>
            </a:r>
            <a:r>
              <a:rPr lang="en-US" altLang="zh-CN"/>
              <a:t>Hello</a:t>
            </a:r>
            <a:endParaRPr lang="en-US" altLang="zh-CN"/>
          </a:p>
          <a:p>
            <a:pPr lvl="1"/>
            <a:r>
              <a:rPr lang="en-US" altLang="zh-CN"/>
              <a:t>A </a:t>
            </a:r>
            <a:r>
              <a:rPr lang="zh-CN" altLang="en-US"/>
              <a:t>发送</a:t>
            </a:r>
            <a:r>
              <a:rPr lang="en-US" altLang="zh-CN"/>
              <a:t> OSPF Hello</a:t>
            </a:r>
            <a:r>
              <a:rPr lang="zh-CN" altLang="en-US"/>
              <a:t>，附带已知的邻居有：</a:t>
            </a:r>
            <a:r>
              <a:rPr lang="en-US" altLang="zh-CN"/>
              <a:t>B</a:t>
            </a:r>
            <a:endParaRPr lang="en-US" altLang="zh-CN"/>
          </a:p>
          <a:p>
            <a:pPr lvl="1"/>
            <a:r>
              <a:rPr lang="en-US" altLang="zh-CN"/>
              <a:t>B </a:t>
            </a:r>
            <a:r>
              <a:rPr lang="zh-CN" altLang="en-US"/>
              <a:t>收到</a:t>
            </a:r>
            <a:r>
              <a:rPr lang="en-US" altLang="zh-CN"/>
              <a:t> A </a:t>
            </a:r>
            <a:r>
              <a:rPr lang="zh-CN" altLang="en-US"/>
              <a:t>发送的</a:t>
            </a:r>
            <a:r>
              <a:rPr lang="en-US" altLang="zh-CN"/>
              <a:t> OSPF Hello</a:t>
            </a:r>
            <a:r>
              <a:rPr lang="zh-CN" altLang="en-US"/>
              <a:t>，发现里面有</a:t>
            </a:r>
            <a:r>
              <a:rPr lang="zh-CN" altLang="en-US"/>
              <a:t>自己</a:t>
            </a:r>
            <a:endParaRPr lang="zh-CN" altLang="en-US"/>
          </a:p>
          <a:p>
            <a:pPr lvl="1"/>
            <a:r>
              <a:rPr lang="en-US" altLang="zh-CN"/>
              <a:t>B </a:t>
            </a:r>
            <a:r>
              <a:rPr lang="zh-CN" altLang="en-US"/>
              <a:t>发送</a:t>
            </a:r>
            <a:r>
              <a:rPr lang="en-US" altLang="zh-CN"/>
              <a:t> OSPF Hello</a:t>
            </a:r>
            <a:r>
              <a:rPr lang="zh-CN" altLang="en-US"/>
              <a:t>，附带已知的邻居有：</a:t>
            </a:r>
            <a:r>
              <a:rPr lang="en-US" altLang="zh-CN"/>
              <a:t>A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A </a:t>
            </a:r>
            <a:r>
              <a:rPr lang="zh-CN" altLang="en-US">
                <a:sym typeface="+mn-ea"/>
              </a:rPr>
              <a:t>收到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B </a:t>
            </a:r>
            <a:r>
              <a:rPr lang="zh-CN" altLang="en-US">
                <a:sym typeface="+mn-ea"/>
              </a:rPr>
              <a:t>发送的</a:t>
            </a:r>
            <a:r>
              <a:rPr lang="en-US" altLang="zh-CN">
                <a:sym typeface="+mn-ea"/>
              </a:rPr>
              <a:t> OSPF Hello</a:t>
            </a:r>
            <a:r>
              <a:rPr lang="zh-CN" altLang="en-US">
                <a:sym typeface="+mn-ea"/>
              </a:rPr>
              <a:t>，发现里面有自己</a:t>
            </a:r>
            <a:endParaRPr lang="zh-CN" altLang="en-US"/>
          </a:p>
          <a:p>
            <a:pPr lvl="1"/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OSPF </a:t>
            </a:r>
            <a:r>
              <a:rPr lang="en-US"/>
              <a:t>Hello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OSPF Hello </a:t>
            </a:r>
            <a:r>
              <a:rPr lang="zh-CN" altLang="en-US"/>
              <a:t>是一个双向确认的</a:t>
            </a:r>
            <a:r>
              <a:rPr lang="zh-CN" altLang="en-US"/>
              <a:t>过程</a:t>
            </a:r>
            <a:endParaRPr lang="zh-CN" altLang="en-US"/>
          </a:p>
          <a:p>
            <a:r>
              <a:rPr lang="zh-CN" altLang="en-US"/>
              <a:t>就好象</a:t>
            </a:r>
            <a:r>
              <a:rPr lang="zh-CN" altLang="en-US"/>
              <a:t>脱单：</a:t>
            </a:r>
            <a:endParaRPr lang="zh-CN" altLang="en-US"/>
          </a:p>
          <a:p>
            <a:pPr lvl="1"/>
            <a:r>
              <a:rPr lang="en-US" altLang="zh-CN"/>
              <a:t>A </a:t>
            </a:r>
            <a:r>
              <a:rPr lang="zh-CN" altLang="en-US"/>
              <a:t>对</a:t>
            </a:r>
            <a:r>
              <a:rPr lang="en-US" altLang="zh-CN"/>
              <a:t> B </a:t>
            </a:r>
            <a:r>
              <a:rPr lang="zh-CN" altLang="en-US"/>
              <a:t>说：我喜欢你，我们在一起</a:t>
            </a:r>
            <a:r>
              <a:rPr lang="zh-CN" altLang="en-US"/>
              <a:t>吧</a:t>
            </a:r>
            <a:endParaRPr lang="zh-CN" altLang="en-US"/>
          </a:p>
          <a:p>
            <a:pPr lvl="1"/>
            <a:r>
              <a:rPr lang="en-US" altLang="zh-CN"/>
              <a:t>B </a:t>
            </a:r>
            <a:r>
              <a:rPr lang="zh-CN" altLang="en-US"/>
              <a:t>对</a:t>
            </a:r>
            <a:r>
              <a:rPr lang="en-US" altLang="zh-CN"/>
              <a:t> A </a:t>
            </a:r>
            <a:r>
              <a:rPr lang="zh-CN" altLang="en-US"/>
              <a:t>说：我也喜欢你，我们在一起</a:t>
            </a:r>
            <a:r>
              <a:rPr lang="zh-CN" altLang="en-US"/>
              <a:t>吧</a:t>
            </a:r>
            <a:endParaRPr lang="zh-CN" altLang="en-US"/>
          </a:p>
          <a:p>
            <a:pPr lvl="0"/>
            <a:r>
              <a:rPr lang="zh-CN" altLang="en-US"/>
              <a:t>双方都确认对方同意</a:t>
            </a:r>
            <a:r>
              <a:rPr lang="zh-CN" altLang="en-US"/>
              <a:t>在一起了</a:t>
            </a:r>
            <a:endParaRPr lang="zh-CN" altLang="en-US"/>
          </a:p>
          <a:p>
            <a:pPr lvl="0"/>
            <a:r>
              <a:rPr lang="zh-CN" altLang="en-US"/>
              <a:t>如果不进行双方确认，</a:t>
            </a:r>
            <a:r>
              <a:rPr lang="zh-CN" altLang="en-US"/>
              <a:t>可能有什么问题？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OSPF </a:t>
            </a:r>
            <a:r>
              <a:rPr lang="en-US"/>
              <a:t>Hello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还是脱单的</a:t>
            </a:r>
            <a:r>
              <a:rPr lang="zh-CN" altLang="en-US"/>
              <a:t>例子：</a:t>
            </a:r>
            <a:endParaRPr lang="zh-CN" altLang="en-US"/>
          </a:p>
          <a:p>
            <a:pPr lvl="1"/>
            <a:r>
              <a:rPr lang="en-US" altLang="zh-CN"/>
              <a:t>A </a:t>
            </a:r>
            <a:r>
              <a:rPr lang="zh-CN" altLang="en-US"/>
              <a:t>对</a:t>
            </a:r>
            <a:r>
              <a:rPr lang="en-US" altLang="zh-CN"/>
              <a:t> B </a:t>
            </a:r>
            <a:r>
              <a:rPr lang="zh-CN" altLang="en-US"/>
              <a:t>说：</a:t>
            </a:r>
            <a:r>
              <a:rPr lang="zh-CN" altLang="en-US"/>
              <a:t>我们在一起吧</a:t>
            </a:r>
            <a:endParaRPr lang="zh-CN" altLang="en-US"/>
          </a:p>
          <a:p>
            <a:pPr lvl="1"/>
            <a:r>
              <a:rPr lang="en-US" altLang="zh-CN"/>
              <a:t>B </a:t>
            </a:r>
            <a:r>
              <a:rPr lang="zh-CN" altLang="en-US"/>
              <a:t>收到了，</a:t>
            </a:r>
            <a:r>
              <a:rPr lang="en-US" altLang="zh-CN"/>
              <a:t>B </a:t>
            </a:r>
            <a:r>
              <a:rPr lang="zh-CN" altLang="en-US"/>
              <a:t>对</a:t>
            </a:r>
            <a:r>
              <a:rPr lang="en-US" altLang="zh-CN"/>
              <a:t> A </a:t>
            </a:r>
            <a:r>
              <a:rPr lang="zh-CN" altLang="en-US"/>
              <a:t>说：我们在一起</a:t>
            </a:r>
            <a:r>
              <a:rPr lang="zh-CN" altLang="en-US"/>
              <a:t>吧</a:t>
            </a:r>
            <a:endParaRPr lang="zh-CN" altLang="en-US"/>
          </a:p>
          <a:p>
            <a:pPr lvl="1"/>
            <a:r>
              <a:rPr lang="zh-CN" altLang="en-US"/>
              <a:t>结果</a:t>
            </a:r>
            <a:r>
              <a:rPr lang="en-US" altLang="zh-CN"/>
              <a:t> </a:t>
            </a:r>
            <a:r>
              <a:rPr lang="en-US" altLang="zh-CN"/>
              <a:t>A </a:t>
            </a:r>
            <a:r>
              <a:rPr lang="zh-CN" altLang="en-US"/>
              <a:t>的网络不好，没收到</a:t>
            </a:r>
            <a:r>
              <a:rPr lang="zh-CN" altLang="en-US"/>
              <a:t>消息</a:t>
            </a:r>
            <a:endParaRPr lang="zh-CN" altLang="en-US"/>
          </a:p>
          <a:p>
            <a:pPr lvl="1"/>
            <a:r>
              <a:rPr lang="zh-CN" altLang="en-US"/>
              <a:t>这时候</a:t>
            </a:r>
            <a:r>
              <a:rPr lang="en-US" altLang="zh-CN"/>
              <a:t> B </a:t>
            </a:r>
            <a:r>
              <a:rPr lang="zh-CN" altLang="en-US"/>
              <a:t>以为在一起了，</a:t>
            </a:r>
            <a:r>
              <a:rPr lang="en-US" altLang="zh-CN"/>
              <a:t>A </a:t>
            </a:r>
            <a:r>
              <a:rPr lang="zh-CN" altLang="en-US"/>
              <a:t>以为</a:t>
            </a:r>
            <a:r>
              <a:rPr lang="en-US" altLang="zh-CN"/>
              <a:t> B </a:t>
            </a:r>
            <a:r>
              <a:rPr lang="zh-CN" altLang="en-US"/>
              <a:t>沉默拒绝</a:t>
            </a:r>
            <a:r>
              <a:rPr lang="zh-CN" altLang="en-US"/>
              <a:t>了</a:t>
            </a:r>
            <a:endParaRPr lang="zh-CN" altLang="en-US"/>
          </a:p>
          <a:p>
            <a:pPr lvl="1"/>
            <a:r>
              <a:rPr lang="en-US" altLang="zh-CN"/>
              <a:t>A </a:t>
            </a:r>
            <a:r>
              <a:rPr lang="zh-CN" altLang="en-US"/>
              <a:t>在独自伤心，去找了</a:t>
            </a:r>
            <a:r>
              <a:rPr lang="en-US" altLang="zh-CN"/>
              <a:t> C </a:t>
            </a:r>
            <a:r>
              <a:rPr lang="zh-CN" altLang="en-US"/>
              <a:t>表白</a:t>
            </a:r>
            <a:endParaRPr lang="zh-CN" altLang="en-US"/>
          </a:p>
          <a:p>
            <a:pPr lvl="1"/>
            <a:r>
              <a:rPr lang="zh-CN" altLang="en-US"/>
              <a:t>另一边</a:t>
            </a:r>
            <a:r>
              <a:rPr lang="en-US" altLang="zh-CN"/>
              <a:t> B </a:t>
            </a:r>
            <a:r>
              <a:rPr lang="zh-CN" altLang="en-US"/>
              <a:t>已经开始庆祝</a:t>
            </a:r>
            <a:r>
              <a:rPr lang="zh-CN" altLang="en-US"/>
              <a:t>了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OSPF Hello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双向</a:t>
            </a:r>
            <a:r>
              <a:rPr lang="en-US" altLang="zh-CN"/>
              <a:t> OSPF Hello </a:t>
            </a:r>
            <a:r>
              <a:rPr lang="zh-CN" altLang="en-US"/>
              <a:t>确认以后，就可以开始同步</a:t>
            </a:r>
            <a:r>
              <a:rPr lang="en-US" altLang="zh-CN"/>
              <a:t> LSA</a:t>
            </a:r>
            <a:r>
              <a:rPr lang="zh-CN" altLang="en-US"/>
              <a:t>，所有</a:t>
            </a:r>
            <a:r>
              <a:rPr lang="en-US" altLang="zh-CN"/>
              <a:t> LSA </a:t>
            </a:r>
            <a:r>
              <a:rPr lang="zh-CN" altLang="en-US"/>
              <a:t>构成</a:t>
            </a:r>
            <a:r>
              <a:rPr lang="en-US" altLang="zh-CN"/>
              <a:t> LSDB </a:t>
            </a:r>
            <a:r>
              <a:rPr lang="zh-CN" altLang="en-US"/>
              <a:t>链路状态数据库</a:t>
            </a:r>
            <a:endParaRPr lang="en-US" altLang="zh-CN"/>
          </a:p>
          <a:p>
            <a:r>
              <a:rPr lang="zh-CN" altLang="en-US"/>
              <a:t>回顾</a:t>
            </a:r>
            <a:r>
              <a:rPr lang="en-US" altLang="zh-CN"/>
              <a:t> LSA</a:t>
            </a:r>
            <a:r>
              <a:rPr lang="zh-CN" altLang="en-US"/>
              <a:t>：</a:t>
            </a:r>
            <a:r>
              <a:rPr lang="zh-CN" altLang="en-US"/>
              <a:t>两类</a:t>
            </a:r>
            <a:endParaRPr lang="zh-CN" altLang="en-US"/>
          </a:p>
          <a:p>
            <a:pPr lvl="1"/>
            <a:r>
              <a:rPr lang="en-US" altLang="zh-CN"/>
              <a:t>Router LSA</a:t>
            </a:r>
            <a:r>
              <a:rPr lang="zh-CN" altLang="en-US"/>
              <a:t>：</a:t>
            </a:r>
            <a:r>
              <a:rPr lang="zh-CN" altLang="en-US"/>
              <a:t>该路由器有哪些邻居</a:t>
            </a:r>
            <a:r>
              <a:rPr lang="zh-CN" altLang="en-US"/>
              <a:t>路由器</a:t>
            </a:r>
            <a:endParaRPr lang="zh-CN" altLang="en-US"/>
          </a:p>
          <a:p>
            <a:pPr lvl="1"/>
            <a:r>
              <a:rPr lang="en-US" altLang="zh-CN"/>
              <a:t>Intra Area Prefix LSA</a:t>
            </a:r>
            <a:r>
              <a:rPr lang="zh-CN" altLang="en-US"/>
              <a:t>：</a:t>
            </a:r>
            <a:r>
              <a:rPr lang="zh-CN" altLang="en-US"/>
              <a:t>该路由器下管理</a:t>
            </a:r>
            <a:r>
              <a:rPr lang="zh-CN" altLang="en-US"/>
              <a:t>了哪些</a:t>
            </a:r>
            <a:r>
              <a:rPr lang="zh-CN" altLang="en-US"/>
              <a:t>网段</a:t>
            </a:r>
            <a:endParaRPr lang="zh-CN" altLang="en-US"/>
          </a:p>
          <a:p>
            <a:pPr lvl="0"/>
            <a:r>
              <a:rPr lang="zh-CN" altLang="en-US"/>
              <a:t>为了保证可靠传输：类似数据链路协议三</a:t>
            </a:r>
            <a:r>
              <a:rPr lang="en-US" altLang="zh-CN"/>
              <a:t>，</a:t>
            </a:r>
            <a:r>
              <a:rPr lang="zh-CN" altLang="en-US"/>
              <a:t>自动重复请求</a:t>
            </a:r>
            <a:r>
              <a:rPr lang="zh-CN" altLang="en-US"/>
              <a:t>协议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OSPF LSDB </a:t>
            </a:r>
            <a:r>
              <a:rPr lang="zh-CN" altLang="en-US"/>
              <a:t>同步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链路状态数据库（</a:t>
            </a:r>
            <a:r>
              <a:rPr lang="en-US" altLang="zh-CN"/>
              <a:t>LSDB</a:t>
            </a:r>
            <a:r>
              <a:rPr lang="zh-CN" altLang="en-US"/>
              <a:t>）的</a:t>
            </a:r>
            <a:r>
              <a:rPr lang="zh-CN" altLang="en-US"/>
              <a:t>同步：</a:t>
            </a:r>
            <a:endParaRPr lang="zh-CN" altLang="en-US"/>
          </a:p>
          <a:p>
            <a:pPr lvl="1"/>
            <a:r>
              <a:rPr lang="zh-CN" altLang="en-US"/>
              <a:t>邻居之间</a:t>
            </a:r>
            <a:r>
              <a:rPr lang="zh-CN" altLang="en-US"/>
              <a:t>互通有无</a:t>
            </a:r>
            <a:endParaRPr lang="zh-CN" altLang="en-US"/>
          </a:p>
          <a:p>
            <a:pPr lvl="1"/>
            <a:r>
              <a:rPr lang="en-US" altLang="zh-CN"/>
              <a:t>A </a:t>
            </a:r>
            <a:r>
              <a:rPr lang="zh-CN" altLang="en-US"/>
              <a:t>给</a:t>
            </a:r>
            <a:r>
              <a:rPr lang="en-US" altLang="zh-CN"/>
              <a:t> B </a:t>
            </a:r>
            <a:r>
              <a:rPr lang="zh-CN" altLang="en-US"/>
              <a:t>发送自己有哪些</a:t>
            </a:r>
            <a:r>
              <a:rPr lang="en-US" altLang="zh-CN"/>
              <a:t> LSA</a:t>
            </a:r>
            <a:r>
              <a:rPr lang="zh-CN" altLang="en-US"/>
              <a:t>（只发送</a:t>
            </a:r>
            <a:r>
              <a:rPr lang="zh-CN" altLang="en-US"/>
              <a:t>头部）</a:t>
            </a:r>
            <a:endParaRPr lang="en-US" altLang="zh-CN"/>
          </a:p>
          <a:p>
            <a:pPr lvl="1"/>
            <a:r>
              <a:rPr lang="en-US" altLang="zh-CN"/>
              <a:t>B </a:t>
            </a:r>
            <a:r>
              <a:rPr lang="zh-CN" altLang="en-US"/>
              <a:t>给</a:t>
            </a:r>
            <a:r>
              <a:rPr lang="en-US" altLang="zh-CN"/>
              <a:t> A </a:t>
            </a:r>
            <a:r>
              <a:rPr lang="zh-CN" altLang="en-US"/>
              <a:t>发送自己有哪些</a:t>
            </a:r>
            <a:r>
              <a:rPr lang="en-US" altLang="zh-CN"/>
              <a:t> LSA</a:t>
            </a:r>
            <a:r>
              <a:rPr lang="zh-CN" altLang="en-US"/>
              <a:t>（只发送</a:t>
            </a:r>
            <a:r>
              <a:rPr lang="zh-CN" altLang="en-US"/>
              <a:t>头部）</a:t>
            </a:r>
            <a:endParaRPr lang="zh-CN" altLang="en-US"/>
          </a:p>
          <a:p>
            <a:pPr lvl="0"/>
            <a:r>
              <a:rPr lang="en-US" altLang="zh-CN"/>
              <a:t>A </a:t>
            </a:r>
            <a:r>
              <a:rPr lang="zh-CN" altLang="en-US"/>
              <a:t>发现</a:t>
            </a:r>
            <a:r>
              <a:rPr lang="en-US" altLang="zh-CN"/>
              <a:t> B </a:t>
            </a:r>
            <a:r>
              <a:rPr lang="zh-CN" altLang="en-US"/>
              <a:t>有自己没有的</a:t>
            </a:r>
            <a:r>
              <a:rPr lang="en-US" altLang="zh-CN"/>
              <a:t> LSA</a:t>
            </a:r>
            <a:r>
              <a:rPr lang="zh-CN" altLang="en-US"/>
              <a:t>，</a:t>
            </a:r>
            <a:r>
              <a:rPr lang="zh-CN" altLang="en-US"/>
              <a:t>那么</a:t>
            </a:r>
            <a:endParaRPr lang="zh-CN" altLang="en-US"/>
          </a:p>
          <a:p>
            <a:pPr lvl="1"/>
            <a:r>
              <a:rPr lang="en-US" altLang="zh-CN"/>
              <a:t>A </a:t>
            </a:r>
            <a:r>
              <a:rPr lang="zh-CN" altLang="en-US"/>
              <a:t>发送</a:t>
            </a:r>
            <a:r>
              <a:rPr lang="en-US" altLang="zh-CN"/>
              <a:t> LS Request </a:t>
            </a:r>
            <a:r>
              <a:rPr lang="zh-CN" altLang="en-US"/>
              <a:t>给</a:t>
            </a:r>
            <a:r>
              <a:rPr lang="en-US" altLang="zh-CN"/>
              <a:t> B</a:t>
            </a:r>
            <a:r>
              <a:rPr lang="zh-CN" altLang="en-US"/>
              <a:t>，要求读取某些</a:t>
            </a:r>
            <a:r>
              <a:rPr lang="en-US" altLang="zh-CN"/>
              <a:t> </a:t>
            </a:r>
            <a:r>
              <a:rPr lang="en-US" altLang="zh-CN"/>
              <a:t>LSA</a:t>
            </a:r>
            <a:endParaRPr lang="en-US" altLang="zh-CN"/>
          </a:p>
          <a:p>
            <a:pPr lvl="1"/>
            <a:r>
              <a:rPr lang="en-US" altLang="zh-CN"/>
              <a:t>B </a:t>
            </a:r>
            <a:r>
              <a:rPr lang="zh-CN" altLang="en-US"/>
              <a:t>发送</a:t>
            </a:r>
            <a:r>
              <a:rPr lang="en-US" altLang="zh-CN"/>
              <a:t> LS Update </a:t>
            </a:r>
            <a:r>
              <a:rPr lang="zh-CN" altLang="en-US"/>
              <a:t>给</a:t>
            </a:r>
            <a:r>
              <a:rPr lang="en-US" altLang="zh-CN"/>
              <a:t> A</a:t>
            </a:r>
            <a:r>
              <a:rPr lang="zh-CN" altLang="en-US"/>
              <a:t>，内容里包括</a:t>
            </a:r>
            <a:r>
              <a:rPr lang="zh-CN" altLang="en-US"/>
              <a:t>了完整</a:t>
            </a:r>
            <a:r>
              <a:rPr lang="en-US" altLang="zh-CN"/>
              <a:t> LSA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OSPF LSDB </a:t>
            </a:r>
            <a:r>
              <a:rPr lang="zh-CN" altLang="en-US"/>
              <a:t>同步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45" y="1628775"/>
            <a:ext cx="8229600" cy="814070"/>
          </a:xfrm>
        </p:spPr>
        <p:txBody>
          <a:bodyPr/>
          <a:p>
            <a:r>
              <a:rPr lang="en-US"/>
              <a:t>RFC 2328 Page 106 </a:t>
            </a:r>
            <a:r>
              <a:rPr lang="zh-CN" altLang="en-US"/>
              <a:t>有</a:t>
            </a:r>
            <a:r>
              <a:rPr lang="zh-CN" altLang="en-US"/>
              <a:t>这样一张图：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435" y="2492375"/>
            <a:ext cx="3392170" cy="4142105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410845" y="2442845"/>
            <a:ext cx="4275455" cy="38385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 baseline="0">
                <a:solidFill>
                  <a:srgbClr val="404040"/>
                </a:solidFill>
                <a:latin typeface="Noto Serif" panose="02020600060500090200" pitchFamily="18" charset="0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erif" panose="02020600060500090200" pitchFamily="18" charset="0"/>
                <a:ea typeface="微软雅黑" pitchFamily="34" charset="-122"/>
                <a:cs typeface="+mn-cs"/>
              </a:defRPr>
            </a:lvl2pPr>
            <a:lvl3pPr marL="11430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erif" panose="02020600060500090200" pitchFamily="18" charset="0"/>
                <a:ea typeface="微软雅黑" pitchFamily="34" charset="-122"/>
                <a:cs typeface="+mn-cs"/>
              </a:defRPr>
            </a:lvl3pPr>
            <a:lvl4pPr marL="16002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erif" panose="02020600060500090200" pitchFamily="18" charset="0"/>
                <a:ea typeface="微软雅黑" pitchFamily="34" charset="-122"/>
                <a:cs typeface="+mn-cs"/>
              </a:defRPr>
            </a:lvl4pPr>
            <a:lvl5pPr marL="20574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erif" panose="02020600060500090200" pitchFamily="18" charset="0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LSDB</a:t>
            </a:r>
            <a:r>
              <a:rPr lang="zh-CN" altLang="en-US"/>
              <a:t>同步过程</a:t>
            </a:r>
            <a:r>
              <a:rPr lang="en-US" altLang="zh-CN"/>
              <a:t>：</a:t>
            </a:r>
            <a:endParaRPr lang="en-US" altLang="zh-CN"/>
          </a:p>
          <a:p>
            <a:pPr lvl="1"/>
            <a:r>
              <a:rPr lang="zh-CN" altLang="en-US"/>
              <a:t>建立双向通信</a:t>
            </a:r>
            <a:endParaRPr lang="en-US" altLang="zh-CN"/>
          </a:p>
          <a:p>
            <a:pPr lvl="1"/>
            <a:r>
              <a:rPr lang="en-US" altLang="zh-CN"/>
              <a:t>Ex</a:t>
            </a:r>
            <a:r>
              <a:rPr lang="en-US" altLang="zh-CN"/>
              <a:t>Start</a:t>
            </a:r>
            <a:endParaRPr lang="en-US" altLang="zh-CN"/>
          </a:p>
          <a:p>
            <a:pPr lvl="1"/>
            <a:r>
              <a:rPr lang="en-US" altLang="zh-CN"/>
              <a:t>Ex</a:t>
            </a:r>
            <a:r>
              <a:rPr lang="en-US" altLang="zh-CN"/>
              <a:t>Change</a:t>
            </a:r>
            <a:endParaRPr lang="en-US" altLang="zh-CN"/>
          </a:p>
          <a:p>
            <a:pPr lvl="1"/>
            <a:r>
              <a:rPr lang="en-US" altLang="zh-CN"/>
              <a:t>Loading</a:t>
            </a:r>
            <a:endParaRPr lang="en-US" altLang="zh-CN"/>
          </a:p>
          <a:p>
            <a:pPr lvl="1"/>
            <a:r>
              <a:rPr lang="en-US" altLang="zh-CN"/>
              <a:t>Full</a:t>
            </a:r>
            <a:endParaRPr lang="en-US" altLang="zh-CN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OSPF </a:t>
            </a:r>
            <a:r>
              <a:rPr lang="zh-CN" altLang="en-US"/>
              <a:t>路由表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完成链路状态数据库（</a:t>
            </a:r>
            <a:r>
              <a:rPr lang="en-US" altLang="zh-CN"/>
              <a:t>LSDB</a:t>
            </a:r>
            <a:r>
              <a:rPr lang="zh-CN" altLang="en-US"/>
              <a:t>）</a:t>
            </a:r>
            <a:r>
              <a:rPr lang="zh-CN" altLang="en-US"/>
              <a:t>同步后：</a:t>
            </a:r>
            <a:endParaRPr lang="zh-CN" altLang="en-US"/>
          </a:p>
          <a:p>
            <a:r>
              <a:rPr lang="zh-CN" altLang="en-US"/>
              <a:t>每个路由器计算自己的</a:t>
            </a:r>
            <a:r>
              <a:rPr lang="zh-CN" altLang="en-US"/>
              <a:t>路由表：</a:t>
            </a:r>
            <a:endParaRPr lang="zh-CN" altLang="en-US"/>
          </a:p>
          <a:p>
            <a:pPr lvl="1"/>
            <a:r>
              <a:rPr lang="zh-CN" altLang="en-US"/>
              <a:t>根据</a:t>
            </a:r>
            <a:r>
              <a:rPr lang="en-US" altLang="zh-CN"/>
              <a:t> LSDB</a:t>
            </a:r>
            <a:r>
              <a:rPr lang="zh-CN" altLang="en-US"/>
              <a:t>，以路由器为结点，构造</a:t>
            </a:r>
            <a:r>
              <a:rPr lang="zh-CN" altLang="en-US"/>
              <a:t>图</a:t>
            </a:r>
            <a:endParaRPr lang="zh-CN" altLang="en-US"/>
          </a:p>
          <a:p>
            <a:pPr lvl="1"/>
            <a:r>
              <a:rPr lang="zh-CN" altLang="en-US"/>
              <a:t>以当前路由器为源结点，计算到各路由器</a:t>
            </a:r>
            <a:r>
              <a:rPr lang="zh-CN" altLang="en-US"/>
              <a:t>的单源</a:t>
            </a:r>
            <a:r>
              <a:rPr lang="zh-CN" altLang="en-US"/>
              <a:t>最短路径</a:t>
            </a:r>
            <a:endParaRPr lang="zh-CN" altLang="en-US"/>
          </a:p>
          <a:p>
            <a:pPr lvl="1"/>
            <a:r>
              <a:rPr lang="zh-CN" altLang="en-US"/>
              <a:t>计算</a:t>
            </a:r>
            <a:r>
              <a:rPr lang="zh-CN" altLang="en-US"/>
              <a:t>到挂靠在各个路由器下的网段的</a:t>
            </a:r>
            <a:r>
              <a:rPr lang="zh-CN" altLang="en-US"/>
              <a:t>最短路径</a:t>
            </a:r>
            <a:endParaRPr lang="zh-CN" altLang="en-US"/>
          </a:p>
          <a:p>
            <a:pPr lvl="1"/>
            <a:r>
              <a:rPr lang="zh-CN" altLang="en-US"/>
              <a:t>生成</a:t>
            </a:r>
            <a:r>
              <a:rPr lang="zh-CN" altLang="en-US"/>
              <a:t>路由表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OSPF </a:t>
            </a:r>
            <a:r>
              <a:rPr lang="zh-CN" altLang="en-US"/>
              <a:t>小结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OSPF </a:t>
            </a:r>
            <a:r>
              <a:rPr lang="zh-CN" altLang="en-US"/>
              <a:t>协议是链路状态</a:t>
            </a:r>
            <a:r>
              <a:rPr lang="zh-CN" altLang="en-US"/>
              <a:t>路由协议</a:t>
            </a:r>
            <a:endParaRPr lang="zh-CN" altLang="en-US"/>
          </a:p>
          <a:p>
            <a:r>
              <a:rPr lang="zh-CN" altLang="en-US"/>
              <a:t>第一步：用</a:t>
            </a:r>
            <a:r>
              <a:rPr lang="en-US" altLang="zh-CN"/>
              <a:t> OSPF Hello </a:t>
            </a:r>
            <a:r>
              <a:rPr lang="zh-CN" altLang="en-US"/>
              <a:t>发现邻居</a:t>
            </a:r>
            <a:r>
              <a:rPr lang="zh-CN" altLang="en-US"/>
              <a:t>路由器</a:t>
            </a:r>
            <a:endParaRPr lang="zh-CN" altLang="en-US"/>
          </a:p>
          <a:p>
            <a:r>
              <a:rPr lang="zh-CN" altLang="en-US"/>
              <a:t>第二步：和邻居路由器同步</a:t>
            </a:r>
            <a:r>
              <a:rPr lang="en-US" altLang="zh-CN"/>
              <a:t> </a:t>
            </a:r>
            <a:r>
              <a:rPr lang="en-US" altLang="zh-CN"/>
              <a:t>LSDB</a:t>
            </a:r>
            <a:endParaRPr lang="en-US" altLang="zh-CN"/>
          </a:p>
          <a:p>
            <a:r>
              <a:rPr lang="zh-CN" altLang="en-US"/>
              <a:t>第三步：根据</a:t>
            </a:r>
            <a:r>
              <a:rPr lang="en-US" altLang="zh-CN"/>
              <a:t> LSDB</a:t>
            </a:r>
            <a:r>
              <a:rPr lang="zh-CN" altLang="en-US"/>
              <a:t>，计算出</a:t>
            </a:r>
            <a:r>
              <a:rPr lang="zh-CN" altLang="en-US"/>
              <a:t>路由表</a:t>
            </a:r>
            <a:endParaRPr lang="zh-CN" altLang="en-US"/>
          </a:p>
          <a:p>
            <a:r>
              <a:rPr lang="zh-CN" altLang="en-US"/>
              <a:t>同学要实现的是第一步和第三步的</a:t>
            </a:r>
            <a:r>
              <a:rPr lang="zh-CN" altLang="en-US"/>
              <a:t>一部分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数据链路层协议</a:t>
            </a:r>
            <a:r>
              <a:rPr lang="zh-CN" altLang="en-US"/>
              <a:t>回顾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教材讲了六种数据链路层</a:t>
            </a:r>
            <a:r>
              <a:rPr lang="zh-CN" altLang="en-US"/>
              <a:t>协议</a:t>
            </a:r>
            <a:endParaRPr lang="zh-CN" altLang="en-US"/>
          </a:p>
          <a:p>
            <a:pPr lvl="1"/>
            <a:r>
              <a:rPr lang="zh-CN" altLang="en-US"/>
              <a:t>协议一：</a:t>
            </a:r>
            <a:r>
              <a:rPr lang="zh-CN" altLang="en-US"/>
              <a:t>乌托邦</a:t>
            </a:r>
            <a:endParaRPr lang="zh-CN" altLang="en-US"/>
          </a:p>
          <a:p>
            <a:pPr lvl="1"/>
            <a:r>
              <a:rPr lang="zh-CN" altLang="en-US"/>
              <a:t>协议二：停等</a:t>
            </a:r>
            <a:r>
              <a:rPr lang="zh-CN" altLang="en-US"/>
              <a:t>协议</a:t>
            </a:r>
            <a:endParaRPr lang="zh-CN" altLang="en-US"/>
          </a:p>
          <a:p>
            <a:pPr lvl="1"/>
            <a:r>
              <a:rPr lang="zh-CN" altLang="en-US"/>
              <a:t>协议三：自动重复请求</a:t>
            </a:r>
            <a:endParaRPr lang="zh-CN" altLang="en-US"/>
          </a:p>
          <a:p>
            <a:pPr lvl="1"/>
            <a:r>
              <a:rPr lang="zh-CN" altLang="en-US"/>
              <a:t>协议四：</a:t>
            </a:r>
            <a:r>
              <a:rPr lang="zh-CN" altLang="en-US"/>
              <a:t>滑动窗口</a:t>
            </a:r>
            <a:endParaRPr lang="zh-CN" altLang="en-US"/>
          </a:p>
          <a:p>
            <a:pPr lvl="1"/>
            <a:r>
              <a:rPr lang="zh-CN" altLang="en-US"/>
              <a:t>协议五：回退</a:t>
            </a:r>
            <a:r>
              <a:rPr lang="en-US" altLang="zh-CN"/>
              <a:t> N</a:t>
            </a:r>
            <a:endParaRPr lang="en-US" altLang="zh-CN"/>
          </a:p>
          <a:p>
            <a:pPr lvl="1"/>
            <a:r>
              <a:rPr lang="zh-CN" altLang="en-US"/>
              <a:t>协议六：选择重传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可靠传输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052855"/>
            <a:ext cx="8229600" cy="4525963"/>
          </a:xfrm>
        </p:spPr>
        <p:txBody>
          <a:bodyPr/>
          <a:p>
            <a:r>
              <a:rPr lang="en-US" altLang="zh-CN"/>
              <a:t>OSPF </a:t>
            </a:r>
            <a:r>
              <a:rPr lang="zh-CN" altLang="en-US"/>
              <a:t>协议实现了自己的可靠传输</a:t>
            </a:r>
            <a:r>
              <a:rPr lang="zh-CN" altLang="en-US"/>
              <a:t>机制</a:t>
            </a:r>
            <a:endParaRPr lang="zh-CN" altLang="en-US"/>
          </a:p>
          <a:p>
            <a:r>
              <a:rPr lang="en-US" altLang="zh-CN"/>
              <a:t>OSPF</a:t>
            </a:r>
            <a:r>
              <a:rPr lang="zh-CN" altLang="en-US"/>
              <a:t>：类似协议三自动重复</a:t>
            </a:r>
            <a:r>
              <a:rPr lang="zh-CN" altLang="en-US"/>
              <a:t>请求</a:t>
            </a:r>
            <a:endParaRPr lang="zh-CN" altLang="en-US"/>
          </a:p>
          <a:p>
            <a:pPr lvl="1"/>
            <a:r>
              <a:rPr lang="en-US" altLang="zh-CN"/>
              <a:t>A </a:t>
            </a:r>
            <a:r>
              <a:rPr lang="zh-CN" altLang="en-US"/>
              <a:t>发给</a:t>
            </a:r>
            <a:r>
              <a:rPr lang="en-US" altLang="zh-CN"/>
              <a:t> B</a:t>
            </a:r>
            <a:r>
              <a:rPr lang="zh-CN" altLang="en-US"/>
              <a:t>：</a:t>
            </a:r>
            <a:r>
              <a:rPr lang="en-US" altLang="zh-CN"/>
              <a:t>SEQ=y</a:t>
            </a:r>
            <a:r>
              <a:rPr lang="zh-CN" altLang="en-US"/>
              <a:t>，带数据</a:t>
            </a:r>
            <a:endParaRPr lang="en-US" altLang="zh-CN"/>
          </a:p>
          <a:p>
            <a:pPr lvl="1"/>
            <a:r>
              <a:rPr lang="en-US" altLang="zh-CN"/>
              <a:t>B </a:t>
            </a:r>
            <a:r>
              <a:rPr lang="zh-CN" altLang="en-US"/>
              <a:t>发给</a:t>
            </a:r>
            <a:r>
              <a:rPr lang="en-US" altLang="zh-CN"/>
              <a:t> A</a:t>
            </a:r>
            <a:r>
              <a:rPr lang="zh-CN" altLang="en-US"/>
              <a:t>：</a:t>
            </a:r>
            <a:r>
              <a:rPr lang="en-US" altLang="zh-CN"/>
              <a:t>SEQ=y</a:t>
            </a:r>
            <a:r>
              <a:rPr lang="zh-CN" altLang="en-US"/>
              <a:t>，带</a:t>
            </a:r>
            <a:r>
              <a:rPr lang="zh-CN" altLang="en-US"/>
              <a:t>数据，捎带对</a:t>
            </a:r>
            <a:r>
              <a:rPr lang="en-US" altLang="zh-CN"/>
              <a:t> A </a:t>
            </a:r>
            <a:r>
              <a:rPr lang="zh-CN" altLang="en-US"/>
              <a:t>发送的</a:t>
            </a:r>
            <a:r>
              <a:rPr lang="en-US" altLang="zh-CN"/>
              <a:t> SEQ=y </a:t>
            </a:r>
            <a:r>
              <a:rPr lang="zh-CN" altLang="en-US"/>
              <a:t>的</a:t>
            </a:r>
            <a:r>
              <a:rPr lang="zh-CN" altLang="en-US"/>
              <a:t>确认</a:t>
            </a:r>
            <a:endParaRPr lang="zh-CN" altLang="en-US"/>
          </a:p>
          <a:p>
            <a:pPr lvl="1"/>
            <a:r>
              <a:rPr lang="en-US" altLang="zh-CN"/>
              <a:t>A </a:t>
            </a:r>
            <a:r>
              <a:rPr lang="zh-CN" altLang="en-US"/>
              <a:t>发给</a:t>
            </a:r>
            <a:r>
              <a:rPr lang="en-US" altLang="zh-CN"/>
              <a:t> B</a:t>
            </a:r>
            <a:r>
              <a:rPr lang="zh-CN" altLang="en-US"/>
              <a:t>：</a:t>
            </a:r>
            <a:r>
              <a:rPr lang="en-US" altLang="zh-CN"/>
              <a:t>SEQ=y+1</a:t>
            </a:r>
            <a:r>
              <a:rPr lang="zh-CN" altLang="en-US"/>
              <a:t>，带数据</a:t>
            </a:r>
            <a:endParaRPr lang="en-US" altLang="zh-CN"/>
          </a:p>
          <a:p>
            <a:pPr lvl="1"/>
            <a:r>
              <a:rPr lang="en-US" altLang="zh-CN"/>
              <a:t>B </a:t>
            </a:r>
            <a:r>
              <a:rPr lang="zh-CN" altLang="en-US"/>
              <a:t>发给</a:t>
            </a:r>
            <a:r>
              <a:rPr lang="en-US" altLang="zh-CN"/>
              <a:t> A</a:t>
            </a:r>
            <a:r>
              <a:rPr lang="zh-CN" altLang="en-US"/>
              <a:t>：</a:t>
            </a:r>
            <a:r>
              <a:rPr lang="en-US" altLang="zh-CN"/>
              <a:t>SEQ=y+1</a:t>
            </a:r>
            <a:r>
              <a:rPr lang="zh-CN" altLang="en-US"/>
              <a:t>，带</a:t>
            </a:r>
            <a:r>
              <a:rPr lang="zh-CN" altLang="en-US"/>
              <a:t>数据，捎带对</a:t>
            </a:r>
            <a:r>
              <a:rPr lang="en-US" altLang="zh-CN"/>
              <a:t> A </a:t>
            </a:r>
            <a:r>
              <a:rPr lang="zh-CN" altLang="en-US"/>
              <a:t>发送的</a:t>
            </a:r>
            <a:r>
              <a:rPr lang="en-US" altLang="zh-CN"/>
              <a:t> SEQ=y+1 </a:t>
            </a:r>
            <a:r>
              <a:rPr lang="zh-CN" altLang="en-US"/>
              <a:t>的</a:t>
            </a:r>
            <a:r>
              <a:rPr lang="zh-CN" altLang="en-US"/>
              <a:t>确认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可靠传输</a:t>
            </a:r>
            <a:r>
              <a:rPr lang="zh-CN" altLang="en-US"/>
              <a:t>小结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根据协议需求，可以采取不同的可靠传输</a:t>
            </a:r>
            <a:r>
              <a:rPr lang="zh-CN" altLang="en-US"/>
              <a:t>机制</a:t>
            </a:r>
            <a:endParaRPr lang="zh-CN" altLang="en-US"/>
          </a:p>
          <a:p>
            <a:pPr lvl="1"/>
            <a:r>
              <a:rPr lang="en-US" altLang="zh-CN"/>
              <a:t>OSPF</a:t>
            </a:r>
            <a:r>
              <a:rPr lang="zh-CN" altLang="en-US"/>
              <a:t>：只需要简单的可靠传输，因此选择了协议三</a:t>
            </a:r>
            <a:r>
              <a:rPr lang="zh-CN" altLang="en-US"/>
              <a:t>自动重复请求，允许信道出现差错，但不需要很高的传输</a:t>
            </a:r>
            <a:r>
              <a:rPr lang="zh-CN" altLang="en-US"/>
              <a:t>效率</a:t>
            </a:r>
            <a:endParaRPr lang="zh-CN" altLang="en-US"/>
          </a:p>
          <a:p>
            <a:pPr lvl="1"/>
            <a:r>
              <a:rPr lang="en-US" altLang="zh-CN"/>
              <a:t>TCP</a:t>
            </a:r>
            <a:r>
              <a:rPr lang="zh-CN" altLang="en-US"/>
              <a:t>：采用协议五回退</a:t>
            </a:r>
            <a:r>
              <a:rPr lang="en-US" altLang="zh-CN"/>
              <a:t> N </a:t>
            </a:r>
            <a:r>
              <a:rPr lang="zh-CN" altLang="en-US"/>
              <a:t>和协议六选择重传，目标是实现更高的带宽和更低的</a:t>
            </a:r>
            <a:r>
              <a:rPr lang="zh-CN" altLang="en-US"/>
              <a:t>延迟</a:t>
            </a:r>
            <a:endParaRPr lang="zh-CN" altLang="en-US"/>
          </a:p>
          <a:p>
            <a:pPr lvl="1"/>
            <a:r>
              <a:rPr lang="zh-CN" altLang="en-US"/>
              <a:t>在网络以外的地方</a:t>
            </a:r>
            <a:r>
              <a:rPr lang="zh-CN"/>
              <a:t>，也有各种可靠传输协议的</a:t>
            </a:r>
            <a:r>
              <a:rPr lang="zh-CN"/>
              <a:t>影子</a:t>
            </a:r>
            <a:endParaRPr lang="zh-CN"/>
          </a:p>
          <a:p>
            <a:pPr lvl="1"/>
            <a:r>
              <a:rPr lang="en-US" altLang="zh-CN"/>
              <a:t>PCIe</a:t>
            </a:r>
            <a:r>
              <a:rPr lang="zh-CN" altLang="en-US"/>
              <a:t>：回退</a:t>
            </a:r>
            <a:r>
              <a:rPr lang="en-US" altLang="zh-CN"/>
              <a:t> </a:t>
            </a:r>
            <a:r>
              <a:rPr lang="en-US" altLang="zh-CN"/>
              <a:t>N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实验的</a:t>
            </a:r>
            <a:r>
              <a:rPr lang="zh-CN" altLang="en-US"/>
              <a:t>两个</a:t>
            </a:r>
            <a:r>
              <a:rPr lang="zh-CN" altLang="en-US"/>
              <a:t>协议选项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实验有</a:t>
            </a:r>
            <a:r>
              <a:rPr lang="zh-CN" altLang="en-US"/>
              <a:t>两个</a:t>
            </a:r>
            <a:r>
              <a:rPr lang="zh-CN" altLang="en-US"/>
              <a:t>协议选项：</a:t>
            </a:r>
            <a:endParaRPr lang="zh-CN" altLang="en-US"/>
          </a:p>
          <a:p>
            <a:pPr lvl="1"/>
            <a:r>
              <a:rPr lang="en-US" altLang="zh-CN"/>
              <a:t>OSPF </a:t>
            </a:r>
            <a:r>
              <a:rPr lang="zh-CN" altLang="en-US"/>
              <a:t>协议</a:t>
            </a:r>
            <a:r>
              <a:rPr lang="en-US" altLang="zh-CN"/>
              <a:t> - </a:t>
            </a: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理解难度最大，代码量最小</a:t>
            </a:r>
            <a:endParaRPr lang="zh-CN" altLang="en-US"/>
          </a:p>
          <a:p>
            <a:pPr lvl="1"/>
            <a:r>
              <a:rPr lang="en-US" altLang="zh-CN"/>
              <a:t>RIPng </a:t>
            </a:r>
            <a:r>
              <a:rPr lang="zh-CN" altLang="en-US"/>
              <a:t>协议</a:t>
            </a:r>
            <a:r>
              <a:rPr lang="en-US" altLang="zh-CN"/>
              <a:t> - </a:t>
            </a:r>
            <a:r>
              <a:rPr lang="zh-CN" altLang="en-US"/>
              <a:t>理解难度较大，代码量较小</a:t>
            </a:r>
            <a:endParaRPr lang="zh-CN" altLang="en-US"/>
          </a:p>
          <a:p>
            <a:pPr lvl="0"/>
            <a:r>
              <a:rPr lang="zh-CN" altLang="en-US"/>
              <a:t>前面已经比较详细地讲了</a:t>
            </a:r>
            <a:r>
              <a:rPr lang="en-US" altLang="zh-CN"/>
              <a:t> OSPF </a:t>
            </a:r>
            <a:r>
              <a:rPr lang="zh-CN" altLang="en-US"/>
              <a:t>协议，下面再讲解</a:t>
            </a:r>
            <a:r>
              <a:rPr lang="en-US" altLang="zh-CN"/>
              <a:t> RIPng </a:t>
            </a:r>
            <a:r>
              <a:rPr lang="zh-CN" altLang="en-US"/>
              <a:t>协议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RIPng </a:t>
            </a:r>
            <a:r>
              <a:rPr lang="zh-CN" altLang="en-US"/>
              <a:t>路由协议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RIPng </a:t>
            </a:r>
            <a:r>
              <a:rPr lang="zh-CN" altLang="en-US"/>
              <a:t>路由协议属于距离向量</a:t>
            </a:r>
            <a:r>
              <a:rPr lang="zh-CN" altLang="en-US"/>
              <a:t>路由协议</a:t>
            </a:r>
            <a:endParaRPr lang="zh-CN" altLang="en-US"/>
          </a:p>
          <a:p>
            <a:r>
              <a:rPr lang="zh-CN" altLang="en-US"/>
              <a:t>距离向量：路由器到各个</a:t>
            </a:r>
            <a:r>
              <a:rPr lang="zh-CN" altLang="en-US"/>
              <a:t>网段的距离组成的</a:t>
            </a:r>
            <a:r>
              <a:rPr lang="zh-CN" altLang="en-US"/>
              <a:t>向量</a:t>
            </a:r>
            <a:endParaRPr lang="zh-CN" altLang="en-US"/>
          </a:p>
          <a:p>
            <a:pPr lvl="1"/>
            <a:r>
              <a:rPr lang="zh-CN" altLang="en-US"/>
              <a:t>对</a:t>
            </a:r>
            <a:r>
              <a:rPr lang="en-US" altLang="zh-CN"/>
              <a:t> </a:t>
            </a:r>
            <a:r>
              <a:rPr lang="en-US" altLang="zh-CN"/>
              <a:t>R1 </a:t>
            </a:r>
            <a:r>
              <a:rPr lang="zh-CN" altLang="en-US"/>
              <a:t>来说：</a:t>
            </a:r>
            <a:endParaRPr lang="zh-CN" altLang="en-US"/>
          </a:p>
          <a:p>
            <a:pPr lvl="2"/>
            <a:r>
              <a:rPr lang="en-US" altLang="zh-CN"/>
              <a:t>fd00::1:0/112: </a:t>
            </a:r>
            <a:r>
              <a:rPr lang="zh-CN" altLang="en-US"/>
              <a:t>直连</a:t>
            </a:r>
            <a:endParaRPr lang="zh-CN" altLang="en-US"/>
          </a:p>
          <a:p>
            <a:pPr lvl="2"/>
            <a:r>
              <a:rPr lang="en-US" altLang="zh-CN"/>
              <a:t>fd00::3:0/112: </a:t>
            </a:r>
            <a:r>
              <a:rPr lang="zh-CN" altLang="en-US"/>
              <a:t>直连</a:t>
            </a:r>
            <a:endParaRPr lang="zh-CN" altLang="en-US"/>
          </a:p>
          <a:p>
            <a:pPr lvl="2"/>
            <a:r>
              <a:rPr lang="en-US" altLang="zh-CN"/>
              <a:t>fd00::4:0/112: </a:t>
            </a:r>
            <a:r>
              <a:rPr lang="zh-CN" altLang="en-US"/>
              <a:t>下一跳是</a:t>
            </a:r>
            <a:r>
              <a:rPr lang="en-US" altLang="zh-CN"/>
              <a:t> R2</a:t>
            </a:r>
            <a:r>
              <a:rPr lang="zh-CN" altLang="en-US"/>
              <a:t>，最短距离是</a:t>
            </a:r>
            <a:r>
              <a:rPr lang="en-US" altLang="zh-CN"/>
              <a:t> 1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fd00::5:0/112: </a:t>
            </a:r>
            <a:r>
              <a:rPr lang="zh-CN" altLang="en-US">
                <a:sym typeface="+mn-ea"/>
              </a:rPr>
              <a:t>下一跳是</a:t>
            </a:r>
            <a:r>
              <a:rPr lang="en-US" altLang="zh-CN">
                <a:sym typeface="+mn-ea"/>
              </a:rPr>
              <a:t> R2</a:t>
            </a:r>
            <a:r>
              <a:rPr lang="zh-CN" altLang="en-US">
                <a:sym typeface="+mn-ea"/>
              </a:rPr>
              <a:t>，最短距离是</a:t>
            </a:r>
            <a:r>
              <a:rPr lang="en-US" altLang="zh-CN">
                <a:sym typeface="+mn-ea"/>
              </a:rPr>
              <a:t> 2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5733415"/>
            <a:ext cx="8788400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RIPng </a:t>
            </a:r>
            <a:r>
              <a:rPr lang="zh-CN" altLang="en-US"/>
              <a:t>路由协议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距离向量：路由器到各个</a:t>
            </a:r>
            <a:r>
              <a:rPr lang="zh-CN" altLang="en-US"/>
              <a:t>网段的距离组成的</a:t>
            </a:r>
            <a:r>
              <a:rPr lang="zh-CN" altLang="en-US"/>
              <a:t>向量</a:t>
            </a:r>
            <a:endParaRPr lang="zh-CN" altLang="en-US"/>
          </a:p>
          <a:p>
            <a:pPr lvl="1"/>
            <a:r>
              <a:rPr lang="zh-CN" altLang="en-US"/>
              <a:t>对</a:t>
            </a:r>
            <a:r>
              <a:rPr lang="en-US" altLang="zh-CN"/>
              <a:t> </a:t>
            </a:r>
            <a:r>
              <a:rPr lang="en-US" altLang="zh-CN"/>
              <a:t>R2 </a:t>
            </a:r>
            <a:r>
              <a:rPr lang="zh-CN" altLang="en-US"/>
              <a:t>来说：</a:t>
            </a:r>
            <a:endParaRPr lang="zh-CN" altLang="en-US"/>
          </a:p>
          <a:p>
            <a:pPr lvl="2"/>
            <a:r>
              <a:rPr lang="en-US" altLang="zh-CN"/>
              <a:t>fd00::1:0/112: </a:t>
            </a:r>
            <a:r>
              <a:rPr lang="zh-CN" altLang="en-US"/>
              <a:t>下一跳是</a:t>
            </a:r>
            <a:r>
              <a:rPr lang="en-US" altLang="zh-CN"/>
              <a:t> </a:t>
            </a:r>
            <a:r>
              <a:rPr lang="en-US" altLang="zh-CN"/>
              <a:t>R1</a:t>
            </a:r>
            <a:r>
              <a:rPr lang="zh-CN" altLang="en-US"/>
              <a:t>，最短距离是</a:t>
            </a:r>
            <a:r>
              <a:rPr lang="en-US" altLang="zh-CN"/>
              <a:t> 1</a:t>
            </a:r>
            <a:endParaRPr lang="en-US" altLang="zh-CN"/>
          </a:p>
          <a:p>
            <a:pPr lvl="2"/>
            <a:r>
              <a:rPr lang="en-US" altLang="zh-CN"/>
              <a:t>fd00::3:0/112: </a:t>
            </a:r>
            <a:r>
              <a:rPr lang="zh-CN" altLang="en-US"/>
              <a:t>直连</a:t>
            </a:r>
            <a:endParaRPr lang="zh-CN" altLang="en-US"/>
          </a:p>
          <a:p>
            <a:pPr lvl="2"/>
            <a:r>
              <a:rPr lang="en-US" altLang="zh-CN"/>
              <a:t>fd00::4:0/112: </a:t>
            </a:r>
            <a:r>
              <a:rPr lang="zh-CN" altLang="en-US"/>
              <a:t>直连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fd00::5:0/112: </a:t>
            </a:r>
            <a:r>
              <a:rPr lang="zh-CN" altLang="en-US">
                <a:sym typeface="+mn-ea"/>
              </a:rPr>
              <a:t>下一跳是</a:t>
            </a:r>
            <a:r>
              <a:rPr lang="en-US" altLang="zh-CN">
                <a:sym typeface="+mn-ea"/>
              </a:rPr>
              <a:t> R3</a:t>
            </a:r>
            <a:r>
              <a:rPr lang="zh-CN" altLang="en-US">
                <a:sym typeface="+mn-ea"/>
              </a:rPr>
              <a:t>，最短距离是</a:t>
            </a:r>
            <a:r>
              <a:rPr lang="en-US" altLang="zh-CN">
                <a:sym typeface="+mn-ea"/>
              </a:rPr>
              <a:t> 1</a:t>
            </a:r>
            <a:endParaRPr lang="en-US" altLang="zh-CN"/>
          </a:p>
          <a:p>
            <a:pPr lvl="2"/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5733415"/>
            <a:ext cx="8788400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RIPng </a:t>
            </a:r>
            <a:r>
              <a:rPr lang="zh-CN" altLang="en-US"/>
              <a:t>路由协议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距离向量：路由器到各个</a:t>
            </a:r>
            <a:r>
              <a:rPr lang="zh-CN" altLang="en-US"/>
              <a:t>网段的距离组成的</a:t>
            </a:r>
            <a:r>
              <a:rPr lang="zh-CN" altLang="en-US"/>
              <a:t>向量</a:t>
            </a:r>
            <a:endParaRPr lang="zh-CN" altLang="en-US"/>
          </a:p>
          <a:p>
            <a:pPr lvl="1"/>
            <a:r>
              <a:rPr lang="zh-CN" altLang="en-US"/>
              <a:t>对</a:t>
            </a:r>
            <a:r>
              <a:rPr lang="en-US" altLang="zh-CN"/>
              <a:t> </a:t>
            </a:r>
            <a:r>
              <a:rPr lang="en-US" altLang="zh-CN"/>
              <a:t>R3 </a:t>
            </a:r>
            <a:r>
              <a:rPr lang="zh-CN" altLang="en-US"/>
              <a:t>来说：</a:t>
            </a:r>
            <a:endParaRPr lang="zh-CN" altLang="en-US"/>
          </a:p>
          <a:p>
            <a:pPr lvl="2"/>
            <a:r>
              <a:rPr lang="en-US" altLang="zh-CN"/>
              <a:t>fd00::1:0/112: </a:t>
            </a:r>
            <a:r>
              <a:rPr lang="zh-CN" altLang="en-US"/>
              <a:t>下一跳是</a:t>
            </a:r>
            <a:r>
              <a:rPr lang="en-US" altLang="zh-CN"/>
              <a:t> </a:t>
            </a:r>
            <a:r>
              <a:rPr lang="en-US" altLang="zh-CN"/>
              <a:t>R2</a:t>
            </a:r>
            <a:r>
              <a:rPr lang="zh-CN" altLang="en-US"/>
              <a:t>，最短距离是</a:t>
            </a:r>
            <a:r>
              <a:rPr lang="en-US" altLang="zh-CN"/>
              <a:t> 2</a:t>
            </a:r>
            <a:endParaRPr lang="en-US" altLang="zh-CN"/>
          </a:p>
          <a:p>
            <a:pPr lvl="2"/>
            <a:r>
              <a:rPr lang="en-US" altLang="zh-CN"/>
              <a:t>fd00::3:0/112: </a:t>
            </a:r>
            <a:r>
              <a:rPr lang="zh-CN" altLang="en-US"/>
              <a:t>下一跳是</a:t>
            </a:r>
            <a:r>
              <a:rPr lang="en-US" altLang="zh-CN"/>
              <a:t> R1</a:t>
            </a:r>
            <a:r>
              <a:rPr lang="zh-CN" altLang="en-US"/>
              <a:t>，最短距离是</a:t>
            </a:r>
            <a:r>
              <a:rPr lang="en-US" altLang="zh-CN"/>
              <a:t> 1</a:t>
            </a:r>
            <a:endParaRPr lang="en-US" altLang="zh-CN"/>
          </a:p>
          <a:p>
            <a:pPr lvl="2"/>
            <a:r>
              <a:rPr lang="en-US" altLang="zh-CN"/>
              <a:t>fd00::4:0/112: </a:t>
            </a:r>
            <a:r>
              <a:rPr lang="zh-CN" altLang="en-US"/>
              <a:t>直连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fd00::5:0/112: </a:t>
            </a:r>
            <a:r>
              <a:rPr lang="zh-CN" altLang="en-US">
                <a:sym typeface="+mn-ea"/>
              </a:rPr>
              <a:t>直连</a:t>
            </a:r>
            <a:endParaRPr lang="en-US" altLang="zh-CN"/>
          </a:p>
          <a:p>
            <a:pPr lvl="2"/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5733415"/>
            <a:ext cx="8788400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RIPng </a:t>
            </a:r>
            <a:r>
              <a:rPr lang="zh-CN" altLang="en-US"/>
              <a:t>路由协议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距离向量与路由表的表项</a:t>
            </a:r>
            <a:r>
              <a:rPr lang="zh-CN" altLang="en-US"/>
              <a:t>紧密相关</a:t>
            </a:r>
            <a:endParaRPr lang="zh-CN" altLang="en-US"/>
          </a:p>
          <a:p>
            <a:r>
              <a:rPr lang="zh-CN" altLang="en-US"/>
              <a:t>每个路由器维护自己的</a:t>
            </a:r>
            <a:r>
              <a:rPr lang="zh-CN" altLang="en-US"/>
              <a:t>距离向量</a:t>
            </a:r>
            <a:endParaRPr lang="zh-CN" altLang="en-US"/>
          </a:p>
          <a:p>
            <a:r>
              <a:rPr lang="zh-CN" altLang="en-US"/>
              <a:t>通过</a:t>
            </a:r>
            <a:r>
              <a:rPr lang="en-US" altLang="zh-CN"/>
              <a:t> RIPng Response </a:t>
            </a:r>
            <a:r>
              <a:rPr lang="zh-CN" altLang="en-US"/>
              <a:t>把自己的距离向量发送给邻居</a:t>
            </a:r>
            <a:r>
              <a:rPr lang="zh-CN" altLang="en-US"/>
              <a:t>路由器</a:t>
            </a:r>
            <a:endParaRPr lang="zh-CN" altLang="en-US"/>
          </a:p>
          <a:p>
            <a:r>
              <a:rPr lang="zh-CN" altLang="en-US"/>
              <a:t>接收到</a:t>
            </a:r>
            <a:r>
              <a:rPr lang="en-US" altLang="zh-CN"/>
              <a:t> RIPng Response </a:t>
            </a:r>
            <a:r>
              <a:rPr lang="zh-CN" altLang="en-US"/>
              <a:t>时，更新自己的</a:t>
            </a:r>
            <a:r>
              <a:rPr lang="zh-CN" altLang="en-US"/>
              <a:t>距离向量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距离向量</a:t>
            </a:r>
            <a:r>
              <a:rPr lang="zh-CN" altLang="en-US"/>
              <a:t>路由协议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但距离向量路由协议并不知道拓扑，难以解决一些</a:t>
            </a:r>
            <a:r>
              <a:rPr lang="zh-CN" altLang="en-US"/>
              <a:t>特殊的拓扑</a:t>
            </a:r>
            <a:r>
              <a:rPr lang="zh-CN" altLang="en-US"/>
              <a:t>变化</a:t>
            </a:r>
            <a:endParaRPr lang="zh-CN" altLang="en-US"/>
          </a:p>
          <a:p>
            <a:pPr lvl="1"/>
            <a:r>
              <a:rPr lang="zh-CN" altLang="en-US"/>
              <a:t>需要水平分割</a:t>
            </a:r>
            <a:r>
              <a:rPr lang="en-US" altLang="zh-CN"/>
              <a:t>+</a:t>
            </a:r>
            <a:r>
              <a:rPr lang="zh-CN" altLang="en-US"/>
              <a:t>毒性反转以保证正确性</a:t>
            </a:r>
            <a:endParaRPr lang="zh-CN" altLang="en-US"/>
          </a:p>
          <a:p>
            <a:pPr lvl="0"/>
            <a:r>
              <a:rPr lang="zh-CN" altLang="en-US"/>
              <a:t>收敛速度不如链路状态路由协议</a:t>
            </a:r>
            <a:endParaRPr lang="zh-CN" altLang="en-US"/>
          </a:p>
          <a:p>
            <a:pPr lvl="0"/>
            <a:r>
              <a:rPr lang="zh-CN" altLang="en-US"/>
              <a:t>更新距离向量时，需要考虑细节</a:t>
            </a:r>
            <a:endParaRPr lang="zh-CN" altLang="en-US"/>
          </a:p>
          <a:p>
            <a:pPr lvl="1"/>
            <a:r>
              <a:rPr lang="zh-CN" altLang="en-US"/>
              <a:t>阅读</a:t>
            </a:r>
            <a:r>
              <a:rPr lang="en-US" altLang="zh-CN"/>
              <a:t> RFC </a:t>
            </a:r>
            <a:r>
              <a:rPr lang="zh-CN" altLang="en-US"/>
              <a:t>相关章节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水平分割和毒性</a:t>
            </a:r>
            <a:r>
              <a:rPr lang="zh-CN" altLang="en-US"/>
              <a:t>反转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路由环路</a:t>
            </a:r>
            <a:r>
              <a:rPr lang="zh-CN" altLang="en-US"/>
              <a:t>问题</a:t>
            </a:r>
            <a:endParaRPr lang="zh-CN" altLang="en-US"/>
          </a:p>
          <a:p>
            <a:pPr lvl="1"/>
            <a:r>
              <a:rPr lang="zh-CN" altLang="en-US" sz="2400"/>
              <a:t>一个例子：</a:t>
            </a:r>
            <a:endParaRPr lang="zh-CN" altLang="en-US" sz="2400"/>
          </a:p>
          <a:p>
            <a:pPr lvl="1"/>
            <a:r>
              <a:rPr lang="en-US" altLang="zh-CN"/>
              <a:t>1. A </a:t>
            </a:r>
            <a:r>
              <a:rPr lang="zh-CN" altLang="en-US"/>
              <a:t>检测到故障，标记</a:t>
            </a:r>
            <a:r>
              <a:rPr lang="en-US" altLang="zh-CN"/>
              <a:t> X </a:t>
            </a:r>
            <a:r>
              <a:rPr lang="zh-CN" altLang="en-US"/>
              <a:t>不可达。</a:t>
            </a:r>
            <a:endParaRPr lang="zh-CN" altLang="en-US"/>
          </a:p>
          <a:p>
            <a:pPr lvl="1"/>
            <a:r>
              <a:rPr lang="en-US" altLang="zh-CN"/>
              <a:t>2. </a:t>
            </a:r>
            <a:r>
              <a:rPr lang="zh-CN" altLang="en-US"/>
              <a:t>此时，</a:t>
            </a:r>
            <a:r>
              <a:rPr lang="en-US" altLang="zh-CN"/>
              <a:t>B </a:t>
            </a:r>
            <a:r>
              <a:rPr lang="zh-CN" altLang="en-US"/>
              <a:t>还认为可以通过</a:t>
            </a:r>
            <a:r>
              <a:rPr lang="en-US" altLang="zh-CN"/>
              <a:t> A </a:t>
            </a:r>
            <a:r>
              <a:rPr lang="zh-CN" altLang="en-US"/>
              <a:t>到达</a:t>
            </a:r>
            <a:r>
              <a:rPr lang="en-US" altLang="zh-CN"/>
              <a:t> X</a:t>
            </a:r>
            <a:r>
              <a:rPr lang="zh-CN" altLang="en-US"/>
              <a:t>。</a:t>
            </a:r>
            <a:endParaRPr lang="zh-CN" altLang="en-US"/>
          </a:p>
          <a:p>
            <a:pPr lvl="1"/>
            <a:r>
              <a:rPr lang="en-US" altLang="zh-CN"/>
              <a:t>3. </a:t>
            </a:r>
            <a:r>
              <a:rPr lang="zh-CN" altLang="en-US"/>
              <a:t>如果</a:t>
            </a:r>
            <a:r>
              <a:rPr lang="en-US" altLang="zh-CN"/>
              <a:t> B </a:t>
            </a:r>
            <a:r>
              <a:rPr lang="zh-CN" altLang="en-US"/>
              <a:t>告诉</a:t>
            </a:r>
            <a:r>
              <a:rPr lang="en-US" altLang="zh-CN"/>
              <a:t> A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我可以到达</a:t>
            </a:r>
            <a:r>
              <a:rPr lang="en-US" altLang="zh-CN"/>
              <a:t> X”</a:t>
            </a:r>
            <a:r>
              <a:rPr lang="zh-CN" altLang="en-US"/>
              <a:t>，</a:t>
            </a:r>
            <a:r>
              <a:rPr lang="en-US" altLang="zh-CN"/>
              <a:t>A </a:t>
            </a:r>
            <a:r>
              <a:rPr lang="zh-CN" altLang="en-US"/>
              <a:t>可能会错误地认为可以通过</a:t>
            </a:r>
            <a:r>
              <a:rPr lang="en-US" altLang="zh-CN"/>
              <a:t> B </a:t>
            </a:r>
            <a:r>
              <a:rPr lang="zh-CN" altLang="en-US"/>
              <a:t>到达</a:t>
            </a:r>
            <a:r>
              <a:rPr lang="en-US" altLang="zh-CN"/>
              <a:t> X</a:t>
            </a:r>
            <a:r>
              <a:rPr lang="zh-CN" altLang="en-US"/>
              <a:t>。</a:t>
            </a:r>
            <a:endParaRPr lang="zh-CN" altLang="en-US"/>
          </a:p>
          <a:p>
            <a:pPr lvl="1"/>
            <a:r>
              <a:rPr lang="en-US" altLang="zh-CN"/>
              <a:t>4. </a:t>
            </a:r>
            <a:r>
              <a:rPr lang="zh-CN" altLang="en-US"/>
              <a:t>环路形成：</a:t>
            </a:r>
            <a:r>
              <a:rPr lang="en-US" altLang="zh-CN"/>
              <a:t>A </a:t>
            </a:r>
            <a:r>
              <a:rPr lang="zh-CN" altLang="en-US"/>
              <a:t>发给</a:t>
            </a:r>
            <a:r>
              <a:rPr lang="en-US" altLang="zh-CN"/>
              <a:t> B </a:t>
            </a:r>
            <a:r>
              <a:rPr lang="zh-CN" altLang="en-US"/>
              <a:t>去往</a:t>
            </a:r>
            <a:r>
              <a:rPr lang="en-US" altLang="zh-CN"/>
              <a:t> X </a:t>
            </a:r>
            <a:r>
              <a:rPr lang="zh-CN" altLang="en-US"/>
              <a:t>的包，</a:t>
            </a:r>
            <a:r>
              <a:rPr lang="en-US" altLang="zh-CN"/>
              <a:t>B </a:t>
            </a:r>
            <a:r>
              <a:rPr lang="zh-CN" altLang="en-US"/>
              <a:t>又发给</a:t>
            </a:r>
            <a:r>
              <a:rPr lang="en-US" altLang="zh-CN"/>
              <a:t> A</a:t>
            </a:r>
            <a:r>
              <a:rPr lang="zh-CN" altLang="en-US"/>
              <a:t>，如此循环。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425" y="1988820"/>
            <a:ext cx="27432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水平分割和毒性</a:t>
            </a:r>
            <a:r>
              <a:rPr lang="zh-CN" altLang="en-US"/>
              <a:t>反转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目的</a:t>
            </a:r>
            <a:r>
              <a:rPr lang="en-US" altLang="zh-CN"/>
              <a:t>：</a:t>
            </a:r>
            <a:r>
              <a:rPr lang="zh-CN" altLang="en-US"/>
              <a:t>防止路由</a:t>
            </a:r>
            <a:r>
              <a:rPr lang="zh-CN" altLang="en-US"/>
              <a:t>环路</a:t>
            </a:r>
            <a:endParaRPr lang="zh-CN" altLang="en-US"/>
          </a:p>
          <a:p>
            <a:r>
              <a:rPr lang="zh-CN" altLang="en-US"/>
              <a:t>水平分割</a:t>
            </a:r>
            <a:r>
              <a:rPr lang="en-US" altLang="zh-CN"/>
              <a:t>：</a:t>
            </a:r>
            <a:r>
              <a:rPr lang="zh-CN" altLang="en-US"/>
              <a:t>从一个接口学到的路由，不会再从同一个接口通告出去。</a:t>
            </a:r>
            <a:endParaRPr lang="zh-CN" altLang="en-US"/>
          </a:p>
          <a:p>
            <a:r>
              <a:rPr lang="zh-CN" altLang="en-US"/>
              <a:t>毒性反转</a:t>
            </a:r>
            <a:r>
              <a:rPr lang="en-US" altLang="zh-CN"/>
              <a:t>：</a:t>
            </a:r>
            <a:r>
              <a:rPr lang="zh-CN" altLang="en-US"/>
              <a:t>从一个接口学到的路由，仍然会从该接口通告出去，但会将其</a:t>
            </a:r>
            <a:r>
              <a:rPr lang="en-US" altLang="zh-CN"/>
              <a:t> metric </a:t>
            </a:r>
            <a:r>
              <a:rPr lang="zh-CN" altLang="en-US"/>
              <a:t>设置为</a:t>
            </a:r>
            <a:r>
              <a:rPr lang="en-US" altLang="zh-CN"/>
              <a:t>"</a:t>
            </a:r>
            <a:r>
              <a:rPr lang="zh-CN" altLang="en-US"/>
              <a:t>无穷大</a:t>
            </a:r>
            <a:r>
              <a:rPr lang="en-US" altLang="zh-CN"/>
              <a:t>"</a:t>
            </a:r>
            <a:r>
              <a:rPr lang="zh-CN" altLang="en-US"/>
              <a:t>（</a:t>
            </a:r>
            <a:r>
              <a:rPr lang="en-US" altLang="zh-CN"/>
              <a:t>RIPng </a:t>
            </a:r>
            <a:r>
              <a:rPr lang="zh-CN" altLang="en-US"/>
              <a:t>中为</a:t>
            </a:r>
            <a:r>
              <a:rPr lang="en-US" altLang="zh-CN"/>
              <a:t> 16</a:t>
            </a:r>
            <a:r>
              <a:rPr lang="zh-CN" altLang="en-US"/>
              <a:t>），</a:t>
            </a:r>
            <a:r>
              <a:rPr lang="zh-CN" altLang="en-US"/>
              <a:t>即标记为不可达。</a:t>
            </a:r>
            <a:endParaRPr lang="zh-CN" altLang="en-US"/>
          </a:p>
          <a:p>
            <a:r>
              <a:rPr lang="zh-CN" altLang="en-US"/>
              <a:t>同学们在作业中需要实现的是第二种</a:t>
            </a:r>
            <a:r>
              <a:rPr lang="en-US" altLang="zh-CN"/>
              <a:t>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更新</a:t>
            </a:r>
            <a:r>
              <a:rPr lang="zh-CN" altLang="en-US"/>
              <a:t>距离向量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268755"/>
            <a:ext cx="8229600" cy="4525963"/>
          </a:xfrm>
        </p:spPr>
        <p:txBody>
          <a:bodyPr/>
          <a:p>
            <a:r>
              <a:rPr lang="zh-CN" altLang="en-US" sz="2400"/>
              <a:t>收到</a:t>
            </a:r>
            <a:r>
              <a:rPr lang="en-US" altLang="zh-CN" sz="2400"/>
              <a:t> </a:t>
            </a:r>
            <a:r>
              <a:rPr lang="en-US" altLang="zh-CN" sz="2400">
                <a:sym typeface="+mn-ea"/>
              </a:rPr>
              <a:t>RIPng Response </a:t>
            </a:r>
            <a:r>
              <a:rPr lang="zh-CN" altLang="en-US" sz="2400">
                <a:sym typeface="+mn-ea"/>
              </a:rPr>
              <a:t>时</a:t>
            </a:r>
            <a:r>
              <a:rPr lang="en-US" altLang="zh-CN" sz="2400">
                <a:sym typeface="+mn-ea"/>
              </a:rPr>
              <a:t>，</a:t>
            </a:r>
            <a:r>
              <a:rPr lang="zh-CN" altLang="en-US" sz="2400">
                <a:sym typeface="+mn-ea"/>
              </a:rPr>
              <a:t>路由器需要更新自己的路由表</a:t>
            </a:r>
            <a:r>
              <a:rPr lang="en-US" altLang="zh-CN" sz="2400">
                <a:sym typeface="+mn-ea"/>
              </a:rPr>
              <a:t>，</a:t>
            </a:r>
            <a:r>
              <a:rPr lang="zh-CN" altLang="en-US" sz="2400">
                <a:sym typeface="+mn-ea"/>
              </a:rPr>
              <a:t>过程如下</a:t>
            </a:r>
            <a:r>
              <a:rPr lang="en-US" altLang="zh-CN" sz="2400">
                <a:sym typeface="+mn-ea"/>
              </a:rPr>
              <a:t>：</a:t>
            </a:r>
            <a:endParaRPr lang="en-US" altLang="zh-CN" sz="2400">
              <a:sym typeface="+mn-ea"/>
            </a:endParaRPr>
          </a:p>
          <a:p>
            <a:pPr lvl="1"/>
            <a:r>
              <a:rPr lang="zh-CN" altLang="en-US" sz="2000">
                <a:sym typeface="+mn-ea"/>
              </a:rPr>
              <a:t>首先对输入的</a:t>
            </a:r>
            <a:r>
              <a:rPr lang="en-US" altLang="zh-CN" sz="2000">
                <a:sym typeface="+mn-ea"/>
              </a:rPr>
              <a:t> RIPng </a:t>
            </a:r>
            <a:r>
              <a:rPr lang="zh-CN" altLang="en-US" sz="2000">
                <a:sym typeface="+mn-ea"/>
              </a:rPr>
              <a:t>表项做如下处理：</a:t>
            </a:r>
            <a:r>
              <a:rPr lang="en-US" altLang="zh-CN" sz="2000">
                <a:sym typeface="+mn-ea"/>
              </a:rPr>
              <a:t>metric = MIN(metric + cost, infinity)，</a:t>
            </a:r>
            <a:r>
              <a:rPr lang="zh-CN" altLang="en-US" sz="2000">
                <a:sym typeface="+mn-ea"/>
              </a:rPr>
              <a:t>其中</a:t>
            </a:r>
            <a:r>
              <a:rPr lang="en-US" altLang="zh-CN" sz="2000">
                <a:sym typeface="+mn-ea"/>
              </a:rPr>
              <a:t> cost </a:t>
            </a:r>
            <a:r>
              <a:rPr lang="zh-CN" altLang="en-US" sz="2000">
                <a:sym typeface="+mn-ea"/>
              </a:rPr>
              <a:t>取</a:t>
            </a:r>
            <a:r>
              <a:rPr lang="en-US" altLang="zh-CN" sz="2000">
                <a:sym typeface="+mn-ea"/>
              </a:rPr>
              <a:t> 1</a:t>
            </a:r>
            <a:r>
              <a:rPr lang="zh-CN" altLang="en-US" sz="2000">
                <a:sym typeface="+mn-ea"/>
              </a:rPr>
              <a:t>，表示经过了一跳路由器</a:t>
            </a:r>
            <a:r>
              <a:rPr lang="en-US" altLang="zh-CN" sz="2000">
                <a:sym typeface="+mn-ea"/>
              </a:rPr>
              <a:t>，infinity </a:t>
            </a:r>
            <a:r>
              <a:rPr lang="zh-CN" altLang="en-US" sz="2000">
                <a:sym typeface="+mn-ea"/>
              </a:rPr>
              <a:t>用</a:t>
            </a:r>
            <a:r>
              <a:rPr lang="en-US" altLang="zh-CN" sz="2000">
                <a:sym typeface="+mn-ea"/>
              </a:rPr>
              <a:t> 16 </a:t>
            </a:r>
            <a:r>
              <a:rPr lang="zh-CN" altLang="en-US" sz="2000">
                <a:sym typeface="+mn-ea"/>
              </a:rPr>
              <a:t>表示</a:t>
            </a:r>
            <a:endParaRPr lang="zh-CN" altLang="en-US" sz="2000">
              <a:sym typeface="+mn-ea"/>
            </a:endParaRPr>
          </a:p>
          <a:p>
            <a:pPr lvl="1"/>
            <a:r>
              <a:rPr lang="zh-CN" altLang="en-US" sz="2000">
                <a:sym typeface="+mn-ea"/>
              </a:rPr>
              <a:t>如果出现了一条新的路由表项，并且</a:t>
            </a:r>
            <a:r>
              <a:rPr lang="en-US" altLang="zh-CN" sz="2000">
                <a:sym typeface="+mn-ea"/>
              </a:rPr>
              <a:t> metric </a:t>
            </a:r>
            <a:r>
              <a:rPr lang="zh-CN" altLang="en-US" sz="2000">
                <a:sym typeface="+mn-ea"/>
              </a:rPr>
              <a:t>不等于</a:t>
            </a:r>
            <a:r>
              <a:rPr lang="en-US" altLang="zh-CN" sz="2000">
                <a:sym typeface="+mn-ea"/>
              </a:rPr>
              <a:t> 16，</a:t>
            </a:r>
            <a:r>
              <a:rPr lang="zh-CN" altLang="en-US" sz="2000">
                <a:sym typeface="+mn-ea"/>
              </a:rPr>
              <a:t>插入到自己的路由表中，设置</a:t>
            </a:r>
            <a:r>
              <a:rPr lang="en-US" altLang="zh-CN" sz="2000">
                <a:sym typeface="+mn-ea"/>
              </a:rPr>
              <a:t> nexthop </a:t>
            </a:r>
            <a:r>
              <a:rPr lang="zh-CN" altLang="en-US" sz="2000">
                <a:sym typeface="+mn-ea"/>
              </a:rPr>
              <a:t>地址为发送这个</a:t>
            </a:r>
            <a:r>
              <a:rPr lang="en-US" altLang="zh-CN" sz="2000">
                <a:sym typeface="+mn-ea"/>
              </a:rPr>
              <a:t> Response </a:t>
            </a:r>
            <a:r>
              <a:rPr lang="zh-CN" altLang="en-US" sz="2000">
                <a:sym typeface="+mn-ea"/>
              </a:rPr>
              <a:t>的路由器。</a:t>
            </a:r>
            <a:endParaRPr lang="zh-CN" altLang="en-US" sz="2000">
              <a:sym typeface="+mn-ea"/>
            </a:endParaRPr>
          </a:p>
          <a:p>
            <a:pPr lvl="1"/>
            <a:r>
              <a:rPr lang="zh-CN" altLang="en-US" sz="2000">
                <a:sym typeface="+mn-ea"/>
              </a:rPr>
              <a:t>如果收到的路由表项和已知的重复，则更新路由表项为</a:t>
            </a:r>
            <a:r>
              <a:rPr lang="en-US" altLang="zh-CN" sz="2000">
                <a:sym typeface="+mn-ea"/>
              </a:rPr>
              <a:t> metric </a:t>
            </a:r>
            <a:r>
              <a:rPr lang="zh-CN" altLang="en-US" sz="2000">
                <a:sym typeface="+mn-ea"/>
              </a:rPr>
              <a:t>更小的</a:t>
            </a:r>
            <a:r>
              <a:rPr lang="zh-CN" altLang="en-US" sz="2000">
                <a:sym typeface="+mn-ea"/>
              </a:rPr>
              <a:t>路径</a:t>
            </a:r>
            <a:endParaRPr lang="zh-CN" altLang="en-US" sz="200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RIPng </a:t>
            </a:r>
            <a:r>
              <a:rPr lang="zh-CN" altLang="en-US"/>
              <a:t>路由协议</a:t>
            </a:r>
            <a:r>
              <a:rPr lang="zh-CN" altLang="en-US"/>
              <a:t>小结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RIPng </a:t>
            </a:r>
            <a:r>
              <a:rPr lang="zh-CN" altLang="en-US"/>
              <a:t>协议是距离向量</a:t>
            </a:r>
            <a:r>
              <a:rPr lang="zh-CN" altLang="en-US"/>
              <a:t>协议</a:t>
            </a:r>
            <a:endParaRPr lang="zh-CN" altLang="en-US"/>
          </a:p>
          <a:p>
            <a:r>
              <a:rPr lang="zh-CN" altLang="en-US"/>
              <a:t>距离向量：到各个网段的</a:t>
            </a:r>
            <a:r>
              <a:rPr lang="zh-CN" altLang="en-US"/>
              <a:t>距离</a:t>
            </a:r>
            <a:endParaRPr lang="zh-CN" altLang="en-US"/>
          </a:p>
          <a:p>
            <a:r>
              <a:rPr lang="zh-CN" altLang="en-US"/>
              <a:t>构造</a:t>
            </a:r>
            <a:r>
              <a:rPr lang="en-US" altLang="zh-CN"/>
              <a:t> RIPng Response </a:t>
            </a:r>
            <a:r>
              <a:rPr lang="zh-CN" altLang="en-US"/>
              <a:t>把自己的距离向量发给邻居</a:t>
            </a:r>
            <a:r>
              <a:rPr lang="zh-CN" altLang="en-US"/>
              <a:t>路由器</a:t>
            </a:r>
            <a:endParaRPr lang="zh-CN" altLang="en-US"/>
          </a:p>
          <a:p>
            <a:r>
              <a:rPr lang="zh-CN" altLang="en-US"/>
              <a:t>解析</a:t>
            </a:r>
            <a:r>
              <a:rPr lang="en-US" altLang="zh-CN"/>
              <a:t> RIPng Response </a:t>
            </a:r>
            <a:r>
              <a:rPr lang="zh-CN" altLang="en-US"/>
              <a:t>并更新自己的</a:t>
            </a:r>
            <a:r>
              <a:rPr lang="zh-CN" altLang="en-US"/>
              <a:t>距离向量</a:t>
            </a:r>
            <a:endParaRPr lang="zh-CN" altLang="en-US"/>
          </a:p>
          <a:p>
            <a:r>
              <a:rPr lang="zh-CN" altLang="en-US"/>
              <a:t>注意水平分割和</a:t>
            </a:r>
            <a:r>
              <a:rPr lang="zh-CN" altLang="en-US"/>
              <a:t>毒性反转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RIPng </a:t>
            </a:r>
            <a:r>
              <a:rPr lang="zh-CN" altLang="en-US"/>
              <a:t>作业可选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124610"/>
            <a:ext cx="8229600" cy="4525963"/>
          </a:xfrm>
        </p:spPr>
        <p:txBody>
          <a:bodyPr/>
          <a:p>
            <a:r>
              <a:rPr lang="zh-CN" altLang="en-US" sz="2400"/>
              <a:t>在路由表出现更新的时候立即发送</a:t>
            </a:r>
            <a:r>
              <a:rPr lang="en-US" altLang="zh-CN" sz="2400"/>
              <a:t> RIPng Response</a:t>
            </a:r>
            <a:r>
              <a:rPr lang="zh-CN" altLang="en-US" sz="2400"/>
              <a:t>（完整或者增量）</a:t>
            </a:r>
            <a:endParaRPr lang="zh-CN" altLang="en-US" sz="2400"/>
          </a:p>
          <a:p>
            <a:pPr lvl="1"/>
            <a:r>
              <a:rPr lang="zh-CN" altLang="en-US" sz="2000">
                <a:sym typeface="+mn-ea"/>
              </a:rPr>
              <a:t>可以加快路由表的收敛速度</a:t>
            </a:r>
            <a:endParaRPr lang="zh-CN" altLang="en-US" sz="2000"/>
          </a:p>
          <a:p>
            <a:pPr lvl="1"/>
            <a:r>
              <a:rPr lang="zh-CN" altLang="en-US" sz="2000"/>
              <a:t>注意此时依然要实现水平分割和毒性反转</a:t>
            </a:r>
            <a:endParaRPr lang="zh-CN" altLang="en-US" sz="2000"/>
          </a:p>
          <a:p>
            <a:r>
              <a:rPr lang="zh-CN" altLang="en-US" sz="2400"/>
              <a:t>程序启动时向所有</a:t>
            </a:r>
            <a:r>
              <a:rPr lang="en-US" altLang="zh-CN" sz="2400"/>
              <a:t> interface </a:t>
            </a:r>
            <a:r>
              <a:rPr lang="zh-CN" altLang="en-US" sz="2400"/>
              <a:t>发送</a:t>
            </a:r>
            <a:r>
              <a:rPr lang="en-US" altLang="zh-CN" sz="2400"/>
              <a:t> RIPng Request</a:t>
            </a:r>
            <a:endParaRPr lang="en-US" altLang="zh-CN" sz="2400"/>
          </a:p>
          <a:p>
            <a:pPr lvl="1"/>
            <a:r>
              <a:rPr lang="zh-CN" altLang="en-US" sz="2055">
                <a:sym typeface="+mn-ea"/>
              </a:rPr>
              <a:t>可以加快路由表的收敛速度</a:t>
            </a:r>
            <a:endParaRPr lang="en-US" altLang="zh-CN" sz="2055"/>
          </a:p>
          <a:p>
            <a:pPr lvl="1"/>
            <a:r>
              <a:rPr lang="en-US" altLang="zh-CN" sz="2055"/>
              <a:t>RIPng </a:t>
            </a:r>
            <a:r>
              <a:rPr lang="zh-CN" altLang="en-US" sz="2055"/>
              <a:t>要求定时构造</a:t>
            </a:r>
            <a:r>
              <a:rPr lang="en-US" altLang="zh-CN" sz="2055"/>
              <a:t> RIPng Request </a:t>
            </a:r>
            <a:r>
              <a:rPr lang="zh-CN" altLang="en-US" sz="2055"/>
              <a:t>组播发送给</a:t>
            </a:r>
            <a:r>
              <a:rPr lang="zh-CN" altLang="en-US" sz="2055"/>
              <a:t>所有路由器</a:t>
            </a:r>
            <a:endParaRPr lang="zh-CN" altLang="en-US" sz="2055"/>
          </a:p>
          <a:p>
            <a:pPr lvl="1"/>
            <a:r>
              <a:rPr lang="zh-CN" altLang="en-US" sz="2055"/>
              <a:t>回复</a:t>
            </a:r>
            <a:r>
              <a:rPr lang="en-US" altLang="zh-CN" sz="2055"/>
              <a:t> RIPng Request </a:t>
            </a:r>
            <a:r>
              <a:rPr lang="zh-CN" altLang="en-US" sz="2055"/>
              <a:t>时只需要将</a:t>
            </a:r>
            <a:r>
              <a:rPr lang="en-US" altLang="zh-CN" sz="2055"/>
              <a:t> Response </a:t>
            </a:r>
            <a:r>
              <a:rPr lang="zh-CN" altLang="en-US" sz="2055"/>
              <a:t>发送给发出该请求的路由器</a:t>
            </a:r>
            <a:endParaRPr lang="zh-CN" altLang="en-US" sz="2055"/>
          </a:p>
          <a:p>
            <a:pPr lvl="1"/>
            <a:r>
              <a:rPr lang="zh-CN" altLang="en-US" sz="2055"/>
              <a:t>水平分割和毒性反转</a:t>
            </a:r>
            <a:endParaRPr lang="zh-CN" altLang="en-US" sz="2055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RIPng </a:t>
            </a:r>
            <a:r>
              <a:rPr lang="zh-CN" altLang="en-US"/>
              <a:t>作业可选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124610"/>
            <a:ext cx="8229600" cy="4525963"/>
          </a:xfrm>
        </p:spPr>
        <p:txBody>
          <a:bodyPr/>
          <a:p>
            <a:r>
              <a:rPr lang="zh-CN" altLang="en-US"/>
              <a:t>路由的超时（</a:t>
            </a:r>
            <a:r>
              <a:rPr lang="en-US" altLang="zh-CN"/>
              <a:t>Timeout</a:t>
            </a:r>
            <a:r>
              <a:rPr lang="zh-CN" altLang="en-US"/>
              <a:t>）和垃圾回收（</a:t>
            </a:r>
            <a:r>
              <a:rPr lang="en-US" altLang="zh-CN"/>
              <a:t>Garbage Collection</a:t>
            </a:r>
            <a:r>
              <a:rPr lang="zh-CN" altLang="en-US"/>
              <a:t>）定时器。</a:t>
            </a:r>
            <a:endParaRPr lang="zh-CN" altLang="en-US"/>
          </a:p>
          <a:p>
            <a:pPr lvl="1"/>
            <a:r>
              <a:rPr lang="zh-CN" altLang="en-US"/>
              <a:t>每次路由更新时重置被更新的路由的超时计时器</a:t>
            </a:r>
            <a:r>
              <a:rPr lang="en-US" altLang="zh-CN"/>
              <a:t>；</a:t>
            </a:r>
            <a:r>
              <a:rPr lang="zh-CN" altLang="en-US"/>
              <a:t>如果某条路由一定时间内没有更新，则标记为不可达</a:t>
            </a:r>
            <a:endParaRPr lang="zh-CN" altLang="en-US"/>
          </a:p>
          <a:p>
            <a:pPr lvl="1"/>
            <a:r>
              <a:rPr lang="zh-CN" altLang="en-US"/>
              <a:t>在路由标记为不可达后</a:t>
            </a:r>
            <a:r>
              <a:rPr lang="en-US" altLang="zh-CN"/>
              <a:t>，</a:t>
            </a:r>
            <a:r>
              <a:rPr lang="zh-CN" altLang="en-US"/>
              <a:t>启动垃圾回收定时器</a:t>
            </a:r>
            <a:r>
              <a:rPr lang="en-US" altLang="zh-CN"/>
              <a:t>，</a:t>
            </a:r>
            <a:r>
              <a:rPr lang="zh-CN" altLang="en-US"/>
              <a:t>超时后从路由表</a:t>
            </a:r>
            <a:r>
              <a:rPr lang="zh-CN" altLang="en-US"/>
              <a:t>彻底删除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本地测试</a:t>
            </a:r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上次实验课讲到了</a:t>
            </a:r>
            <a:r>
              <a:rPr lang="en-US" altLang="zh-CN"/>
              <a:t> netns</a:t>
            </a:r>
            <a:r>
              <a:rPr lang="zh-CN" altLang="en-US"/>
              <a:t>，简单</a:t>
            </a:r>
            <a:r>
              <a:rPr lang="zh-CN" altLang="en-US"/>
              <a:t>回顾：</a:t>
            </a:r>
            <a:endParaRPr lang="zh-CN" altLang="en-US"/>
          </a:p>
          <a:p>
            <a:r>
              <a:rPr lang="en-US" altLang="zh-CN"/>
              <a:t>netns </a:t>
            </a:r>
            <a:r>
              <a:rPr lang="zh-CN" altLang="en-US"/>
              <a:t>创建了隔离的网络</a:t>
            </a:r>
            <a:r>
              <a:rPr lang="zh-CN" altLang="en-US"/>
              <a:t>命名空间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 netns </a:t>
            </a:r>
            <a:r>
              <a:rPr lang="zh-CN" altLang="en-US"/>
              <a:t>之间创建虚拟网线（</a:t>
            </a:r>
            <a:r>
              <a:rPr lang="en-US" altLang="zh-CN"/>
              <a:t>veth</a:t>
            </a:r>
            <a:r>
              <a:rPr lang="zh-CN" altLang="en-US"/>
              <a:t>）把</a:t>
            </a:r>
            <a:r>
              <a:rPr lang="en-US" altLang="zh-CN"/>
              <a:t> netns </a:t>
            </a:r>
            <a:r>
              <a:rPr lang="zh-CN" altLang="en-US"/>
              <a:t>之间连接</a:t>
            </a:r>
            <a:r>
              <a:rPr lang="zh-CN" altLang="en-US"/>
              <a:t>起来</a:t>
            </a:r>
            <a:endParaRPr lang="zh-CN" altLang="en-US"/>
          </a:p>
          <a:p>
            <a:r>
              <a:rPr lang="zh-CN" altLang="en-US"/>
              <a:t>对于每个虚拟网络设备，创建一个</a:t>
            </a:r>
            <a:r>
              <a:rPr lang="en-US" altLang="zh-CN"/>
              <a:t> netns</a:t>
            </a:r>
            <a:r>
              <a:rPr lang="zh-CN" altLang="en-US"/>
              <a:t>；再用</a:t>
            </a:r>
            <a:r>
              <a:rPr lang="en-US" altLang="zh-CN"/>
              <a:t> veth </a:t>
            </a:r>
            <a:r>
              <a:rPr lang="zh-CN" altLang="en-US"/>
              <a:t>连接起来，实现虚拟的</a:t>
            </a:r>
            <a:r>
              <a:rPr lang="zh-CN" altLang="en-US"/>
              <a:t>网络拓扑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本地测试</a:t>
            </a:r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124610"/>
            <a:ext cx="8229600" cy="4525963"/>
          </a:xfrm>
        </p:spPr>
        <p:txBody>
          <a:bodyPr/>
          <a:p>
            <a:r>
              <a:rPr lang="zh-CN" altLang="en-US"/>
              <a:t>按照这个方法，实验提供了本地测试脚本，主要的</a:t>
            </a:r>
            <a:r>
              <a:rPr lang="zh-CN" altLang="en-US"/>
              <a:t>流程是：</a:t>
            </a:r>
            <a:endParaRPr lang="zh-CN" altLang="en-US"/>
          </a:p>
          <a:p>
            <a:pPr lvl="1"/>
            <a:r>
              <a:rPr lang="zh-CN" altLang="en-US"/>
              <a:t>批量创建</a:t>
            </a:r>
            <a:r>
              <a:rPr lang="en-US" altLang="zh-CN"/>
              <a:t> netns</a:t>
            </a:r>
            <a:r>
              <a:rPr lang="zh-CN" altLang="en-US"/>
              <a:t>，用虚拟网线</a:t>
            </a:r>
            <a:r>
              <a:rPr lang="en-US" altLang="zh-CN"/>
              <a:t> veth </a:t>
            </a:r>
            <a:r>
              <a:rPr lang="zh-CN" altLang="en-US"/>
              <a:t>连接</a:t>
            </a:r>
            <a:endParaRPr lang="zh-CN" altLang="en-US"/>
          </a:p>
          <a:p>
            <a:pPr lvl="1"/>
            <a:r>
              <a:rPr lang="zh-CN" altLang="en-US"/>
              <a:t>在对应的</a:t>
            </a:r>
            <a:r>
              <a:rPr lang="en-US" altLang="zh-CN"/>
              <a:t> netns </a:t>
            </a:r>
            <a:r>
              <a:rPr lang="zh-CN" altLang="en-US"/>
              <a:t>启动对应的路由器</a:t>
            </a:r>
            <a:r>
              <a:rPr lang="zh-CN" altLang="en-US"/>
              <a:t>软件</a:t>
            </a:r>
            <a:endParaRPr lang="zh-CN" altLang="en-US"/>
          </a:p>
          <a:p>
            <a:pPr lvl="1"/>
            <a:r>
              <a:rPr lang="zh-CN" altLang="en-US"/>
              <a:t>把实验评测流程在</a:t>
            </a:r>
            <a:r>
              <a:rPr lang="en-US" altLang="zh-CN"/>
              <a:t> netns </a:t>
            </a:r>
            <a:r>
              <a:rPr lang="zh-CN" altLang="en-US"/>
              <a:t>中</a:t>
            </a:r>
            <a:r>
              <a:rPr lang="zh-CN" altLang="en-US"/>
              <a:t>复现出来</a:t>
            </a:r>
            <a:endParaRPr lang="zh-CN" altLang="en-US"/>
          </a:p>
          <a:p>
            <a:pPr lvl="0"/>
            <a:r>
              <a:rPr lang="zh-CN" altLang="en-US"/>
              <a:t>详细版本见实验文档，里面详细地介绍了</a:t>
            </a:r>
            <a:r>
              <a:rPr lang="zh-CN" altLang="en-US"/>
              <a:t>每个步骤</a:t>
            </a:r>
            <a:endParaRPr lang="zh-CN" altLang="en-US"/>
          </a:p>
          <a:p>
            <a:pPr lvl="0"/>
            <a:r>
              <a:rPr lang="zh-CN" altLang="en-US"/>
              <a:t>强烈建议在使用</a:t>
            </a:r>
            <a:r>
              <a:rPr lang="zh-CN" altLang="en-US"/>
              <a:t>脚本前，阅读脚本</a:t>
            </a:r>
            <a:r>
              <a:rPr lang="zh-CN" altLang="en-US"/>
              <a:t>内容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本地测试</a:t>
            </a:r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64" y="1052855"/>
            <a:ext cx="8229600" cy="4525963"/>
          </a:xfrm>
        </p:spPr>
        <p:txBody>
          <a:bodyPr/>
          <a:p>
            <a:r>
              <a:rPr lang="zh-CN" altLang="en-US"/>
              <a:t>本地测试时，发现运行结果</a:t>
            </a:r>
            <a:r>
              <a:rPr lang="zh-CN" altLang="en-US"/>
              <a:t>错误，</a:t>
            </a:r>
            <a:r>
              <a:rPr lang="zh-CN" altLang="en-US"/>
              <a:t>怎么办？</a:t>
            </a:r>
            <a:endParaRPr lang="zh-CN" altLang="en-US"/>
          </a:p>
          <a:p>
            <a:r>
              <a:rPr lang="zh-CN" altLang="en-US"/>
              <a:t>别忘了上次实验课讲的调试思路和</a:t>
            </a:r>
            <a:r>
              <a:rPr lang="zh-CN" altLang="en-US"/>
              <a:t>调试工具！</a:t>
            </a:r>
            <a:endParaRPr lang="zh-CN" altLang="en-US"/>
          </a:p>
          <a:p>
            <a:r>
              <a:rPr lang="zh-CN" altLang="en-US"/>
              <a:t>你可以在</a:t>
            </a:r>
            <a:r>
              <a:rPr lang="en-US" altLang="zh-CN"/>
              <a:t> netns </a:t>
            </a:r>
            <a:r>
              <a:rPr lang="zh-CN" altLang="en-US"/>
              <a:t>内用抓包工具：</a:t>
            </a:r>
            <a:endParaRPr lang="zh-CN" altLang="en-US"/>
          </a:p>
          <a:p>
            <a:pPr lvl="1"/>
            <a:r>
              <a:rPr lang="en-US" altLang="zh-CN"/>
              <a:t>ip netns exec PC1 tcpdump ...</a:t>
            </a:r>
            <a:endParaRPr lang="en-US" altLang="zh-CN"/>
          </a:p>
          <a:p>
            <a:pPr lvl="1"/>
            <a:r>
              <a:rPr lang="en-US" altLang="zh-CN"/>
              <a:t>ip netns exec PC1 wireshark</a:t>
            </a:r>
            <a:endParaRPr lang="en-US" altLang="zh-CN"/>
          </a:p>
          <a:p>
            <a:pPr lvl="0"/>
            <a:r>
              <a:rPr lang="zh-CN" altLang="en-US"/>
              <a:t>如果在远程</a:t>
            </a:r>
            <a:r>
              <a:rPr lang="en-US" altLang="zh-CN"/>
              <a:t> Linux </a:t>
            </a:r>
            <a:r>
              <a:rPr lang="zh-CN" altLang="en-US"/>
              <a:t>上做实验，可以</a:t>
            </a:r>
            <a:r>
              <a:rPr lang="en-US" altLang="zh-CN"/>
              <a:t> tcpdump </a:t>
            </a:r>
            <a:r>
              <a:rPr lang="zh-CN" altLang="en-US"/>
              <a:t>把抓包写到</a:t>
            </a:r>
            <a:r>
              <a:rPr lang="en-US" altLang="zh-CN"/>
              <a:t> pcap </a:t>
            </a:r>
            <a:r>
              <a:rPr lang="zh-CN" altLang="en-US"/>
              <a:t>文件中，传到本地再</a:t>
            </a:r>
            <a:r>
              <a:rPr lang="zh-CN" altLang="en-US"/>
              <a:t>打开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本地测试</a:t>
            </a:r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989" y="1052855"/>
            <a:ext cx="8229600" cy="4525963"/>
          </a:xfrm>
        </p:spPr>
        <p:txBody>
          <a:bodyPr/>
          <a:p>
            <a:r>
              <a:rPr lang="en-US"/>
              <a:t>2021 </a:t>
            </a:r>
            <a:r>
              <a:rPr lang="zh-CN" altLang="en-US"/>
              <a:t>年的时候组织过一次针对</a:t>
            </a:r>
            <a:r>
              <a:rPr lang="en-US" altLang="zh-CN"/>
              <a:t> Wireshark </a:t>
            </a:r>
            <a:r>
              <a:rPr lang="zh-CN" altLang="en-US"/>
              <a:t>等抓包工具的讲座，想学习的同学可以去查看：</a:t>
            </a:r>
            <a:endParaRPr lang="zh-CN" altLang="en-US"/>
          </a:p>
          <a:p>
            <a:pPr lvl="1"/>
            <a:r>
              <a:rPr lang="en-US" altLang="zh-CN"/>
              <a:t>https://lab.cs.tsinghua.edu.cn/router/doc/software/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00A47B1-09D9-4943-9628-ADAE68CC06D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 descr="telegram-cloud-photo-size-5-6271484333810366095-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295" y="3058160"/>
            <a:ext cx="5077460" cy="3724275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85800" y="2492896"/>
            <a:ext cx="7772400" cy="1470025"/>
          </a:xfrm>
        </p:spPr>
        <p:txBody>
          <a:bodyPr/>
          <a:lstStyle/>
          <a:p>
            <a:r>
              <a:rPr lang="zh-CN" altLang="en-US" dirty="0"/>
              <a:t>谢谢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902030302020204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902030302020204" pitchFamily="66" charset="0"/>
            <a:ea typeface="宋体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F7F7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9101</Words>
  <Application>WPS 演示</Application>
  <PresentationFormat>全屏显示(4:3)</PresentationFormat>
  <Paragraphs>992</Paragraphs>
  <Slides>81</Slides>
  <Notes>3</Notes>
  <HiddenSlides>1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81</vt:i4>
      </vt:variant>
    </vt:vector>
  </HeadingPairs>
  <TitlesOfParts>
    <vt:vector size="107" baseType="lpstr">
      <vt:lpstr>Arial</vt:lpstr>
      <vt:lpstr>宋体</vt:lpstr>
      <vt:lpstr>Wingdings</vt:lpstr>
      <vt:lpstr>Arial Black</vt:lpstr>
      <vt:lpstr>汉仪书宋二KW</vt:lpstr>
      <vt:lpstr>Comic Sans MS</vt:lpstr>
      <vt:lpstr>Times New Roman</vt:lpstr>
      <vt:lpstr>ZapfDingbats</vt:lpstr>
      <vt:lpstr>Thonburi</vt:lpstr>
      <vt:lpstr>Calibri</vt:lpstr>
      <vt:lpstr>Helvetica Neue</vt:lpstr>
      <vt:lpstr>MS PGothic</vt:lpstr>
      <vt:lpstr>冬青黑体简体中文</vt:lpstr>
      <vt:lpstr>Arial</vt:lpstr>
      <vt:lpstr>微软雅黑</vt:lpstr>
      <vt:lpstr>汉仪旗黑</vt:lpstr>
      <vt:lpstr>Noto Serif</vt:lpstr>
      <vt:lpstr>宋体</vt:lpstr>
      <vt:lpstr>Arial Unicode MS</vt:lpstr>
      <vt:lpstr>Wingdings</vt:lpstr>
      <vt:lpstr>微软雅黑</vt:lpstr>
      <vt:lpstr>Consolas</vt:lpstr>
      <vt:lpstr>苹方-简</vt:lpstr>
      <vt:lpstr>主题1</vt:lpstr>
      <vt:lpstr>Office 主题</vt:lpstr>
      <vt:lpstr>1_Office 主题​​</vt:lpstr>
      <vt:lpstr>PowerPoint 演示文稿</vt:lpstr>
      <vt:lpstr>PowerPoint 演示文稿</vt:lpstr>
      <vt:lpstr>数据链路层协议可视化</vt:lpstr>
      <vt:lpstr>软件实验</vt:lpstr>
      <vt:lpstr>编程作业</vt:lpstr>
      <vt:lpstr>实验内容</vt:lpstr>
      <vt:lpstr>IPv6 地址对应的结构体</vt:lpstr>
      <vt:lpstr>MAC 地址对应的结构体</vt:lpstr>
      <vt:lpstr>IPv6 头部对应的结构体</vt:lpstr>
      <vt:lpstr>IPv6 头部对应的结构体</vt:lpstr>
      <vt:lpstr>UDP 头部对应的结构体</vt:lpstr>
      <vt:lpstr>ICMPv6 头部对应的结构体</vt:lpstr>
      <vt:lpstr>OSPF 头部对应的结构体</vt:lpstr>
      <vt:lpstr>RIPng 头部对应的结构体</vt:lpstr>
      <vt:lpstr>字节序</vt:lpstr>
      <vt:lpstr>结构体命名约定</vt:lpstr>
      <vt:lpstr>Internet Checksum 计算</vt:lpstr>
      <vt:lpstr>Internet Checksum 计算</vt:lpstr>
      <vt:lpstr>Internet Checksum 计算</vt:lpstr>
      <vt:lpstr>Internet Checksum 计算</vt:lpstr>
      <vt:lpstr>Internet Checksum 计算</vt:lpstr>
      <vt:lpstr>Internet Checksum 计算</vt:lpstr>
      <vt:lpstr>Internet Checksum 计算</vt:lpstr>
      <vt:lpstr>路由协议</vt:lpstr>
      <vt:lpstr>搬家的故事</vt:lpstr>
      <vt:lpstr>搬家的故事</vt:lpstr>
      <vt:lpstr>搬家的故事</vt:lpstr>
      <vt:lpstr>搬家的故事</vt:lpstr>
      <vt:lpstr>搬家的故事</vt:lpstr>
      <vt:lpstr>搬家的故事</vt:lpstr>
      <vt:lpstr>搬家的故事</vt:lpstr>
      <vt:lpstr>搬家的故事</vt:lpstr>
      <vt:lpstr>搬家的故事</vt:lpstr>
      <vt:lpstr>搬家的故事</vt:lpstr>
      <vt:lpstr>搬家的故事</vt:lpstr>
      <vt:lpstr>搬家的故事</vt:lpstr>
      <vt:lpstr>搬家的故事</vt:lpstr>
      <vt:lpstr>搬家的故事小结</vt:lpstr>
      <vt:lpstr>路由协议</vt:lpstr>
      <vt:lpstr>路由协议</vt:lpstr>
      <vt:lpstr>路由协议</vt:lpstr>
      <vt:lpstr>路由协议</vt:lpstr>
      <vt:lpstr>路由协议</vt:lpstr>
      <vt:lpstr>路由表计算</vt:lpstr>
      <vt:lpstr>路由表计算</vt:lpstr>
      <vt:lpstr>路由表计算</vt:lpstr>
      <vt:lpstr>路由表计算</vt:lpstr>
      <vt:lpstr>路由表计算</vt:lpstr>
      <vt:lpstr>链路状态路由协议小结</vt:lpstr>
      <vt:lpstr>OSPF</vt:lpstr>
      <vt:lpstr>OSPF</vt:lpstr>
      <vt:lpstr>OSPF</vt:lpstr>
      <vt:lpstr>OSPF Hello</vt:lpstr>
      <vt:lpstr>OSPF Hello</vt:lpstr>
      <vt:lpstr>OSPF Hello</vt:lpstr>
      <vt:lpstr>OSPF Hello</vt:lpstr>
      <vt:lpstr>OSPF Hello</vt:lpstr>
      <vt:lpstr>OSPF LSDB 同步</vt:lpstr>
      <vt:lpstr>OSPF LSDB 同步</vt:lpstr>
      <vt:lpstr>OSPF 路由表计算</vt:lpstr>
      <vt:lpstr>OSPF 小结</vt:lpstr>
      <vt:lpstr>数据链路层协议回顾</vt:lpstr>
      <vt:lpstr>可靠传输</vt:lpstr>
      <vt:lpstr>可靠传输小结</vt:lpstr>
      <vt:lpstr>实验的两个协议选项</vt:lpstr>
      <vt:lpstr>RIPng 路由协议</vt:lpstr>
      <vt:lpstr>RIPng 路由协议</vt:lpstr>
      <vt:lpstr>RIPng 路由协议</vt:lpstr>
      <vt:lpstr>RIPng 路由协议</vt:lpstr>
      <vt:lpstr>距离向量路由协议</vt:lpstr>
      <vt:lpstr>水平分割和毒性反转</vt:lpstr>
      <vt:lpstr>水平分割和毒性反转</vt:lpstr>
      <vt:lpstr>更新距离向量</vt:lpstr>
      <vt:lpstr>RIPng 路由协议小结</vt:lpstr>
      <vt:lpstr>RIPng 作业可选功能</vt:lpstr>
      <vt:lpstr>RIPng 作业可选功能</vt:lpstr>
      <vt:lpstr>本地测试方法</vt:lpstr>
      <vt:lpstr>本地测试方法</vt:lpstr>
      <vt:lpstr>本地测试方法</vt:lpstr>
      <vt:lpstr>本地测试方法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xieyutong</cp:lastModifiedBy>
  <cp:revision>923</cp:revision>
  <dcterms:created xsi:type="dcterms:W3CDTF">2025-11-30T08:30:59Z</dcterms:created>
  <dcterms:modified xsi:type="dcterms:W3CDTF">2025-11-30T08:30:59Z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18A92D4B8875331D75C92B6995B91F42_43</vt:lpwstr>
  </property>
  <property fmtid="{D5CDD505-2E9C-101B-9397-08002B2CF9AE}" pid="3" name="KSOProductBuildVer">
    <vt:lpwstr>2052-12.1.21861.21861</vt:lpwstr>
  </property>
</Properties>
</file>